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1051560"/>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BẢO VỆ PHẢN BIỆN · KHOÁ LUẬN TỐT NGHIỆP · 15/8/2026</a:t>
            </a:r>
          </a:p>
        </p:txBody>
      </p:sp>
      <p:sp>
        <p:nvSpPr>
          <p:cNvPr id="3" name="TextBox 2"/>
          <p:cNvSpPr txBox="1"/>
          <p:nvPr/>
        </p:nvSpPr>
        <p:spPr>
          <a:xfrm>
            <a:off x="777240" y="1481328"/>
            <a:ext cx="10088575" cy="2194560"/>
          </a:xfrm>
          <a:prstGeom prst="rect">
            <a:avLst/>
          </a:prstGeom>
          <a:noFill/>
        </p:spPr>
        <p:txBody>
          <a:bodyPr wrap="square" lIns="0" rIns="0" tIns="0" bIns="0">
            <a:spAutoFit/>
          </a:bodyPr>
          <a:lstStyle/>
          <a:p>
            <a:pPr algn="l">
              <a:lnSpc>
                <a:spcPct val="107000"/>
              </a:lnSpc>
              <a:spcBef>
                <a:spcPts val="0"/>
              </a:spcBef>
              <a:spcAft>
                <a:spcPts val="0"/>
              </a:spcAft>
            </a:pPr>
            <a:r>
              <a:rPr sz="3700" b="0">
                <a:solidFill>
                  <a:srgbClr val="12161C"/>
                </a:solidFill>
                <a:latin typeface="Georgia"/>
              </a:rPr>
              <a:t>Đồng thiết kế thuật toán–phần cứng cho bộ tăng tốc CNN một chiều lượng tử hoá phân loại rối loạn nhịp tim trên FPGA</a:t>
            </a:r>
          </a:p>
        </p:txBody>
      </p:sp>
      <p:sp>
        <p:nvSpPr>
          <p:cNvPr id="4" name="TextBox 3"/>
          <p:cNvSpPr txBox="1"/>
          <p:nvPr/>
        </p:nvSpPr>
        <p:spPr>
          <a:xfrm>
            <a:off x="777240" y="3703320"/>
            <a:ext cx="10637215" cy="731520"/>
          </a:xfrm>
          <a:prstGeom prst="rect">
            <a:avLst/>
          </a:prstGeom>
          <a:noFill/>
        </p:spPr>
        <p:txBody>
          <a:bodyPr wrap="square" lIns="0" rIns="0" tIns="0" bIns="0">
            <a:spAutoFit/>
          </a:bodyPr>
          <a:lstStyle/>
          <a:p>
            <a:pPr algn="l">
              <a:spcBef>
                <a:spcPts val="0"/>
              </a:spcBef>
              <a:spcAft>
                <a:spcPts val="200"/>
              </a:spcAft>
            </a:pPr>
            <a:r>
              <a:rPr sz="1450" b="0">
                <a:solidFill>
                  <a:srgbClr val="5C6470"/>
                </a:solidFill>
                <a:latin typeface="Segoe UI"/>
              </a:rPr>
              <a:t>Lê Minh Đức · 22200034 · Khoa Điện tử – Viễn thông</a:t>
            </a:r>
          </a:p>
          <a:p>
            <a:pPr algn="l">
              <a:spcBef>
                <a:spcPts val="0"/>
              </a:spcBef>
              <a:spcAft>
                <a:spcPts val="0"/>
              </a:spcAft>
            </a:pPr>
            <a:r>
              <a:rPr sz="1450" b="0">
                <a:solidFill>
                  <a:srgbClr val="5C6470"/>
                </a:solidFill>
                <a:latin typeface="Segoe UI"/>
              </a:rPr>
              <a:t>Trường Đại học Khoa học Tự nhiên, ĐHQG-HCM</a:t>
            </a:r>
          </a:p>
        </p:txBody>
      </p:sp>
      <p:sp>
        <p:nvSpPr>
          <p:cNvPr id="5" name="Rectangle 4"/>
          <p:cNvSpPr/>
          <p:nvPr/>
        </p:nvSpPr>
        <p:spPr>
          <a:xfrm>
            <a:off x="777240" y="47548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8463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94,27%</a:t>
            </a:r>
          </a:p>
          <a:p>
            <a:pPr algn="l">
              <a:lnSpc>
                <a:spcPct val="115000"/>
              </a:lnSpc>
              <a:spcBef>
                <a:spcPts val="0"/>
              </a:spcBef>
              <a:spcAft>
                <a:spcPts val="0"/>
              </a:spcAft>
            </a:pPr>
            <a:r>
              <a:rPr sz="1050" b="0">
                <a:solidFill>
                  <a:srgbClr val="5C6470"/>
                </a:solidFill>
                <a:latin typeface="Segoe UI"/>
              </a:rPr>
              <a:t>Độ chính xác INT8 — khớp phần mềm</a:t>
            </a:r>
          </a:p>
        </p:txBody>
      </p:sp>
      <p:sp>
        <p:nvSpPr>
          <p:cNvPr id="7" name="Rectangle 6"/>
          <p:cNvSpPr/>
          <p:nvPr/>
        </p:nvSpPr>
        <p:spPr>
          <a:xfrm>
            <a:off x="3486835" y="47548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6835" y="48463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640</a:t>
            </a:r>
          </a:p>
          <a:p>
            <a:pPr algn="l">
              <a:lnSpc>
                <a:spcPct val="115000"/>
              </a:lnSpc>
              <a:spcBef>
                <a:spcPts val="0"/>
              </a:spcBef>
              <a:spcAft>
                <a:spcPts val="0"/>
              </a:spcAft>
            </a:pPr>
            <a:r>
              <a:rPr sz="1050" b="0">
                <a:solidFill>
                  <a:srgbClr val="5C6470"/>
                </a:solidFill>
                <a:latin typeface="Segoe UI"/>
              </a:rPr>
              <a:t>Tham số mô hình</a:t>
            </a:r>
          </a:p>
        </p:txBody>
      </p:sp>
      <p:sp>
        <p:nvSpPr>
          <p:cNvPr id="9" name="Rectangle 8"/>
          <p:cNvSpPr/>
          <p:nvPr/>
        </p:nvSpPr>
        <p:spPr>
          <a:xfrm>
            <a:off x="6196430" y="47548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6430" y="48463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2.148</a:t>
            </a:r>
          </a:p>
          <a:p>
            <a:pPr algn="l">
              <a:lnSpc>
                <a:spcPct val="115000"/>
              </a:lnSpc>
              <a:spcBef>
                <a:spcPts val="0"/>
              </a:spcBef>
              <a:spcAft>
                <a:spcPts val="0"/>
              </a:spcAft>
            </a:pPr>
            <a:r>
              <a:rPr sz="1050" b="0">
                <a:solidFill>
                  <a:srgbClr val="5C6470"/>
                </a:solidFill>
                <a:latin typeface="Segoe UI"/>
              </a:rPr>
              <a:t>ALM — 5% chip Cyclone V</a:t>
            </a:r>
          </a:p>
        </p:txBody>
      </p:sp>
      <p:sp>
        <p:nvSpPr>
          <p:cNvPr id="11" name="Rectangle 10"/>
          <p:cNvSpPr/>
          <p:nvPr/>
        </p:nvSpPr>
        <p:spPr>
          <a:xfrm>
            <a:off x="8906025" y="47548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06025" y="48463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52,16 µs</a:t>
            </a:r>
          </a:p>
          <a:p>
            <a:pPr algn="l">
              <a:lnSpc>
                <a:spcPct val="115000"/>
              </a:lnSpc>
              <a:spcBef>
                <a:spcPts val="0"/>
              </a:spcBef>
              <a:spcAft>
                <a:spcPts val="0"/>
              </a:spcAft>
            </a:pPr>
            <a:r>
              <a:rPr sz="1050" b="0">
                <a:solidFill>
                  <a:srgbClr val="5C6470"/>
                </a:solidFill>
                <a:latin typeface="Segoe UI"/>
              </a:rPr>
              <a:t>Độ trễ, tất định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NỘI DUNG TRÌNH BÀY</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Bố cục</a:t>
            </a:r>
          </a:p>
        </p:txBody>
      </p:sp>
      <p:graphicFrame>
        <p:nvGraphicFramePr>
          <p:cNvPr id="4" name="Table 3"/>
          <p:cNvGraphicFramePr>
            <a:graphicFrameLocks noGrp="1"/>
          </p:cNvGraphicFramePr>
          <p:nvPr/>
        </p:nvGraphicFramePr>
        <p:xfrm>
          <a:off x="777240" y="1783080"/>
          <a:ext cx="10637213" cy="2304288"/>
        </p:xfrm>
        <a:graphic>
          <a:graphicData uri="http://schemas.openxmlformats.org/drawingml/2006/table">
            <a:tbl>
              <a:tblPr>
                <a:tableStyleId>{5C22544A-7EE6-4342-B048-85BDC9FD1C3A}</a:tableStyleId>
              </a:tblPr>
              <a:tblGrid>
                <a:gridCol w="778332"/>
                <a:gridCol w="5967218"/>
                <a:gridCol w="1816109"/>
                <a:gridCol w="2075554"/>
              </a:tblGrid>
              <a:tr h="329184">
                <a:tc>
                  <a:txBody>
                    <a:bodyPr wrap="square"/>
                    <a:lstStyle/>
                    <a:p>
                      <a:pPr algn="ctr">
                        <a:spcBef>
                          <a:spcPts val="0"/>
                        </a:spcBef>
                        <a:spcAft>
                          <a:spcPts val="0"/>
                        </a:spcAft>
                      </a:pPr>
                      <a:r>
                        <a:rPr sz="950" b="1">
                          <a:solidFill>
                            <a:srgbClr val="858C97"/>
                          </a:solidFill>
                          <a:latin typeface="Segoe UI"/>
                        </a:rPr>
                        <a:t>§</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NỘI DUNG</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TRANG</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THỜI LƯỢNG</a:t>
                      </a:r>
                    </a:p>
                  </a:txBody>
                  <a:tcPr marL="73152" marR="73152" marT="27432" marB="27432" anchor="ctr">
                    <a:solidFill>
                      <a:srgbClr val="FBFAF8"/>
                    </a:solidFill>
                  </a:tcPr>
                </a:tc>
              </a:tr>
              <a:tr h="329184">
                <a:tc>
                  <a:txBody>
                    <a:bodyPr wrap="square"/>
                    <a:lstStyle/>
                    <a:p>
                      <a:pPr algn="ctr">
                        <a:spcBef>
                          <a:spcPts val="0"/>
                        </a:spcBef>
                        <a:spcAft>
                          <a:spcPts val="0"/>
                        </a:spcAft>
                      </a:pPr>
                      <a:r>
                        <a:rPr sz="1150" b="0">
                          <a:solidFill>
                            <a:srgbClr val="12161C"/>
                          </a:solidFill>
                          <a:latin typeface="Segoe UI"/>
                        </a:rPr>
                        <a:t>1</a:t>
                      </a:r>
                    </a:p>
                  </a:txBody>
                  <a:tcPr marL="73152" marR="73152" marT="27432" marB="27432" anchor="ctr">
                    <a:solidFill>
                      <a:srgbClr val="FBFAF8"/>
                    </a:solidFill>
                  </a:tcPr>
                </a:tc>
                <a:tc>
                  <a:txBody>
                    <a:bodyPr wrap="square"/>
                    <a:lstStyle/>
                    <a:p>
                      <a:pPr algn="l">
                        <a:spcBef>
                          <a:spcPts val="0"/>
                        </a:spcBef>
                        <a:spcAft>
                          <a:spcPts val="0"/>
                        </a:spcAft>
                      </a:pPr>
                      <a:r>
                        <a:rPr sz="1150" b="0">
                          <a:solidFill>
                            <a:srgbClr val="12161C"/>
                          </a:solidFill>
                          <a:latin typeface="Segoe UI"/>
                        </a:rPr>
                        <a:t>Động cơ và bài toán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3–4</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2 phút</a:t>
                      </a:r>
                    </a:p>
                  </a:txBody>
                  <a:tcPr marL="73152" marR="73152" marT="27432" marB="27432" anchor="ctr">
                    <a:solidFill>
                      <a:srgbClr val="FBFAF8"/>
                    </a:solidFill>
                  </a:tcPr>
                </a:tc>
              </a:tr>
              <a:tr h="329184">
                <a:tc>
                  <a:txBody>
                    <a:bodyPr wrap="square"/>
                    <a:lstStyle/>
                    <a:p>
                      <a:pPr algn="ctr">
                        <a:spcBef>
                          <a:spcPts val="0"/>
                        </a:spcBef>
                        <a:spcAft>
                          <a:spcPts val="0"/>
                        </a:spcAft>
                      </a:pPr>
                      <a:r>
                        <a:rPr sz="1150" b="0">
                          <a:solidFill>
                            <a:srgbClr val="12161C"/>
                          </a:solidFill>
                          <a:latin typeface="Segoe UI"/>
                        </a:rPr>
                        <a:t>2</a:t>
                      </a:r>
                    </a:p>
                  </a:txBody>
                  <a:tcPr marL="73152" marR="73152" marT="27432" marB="27432" anchor="ctr">
                    <a:solidFill>
                      <a:srgbClr val="FBFAF8"/>
                    </a:solidFill>
                  </a:tcPr>
                </a:tc>
                <a:tc>
                  <a:txBody>
                    <a:bodyPr wrap="square"/>
                    <a:lstStyle/>
                    <a:p>
                      <a:pPr algn="l">
                        <a:spcBef>
                          <a:spcPts val="0"/>
                        </a:spcBef>
                        <a:spcAft>
                          <a:spcPts val="0"/>
                        </a:spcAft>
                      </a:pPr>
                      <a:r>
                        <a:rPr sz="1150" b="0">
                          <a:solidFill>
                            <a:srgbClr val="12161C"/>
                          </a:solidFill>
                          <a:latin typeface="Segoe UI"/>
                        </a:rPr>
                        <a:t>Khoảng trống nghiên cứu và đóng góp</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5–9</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5 phút</a:t>
                      </a:r>
                    </a:p>
                  </a:txBody>
                  <a:tcPr marL="73152" marR="73152" marT="27432" marB="27432" anchor="ctr">
                    <a:solidFill>
                      <a:srgbClr val="FBFAF8"/>
                    </a:solidFill>
                  </a:tcPr>
                </a:tc>
              </a:tr>
              <a:tr h="329184">
                <a:tc>
                  <a:txBody>
                    <a:bodyPr wrap="square"/>
                    <a:lstStyle/>
                    <a:p>
                      <a:pPr algn="ctr">
                        <a:spcBef>
                          <a:spcPts val="0"/>
                        </a:spcBef>
                        <a:spcAft>
                          <a:spcPts val="0"/>
                        </a:spcAft>
                      </a:pPr>
                      <a:r>
                        <a:rPr sz="1150" b="1">
                          <a:solidFill>
                            <a:srgbClr val="12161C"/>
                          </a:solidFill>
                          <a:latin typeface="Segoe UI"/>
                        </a:rPr>
                        <a:t>3</a:t>
                      </a:r>
                    </a:p>
                  </a:txBody>
                  <a:tcPr marL="73152" marR="73152" marT="27432" marB="27432" anchor="ctr">
                    <a:solidFill>
                      <a:srgbClr val="F2F1ED"/>
                    </a:solidFill>
                  </a:tcPr>
                </a:tc>
                <a:tc>
                  <a:txBody>
                    <a:bodyPr wrap="square"/>
                    <a:lstStyle/>
                    <a:p>
                      <a:pPr algn="l">
                        <a:spcBef>
                          <a:spcPts val="0"/>
                        </a:spcBef>
                        <a:spcAft>
                          <a:spcPts val="0"/>
                        </a:spcAft>
                      </a:pPr>
                      <a:r>
                        <a:rPr sz="1150" b="1">
                          <a:solidFill>
                            <a:srgbClr val="12161C"/>
                          </a:solidFill>
                          <a:latin typeface="Segoe UI"/>
                        </a:rPr>
                        <a:t>Phương pháp đề xuất</a:t>
                      </a:r>
                    </a:p>
                  </a:txBody>
                  <a:tcPr marL="73152" marR="73152" marT="27432" marB="27432" anchor="ctr">
                    <a:solidFill>
                      <a:srgbClr val="F2F1ED"/>
                    </a:solidFill>
                  </a:tcPr>
                </a:tc>
                <a:tc>
                  <a:txBody>
                    <a:bodyPr wrap="square"/>
                    <a:lstStyle/>
                    <a:p>
                      <a:pPr algn="r">
                        <a:spcBef>
                          <a:spcPts val="0"/>
                        </a:spcBef>
                        <a:spcAft>
                          <a:spcPts val="0"/>
                        </a:spcAft>
                      </a:pPr>
                      <a:r>
                        <a:rPr sz="1150" b="1">
                          <a:solidFill>
                            <a:srgbClr val="12161C"/>
                          </a:solidFill>
                          <a:latin typeface="Segoe UI"/>
                        </a:rPr>
                        <a:t>10–16</a:t>
                      </a:r>
                    </a:p>
                  </a:txBody>
                  <a:tcPr marL="73152" marR="73152" marT="27432" marB="27432" anchor="ctr">
                    <a:solidFill>
                      <a:srgbClr val="F2F1ED"/>
                    </a:solidFill>
                  </a:tcPr>
                </a:tc>
                <a:tc>
                  <a:txBody>
                    <a:bodyPr wrap="square"/>
                    <a:lstStyle/>
                    <a:p>
                      <a:pPr algn="r">
                        <a:spcBef>
                          <a:spcPts val="0"/>
                        </a:spcBef>
                        <a:spcAft>
                          <a:spcPts val="0"/>
                        </a:spcAft>
                      </a:pPr>
                      <a:r>
                        <a:rPr sz="1150" b="1">
                          <a:solidFill>
                            <a:srgbClr val="12161C"/>
                          </a:solidFill>
                          <a:latin typeface="Segoe UI"/>
                        </a:rPr>
                        <a:t>6 phút</a:t>
                      </a:r>
                    </a:p>
                  </a:txBody>
                  <a:tcPr marL="73152" marR="73152" marT="27432" marB="27432" anchor="ctr">
                    <a:solidFill>
                      <a:srgbClr val="F2F1ED"/>
                    </a:solidFill>
                  </a:tcPr>
                </a:tc>
              </a:tr>
              <a:tr h="329184">
                <a:tc>
                  <a:txBody>
                    <a:bodyPr wrap="square"/>
                    <a:lstStyle/>
                    <a:p>
                      <a:pPr algn="ctr">
                        <a:spcBef>
                          <a:spcPts val="0"/>
                        </a:spcBef>
                        <a:spcAft>
                          <a:spcPts val="0"/>
                        </a:spcAft>
                      </a:pPr>
                      <a:r>
                        <a:rPr sz="1150" b="0">
                          <a:solidFill>
                            <a:srgbClr val="12161C"/>
                          </a:solidFill>
                          <a:latin typeface="Segoe UI"/>
                        </a:rPr>
                        <a:t>4</a:t>
                      </a:r>
                    </a:p>
                  </a:txBody>
                  <a:tcPr marL="73152" marR="73152" marT="27432" marB="27432" anchor="ctr">
                    <a:solidFill>
                      <a:srgbClr val="FBFAF8"/>
                    </a:solidFill>
                  </a:tcPr>
                </a:tc>
                <a:tc>
                  <a:txBody>
                    <a:bodyPr wrap="square"/>
                    <a:lstStyle/>
                    <a:p>
                      <a:pPr algn="l">
                        <a:spcBef>
                          <a:spcPts val="0"/>
                        </a:spcBef>
                        <a:spcAft>
                          <a:spcPts val="0"/>
                        </a:spcAft>
                      </a:pPr>
                      <a:r>
                        <a:rPr sz="1150" b="0">
                          <a:solidFill>
                            <a:srgbClr val="12161C"/>
                          </a:solidFill>
                          <a:latin typeface="Segoe UI"/>
                        </a:rPr>
                        <a:t>Kết quả thực nghiệm</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17–20</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4 phút</a:t>
                      </a:r>
                    </a:p>
                  </a:txBody>
                  <a:tcPr marL="73152" marR="73152" marT="27432" marB="27432" anchor="ctr">
                    <a:solidFill>
                      <a:srgbClr val="FBFAF8"/>
                    </a:solidFill>
                  </a:tcPr>
                </a:tc>
              </a:tr>
              <a:tr h="329184">
                <a:tc>
                  <a:txBody>
                    <a:bodyPr wrap="square"/>
                    <a:lstStyle/>
                    <a:p>
                      <a:pPr algn="ctr">
                        <a:spcBef>
                          <a:spcPts val="0"/>
                        </a:spcBef>
                        <a:spcAft>
                          <a:spcPts val="0"/>
                        </a:spcAft>
                      </a:pPr>
                      <a:r>
                        <a:rPr sz="1150" b="0">
                          <a:solidFill>
                            <a:srgbClr val="12161C"/>
                          </a:solidFill>
                          <a:latin typeface="Segoe UI"/>
                        </a:rPr>
                        <a:t>5</a:t>
                      </a:r>
                    </a:p>
                  </a:txBody>
                  <a:tcPr marL="73152" marR="73152" marT="27432" marB="27432" anchor="ctr">
                    <a:solidFill>
                      <a:srgbClr val="FBFAF8"/>
                    </a:solidFill>
                  </a:tcPr>
                </a:tc>
                <a:tc>
                  <a:txBody>
                    <a:bodyPr wrap="square"/>
                    <a:lstStyle/>
                    <a:p>
                      <a:pPr algn="l">
                        <a:spcBef>
                          <a:spcPts val="0"/>
                        </a:spcBef>
                        <a:spcAft>
                          <a:spcPts val="0"/>
                        </a:spcAft>
                      </a:pPr>
                      <a:r>
                        <a:rPr sz="1150" b="0">
                          <a:solidFill>
                            <a:srgbClr val="12161C"/>
                          </a:solidFill>
                          <a:latin typeface="Segoe UI"/>
                        </a:rPr>
                        <a:t>Hạn chế và kết luận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21–22</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2 phút</a:t>
                      </a:r>
                    </a:p>
                  </a:txBody>
                  <a:tcPr marL="73152" marR="73152" marT="27432" marB="27432" anchor="ctr">
                    <a:solidFill>
                      <a:srgbClr val="FBFAF8"/>
                    </a:solidFill>
                  </a:tcPr>
                </a:tc>
              </a:tr>
              <a:tr h="329184">
                <a:tc>
                  <a:txBody>
                    <a:bodyPr wrap="square"/>
                    <a:lstStyle/>
                    <a:p>
                      <a:pPr algn="ctr">
                        <a:spcBef>
                          <a:spcPts val="0"/>
                        </a:spcBef>
                        <a:spcAft>
                          <a:spcPts val="0"/>
                        </a:spcAft>
                      </a:pPr>
                      <a:r>
                        <a:rPr sz="1150" b="0">
                          <a:solidFill>
                            <a:srgbClr val="12161C"/>
                          </a:solidFill>
                          <a:latin typeface="Segoe UI"/>
                        </a:rPr>
                        <a:t>—</a:t>
                      </a:r>
                    </a:p>
                  </a:txBody>
                  <a:tcPr marL="73152" marR="73152" marT="27432" marB="27432" anchor="ctr">
                    <a:solidFill>
                      <a:srgbClr val="FBFAF8"/>
                    </a:solidFill>
                  </a:tcPr>
                </a:tc>
                <a:tc>
                  <a:txBody>
                    <a:bodyPr wrap="square"/>
                    <a:lstStyle/>
                    <a:p>
                      <a:pPr algn="l">
                        <a:spcBef>
                          <a:spcPts val="0"/>
                        </a:spcBef>
                        <a:spcAft>
                          <a:spcPts val="0"/>
                        </a:spcAft>
                      </a:pPr>
                      <a:r>
                        <a:rPr sz="1150" b="0">
                          <a:solidFill>
                            <a:srgbClr val="12161C"/>
                          </a:solidFill>
                          <a:latin typeface="Segoe UI"/>
                        </a:rPr>
                        <a:t>Phần dự phòng — 18 câu hỏi đã chuẩn bị</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23–41</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a:t>
                      </a:r>
                    </a:p>
                  </a:txBody>
                  <a:tcPr marL="73152" marR="73152" marT="27432" marB="27432" anchor="ctr">
                    <a:solidFill>
                      <a:srgbClr val="FBFAF8"/>
                    </a:solidFill>
                  </a:tcPr>
                </a:tc>
              </a:tr>
            </a:tbl>
          </a:graphicData>
        </a:graphic>
      </p:graphicFrame>
      <p:sp>
        <p:nvSpPr>
          <p:cNvPr id="5" name="TextBox 4"/>
          <p:cNvSpPr txBox="1"/>
          <p:nvPr/>
        </p:nvSpPr>
        <p:spPr>
          <a:xfrm>
            <a:off x="777240" y="4709160"/>
            <a:ext cx="10637215" cy="914400"/>
          </a:xfrm>
          <a:prstGeom prst="rect">
            <a:avLst/>
          </a:prstGeom>
          <a:noFill/>
        </p:spPr>
        <p:txBody>
          <a:bodyPr wrap="square" lIns="0" rIns="0" tIns="0" bIns="0">
            <a:spAutoFit/>
          </a:bodyPr>
          <a:lstStyle/>
          <a:p>
            <a:pPr algn="l">
              <a:lnSpc>
                <a:spcPct val="135000"/>
              </a:lnSpc>
              <a:spcBef>
                <a:spcPts val="0"/>
              </a:spcBef>
              <a:spcAft>
                <a:spcPts val="0"/>
              </a:spcAft>
            </a:pPr>
            <a:r>
              <a:rPr sz="1500" b="0">
                <a:solidFill>
                  <a:srgbClr val="5C6470"/>
                </a:solidFill>
                <a:latin typeface="Segoe UI"/>
              </a:rPr>
              <a:t>Phần trình bày </a:t>
            </a:r>
            <a:r>
              <a:rPr sz="1500" b="1">
                <a:solidFill>
                  <a:srgbClr val="5C6470"/>
                </a:solidFill>
                <a:latin typeface="Segoe UI"/>
              </a:rPr>
              <a:t>19 phút</a:t>
            </a:r>
            <a:r>
              <a:rPr sz="1500" b="0">
                <a:solidFill>
                  <a:srgbClr val="5C6470"/>
                </a:solidFill>
                <a:latin typeface="Segoe UI"/>
              </a:rPr>
              <a:t>. Mười chín trang cuối dành cho phần hỏi đáp, có mục lục ở trang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§1 · ĐỘNG CƠ</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Trở ngại không nằm ở độ chính xác</a:t>
            </a:r>
          </a:p>
        </p:txBody>
      </p:sp>
      <p:sp>
        <p:nvSpPr>
          <p:cNvPr id="4" name="TextBox 3"/>
          <p:cNvSpPr txBox="1"/>
          <p:nvPr/>
        </p:nvSpPr>
        <p:spPr>
          <a:xfrm>
            <a:off x="777240" y="1783080"/>
            <a:ext cx="4998567" cy="2194560"/>
          </a:xfrm>
          <a:prstGeom prst="rect">
            <a:avLst/>
          </a:prstGeom>
          <a:noFill/>
        </p:spPr>
        <p:txBody>
          <a:bodyPr wrap="square" lIns="0" rIns="0" tIns="0" bIns="0">
            <a:spAutoFit/>
          </a:bodyPr>
          <a:lstStyle/>
          <a:p>
            <a:pPr algn="l">
              <a:lnSpc>
                <a:spcPct val="134000"/>
              </a:lnSpc>
              <a:spcBef>
                <a:spcPts val="0"/>
              </a:spcBef>
              <a:spcAft>
                <a:spcPts val="1000"/>
              </a:spcAft>
            </a:pPr>
            <a:r>
              <a:rPr sz="1400" b="0">
                <a:solidFill>
                  <a:srgbClr val="12161C"/>
                </a:solidFill>
                <a:latin typeface="Segoe UI"/>
              </a:rPr>
              <a:t>Mạng nơ-ron cho điện tâm đồ đã đạt mức chính xác đủ dùng từ nhiều năm nay. Vấn đề còn lại là </a:t>
            </a:r>
            <a:r>
              <a:rPr sz="1400" b="1">
                <a:solidFill>
                  <a:srgbClr val="12161C"/>
                </a:solidFill>
                <a:latin typeface="Segoe UI"/>
              </a:rPr>
              <a:t>đưa một mô hình đã đủ chính xác vào hình thái thiết bị chấp nhận được</a:t>
            </a:r>
            <a:r>
              <a:rPr sz="1400" b="0">
                <a:solidFill>
                  <a:srgbClr val="12161C"/>
                </a:solidFill>
                <a:latin typeface="Segoe UI"/>
              </a:rPr>
              <a:t>.</a:t>
            </a:r>
          </a:p>
          <a:p>
            <a:pPr algn="l">
              <a:lnSpc>
                <a:spcPct val="134000"/>
              </a:lnSpc>
              <a:spcBef>
                <a:spcPts val="0"/>
              </a:spcBef>
              <a:spcAft>
                <a:spcPts val="0"/>
              </a:spcAft>
            </a:pPr>
            <a:r>
              <a:rPr sz="1400" b="0">
                <a:solidFill>
                  <a:srgbClr val="12161C"/>
                </a:solidFill>
                <a:latin typeface="Segoe UI"/>
              </a:rPr>
              <a:t>Với thiết bị đeo, ràng buộc không phải là điểm phần trăm mà là diện tích mạch, bộ nhớ trên chip và công suất.</a:t>
            </a:r>
          </a:p>
        </p:txBody>
      </p:sp>
      <p:sp>
        <p:nvSpPr>
          <p:cNvPr id="5" name="Rectangle 4"/>
          <p:cNvSpPr/>
          <p:nvPr/>
        </p:nvSpPr>
        <p:spPr>
          <a:xfrm>
            <a:off x="777240" y="3931920"/>
            <a:ext cx="4998567" cy="118872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Câu hỏi của khoá luận</a:t>
            </a:r>
          </a:p>
          <a:p>
            <a:pPr algn="l">
              <a:lnSpc>
                <a:spcPct val="122000"/>
              </a:lnSpc>
              <a:spcBef>
                <a:spcPts val="0"/>
              </a:spcBef>
              <a:spcAft>
                <a:spcPts val="0"/>
              </a:spcAft>
            </a:pPr>
            <a:r>
              <a:rPr sz="1100" b="0">
                <a:solidFill>
                  <a:srgbClr val="5C6470"/>
                </a:solidFill>
                <a:latin typeface="Segoe UI"/>
              </a:rPr>
              <a:t>Nếu ngay từ khi thiết kế mô hình đã biết trước ràng buộc phần cứng, thì mô hình sẽ khác đi như thế nào — và mạch sẽ rẻ đi bao nhiêu?</a:t>
            </a:r>
          </a:p>
        </p:txBody>
      </p:sp>
      <p:sp>
        <p:nvSpPr>
          <p:cNvPr id="6" name="Rectangle 5"/>
          <p:cNvSpPr/>
          <p:nvPr/>
        </p:nvSpPr>
        <p:spPr>
          <a:xfrm>
            <a:off x="777240" y="3931920"/>
            <a:ext cx="31750" cy="118872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15887" y="178308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RÀNG BUỘC CỦA THIẾT BỊ ĐEO</a:t>
            </a:r>
          </a:p>
        </p:txBody>
      </p:sp>
      <p:graphicFrame>
        <p:nvGraphicFramePr>
          <p:cNvPr id="8" name="Table 7"/>
          <p:cNvGraphicFramePr>
            <a:graphicFrameLocks noGrp="1"/>
          </p:cNvGraphicFramePr>
          <p:nvPr/>
        </p:nvGraphicFramePr>
        <p:xfrm>
          <a:off x="6415887" y="2148840"/>
          <a:ext cx="4998566" cy="1316736"/>
        </p:xfrm>
        <a:graphic>
          <a:graphicData uri="http://schemas.openxmlformats.org/drawingml/2006/table">
            <a:tbl>
              <a:tblPr>
                <a:tableStyleId>{5C22544A-7EE6-4342-B048-85BDC9FD1C3A}</a:tableStyleId>
              </a:tblPr>
              <a:tblGrid>
                <a:gridCol w="1299627"/>
                <a:gridCol w="3698939"/>
              </a:tblGrid>
              <a:tr h="329184">
                <a:tc>
                  <a:txBody>
                    <a:bodyPr wrap="square"/>
                    <a:lstStyle/>
                    <a:p>
                      <a:pPr algn="l">
                        <a:spcBef>
                          <a:spcPts val="0"/>
                        </a:spcBef>
                        <a:spcAft>
                          <a:spcPts val="0"/>
                        </a:spcAft>
                      </a:pPr>
                      <a:r>
                        <a:rPr sz="1150" b="0">
                          <a:solidFill>
                            <a:srgbClr val="12161C"/>
                          </a:solidFill>
                          <a:latin typeface="Segoe UI"/>
                        </a:rPr>
                        <a:t>Trọng số</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phải nằm trong bộ nhớ trên chip</a:t>
                      </a:r>
                    </a:p>
                  </a:txBody>
                  <a:tcPr marL="73152" marR="73152" marT="27432" marB="27432" anchor="ctr">
                    <a:solidFill>
                      <a:srgbClr val="FBFAF8"/>
                    </a:solidFill>
                  </a:tcPr>
                </a:tc>
              </a:tr>
              <a:tr h="329184">
                <a:tc>
                  <a:txBody>
                    <a:bodyPr wrap="square"/>
                    <a:lstStyle/>
                    <a:p>
                      <a:pPr algn="l">
                        <a:spcBef>
                          <a:spcPts val="0"/>
                        </a:spcBef>
                        <a:spcAft>
                          <a:spcPts val="0"/>
                        </a:spcAft>
                      </a:pPr>
                      <a:r>
                        <a:rPr sz="1150" b="0">
                          <a:solidFill>
                            <a:srgbClr val="12161C"/>
                          </a:solidFill>
                          <a:latin typeface="Segoe UI"/>
                        </a:rPr>
                        <a:t>Phép nhân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tài nguyên khan hiếm nhất</a:t>
                      </a:r>
                    </a:p>
                  </a:txBody>
                  <a:tcPr marL="73152" marR="73152" marT="27432" marB="27432" anchor="ctr">
                    <a:solidFill>
                      <a:srgbClr val="FBFAF8"/>
                    </a:solidFill>
                  </a:tcPr>
                </a:tc>
              </a:tr>
              <a:tr h="329184">
                <a:tc>
                  <a:txBody>
                    <a:bodyPr wrap="square"/>
                    <a:lstStyle/>
                    <a:p>
                      <a:pPr algn="l">
                        <a:spcBef>
                          <a:spcPts val="0"/>
                        </a:spcBef>
                        <a:spcAft>
                          <a:spcPts val="0"/>
                        </a:spcAft>
                      </a:pPr>
                      <a:r>
                        <a:rPr sz="1150" b="0">
                          <a:solidFill>
                            <a:srgbClr val="12161C"/>
                          </a:solidFill>
                          <a:latin typeface="Segoe UI"/>
                        </a:rPr>
                        <a:t>Công suất</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quyết định thời lượng pin</a:t>
                      </a:r>
                    </a:p>
                  </a:txBody>
                  <a:tcPr marL="73152" marR="73152" marT="27432" marB="27432" anchor="ctr">
                    <a:solidFill>
                      <a:srgbClr val="FBFAF8"/>
                    </a:solidFill>
                  </a:tcPr>
                </a:tc>
              </a:tr>
              <a:tr h="329184">
                <a:tc>
                  <a:txBody>
                    <a:bodyPr wrap="square"/>
                    <a:lstStyle/>
                    <a:p>
                      <a:pPr algn="l">
                        <a:spcBef>
                          <a:spcPts val="0"/>
                        </a:spcBef>
                        <a:spcAft>
                          <a:spcPts val="0"/>
                        </a:spcAft>
                      </a:pPr>
                      <a:r>
                        <a:rPr sz="1150" b="0">
                          <a:solidFill>
                            <a:srgbClr val="12161C"/>
                          </a:solidFill>
                          <a:latin typeface="Segoe UI"/>
                        </a:rPr>
                        <a:t>Độ trễ</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phải tất định, không phụ thuộc dữ liệu</a:t>
                      </a:r>
                    </a:p>
                  </a:txBody>
                  <a:tcPr marL="73152" marR="73152" marT="27432" marB="27432" anchor="ctr">
                    <a:solidFill>
                      <a:srgbClr val="FBFAF8"/>
                    </a:solidFill>
                  </a:tcPr>
                </a:tc>
              </a:tr>
            </a:tbl>
          </a:graphicData>
        </a:graphic>
      </p:graphicFrame>
      <p:sp>
        <p:nvSpPr>
          <p:cNvPr id="9" name="TextBox 8"/>
          <p:cNvSpPr txBox="1"/>
          <p:nvPr/>
        </p:nvSpPr>
        <p:spPr>
          <a:xfrm>
            <a:off x="6415887" y="3749039"/>
            <a:ext cx="4998567" cy="1097280"/>
          </a:xfrm>
          <a:prstGeom prst="rect">
            <a:avLst/>
          </a:prstGeom>
          <a:noFill/>
        </p:spPr>
        <p:txBody>
          <a:bodyPr wrap="square" lIns="0" rIns="0" tIns="0" bIns="0">
            <a:spAutoFit/>
          </a:bodyPr>
          <a:lstStyle/>
          <a:p>
            <a:pPr algn="l">
              <a:lnSpc>
                <a:spcPct val="130000"/>
              </a:lnSpc>
              <a:spcBef>
                <a:spcPts val="0"/>
              </a:spcBef>
              <a:spcAft>
                <a:spcPts val="0"/>
              </a:spcAft>
            </a:pPr>
            <a:r>
              <a:rPr sz="1100" b="0">
                <a:solidFill>
                  <a:srgbClr val="858C97"/>
                </a:solidFill>
                <a:latin typeface="Segoe UI"/>
              </a:rPr>
              <a:t>Bốn ràng buộc này về sau trở thành bốn tiêu chí thiết kế mô hình, chứ không phải bốn mục tiêu tối ưu mạch sau khi mô hình đã cố định.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§1 · BÀI TOÁN</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Phân loại bốn nhóm nhịp từ một chuyển đạo</a:t>
            </a:r>
          </a:p>
        </p:txBody>
      </p:sp>
      <p:sp>
        <p:nvSpPr>
          <p:cNvPr id="4" name="Rectangle 3"/>
          <p:cNvSpPr/>
          <p:nvPr/>
        </p:nvSpPr>
        <p:spPr>
          <a:xfrm>
            <a:off x="777240" y="1755648"/>
            <a:ext cx="1188720"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Vào 2500×1</a:t>
            </a:r>
          </a:p>
        </p:txBody>
      </p:sp>
      <p:sp>
        <p:nvSpPr>
          <p:cNvPr id="5" name="Rectangle 4"/>
          <p:cNvSpPr/>
          <p:nvPr/>
        </p:nvSpPr>
        <p:spPr>
          <a:xfrm>
            <a:off x="2057400" y="1755648"/>
            <a:ext cx="1481328"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Conv1 → 4×500</a:t>
            </a:r>
          </a:p>
        </p:txBody>
      </p:sp>
      <p:sp>
        <p:nvSpPr>
          <p:cNvPr id="6" name="Rectangle 5"/>
          <p:cNvSpPr/>
          <p:nvPr/>
        </p:nvSpPr>
        <p:spPr>
          <a:xfrm>
            <a:off x="3630168" y="1755648"/>
            <a:ext cx="1481328"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Conv2 → 4×100</a:t>
            </a:r>
          </a:p>
        </p:txBody>
      </p:sp>
      <p:sp>
        <p:nvSpPr>
          <p:cNvPr id="7" name="Rectangle 6"/>
          <p:cNvSpPr/>
          <p:nvPr/>
        </p:nvSpPr>
        <p:spPr>
          <a:xfrm>
            <a:off x="5202936" y="1755648"/>
            <a:ext cx="1481328"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Conv3 → 8×20</a:t>
            </a:r>
          </a:p>
        </p:txBody>
      </p:sp>
      <p:sp>
        <p:nvSpPr>
          <p:cNvPr id="8" name="Rectangle 7"/>
          <p:cNvSpPr/>
          <p:nvPr/>
        </p:nvSpPr>
        <p:spPr>
          <a:xfrm>
            <a:off x="6775704" y="1755648"/>
            <a:ext cx="1481328"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Conv4 → 8×4</a:t>
            </a:r>
          </a:p>
        </p:txBody>
      </p:sp>
      <p:sp>
        <p:nvSpPr>
          <p:cNvPr id="9" name="Rectangle 8"/>
          <p:cNvSpPr/>
          <p:nvPr/>
        </p:nvSpPr>
        <p:spPr>
          <a:xfrm>
            <a:off x="8348472" y="1755648"/>
            <a:ext cx="1481328" cy="402336"/>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0">
                <a:solidFill>
                  <a:srgbClr val="12161C"/>
                </a:solidFill>
                <a:latin typeface="Segoe UI"/>
              </a:rPr>
              <a:t>GAP</a:t>
            </a:r>
          </a:p>
        </p:txBody>
      </p:sp>
      <p:sp>
        <p:nvSpPr>
          <p:cNvPr id="10" name="Rectangle 9"/>
          <p:cNvSpPr/>
          <p:nvPr/>
        </p:nvSpPr>
        <p:spPr>
          <a:xfrm>
            <a:off x="9921240" y="1755648"/>
            <a:ext cx="1481328" cy="402336"/>
          </a:xfrm>
          <a:prstGeom prst="rect">
            <a:avLst/>
          </a:prstGeom>
          <a:solidFill>
            <a:srgbClr val="F2F1ED"/>
          </a:solidFill>
          <a:ln w="12700">
            <a:solidFill>
              <a:srgbClr val="B0284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spcBef>
                <a:spcPts val="0"/>
              </a:spcBef>
              <a:spcAft>
                <a:spcPts val="0"/>
              </a:spcAft>
            </a:pPr>
            <a:r>
              <a:rPr sz="1050" b="1">
                <a:solidFill>
                  <a:srgbClr val="B02840"/>
                </a:solidFill>
                <a:latin typeface="Segoe UI"/>
              </a:rPr>
              <a:t>FC 8→4</a:t>
            </a:r>
          </a:p>
        </p:txBody>
      </p:sp>
      <p:sp>
        <p:nvSpPr>
          <p:cNvPr id="11" name="TextBox 10"/>
          <p:cNvSpPr txBox="1"/>
          <p:nvPr/>
        </p:nvSpPr>
        <p:spPr>
          <a:xfrm>
            <a:off x="777240" y="24231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DỮ LIỆU</a:t>
            </a:r>
          </a:p>
        </p:txBody>
      </p:sp>
      <p:graphicFrame>
        <p:nvGraphicFramePr>
          <p:cNvPr id="12" name="Table 11"/>
          <p:cNvGraphicFramePr>
            <a:graphicFrameLocks noGrp="1"/>
          </p:cNvGraphicFramePr>
          <p:nvPr/>
        </p:nvGraphicFramePr>
        <p:xfrm>
          <a:off x="777240" y="2761488"/>
          <a:ext cx="4998567" cy="1554480"/>
        </p:xfrm>
        <a:graphic>
          <a:graphicData uri="http://schemas.openxmlformats.org/drawingml/2006/table">
            <a:tbl>
              <a:tblPr>
                <a:tableStyleId>{5C22544A-7EE6-4342-B048-85BDC9FD1C3A}</a:tableStyleId>
              </a:tblPr>
              <a:tblGrid>
                <a:gridCol w="2249355"/>
                <a:gridCol w="2749212"/>
              </a:tblGrid>
              <a:tr h="310896">
                <a:tc>
                  <a:txBody>
                    <a:bodyPr wrap="square"/>
                    <a:lstStyle/>
                    <a:p>
                      <a:pPr algn="l">
                        <a:spcBef>
                          <a:spcPts val="0"/>
                        </a:spcBef>
                        <a:spcAft>
                          <a:spcPts val="0"/>
                        </a:spcAft>
                      </a:pPr>
                      <a:r>
                        <a:rPr sz="1150" b="0">
                          <a:solidFill>
                            <a:srgbClr val="12161C"/>
                          </a:solidFill>
                          <a:latin typeface="Segoe UI"/>
                        </a:rPr>
                        <a:t>Tập Chapman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33.143 bản ghi</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Chia theo bệnh nhân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70 / 15 / 15</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Tập kiểm tra</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4.973 bản ghi</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Bốn nhóm</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AFIB · GSVT · SB · SR</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Kiểm chứng chéo</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Georgia, 5.459 bản ghi</a:t>
                      </a:r>
                    </a:p>
                  </a:txBody>
                  <a:tcPr marL="73152" marR="73152" marT="27432" marB="27432" anchor="ctr">
                    <a:solidFill>
                      <a:srgbClr val="FBFAF8"/>
                    </a:solidFill>
                  </a:tcPr>
                </a:tc>
              </a:tr>
            </a:tbl>
          </a:graphicData>
        </a:graphic>
      </p:graphicFrame>
      <p:sp>
        <p:nvSpPr>
          <p:cNvPr id="13" name="TextBox 12"/>
          <p:cNvSpPr txBox="1"/>
          <p:nvPr/>
        </p:nvSpPr>
        <p:spPr>
          <a:xfrm>
            <a:off x="6415887" y="24231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PHÂN LOẠI THEO ĐOẠN GHI, KHÔNG THEO NHÁT BÓP</a:t>
            </a:r>
          </a:p>
        </p:txBody>
      </p:sp>
      <p:sp>
        <p:nvSpPr>
          <p:cNvPr id="14" name="TextBox 13"/>
          <p:cNvSpPr txBox="1"/>
          <p:nvPr/>
        </p:nvSpPr>
        <p:spPr>
          <a:xfrm>
            <a:off x="6415887" y="2788920"/>
            <a:ext cx="4998567" cy="2194560"/>
          </a:xfrm>
          <a:prstGeom prst="rect">
            <a:avLst/>
          </a:prstGeom>
          <a:noFill/>
        </p:spPr>
        <p:txBody>
          <a:bodyPr wrap="square" lIns="0" rIns="0" tIns="0" bIns="0">
            <a:spAutoFit/>
          </a:bodyPr>
          <a:lstStyle/>
          <a:p>
            <a:pPr algn="l">
              <a:lnSpc>
                <a:spcPct val="132000"/>
              </a:lnSpc>
              <a:spcBef>
                <a:spcPts val="0"/>
              </a:spcBef>
              <a:spcAft>
                <a:spcPts val="1000"/>
              </a:spcAft>
            </a:pPr>
            <a:r>
              <a:rPr sz="1300" b="0">
                <a:solidFill>
                  <a:srgbClr val="12161C"/>
                </a:solidFill>
                <a:latin typeface="Segoe UI"/>
              </a:rPr>
              <a:t>Mỗi đoạn mười giây nhận </a:t>
            </a:r>
            <a:r>
              <a:rPr sz="1300" b="1">
                <a:solidFill>
                  <a:srgbClr val="12161C"/>
                </a:solidFill>
                <a:latin typeface="Segoe UI"/>
              </a:rPr>
              <a:t>một nhãn</a:t>
            </a:r>
            <a:r>
              <a:rPr sz="1300" b="0">
                <a:solidFill>
                  <a:srgbClr val="12161C"/>
                </a:solidFill>
                <a:latin typeface="Segoe UI"/>
              </a:rPr>
              <a:t> mô tả nhịp điệu chung. Khác với các công trình trên MIT-BIH gán một nhãn cho </a:t>
            </a:r>
            <a:r>
              <a:rPr sz="1300" b="1">
                <a:solidFill>
                  <a:srgbClr val="12161C"/>
                </a:solidFill>
                <a:latin typeface="Segoe UI"/>
              </a:rPr>
              <a:t>từng nhát bóp</a:t>
            </a:r>
            <a:r>
              <a:rPr sz="1300" b="0">
                <a:solidFill>
                  <a:srgbClr val="12161C"/>
                </a:solidFill>
                <a:latin typeface="Segoe UI"/>
              </a:rPr>
              <a:t>.</a:t>
            </a:r>
          </a:p>
          <a:p>
            <a:pPr algn="l">
              <a:lnSpc>
                <a:spcPct val="132000"/>
              </a:lnSpc>
              <a:spcBef>
                <a:spcPts val="0"/>
              </a:spcBef>
              <a:spcAft>
                <a:spcPts val="0"/>
              </a:spcAft>
            </a:pPr>
            <a:r>
              <a:rPr sz="1300" b="0">
                <a:solidFill>
                  <a:srgbClr val="12161C"/>
                </a:solidFill>
                <a:latin typeface="Segoe UI"/>
              </a:rPr>
              <a:t>Đây là lý do dải độ chính xác của bài toán này là 92–95%, còn các công trình theo nhát bóp thường báo 98–99%. </a:t>
            </a:r>
            <a:r>
              <a:rPr sz="1300" b="1">
                <a:solidFill>
                  <a:srgbClr val="12161C"/>
                </a:solidFill>
                <a:latin typeface="Segoe UI"/>
              </a:rPr>
              <a:t>Hai con số không so thẳng hàng được.</a:t>
            </a:r>
          </a:p>
        </p:txBody>
      </p:sp>
      <p:sp>
        <p:nvSpPr>
          <p:cNvPr id="15" name="Rectangle 14"/>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Chia theo bệnh nhân: không bản ghi nào của cùng một người xuất hiện ở hai tập khác nhau.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777240" y="2148840"/>
            <a:ext cx="10637215" cy="274320"/>
          </a:xfrm>
          <a:prstGeom prst="rect">
            <a:avLst/>
          </a:prstGeom>
          <a:noFill/>
        </p:spPr>
        <p:txBody>
          <a:bodyPr wrap="square" lIns="0" rIns="0" tIns="0" bIns="0">
            <a:spAutoFit/>
          </a:bodyPr>
          <a:lstStyle/>
          <a:p>
            <a:pPr algn="l">
              <a:spcBef>
                <a:spcPts val="0"/>
              </a:spcBef>
              <a:spcAft>
                <a:spcPts val="0"/>
              </a:spcAft>
            </a:pPr>
            <a:r>
              <a:rPr sz="1100" b="1">
                <a:solidFill>
                  <a:srgbClr val="B02840"/>
                </a:solidFill>
                <a:latin typeface="Segoe UI"/>
              </a:rPr>
              <a:t>§2</a:t>
            </a:r>
          </a:p>
        </p:txBody>
      </p:sp>
      <p:sp>
        <p:nvSpPr>
          <p:cNvPr id="3" name="TextBox 2"/>
          <p:cNvSpPr txBox="1"/>
          <p:nvPr/>
        </p:nvSpPr>
        <p:spPr>
          <a:xfrm>
            <a:off x="777240" y="2560320"/>
            <a:ext cx="10637215" cy="1737360"/>
          </a:xfrm>
          <a:prstGeom prst="rect">
            <a:avLst/>
          </a:prstGeom>
          <a:noFill/>
        </p:spPr>
        <p:txBody>
          <a:bodyPr wrap="square" lIns="0" rIns="0" tIns="0" bIns="0">
            <a:spAutoFit/>
          </a:bodyPr>
          <a:lstStyle/>
          <a:p>
            <a:pPr algn="l">
              <a:lnSpc>
                <a:spcPct val="105000"/>
              </a:lnSpc>
              <a:spcBef>
                <a:spcPts val="0"/>
              </a:spcBef>
              <a:spcAft>
                <a:spcPts val="0"/>
              </a:spcAft>
            </a:pPr>
            <a:r>
              <a:rPr sz="4400" b="0">
                <a:solidFill>
                  <a:srgbClr val="FBFAF8"/>
                </a:solidFill>
                <a:latin typeface="Georgia"/>
              </a:rPr>
              <a:t>Khoảng trống nghiên cứu
và đóng góp</a:t>
            </a:r>
          </a:p>
        </p:txBody>
      </p:sp>
      <p:sp>
        <p:nvSpPr>
          <p:cNvPr id="4" name="TextBox 3"/>
          <p:cNvSpPr txBox="1"/>
          <p:nvPr/>
        </p:nvSpPr>
        <p:spPr>
          <a:xfrm>
            <a:off x="777240" y="4343400"/>
            <a:ext cx="10637215" cy="457200"/>
          </a:xfrm>
          <a:prstGeom prst="rect">
            <a:avLst/>
          </a:prstGeom>
          <a:noFill/>
        </p:spPr>
        <p:txBody>
          <a:bodyPr wrap="square" lIns="0" rIns="0" tIns="0" bIns="0">
            <a:spAutoFit/>
          </a:bodyPr>
          <a:lstStyle/>
          <a:p>
            <a:pPr algn="l">
              <a:spcBef>
                <a:spcPts val="0"/>
              </a:spcBef>
              <a:spcAft>
                <a:spcPts val="0"/>
              </a:spcAft>
            </a:pPr>
            <a:r>
              <a:rPr sz="1500" b="0">
                <a:solidFill>
                  <a:srgbClr val="858C97"/>
                </a:solidFill>
                <a:latin typeface="Segoe UI"/>
              </a:rPr>
              <a:t>Khảo sát mười lăm công trình · Hai chỗ chưa được chạm tới · Bốn đóng góp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2.1 · KHOẢNG TRỐNG NGHIÊN CỨU</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2700" b="0">
                <a:solidFill>
                  <a:srgbClr val="12161C"/>
                </a:solidFill>
                <a:latin typeface="Georgia"/>
              </a:rPr>
              <a:t>Khảo sát các bộ tăng tốc điện tâm đồ trên FPGA</a:t>
            </a:r>
          </a:p>
        </p:txBody>
      </p:sp>
      <p:graphicFrame>
        <p:nvGraphicFramePr>
          <p:cNvPr id="4" name="Table 3"/>
          <p:cNvGraphicFramePr>
            <a:graphicFrameLocks noGrp="1"/>
          </p:cNvGraphicFramePr>
          <p:nvPr/>
        </p:nvGraphicFramePr>
        <p:xfrm>
          <a:off x="777240" y="1572768"/>
          <a:ext cx="10637214" cy="3657600"/>
        </p:xfrm>
        <a:graphic>
          <a:graphicData uri="http://schemas.openxmlformats.org/drawingml/2006/table">
            <a:tbl>
              <a:tblPr>
                <a:tableStyleId>{5C22544A-7EE6-4342-B048-85BDC9FD1C3A}</a:tableStyleId>
              </a:tblPr>
              <a:tblGrid>
                <a:gridCol w="2446559"/>
                <a:gridCol w="4254886"/>
                <a:gridCol w="2340187"/>
                <a:gridCol w="1595582"/>
              </a:tblGrid>
              <a:tr h="365760">
                <a:tc>
                  <a:txBody>
                    <a:bodyPr wrap="square"/>
                    <a:lstStyle/>
                    <a:p>
                      <a:pPr algn="l">
                        <a:spcBef>
                          <a:spcPts val="0"/>
                        </a:spcBef>
                        <a:spcAft>
                          <a:spcPts val="0"/>
                        </a:spcAft>
                      </a:pPr>
                      <a:r>
                        <a:rPr sz="950" b="1">
                          <a:solidFill>
                            <a:srgbClr val="858C97"/>
                          </a:solidFill>
                          <a:latin typeface="Segoe UI"/>
                        </a:rPr>
                        <a:t>CÔNG TRÌNH</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MÔ HÌNH / LƯỢNG TỬ HOÁ</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BÀI TOÁN</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ĐỘ CHÍNH XÁC</a:t>
                      </a:r>
                    </a:p>
                  </a:txBody>
                  <a:tcPr marL="73152" marR="73152" marT="27432" marB="27432" anchor="ctr">
                    <a:solidFill>
                      <a:srgbClr val="FBFAF8"/>
                    </a:solidFill>
                  </a:tcPr>
                </a:tc>
              </a:tr>
              <a:tr h="365760">
                <a:tc>
                  <a:txBody>
                    <a:bodyPr wrap="square"/>
                    <a:lstStyle/>
                    <a:p>
                      <a:pPr algn="l">
                        <a:spcBef>
                          <a:spcPts val="0"/>
                        </a:spcBef>
                        <a:spcAft>
                          <a:spcPts val="0"/>
                        </a:spcAft>
                      </a:pPr>
                      <a:r>
                        <a:rPr sz="1050" b="1">
                          <a:solidFill>
                            <a:srgbClr val="12161C"/>
                          </a:solidFill>
                          <a:latin typeface="Segoe UI"/>
                        </a:rPr>
                        <a:t>Liu (2023) — đối chiếu chính</a:t>
                      </a:r>
                    </a:p>
                  </a:txBody>
                  <a:tcPr marL="73152" marR="73152" marT="27432" marB="27432" anchor="ctr">
                    <a:solidFill>
                      <a:srgbClr val="F2F1ED"/>
                    </a:solidFill>
                  </a:tcPr>
                </a:tc>
                <a:tc>
                  <a:txBody>
                    <a:bodyPr wrap="square"/>
                    <a:lstStyle/>
                    <a:p>
                      <a:pPr algn="l">
                        <a:spcBef>
                          <a:spcPts val="0"/>
                        </a:spcBef>
                        <a:spcAft>
                          <a:spcPts val="0"/>
                        </a:spcAft>
                      </a:pPr>
                      <a:r>
                        <a:rPr sz="1050" b="1">
                          <a:solidFill>
                            <a:srgbClr val="12161C"/>
                          </a:solidFill>
                          <a:latin typeface="Segoe UI"/>
                        </a:rPr>
                        <a:t>1D-CNN, ánh xạ toàn phần — INT8 luỹ thừa hai, cắt bỏ</a:t>
                      </a:r>
                    </a:p>
                  </a:txBody>
                  <a:tcPr marL="73152" marR="73152" marT="27432" marB="27432" anchor="ctr">
                    <a:solidFill>
                      <a:srgbClr val="F2F1ED"/>
                    </a:solidFill>
                  </a:tcPr>
                </a:tc>
                <a:tc>
                  <a:txBody>
                    <a:bodyPr wrap="square"/>
                    <a:lstStyle/>
                    <a:p>
                      <a:pPr algn="l">
                        <a:spcBef>
                          <a:spcPts val="0"/>
                        </a:spcBef>
                        <a:spcAft>
                          <a:spcPts val="0"/>
                        </a:spcAft>
                      </a:pPr>
                      <a:r>
                        <a:rPr sz="1050" b="1">
                          <a:solidFill>
                            <a:srgbClr val="12161C"/>
                          </a:solidFill>
                          <a:latin typeface="Segoe UI"/>
                        </a:rPr>
                        <a:t>Chapman · nhóm nhịp</a:t>
                      </a:r>
                    </a:p>
                  </a:txBody>
                  <a:tcPr marL="73152" marR="73152" marT="27432" marB="27432" anchor="ctr">
                    <a:solidFill>
                      <a:srgbClr val="F2F1ED"/>
                    </a:solidFill>
                  </a:tcPr>
                </a:tc>
                <a:tc>
                  <a:txBody>
                    <a:bodyPr wrap="square"/>
                    <a:lstStyle/>
                    <a:p>
                      <a:pPr algn="r">
                        <a:spcBef>
                          <a:spcPts val="0"/>
                        </a:spcBef>
                        <a:spcAft>
                          <a:spcPts val="0"/>
                        </a:spcAft>
                      </a:pPr>
                      <a:r>
                        <a:rPr sz="1050" b="1">
                          <a:solidFill>
                            <a:srgbClr val="12161C"/>
                          </a:solidFill>
                          <a:latin typeface="Segoe UI"/>
                        </a:rPr>
                        <a:t>92,95 %</a:t>
                      </a:r>
                    </a:p>
                  </a:txBody>
                  <a:tcPr marL="73152" marR="73152" marT="27432" marB="27432" anchor="ctr">
                    <a:solidFill>
                      <a:srgbClr val="F2F1ED"/>
                    </a:solidFill>
                  </a:tcPr>
                </a:tc>
              </a:tr>
              <a:tr h="365760">
                <a:tc>
                  <a:txBody>
                    <a:bodyPr wrap="square"/>
                    <a:lstStyle/>
                    <a:p>
                      <a:pPr algn="l">
                        <a:spcBef>
                          <a:spcPts val="0"/>
                        </a:spcBef>
                        <a:spcAft>
                          <a:spcPts val="0"/>
                        </a:spcAft>
                      </a:pPr>
                      <a:r>
                        <a:rPr sz="1050" b="0">
                          <a:solidFill>
                            <a:srgbClr val="12161C"/>
                          </a:solidFill>
                          <a:latin typeface="Segoe UI"/>
                        </a:rPr>
                        <a:t>Cheng (2021)</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1D-CNN — INT8</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Chapman · nhóm nhịp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93,14 %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Pham (2025) — MINA</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Mini-InceptionNet 6.457 tham số — INT8</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99,37 %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Tran (2026) — ECG-LDC</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Tính toán chiều thấp — không khối nhân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97,18 %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Rawal (2023)</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1D-CNN cắt tỉa — số nguyên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CinC 2017 · nhóm nhịp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86,37 %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Wess (2017)</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MLP + PCA — dấu phẩy tĩnh</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99,82 %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Srivastava (2022)</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Mạng nơ-ron xác suất — số nguyên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98,27 %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Xing (2022)</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Mạng xung — mã hoá xung</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92,07 %</a:t>
                      </a:r>
                    </a:p>
                  </a:txBody>
                  <a:tcPr marL="73152" marR="73152" marT="27432" marB="27432" anchor="ctr">
                    <a:solidFill>
                      <a:srgbClr val="FBFAF8"/>
                    </a:solidFill>
                  </a:tcPr>
                </a:tc>
              </a:tr>
              <a:tr h="365760">
                <a:tc>
                  <a:txBody>
                    <a:bodyPr wrap="square"/>
                    <a:lstStyle/>
                    <a:p>
                      <a:pPr algn="l">
                        <a:spcBef>
                          <a:spcPts val="0"/>
                        </a:spcBef>
                        <a:spcAft>
                          <a:spcPts val="0"/>
                        </a:spcAft>
                      </a:pPr>
                      <a:r>
                        <a:rPr sz="1050" b="0">
                          <a:solidFill>
                            <a:srgbClr val="12161C"/>
                          </a:solidFill>
                          <a:latin typeface="Segoe UI"/>
                        </a:rPr>
                        <a:t>Ran (2022)</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CNN lớn — số nguyên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a:t>
                      </a:r>
                    </a:p>
                  </a:txBody>
                  <a:tcPr marL="73152" marR="73152" marT="27432" marB="27432" anchor="ctr">
                    <a:solidFill>
                      <a:srgbClr val="FBFAF8"/>
                    </a:solidFill>
                  </a:tcPr>
                </a:tc>
              </a:tr>
            </a:tbl>
          </a:graphicData>
        </a:graphic>
      </p:graphicFrame>
      <p:sp>
        <p:nvSpPr>
          <p:cNvPr id="5" name="Rectangle 4"/>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Cột độ chính xác không so thẳng hàng được: “nhát bóp” gán một nhãn cho mỗi nhịp tim (thường 98–99 %), “nhóm nhịp” gán một nhãn cho cả đoạn mười giây (thường 92–95 %).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2.1 · KHOẢNG TRỐNG NGHIÊN CỨU</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2700" b="0">
                <a:solidFill>
                  <a:srgbClr val="12161C"/>
                </a:solidFill>
                <a:latin typeface="Georgia"/>
              </a:rPr>
              <a:t>Khảo sát các mô hình phân loại trên phần mềm</a:t>
            </a:r>
          </a:p>
        </p:txBody>
      </p:sp>
      <p:graphicFrame>
        <p:nvGraphicFramePr>
          <p:cNvPr id="4" name="Table 3"/>
          <p:cNvGraphicFramePr>
            <a:graphicFrameLocks noGrp="1"/>
          </p:cNvGraphicFramePr>
          <p:nvPr/>
        </p:nvGraphicFramePr>
        <p:xfrm>
          <a:off x="777240" y="1627632"/>
          <a:ext cx="10637213" cy="3328416"/>
        </p:xfrm>
        <a:graphic>
          <a:graphicData uri="http://schemas.openxmlformats.org/drawingml/2006/table">
            <a:tbl>
              <a:tblPr>
                <a:tableStyleId>{5C22544A-7EE6-4342-B048-85BDC9FD1C3A}</a:tableStyleId>
              </a:tblPr>
              <a:tblGrid>
                <a:gridCol w="2552931"/>
                <a:gridCol w="4574002"/>
                <a:gridCol w="2233815"/>
                <a:gridCol w="1276465"/>
              </a:tblGrid>
              <a:tr h="475488">
                <a:tc>
                  <a:txBody>
                    <a:bodyPr wrap="square"/>
                    <a:lstStyle/>
                    <a:p>
                      <a:pPr algn="l">
                        <a:spcBef>
                          <a:spcPts val="0"/>
                        </a:spcBef>
                        <a:spcAft>
                          <a:spcPts val="0"/>
                        </a:spcAft>
                      </a:pPr>
                      <a:r>
                        <a:rPr sz="950" b="1">
                          <a:solidFill>
                            <a:srgbClr val="858C97"/>
                          </a:solidFill>
                          <a:latin typeface="Segoe UI"/>
                        </a:rPr>
                        <a:t>CÔNG TRÌNH</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MÔ HÌNH / LƯỢNG TỬ HOÁ</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BÀI TOÁN</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ĐỘ CHÍNH XÁC</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Zheng (2020) — tác giả tập dữ liệu</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XGBoost — không lượng tử hoá</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Chapman · nhóm nhịp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F1 0,97</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Le (2023) — LightX3ECG</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1D-SEResNet 5,31 triệu tham số — cắt tỉa 80 %, không lượng tử hoá</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Chapman · 3 chuyển đạo</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98,73 %</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Yoon (2023) — Bimodal CNN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Inception-v3 ~23 triệu tham số — không lượng tử hoá</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Chapman · 12 chuyển đạo</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95,08 %</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Kiranyaz (2016)</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1D-CNN riêng từng bệnh nhân — không lượng tử hoá</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Hannun (2019)</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ResNet 34 lớp — không lượng tử hoá</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Tập riêng · nhóm nhịp</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a:t>
                      </a:r>
                    </a:p>
                  </a:txBody>
                  <a:tcPr marL="73152" marR="73152" marT="27432" marB="27432" anchor="ctr">
                    <a:solidFill>
                      <a:srgbClr val="FBFAF8"/>
                    </a:solidFill>
                  </a:tcPr>
                </a:tc>
              </a:tr>
              <a:tr h="475488">
                <a:tc>
                  <a:txBody>
                    <a:bodyPr wrap="square"/>
                    <a:lstStyle/>
                    <a:p>
                      <a:pPr algn="l">
                        <a:spcBef>
                          <a:spcPts val="0"/>
                        </a:spcBef>
                        <a:spcAft>
                          <a:spcPts val="0"/>
                        </a:spcAft>
                      </a:pPr>
                      <a:r>
                        <a:rPr sz="1050" b="0">
                          <a:solidFill>
                            <a:srgbClr val="12161C"/>
                          </a:solidFill>
                          <a:latin typeface="Segoe UI"/>
                        </a:rPr>
                        <a:t>Jacob · Han · Li · Nagel</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Phương pháp nén và lượng tử hoá chung — INT8 thang thực, cần khối nhân</a:t>
                      </a:r>
                    </a:p>
                  </a:txBody>
                  <a:tcPr marL="73152" marR="73152" marT="27432" marB="27432" anchor="ctr">
                    <a:solidFill>
                      <a:srgbClr val="FBFAF8"/>
                    </a:solidFill>
                  </a:tcPr>
                </a:tc>
                <a:tc>
                  <a:txBody>
                    <a:bodyPr wrap="square"/>
                    <a:lstStyle/>
                    <a:p>
                      <a:pPr algn="l">
                        <a:spcBef>
                          <a:spcPts val="0"/>
                        </a:spcBef>
                        <a:spcAft>
                          <a:spcPts val="0"/>
                        </a:spcAft>
                      </a:pPr>
                      <a:r>
                        <a:rPr sz="1050" b="0">
                          <a:solidFill>
                            <a:srgbClr val="12161C"/>
                          </a:solidFill>
                          <a:latin typeface="Segoe UI"/>
                        </a:rPr>
                        <a:t>Không gắn mạch cụ thể</a:t>
                      </a:r>
                    </a:p>
                  </a:txBody>
                  <a:tcPr marL="73152" marR="73152" marT="27432" marB="27432" anchor="ctr">
                    <a:solidFill>
                      <a:srgbClr val="FBFAF8"/>
                    </a:solidFill>
                  </a:tcPr>
                </a:tc>
                <a:tc>
                  <a:txBody>
                    <a:bodyPr wrap="square"/>
                    <a:lstStyle/>
                    <a:p>
                      <a:pPr algn="r">
                        <a:spcBef>
                          <a:spcPts val="0"/>
                        </a:spcBef>
                        <a:spcAft>
                          <a:spcPts val="0"/>
                        </a:spcAft>
                      </a:pPr>
                      <a:r>
                        <a:rPr sz="1050" b="0">
                          <a:solidFill>
                            <a:srgbClr val="12161C"/>
                          </a:solidFill>
                          <a:latin typeface="Segoe UI"/>
                        </a:rPr>
                        <a:t>—</a:t>
                      </a:r>
                    </a:p>
                  </a:txBody>
                  <a:tcPr marL="73152" marR="73152" marT="27432" marB="27432" anchor="ctr">
                    <a:solidFill>
                      <a:srgbClr val="FBFAF8"/>
                    </a:solidFill>
                  </a:tcPr>
                </a:tc>
              </a:tr>
            </a:tbl>
          </a:graphicData>
        </a:graphic>
      </p:graphicFrame>
      <p:sp>
        <p:nvSpPr>
          <p:cNvPr id="5" name="TextBox 4"/>
          <p:cNvSpPr txBox="1"/>
          <p:nvPr/>
        </p:nvSpPr>
        <p:spPr>
          <a:xfrm>
            <a:off x="777240" y="5230368"/>
            <a:ext cx="10637215" cy="731520"/>
          </a:xfrm>
          <a:prstGeom prst="rect">
            <a:avLst/>
          </a:prstGeom>
          <a:noFill/>
        </p:spPr>
        <p:txBody>
          <a:bodyPr wrap="square" lIns="0" rIns="0" tIns="0" bIns="0">
            <a:spAutoFit/>
          </a:bodyPr>
          <a:lstStyle/>
          <a:p>
            <a:pPr algn="l">
              <a:lnSpc>
                <a:spcPct val="130000"/>
              </a:lnSpc>
              <a:spcBef>
                <a:spcPts val="0"/>
              </a:spcBef>
              <a:spcAft>
                <a:spcPts val="0"/>
              </a:spcAft>
            </a:pPr>
            <a:r>
              <a:rPr sz="1300" b="0">
                <a:solidFill>
                  <a:srgbClr val="5C6470"/>
                </a:solidFill>
                <a:latin typeface="Segoe UI"/>
              </a:rPr>
              <a:t>Le và Yoon cùng bài toán bốn nhóm nhịp trên Chapman, nhưng dùng ba và mười hai chuyển đạo, và mô hình lớn hơn khoảng </a:t>
            </a:r>
            <a:r>
              <a:rPr sz="1300" b="1">
                <a:solidFill>
                  <a:srgbClr val="5C6470"/>
                </a:solidFill>
                <a:latin typeface="Segoe UI"/>
              </a:rPr>
              <a:t>tám nghìn đến ba mươi lăm nghìn lần</a:t>
            </a:r>
            <a:r>
              <a:rPr sz="1300" b="0">
                <a:solidFill>
                  <a:srgbClr val="5C6470"/>
                </a:solidFill>
                <a:latin typeface="Segoe UI"/>
              </a:rPr>
              <a:t>.</a:t>
            </a:r>
          </a:p>
        </p:txBody>
      </p:sp>
      <p:sp>
        <p:nvSpPr>
          <p:cNvPr id="6" name="Rectangle 5"/>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Rà soát bối cảnh phục vụ phần trình bày. Danh mục trích dẫn trong quyển gồm 24 mục, giữ nguyên tắc chỉ trích dẫn những mục thực sự dùng trong lập luận.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2.1 · NHẬN XÉT</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2800" b="0">
                <a:solidFill>
                  <a:srgbClr val="12161C"/>
                </a:solidFill>
                <a:latin typeface="Georgia"/>
              </a:rPr>
              <a:t>Hai chỗ chưa được chạm tới</a:t>
            </a:r>
          </a:p>
        </p:txBody>
      </p:sp>
      <p:sp>
        <p:nvSpPr>
          <p:cNvPr id="4" name="Rectangle 3"/>
          <p:cNvSpPr/>
          <p:nvPr/>
        </p:nvSpPr>
        <p:spPr>
          <a:xfrm>
            <a:off x="777240" y="1645920"/>
            <a:ext cx="5163159" cy="210312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spcBef>
                <a:spcPts val="0"/>
              </a:spcBef>
              <a:spcAft>
                <a:spcPts val="400"/>
              </a:spcAft>
            </a:pPr>
            <a:r>
              <a:rPr sz="2800" b="1">
                <a:solidFill>
                  <a:srgbClr val="B02840"/>
                </a:solidFill>
                <a:latin typeface="Segoe UI"/>
              </a:rPr>
              <a:t>0 / 3</a:t>
            </a:r>
          </a:p>
          <a:p>
            <a:pPr algn="l">
              <a:spcBef>
                <a:spcPts val="0"/>
              </a:spcBef>
              <a:spcAft>
                <a:spcPts val="700"/>
              </a:spcAft>
            </a:pPr>
            <a:r>
              <a:rPr sz="1300" b="1">
                <a:solidFill>
                  <a:srgbClr val="12161C"/>
                </a:solidFill>
                <a:latin typeface="Segoe UI"/>
              </a:rPr>
              <a:t>G1 · Số kênh mô hình bằng số đơn vị tính của mạch</a:t>
            </a:r>
          </a:p>
          <a:p>
            <a:pPr algn="l">
              <a:lnSpc>
                <a:spcPct val="126000"/>
              </a:lnSpc>
              <a:spcBef>
                <a:spcPts val="0"/>
              </a:spcBef>
              <a:spcAft>
                <a:spcPts val="0"/>
              </a:spcAft>
            </a:pPr>
            <a:r>
              <a:rPr sz="1150" b="0">
                <a:solidFill>
                  <a:srgbClr val="5C6470"/>
                </a:solidFill>
                <a:latin typeface="Segoe UI"/>
              </a:rPr>
              <a:t>Trong ba công trình so trực tiếp được — Liu, Cheng, Rawal — không bài nào có số kênh trùng số đơn vị tính của mạch. Hệ quả: có tầng phải chạy nhiều lượt, hoặc có đơn vị tính bỏ không.</a:t>
            </a:r>
          </a:p>
        </p:txBody>
      </p:sp>
      <p:sp>
        <p:nvSpPr>
          <p:cNvPr id="5" name="Rectangle 4"/>
          <p:cNvSpPr/>
          <p:nvPr/>
        </p:nvSpPr>
        <p:spPr>
          <a:xfrm>
            <a:off x="6251295" y="1645920"/>
            <a:ext cx="5163159" cy="210312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spcBef>
                <a:spcPts val="0"/>
              </a:spcBef>
              <a:spcAft>
                <a:spcPts val="400"/>
              </a:spcAft>
            </a:pPr>
            <a:r>
              <a:rPr sz="2800" b="1">
                <a:solidFill>
                  <a:srgbClr val="B02840"/>
                </a:solidFill>
                <a:latin typeface="Segoe UI"/>
              </a:rPr>
              <a:t>51 %</a:t>
            </a:r>
          </a:p>
          <a:p>
            <a:pPr algn="l">
              <a:spcBef>
                <a:spcPts val="0"/>
              </a:spcBef>
              <a:spcAft>
                <a:spcPts val="700"/>
              </a:spcAft>
            </a:pPr>
            <a:r>
              <a:rPr sz="1300" b="1">
                <a:solidFill>
                  <a:srgbClr val="12161C"/>
                </a:solidFill>
                <a:latin typeface="Segoe UI"/>
              </a:rPr>
              <a:t>G2 · Đã lượng tử hoá đúng cách mà mạch vẫn lớn</a:t>
            </a:r>
          </a:p>
          <a:p>
            <a:pPr algn="l">
              <a:lnSpc>
                <a:spcPct val="126000"/>
              </a:lnSpc>
              <a:spcBef>
                <a:spcPts val="0"/>
              </a:spcBef>
              <a:spcAft>
                <a:spcPts val="0"/>
              </a:spcAft>
            </a:pPr>
            <a:r>
              <a:rPr sz="1150" b="0">
                <a:solidFill>
                  <a:srgbClr val="5C6470"/>
                </a:solidFill>
                <a:latin typeface="Segoe UI"/>
              </a:rPr>
              <a:t>Liu dùng INT8 luỹ thừa hai, cùng Cyclone V, cùng Chapman — vẫn chiếm 51 % ALM và 86 % thanh ghi. Lượng tử hoá làm rẻ từng phép tính, nó không làm ít đi số phép tính.</a:t>
            </a:r>
          </a:p>
        </p:txBody>
      </p:sp>
      <p:sp>
        <p:nvSpPr>
          <p:cNvPr id="6" name="Rectangle 5"/>
          <p:cNvSpPr/>
          <p:nvPr/>
        </p:nvSpPr>
        <p:spPr>
          <a:xfrm>
            <a:off x="777240" y="3986784"/>
            <a:ext cx="10637215" cy="1481328"/>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 y="4224528"/>
            <a:ext cx="3829397" cy="1097280"/>
          </a:xfrm>
          <a:prstGeom prst="rect">
            <a:avLst/>
          </a:prstGeom>
          <a:noFill/>
        </p:spPr>
        <p:txBody>
          <a:bodyPr wrap="square" lIns="0" rIns="0" tIns="0" bIns="0">
            <a:spAutoFit/>
          </a:bodyPr>
          <a:lstStyle/>
          <a:p>
            <a:pPr algn="l">
              <a:spcBef>
                <a:spcPts val="0"/>
              </a:spcBef>
              <a:spcAft>
                <a:spcPts val="900"/>
              </a:spcAft>
            </a:pPr>
            <a:r>
              <a:rPr sz="1050" b="1">
                <a:solidFill>
                  <a:srgbClr val="858C97"/>
                </a:solidFill>
                <a:latin typeface="Segoe UI"/>
              </a:rPr>
              <a:t>CÁC NGHIÊN CỨU TRƯỚC ĐÃ CHỨNG MINH</a:t>
            </a:r>
          </a:p>
          <a:p>
            <a:pPr algn="l">
              <a:spcBef>
                <a:spcPts val="0"/>
              </a:spcBef>
              <a:spcAft>
                <a:spcPts val="0"/>
              </a:spcAft>
            </a:pPr>
            <a:r>
              <a:rPr sz="1700" b="1">
                <a:solidFill>
                  <a:srgbClr val="FBFAF8"/>
                </a:solidFill>
                <a:latin typeface="Georgia"/>
              </a:rPr>
              <a:t>✓   Độ chính xác đủ dùng</a:t>
            </a:r>
          </a:p>
        </p:txBody>
      </p:sp>
      <p:sp>
        <p:nvSpPr>
          <p:cNvPr id="8" name="Rectangle 7"/>
          <p:cNvSpPr/>
          <p:nvPr/>
        </p:nvSpPr>
        <p:spPr>
          <a:xfrm>
            <a:off x="5244870" y="4224528"/>
            <a:ext cx="12700" cy="100584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902" y="4224528"/>
            <a:ext cx="5744096" cy="1097280"/>
          </a:xfrm>
          <a:prstGeom prst="rect">
            <a:avLst/>
          </a:prstGeom>
          <a:noFill/>
        </p:spPr>
        <p:txBody>
          <a:bodyPr wrap="square" lIns="0" rIns="0" tIns="0" bIns="0">
            <a:spAutoFit/>
          </a:bodyPr>
          <a:lstStyle/>
          <a:p>
            <a:pPr algn="l">
              <a:spcBef>
                <a:spcPts val="0"/>
              </a:spcBef>
              <a:spcAft>
                <a:spcPts val="900"/>
              </a:spcAft>
            </a:pPr>
            <a:r>
              <a:rPr sz="1050" b="1">
                <a:solidFill>
                  <a:srgbClr val="B02840"/>
                </a:solidFill>
                <a:latin typeface="Segoe UI"/>
              </a:rPr>
              <a:t>NHƯNG CHƯA CHỨNG MINH ĐƯỢC</a:t>
            </a:r>
          </a:p>
          <a:p>
            <a:pPr algn="l">
              <a:lnSpc>
                <a:spcPct val="130000"/>
              </a:lnSpc>
              <a:spcBef>
                <a:spcPts val="0"/>
              </a:spcBef>
              <a:spcAft>
                <a:spcPts val="0"/>
              </a:spcAft>
            </a:pPr>
            <a:r>
              <a:rPr sz="1500" b="1">
                <a:solidFill>
                  <a:srgbClr val="FBFAF8"/>
                </a:solidFill>
                <a:latin typeface="Georgia"/>
              </a:rPr>
              <a:t>✗   Mô hình vừa khít mạch          ✗   Mạch nhỏ tương xứng</a:t>
            </a:r>
          </a:p>
        </p:txBody>
      </p:sp>
      <p:sp>
        <p:nvSpPr>
          <p:cNvPr id="10" name="Rectangle 9"/>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Không công trình nào sai — họ trả lời câu hỏi khác. Nhóm phần mềm tối ưu mô hình mà không hỏi nó chạy ở đâu; nhóm phần cứng tối ưu mạch nhưng nhận mô hình như đầu vào cố định.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2.2 · ĐÓNG GÓP CỦA ĐỀ TÀI</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2700" b="0">
                <a:solidFill>
                  <a:srgbClr val="12161C"/>
                </a:solidFill>
                <a:latin typeface="Georgia"/>
              </a:rPr>
              <a:t>Bốn đóng góp về kỹ thuật và phương pháp đánh giá</a:t>
            </a:r>
          </a:p>
        </p:txBody>
      </p:sp>
      <p:sp>
        <p:nvSpPr>
          <p:cNvPr id="4" name="Rectangle 3"/>
          <p:cNvSpPr/>
          <p:nvPr/>
        </p:nvSpPr>
        <p:spPr>
          <a:xfrm>
            <a:off x="777240" y="1700784"/>
            <a:ext cx="5163159" cy="1517904"/>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 y="1883664"/>
            <a:ext cx="365760" cy="365760"/>
          </a:xfrm>
          <a:prstGeom prst="ellipse">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500" b="1">
                <a:solidFill>
                  <a:srgbClr val="FBFAF8"/>
                </a:solidFill>
                <a:latin typeface="Segoe UI"/>
              </a:rPr>
              <a:t>1</a:t>
            </a:r>
          </a:p>
        </p:txBody>
      </p:sp>
      <p:sp>
        <p:nvSpPr>
          <p:cNvPr id="6" name="TextBox 5"/>
          <p:cNvSpPr txBox="1"/>
          <p:nvPr/>
        </p:nvSpPr>
        <p:spPr>
          <a:xfrm>
            <a:off x="1453896" y="1874520"/>
            <a:ext cx="4285335" cy="1463040"/>
          </a:xfrm>
          <a:prstGeom prst="rect">
            <a:avLst/>
          </a:prstGeom>
          <a:noFill/>
        </p:spPr>
        <p:txBody>
          <a:bodyPr wrap="square" lIns="0" rIns="0" tIns="0" bIns="0">
            <a:spAutoFit/>
          </a:bodyPr>
          <a:lstStyle/>
          <a:p>
            <a:pPr algn="l">
              <a:lnSpc>
                <a:spcPct val="127000"/>
              </a:lnSpc>
              <a:spcBef>
                <a:spcPts val="0"/>
              </a:spcBef>
              <a:spcAft>
                <a:spcPts val="700"/>
              </a:spcAft>
            </a:pPr>
            <a:r>
              <a:rPr sz="1200" b="0">
                <a:solidFill>
                  <a:srgbClr val="12161C"/>
                </a:solidFill>
                <a:latin typeface="Segoe UI"/>
              </a:rPr>
              <a:t>Cắt tỉa mô hình theo ràng buộc mạch — số kênh dừng đúng ở số đơn vị tính của mạch, là luỹ thừa của hai và vừa bộ nhớ trên chip</a:t>
            </a:r>
          </a:p>
          <a:p>
            <a:pPr algn="l">
              <a:lnSpc>
                <a:spcPct val="120000"/>
              </a:lnSpc>
              <a:spcBef>
                <a:spcPts val="0"/>
              </a:spcBef>
              <a:spcAft>
                <a:spcPts val="0"/>
              </a:spcAft>
            </a:pPr>
            <a:r>
              <a:rPr sz="1100" b="1">
                <a:solidFill>
                  <a:srgbClr val="B02840"/>
                </a:solidFill>
                <a:latin typeface="Segoe UI"/>
              </a:rPr>
              <a:t>1.244 → 640 tham số · 2.148 ALM = 5 % chip      → lấp G1</a:t>
            </a:r>
          </a:p>
        </p:txBody>
      </p:sp>
      <p:sp>
        <p:nvSpPr>
          <p:cNvPr id="7" name="Rectangle 6"/>
          <p:cNvSpPr/>
          <p:nvPr/>
        </p:nvSpPr>
        <p:spPr>
          <a:xfrm>
            <a:off x="6251295" y="1700784"/>
            <a:ext cx="5163159" cy="1517904"/>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34175" y="1883664"/>
            <a:ext cx="365760" cy="365760"/>
          </a:xfrm>
          <a:prstGeom prst="ellipse">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500" b="1">
                <a:solidFill>
                  <a:srgbClr val="FBFAF8"/>
                </a:solidFill>
                <a:latin typeface="Segoe UI"/>
              </a:rPr>
              <a:t>3</a:t>
            </a:r>
          </a:p>
        </p:txBody>
      </p:sp>
      <p:sp>
        <p:nvSpPr>
          <p:cNvPr id="9" name="TextBox 8"/>
          <p:cNvSpPr txBox="1"/>
          <p:nvPr/>
        </p:nvSpPr>
        <p:spPr>
          <a:xfrm>
            <a:off x="6927951" y="1874520"/>
            <a:ext cx="4285335" cy="1463040"/>
          </a:xfrm>
          <a:prstGeom prst="rect">
            <a:avLst/>
          </a:prstGeom>
          <a:noFill/>
        </p:spPr>
        <p:txBody>
          <a:bodyPr wrap="square" lIns="0" rIns="0" tIns="0" bIns="0">
            <a:spAutoFit/>
          </a:bodyPr>
          <a:lstStyle/>
          <a:p>
            <a:pPr algn="l">
              <a:lnSpc>
                <a:spcPct val="127000"/>
              </a:lnSpc>
              <a:spcBef>
                <a:spcPts val="0"/>
              </a:spcBef>
              <a:spcAft>
                <a:spcPts val="700"/>
              </a:spcAft>
            </a:pPr>
            <a:r>
              <a:rPr sz="1200" b="0">
                <a:solidFill>
                  <a:srgbClr val="12161C"/>
                </a:solidFill>
                <a:latin typeface="Segoe UI"/>
              </a:rPr>
              <a:t>Kiểm chứng khớp bit giữa mô hình phần mềm và mạch tại mọi ranh giới tầng, đối chiếu từng giá trị trung gian chứ không so trong dung sai</a:t>
            </a:r>
          </a:p>
          <a:p>
            <a:pPr algn="l">
              <a:lnSpc>
                <a:spcPct val="120000"/>
              </a:lnSpc>
              <a:spcBef>
                <a:spcPts val="0"/>
              </a:spcBef>
              <a:spcAft>
                <a:spcPts val="0"/>
              </a:spcAft>
            </a:pPr>
            <a:r>
              <a:rPr sz="1100" b="1">
                <a:solidFill>
                  <a:srgbClr val="B02840"/>
                </a:solidFill>
                <a:latin typeface="Segoe UI"/>
              </a:rPr>
              <a:t>7/7 điểm kiểm tra · sai lệch lớn nhất = 0</a:t>
            </a:r>
          </a:p>
        </p:txBody>
      </p:sp>
      <p:sp>
        <p:nvSpPr>
          <p:cNvPr id="10" name="Rectangle 9"/>
          <p:cNvSpPr/>
          <p:nvPr/>
        </p:nvSpPr>
        <p:spPr>
          <a:xfrm>
            <a:off x="777240" y="3401568"/>
            <a:ext cx="5163159" cy="1517904"/>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3584448"/>
            <a:ext cx="365760" cy="365760"/>
          </a:xfrm>
          <a:prstGeom prst="ellipse">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500" b="1">
                <a:solidFill>
                  <a:srgbClr val="FBFAF8"/>
                </a:solidFill>
                <a:latin typeface="Segoe UI"/>
              </a:rPr>
              <a:t>2</a:t>
            </a:r>
          </a:p>
        </p:txBody>
      </p:sp>
      <p:sp>
        <p:nvSpPr>
          <p:cNvPr id="12" name="TextBox 11"/>
          <p:cNvSpPr txBox="1"/>
          <p:nvPr/>
        </p:nvSpPr>
        <p:spPr>
          <a:xfrm>
            <a:off x="1453896" y="3575304"/>
            <a:ext cx="4285335" cy="1463040"/>
          </a:xfrm>
          <a:prstGeom prst="rect">
            <a:avLst/>
          </a:prstGeom>
          <a:noFill/>
        </p:spPr>
        <p:txBody>
          <a:bodyPr wrap="square" lIns="0" rIns="0" tIns="0" bIns="0">
            <a:spAutoFit/>
          </a:bodyPr>
          <a:lstStyle/>
          <a:p>
            <a:pPr algn="l">
              <a:lnSpc>
                <a:spcPct val="127000"/>
              </a:lnSpc>
              <a:spcBef>
                <a:spcPts val="0"/>
              </a:spcBef>
              <a:spcAft>
                <a:spcPts val="700"/>
              </a:spcAft>
            </a:pPr>
            <a:r>
              <a:rPr sz="1200" b="0">
                <a:solidFill>
                  <a:srgbClr val="12161C"/>
                </a:solidFill>
                <a:latin typeface="Segoe UI"/>
              </a:rPr>
              <a:t>Lượng tử hoá luỹ thừa hai kèm làm tròn nửa lên — phép tái tỉ lệ thành dịch bit, gộp vào khởi tạo bộ cộng nên không thêm mạch</a:t>
            </a:r>
          </a:p>
          <a:p>
            <a:pPr algn="l">
              <a:lnSpc>
                <a:spcPct val="120000"/>
              </a:lnSpc>
              <a:spcBef>
                <a:spcPts val="0"/>
              </a:spcBef>
              <a:spcAft>
                <a:spcPts val="0"/>
              </a:spcAft>
            </a:pPr>
            <a:r>
              <a:rPr sz="1100" b="1">
                <a:solidFill>
                  <a:srgbClr val="B02840"/>
                </a:solidFill>
                <a:latin typeface="Segoe UI"/>
              </a:rPr>
              <a:t>0 DSP cho tái tỉ lệ · +0,38 điểm so với cắt bỏ      → lấp G2</a:t>
            </a:r>
          </a:p>
        </p:txBody>
      </p:sp>
      <p:sp>
        <p:nvSpPr>
          <p:cNvPr id="13" name="Rectangle 12"/>
          <p:cNvSpPr/>
          <p:nvPr/>
        </p:nvSpPr>
        <p:spPr>
          <a:xfrm>
            <a:off x="6251295" y="3401568"/>
            <a:ext cx="5163159" cy="1517904"/>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34175" y="3584448"/>
            <a:ext cx="365760" cy="365760"/>
          </a:xfrm>
          <a:prstGeom prst="ellipse">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500" b="1">
                <a:solidFill>
                  <a:srgbClr val="FBFAF8"/>
                </a:solidFill>
                <a:latin typeface="Segoe UI"/>
              </a:rPr>
              <a:t>4</a:t>
            </a:r>
          </a:p>
        </p:txBody>
      </p:sp>
      <p:sp>
        <p:nvSpPr>
          <p:cNvPr id="15" name="TextBox 14"/>
          <p:cNvSpPr txBox="1"/>
          <p:nvPr/>
        </p:nvSpPr>
        <p:spPr>
          <a:xfrm>
            <a:off x="6927951" y="3575304"/>
            <a:ext cx="4285335" cy="1463040"/>
          </a:xfrm>
          <a:prstGeom prst="rect">
            <a:avLst/>
          </a:prstGeom>
          <a:noFill/>
        </p:spPr>
        <p:txBody>
          <a:bodyPr wrap="square" lIns="0" rIns="0" tIns="0" bIns="0">
            <a:spAutoFit/>
          </a:bodyPr>
          <a:lstStyle/>
          <a:p>
            <a:pPr algn="l">
              <a:lnSpc>
                <a:spcPct val="127000"/>
              </a:lnSpc>
              <a:spcBef>
                <a:spcPts val="0"/>
              </a:spcBef>
              <a:spcAft>
                <a:spcPts val="700"/>
              </a:spcAft>
            </a:pPr>
            <a:r>
              <a:rPr sz="1200" b="0">
                <a:solidFill>
                  <a:srgbClr val="12161C"/>
                </a:solidFill>
                <a:latin typeface="Segoe UI"/>
              </a:rPr>
              <a:t>Kiểm chứng chéo nguồn trên chính mạch đã nạp lên board: toàn bộ tập Georgia, chưa từng dùng khi huấn luyện</a:t>
            </a:r>
          </a:p>
          <a:p>
            <a:pPr algn="l">
              <a:lnSpc>
                <a:spcPct val="120000"/>
              </a:lnSpc>
              <a:spcBef>
                <a:spcPts val="0"/>
              </a:spcBef>
              <a:spcAft>
                <a:spcPts val="0"/>
              </a:spcAft>
            </a:pPr>
            <a:r>
              <a:rPr sz="1100" b="1">
                <a:solidFill>
                  <a:srgbClr val="B02840"/>
                </a:solidFill>
                <a:latin typeface="Segoe UI"/>
              </a:rPr>
              <a:t>93,00 % — khớp phần mềm · INT8 ≥ số thực</a:t>
            </a:r>
          </a:p>
        </p:txBody>
      </p:sp>
      <p:sp>
        <p:nvSpPr>
          <p:cNvPr id="16" name="Rectangle 15"/>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Đóng góp 3 là điều kiện để ba đóng góp kia có nghĩa: nếu không chứng minh được mạch tương đương mô hình thì mọi con số tài nguyên và độ chính xác đều thuộc về một thiết kế chưa chắc đúng.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777240" y="2331720"/>
            <a:ext cx="10637215" cy="274320"/>
          </a:xfrm>
          <a:prstGeom prst="rect">
            <a:avLst/>
          </a:prstGeom>
          <a:noFill/>
        </p:spPr>
        <p:txBody>
          <a:bodyPr wrap="square" lIns="0" rIns="0" tIns="0" bIns="0">
            <a:spAutoFit/>
          </a:bodyPr>
          <a:lstStyle/>
          <a:p>
            <a:pPr algn="l">
              <a:spcBef>
                <a:spcPts val="0"/>
              </a:spcBef>
              <a:spcAft>
                <a:spcPts val="0"/>
              </a:spcAft>
            </a:pPr>
            <a:r>
              <a:rPr sz="1100" b="1">
                <a:solidFill>
                  <a:srgbClr val="B02840"/>
                </a:solidFill>
                <a:latin typeface="Segoe UI"/>
              </a:rPr>
              <a:t>§3</a:t>
            </a:r>
          </a:p>
        </p:txBody>
      </p:sp>
      <p:sp>
        <p:nvSpPr>
          <p:cNvPr id="3" name="TextBox 2"/>
          <p:cNvSpPr txBox="1"/>
          <p:nvPr/>
        </p:nvSpPr>
        <p:spPr>
          <a:xfrm>
            <a:off x="777240" y="2743200"/>
            <a:ext cx="10637215" cy="1097280"/>
          </a:xfrm>
          <a:prstGeom prst="rect">
            <a:avLst/>
          </a:prstGeom>
          <a:noFill/>
        </p:spPr>
        <p:txBody>
          <a:bodyPr wrap="square" lIns="0" rIns="0" tIns="0" bIns="0">
            <a:spAutoFit/>
          </a:bodyPr>
          <a:lstStyle/>
          <a:p>
            <a:pPr algn="l">
              <a:spcBef>
                <a:spcPts val="0"/>
              </a:spcBef>
              <a:spcAft>
                <a:spcPts val="0"/>
              </a:spcAft>
            </a:pPr>
            <a:r>
              <a:rPr sz="4600" b="0">
                <a:solidFill>
                  <a:srgbClr val="FBFAF8"/>
                </a:solidFill>
                <a:latin typeface="Georgia"/>
              </a:rPr>
              <a:t>Phương pháp đề xuất</a:t>
            </a:r>
          </a:p>
        </p:txBody>
      </p:sp>
      <p:sp>
        <p:nvSpPr>
          <p:cNvPr id="4" name="TextBox 3"/>
          <p:cNvSpPr txBox="1"/>
          <p:nvPr/>
        </p:nvSpPr>
        <p:spPr>
          <a:xfrm>
            <a:off x="777240" y="3977639"/>
            <a:ext cx="10637215" cy="457200"/>
          </a:xfrm>
          <a:prstGeom prst="rect">
            <a:avLst/>
          </a:prstGeom>
          <a:noFill/>
        </p:spPr>
        <p:txBody>
          <a:bodyPr wrap="square" lIns="0" rIns="0" tIns="0" bIns="0">
            <a:spAutoFit/>
          </a:bodyPr>
          <a:lstStyle/>
          <a:p>
            <a:pPr algn="l">
              <a:spcBef>
                <a:spcPts val="0"/>
              </a:spcBef>
              <a:spcAft>
                <a:spcPts val="0"/>
              </a:spcAft>
            </a:pPr>
            <a:r>
              <a:rPr sz="1500" b="0">
                <a:solidFill>
                  <a:srgbClr val="858C97"/>
                </a:solidFill>
                <a:latin typeface="Segoe UI"/>
              </a:rPr>
              <a:t>Hai chiều đồng thiết kế · Lượng tử hoá luỹ thừa hai · Kiến trúc tám đơn vị · Kiểm chứng ba tầng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ĐỒNG THIẾT KẾ</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Hai chiều ràng buộc lẫn nhau</a:t>
            </a:r>
          </a:p>
        </p:txBody>
      </p:sp>
      <p:sp>
        <p:nvSpPr>
          <p:cNvPr id="4" name="TextBox 3"/>
          <p:cNvSpPr txBox="1"/>
          <p:nvPr/>
        </p:nvSpPr>
        <p:spPr>
          <a:xfrm>
            <a:off x="777240" y="169164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PHẦN CỨNG RÀNG BUỘC MÔ HÌNH</a:t>
            </a:r>
          </a:p>
        </p:txBody>
      </p:sp>
      <p:sp>
        <p:nvSpPr>
          <p:cNvPr id="5" name="Rectangle 4"/>
          <p:cNvSpPr/>
          <p:nvPr/>
        </p:nvSpPr>
        <p:spPr>
          <a:xfrm>
            <a:off x="777240" y="2029968"/>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Cắt tỉa có cấu trúc theo chuẩn L1</a:t>
            </a:r>
          </a:p>
          <a:p>
            <a:pPr algn="l">
              <a:lnSpc>
                <a:spcPct val="122000"/>
              </a:lnSpc>
              <a:spcBef>
                <a:spcPts val="0"/>
              </a:spcBef>
              <a:spcAft>
                <a:spcPts val="0"/>
              </a:spcAft>
            </a:pPr>
            <a:r>
              <a:rPr sz="1100" b="0">
                <a:solidFill>
                  <a:srgbClr val="5C6470"/>
                </a:solidFill>
                <a:latin typeface="Segoe UI"/>
              </a:rPr>
              <a:t>Bỏ trọn bộ lọc có chuẩn L1 nhỏ nhất — cắt tỉa phi cấu trúc chỉ tạo ma trận thưa mà phần cứng vẫn phải cấp đủ tài nguyên.</a:t>
            </a:r>
          </a:p>
        </p:txBody>
      </p:sp>
      <p:sp>
        <p:nvSpPr>
          <p:cNvPr id="6" name="Rectangle 5"/>
          <p:cNvSpPr/>
          <p:nvPr/>
        </p:nvSpPr>
        <p:spPr>
          <a:xfrm>
            <a:off x="777240" y="2999232"/>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Số kênh là luỹ thừa của hai</a:t>
            </a:r>
          </a:p>
          <a:p>
            <a:pPr algn="l">
              <a:lnSpc>
                <a:spcPct val="122000"/>
              </a:lnSpc>
              <a:spcBef>
                <a:spcPts val="0"/>
              </a:spcBef>
              <a:spcAft>
                <a:spcPts val="0"/>
              </a:spcAft>
            </a:pPr>
            <a:r>
              <a:rPr sz="1100" b="0">
                <a:solidFill>
                  <a:srgbClr val="5C6470"/>
                </a:solidFill>
                <a:latin typeface="Segoe UI"/>
              </a:rPr>
              <a:t>4, 4, 8, 8 — để bộ đếm địa chỉ và cây cộng không cần logic dư.</a:t>
            </a:r>
          </a:p>
        </p:txBody>
      </p:sp>
      <p:sp>
        <p:nvSpPr>
          <p:cNvPr id="7" name="Rectangle 6"/>
          <p:cNvSpPr/>
          <p:nvPr/>
        </p:nvSpPr>
        <p:spPr>
          <a:xfrm>
            <a:off x="777240" y="3968496"/>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Cắt đến khi trọng số vừa chip</a:t>
            </a:r>
          </a:p>
          <a:p>
            <a:pPr algn="l">
              <a:lnSpc>
                <a:spcPct val="122000"/>
              </a:lnSpc>
              <a:spcBef>
                <a:spcPts val="0"/>
              </a:spcBef>
              <a:spcAft>
                <a:spcPts val="0"/>
              </a:spcAft>
            </a:pPr>
            <a:r>
              <a:rPr sz="1100" b="0">
                <a:solidFill>
                  <a:srgbClr val="5C6470"/>
                </a:solidFill>
                <a:latin typeface="Segoe UI"/>
              </a:rPr>
              <a:t>640 tham số nằm trọn trong bộ nhớ chỉ đọc trên chip.</a:t>
            </a:r>
          </a:p>
        </p:txBody>
      </p:sp>
      <p:sp>
        <p:nvSpPr>
          <p:cNvPr id="8" name="Rectangle 7"/>
          <p:cNvSpPr/>
          <p:nvPr/>
        </p:nvSpPr>
        <p:spPr>
          <a:xfrm>
            <a:off x="777240" y="4937760"/>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Thang luỹ thừa của hai</a:t>
            </a:r>
          </a:p>
          <a:p>
            <a:pPr algn="l">
              <a:lnSpc>
                <a:spcPct val="122000"/>
              </a:lnSpc>
              <a:spcBef>
                <a:spcPts val="0"/>
              </a:spcBef>
              <a:spcAft>
                <a:spcPts val="0"/>
              </a:spcAft>
            </a:pPr>
            <a:r>
              <a:rPr sz="1100" b="0">
                <a:solidFill>
                  <a:srgbClr val="5C6470"/>
                </a:solidFill>
                <a:latin typeface="Segoe UI"/>
              </a:rPr>
              <a:t>Tái tỉ lệ thành phép dịch bit — chỉ là nối lại dây, trong khi thang tổng quát cần một DSP mỗi phép nhân.</a:t>
            </a:r>
          </a:p>
        </p:txBody>
      </p:sp>
      <p:sp>
        <p:nvSpPr>
          <p:cNvPr id="9" name="TextBox 8"/>
          <p:cNvSpPr txBox="1"/>
          <p:nvPr/>
        </p:nvSpPr>
        <p:spPr>
          <a:xfrm>
            <a:off x="6415887" y="169164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MÔ HÌNH RÀNG BUỘC PHẦN CỨNG</a:t>
            </a:r>
          </a:p>
        </p:txBody>
      </p:sp>
      <p:sp>
        <p:nvSpPr>
          <p:cNvPr id="10" name="Rectangle 9"/>
          <p:cNvSpPr/>
          <p:nvPr/>
        </p:nvSpPr>
        <p:spPr>
          <a:xfrm>
            <a:off x="6415887" y="2029968"/>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Song song theo kênh đầu ra</a:t>
            </a:r>
          </a:p>
          <a:p>
            <a:pPr algn="l">
              <a:lnSpc>
                <a:spcPct val="122000"/>
              </a:lnSpc>
              <a:spcBef>
                <a:spcPts val="0"/>
              </a:spcBef>
              <a:spcAft>
                <a:spcPts val="0"/>
              </a:spcAft>
            </a:pPr>
            <a:r>
              <a:rPr sz="1100" b="0">
                <a:solidFill>
                  <a:srgbClr val="5C6470"/>
                </a:solidFill>
                <a:latin typeface="Segoe UI"/>
              </a:rPr>
              <a:t>Tám đơn vị dùng chung một cửa sổ trượt, chỉ khác bộ trọng số.</a:t>
            </a:r>
          </a:p>
        </p:txBody>
      </p:sp>
      <p:sp>
        <p:nvSpPr>
          <p:cNvPr id="11" name="Rectangle 10"/>
          <p:cNvSpPr/>
          <p:nvPr/>
        </p:nvSpPr>
        <p:spPr>
          <a:xfrm>
            <a:off x="6415887" y="2999232"/>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Một engine dùng lại cho bốn lớp</a:t>
            </a:r>
          </a:p>
          <a:p>
            <a:pPr algn="l">
              <a:lnSpc>
                <a:spcPct val="122000"/>
              </a:lnSpc>
              <a:spcBef>
                <a:spcPts val="0"/>
              </a:spcBef>
              <a:spcAft>
                <a:spcPts val="0"/>
              </a:spcAft>
            </a:pPr>
            <a:r>
              <a:rPr sz="1100" b="0">
                <a:solidFill>
                  <a:srgbClr val="5C6470"/>
                </a:solidFill>
                <a:latin typeface="Segoe UI"/>
              </a:rPr>
              <a:t>Bốn lớp cùng dạng phép tính nên không cần bốn khối riêng.</a:t>
            </a:r>
          </a:p>
        </p:txBody>
      </p:sp>
      <p:sp>
        <p:nvSpPr>
          <p:cNvPr id="12" name="Rectangle 11"/>
          <p:cNvSpPr/>
          <p:nvPr/>
        </p:nvSpPr>
        <p:spPr>
          <a:xfrm>
            <a:off x="6415887" y="3968496"/>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Bộ nhớ ping-pong</a:t>
            </a:r>
          </a:p>
          <a:p>
            <a:pPr algn="l">
              <a:lnSpc>
                <a:spcPct val="122000"/>
              </a:lnSpc>
              <a:spcBef>
                <a:spcPts val="0"/>
              </a:spcBef>
              <a:spcAft>
                <a:spcPts val="0"/>
              </a:spcAft>
            </a:pPr>
            <a:r>
              <a:rPr sz="1100" b="0">
                <a:solidFill>
                  <a:srgbClr val="5C6470"/>
                </a:solidFill>
                <a:latin typeface="Segoe UI"/>
              </a:rPr>
              <a:t>Lớp sau đọc trong khi lớp trước ghi, kích thước đặt theo lớp lớn nhất.</a:t>
            </a:r>
          </a:p>
        </p:txBody>
      </p:sp>
      <p:sp>
        <p:nvSpPr>
          <p:cNvPr id="13" name="Rectangle 12"/>
          <p:cNvSpPr/>
          <p:nvPr/>
        </p:nvSpPr>
        <p:spPr>
          <a:xfrm>
            <a:off x="6415887" y="4937760"/>
            <a:ext cx="4998567" cy="8686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Bỏ softmax</a:t>
            </a:r>
          </a:p>
          <a:p>
            <a:pPr algn="l">
              <a:lnSpc>
                <a:spcPct val="122000"/>
              </a:lnSpc>
              <a:spcBef>
                <a:spcPts val="0"/>
              </a:spcBef>
              <a:spcAft>
                <a:spcPts val="0"/>
              </a:spcAft>
            </a:pPr>
            <a:r>
              <a:rPr sz="1100" b="0">
                <a:solidFill>
                  <a:srgbClr val="5C6470"/>
                </a:solidFill>
                <a:latin typeface="Segoe UI"/>
              </a:rPr>
              <a:t>Chỉ cần thứ tự để so sánh, không cần giá trị xác suất — bỏ được khối hàm mũ.</a:t>
            </a:r>
          </a:p>
        </p:txBody>
      </p:sp>
      <p:sp>
        <p:nvSpPr>
          <p:cNvPr id="14" name="Rectangle 13"/>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Tiêu chí phân biệt: nếu bỏ ràng buộc phần cứng đi mà mô hình vẫn y nguyên thì đó không phải đồng thiết kế. Ở đây, bỏ ràng buộc đi thì không còn lý do gì để dừng ở tám kênh.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CẮT TỈA</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Cắt tỉa có cấu trúc theo chuẩn L1</a:t>
            </a:r>
          </a:p>
        </p:txBody>
      </p:sp>
      <p:graphicFrame>
        <p:nvGraphicFramePr>
          <p:cNvPr id="4" name="Table 3"/>
          <p:cNvGraphicFramePr>
            <a:graphicFrameLocks noGrp="1"/>
          </p:cNvGraphicFramePr>
          <p:nvPr/>
        </p:nvGraphicFramePr>
        <p:xfrm>
          <a:off x="777240" y="1737360"/>
          <a:ext cx="4998566" cy="1810512"/>
        </p:xfrm>
        <a:graphic>
          <a:graphicData uri="http://schemas.openxmlformats.org/drawingml/2006/table">
            <a:tbl>
              <a:tblPr>
                <a:tableStyleId>{5C22544A-7EE6-4342-B048-85BDC9FD1C3A}</a:tableStyleId>
              </a:tblPr>
              <a:tblGrid>
                <a:gridCol w="799770"/>
                <a:gridCol w="749785"/>
                <a:gridCol w="599828"/>
                <a:gridCol w="2849183"/>
              </a:tblGrid>
              <a:tr h="301752">
                <a:tc>
                  <a:txBody>
                    <a:bodyPr wrap="square"/>
                    <a:lstStyle/>
                    <a:p>
                      <a:pPr algn="l">
                        <a:spcBef>
                          <a:spcPts val="0"/>
                        </a:spcBef>
                        <a:spcAft>
                          <a:spcPts val="0"/>
                        </a:spcAft>
                      </a:pPr>
                      <a:r>
                        <a:rPr sz="950" b="1">
                          <a:solidFill>
                            <a:srgbClr val="858C97"/>
                          </a:solidFill>
                          <a:latin typeface="Segoe UI"/>
                        </a:rPr>
                        <a:t>TẦNG</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BAN ĐẦU</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SAU</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HÀNH ĐỘNG</a:t>
                      </a:r>
                    </a:p>
                  </a:txBody>
                  <a:tcPr marL="73152" marR="73152" marT="27432" marB="27432" anchor="ctr">
                    <a:solidFill>
                      <a:srgbClr val="FBFAF8"/>
                    </a:solidFill>
                  </a:tcPr>
                </a:tc>
              </a:tr>
              <a:tr h="301752">
                <a:tc>
                  <a:txBody>
                    <a:bodyPr wrap="square"/>
                    <a:lstStyle/>
                    <a:p>
                      <a:pPr algn="l">
                        <a:spcBef>
                          <a:spcPts val="0"/>
                        </a:spcBef>
                        <a:spcAft>
                          <a:spcPts val="0"/>
                        </a:spcAft>
                      </a:pPr>
                      <a:r>
                        <a:rPr sz="1100" b="0">
                          <a:solidFill>
                            <a:srgbClr val="12161C"/>
                          </a:solidFill>
                          <a:latin typeface="Segoe UI"/>
                        </a:rPr>
                        <a:t>Conv1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giữ nguyên</a:t>
                      </a:r>
                    </a:p>
                  </a:txBody>
                  <a:tcPr marL="73152" marR="73152" marT="27432" marB="27432" anchor="ctr">
                    <a:solidFill>
                      <a:srgbClr val="FBFAF8"/>
                    </a:solidFill>
                  </a:tcPr>
                </a:tc>
              </a:tr>
              <a:tr h="301752">
                <a:tc>
                  <a:txBody>
                    <a:bodyPr wrap="square"/>
                    <a:lstStyle/>
                    <a:p>
                      <a:pPr algn="l">
                        <a:spcBef>
                          <a:spcPts val="0"/>
                        </a:spcBef>
                        <a:spcAft>
                          <a:spcPts val="0"/>
                        </a:spcAft>
                      </a:pPr>
                      <a:r>
                        <a:rPr sz="1100" b="1">
                          <a:solidFill>
                            <a:srgbClr val="12161C"/>
                          </a:solidFill>
                          <a:latin typeface="Segoe UI"/>
                        </a:rPr>
                        <a:t>Conv2</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8</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4</a:t>
                      </a:r>
                    </a:p>
                  </a:txBody>
                  <a:tcPr marL="73152" marR="73152" marT="27432" marB="27432" anchor="ctr">
                    <a:solidFill>
                      <a:srgbClr val="F2F1ED"/>
                    </a:solidFill>
                  </a:tcPr>
                </a:tc>
                <a:tc>
                  <a:txBody>
                    <a:bodyPr wrap="square"/>
                    <a:lstStyle/>
                    <a:p>
                      <a:pPr algn="l">
                        <a:spcBef>
                          <a:spcPts val="0"/>
                        </a:spcBef>
                        <a:spcAft>
                          <a:spcPts val="0"/>
                        </a:spcAft>
                      </a:pPr>
                      <a:r>
                        <a:rPr sz="1100" b="1">
                          <a:solidFill>
                            <a:srgbClr val="12161C"/>
                          </a:solidFill>
                          <a:latin typeface="Segoe UI"/>
                        </a:rPr>
                        <a:t>loại 4 bộ lọc L1 nhỏ nhất</a:t>
                      </a:r>
                    </a:p>
                  </a:txBody>
                  <a:tcPr marL="73152" marR="73152" marT="27432" marB="27432" anchor="ctr">
                    <a:solidFill>
                      <a:srgbClr val="F2F1ED"/>
                    </a:solidFill>
                  </a:tcPr>
                </a:tc>
              </a:tr>
              <a:tr h="301752">
                <a:tc>
                  <a:txBody>
                    <a:bodyPr wrap="square"/>
                    <a:lstStyle/>
                    <a:p>
                      <a:pPr algn="l">
                        <a:spcBef>
                          <a:spcPts val="0"/>
                        </a:spcBef>
                        <a:spcAft>
                          <a:spcPts val="0"/>
                        </a:spcAft>
                      </a:pPr>
                      <a:r>
                        <a:rPr sz="1100" b="0">
                          <a:solidFill>
                            <a:srgbClr val="12161C"/>
                          </a:solidFill>
                          <a:latin typeface="Segoe UI"/>
                        </a:rPr>
                        <a:t>Conv3</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8</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8</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giữ nguyên</a:t>
                      </a:r>
                    </a:p>
                  </a:txBody>
                  <a:tcPr marL="73152" marR="73152" marT="27432" marB="27432" anchor="ctr">
                    <a:solidFill>
                      <a:srgbClr val="FBFAF8"/>
                    </a:solidFill>
                  </a:tcPr>
                </a:tc>
              </a:tr>
              <a:tr h="301752">
                <a:tc>
                  <a:txBody>
                    <a:bodyPr wrap="square"/>
                    <a:lstStyle/>
                    <a:p>
                      <a:pPr algn="l">
                        <a:spcBef>
                          <a:spcPts val="0"/>
                        </a:spcBef>
                        <a:spcAft>
                          <a:spcPts val="0"/>
                        </a:spcAft>
                      </a:pPr>
                      <a:r>
                        <a:rPr sz="1100" b="1">
                          <a:solidFill>
                            <a:srgbClr val="12161C"/>
                          </a:solidFill>
                          <a:latin typeface="Segoe UI"/>
                        </a:rPr>
                        <a:t>Conv4</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16</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8</a:t>
                      </a:r>
                    </a:p>
                  </a:txBody>
                  <a:tcPr marL="73152" marR="73152" marT="27432" marB="27432" anchor="ctr">
                    <a:solidFill>
                      <a:srgbClr val="F2F1ED"/>
                    </a:solidFill>
                  </a:tcPr>
                </a:tc>
                <a:tc>
                  <a:txBody>
                    <a:bodyPr wrap="square"/>
                    <a:lstStyle/>
                    <a:p>
                      <a:pPr algn="l">
                        <a:spcBef>
                          <a:spcPts val="0"/>
                        </a:spcBef>
                        <a:spcAft>
                          <a:spcPts val="0"/>
                        </a:spcAft>
                      </a:pPr>
                      <a:r>
                        <a:rPr sz="1100" b="1">
                          <a:solidFill>
                            <a:srgbClr val="12161C"/>
                          </a:solidFill>
                          <a:latin typeface="Segoe UI"/>
                        </a:rPr>
                        <a:t>loại 8 bộ lọc L1 nhỏ nhất</a:t>
                      </a:r>
                    </a:p>
                  </a:txBody>
                  <a:tcPr marL="73152" marR="73152" marT="27432" marB="27432" anchor="ctr">
                    <a:solidFill>
                      <a:srgbClr val="F2F1ED"/>
                    </a:solidFill>
                  </a:tcPr>
                </a:tc>
              </a:tr>
              <a:tr h="301752">
                <a:tc>
                  <a:txBody>
                    <a:bodyPr wrap="square"/>
                    <a:lstStyle/>
                    <a:p>
                      <a:pPr algn="l">
                        <a:spcBef>
                          <a:spcPts val="0"/>
                        </a:spcBef>
                        <a:spcAft>
                          <a:spcPts val="0"/>
                        </a:spcAft>
                      </a:pPr>
                      <a:r>
                        <a:rPr sz="1100" b="0">
                          <a:solidFill>
                            <a:srgbClr val="12161C"/>
                          </a:solidFill>
                          <a:latin typeface="Segoe UI"/>
                        </a:rPr>
                        <a:t>FC</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16</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8</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thu hẹp theo Conv4</a:t>
                      </a:r>
                    </a:p>
                  </a:txBody>
                  <a:tcPr marL="73152" marR="73152" marT="27432" marB="27432" anchor="ctr">
                    <a:solidFill>
                      <a:srgbClr val="FBFAF8"/>
                    </a:solidFill>
                  </a:tcPr>
                </a:tc>
              </a:tr>
            </a:tbl>
          </a:graphicData>
        </a:graphic>
      </p:graphicFrame>
      <p:sp>
        <p:nvSpPr>
          <p:cNvPr id="5" name="TextBox 4"/>
          <p:cNvSpPr txBox="1"/>
          <p:nvPr/>
        </p:nvSpPr>
        <p:spPr>
          <a:xfrm>
            <a:off x="777240" y="3703320"/>
            <a:ext cx="4998567" cy="82296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Tinh chỉnh lại hai pha: </a:t>
            </a:r>
            <a:r>
              <a:rPr sz="1250" b="1">
                <a:solidFill>
                  <a:srgbClr val="12161C"/>
                </a:solidFill>
                <a:latin typeface="Segoe UI"/>
              </a:rPr>
              <a:t>30 vòng</a:t>
            </a:r>
            <a:r>
              <a:rPr sz="1250" b="0">
                <a:solidFill>
                  <a:srgbClr val="12161C"/>
                </a:solidFill>
                <a:latin typeface="Segoe UI"/>
              </a:rPr>
              <a:t> ở tốc độ học 10⁻³ để phục hồi nhanh, rồi </a:t>
            </a:r>
            <a:r>
              <a:rPr sz="1250" b="1">
                <a:solidFill>
                  <a:srgbClr val="12161C"/>
                </a:solidFill>
                <a:latin typeface="Segoe UI"/>
              </a:rPr>
              <a:t>20 vòng</a:t>
            </a:r>
            <a:r>
              <a:rPr sz="1250" b="0">
                <a:solidFill>
                  <a:srgbClr val="12161C"/>
                </a:solidFill>
                <a:latin typeface="Segoe UI"/>
              </a:rPr>
              <a:t> ở 10⁻⁴ để hội tụ ổn định.</a:t>
            </a:r>
          </a:p>
        </p:txBody>
      </p:sp>
      <p:sp>
        <p:nvSpPr>
          <p:cNvPr id="6" name="Rectangle 5"/>
          <p:cNvSpPr/>
          <p:nvPr/>
        </p:nvSpPr>
        <p:spPr>
          <a:xfrm>
            <a:off x="777240" y="4617720"/>
            <a:ext cx="2398699"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709160"/>
            <a:ext cx="2398699" cy="777240"/>
          </a:xfrm>
          <a:prstGeom prst="rect">
            <a:avLst/>
          </a:prstGeom>
          <a:noFill/>
        </p:spPr>
        <p:txBody>
          <a:bodyPr wrap="square" lIns="0" rIns="0" tIns="0" bIns="0">
            <a:spAutoFit/>
          </a:bodyPr>
          <a:lstStyle/>
          <a:p>
            <a:pPr algn="l">
              <a:spcBef>
                <a:spcPts val="0"/>
              </a:spcBef>
              <a:spcAft>
                <a:spcPts val="200"/>
              </a:spcAft>
            </a:pPr>
            <a:r>
              <a:rPr sz="3000" b="1">
                <a:solidFill>
                  <a:srgbClr val="B02840"/>
                </a:solidFill>
                <a:latin typeface="Segoe UI"/>
              </a:rPr>
              <a:t>48,6%</a:t>
            </a:r>
          </a:p>
          <a:p>
            <a:pPr algn="l">
              <a:lnSpc>
                <a:spcPct val="115000"/>
              </a:lnSpc>
              <a:spcBef>
                <a:spcPts val="0"/>
              </a:spcBef>
              <a:spcAft>
                <a:spcPts val="0"/>
              </a:spcAft>
            </a:pPr>
            <a:r>
              <a:rPr sz="1050" b="0">
                <a:solidFill>
                  <a:srgbClr val="5C6470"/>
                </a:solidFill>
                <a:latin typeface="Segoe UI"/>
              </a:rPr>
              <a:t>tham số bị loại</a:t>
            </a:r>
          </a:p>
        </p:txBody>
      </p:sp>
      <p:sp>
        <p:nvSpPr>
          <p:cNvPr id="8" name="Rectangle 7"/>
          <p:cNvSpPr/>
          <p:nvPr/>
        </p:nvSpPr>
        <p:spPr>
          <a:xfrm>
            <a:off x="3377107" y="4617720"/>
            <a:ext cx="2398699"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77107" y="4709160"/>
            <a:ext cx="2398699" cy="77724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−0,32</a:t>
            </a:r>
          </a:p>
          <a:p>
            <a:pPr algn="l">
              <a:lnSpc>
                <a:spcPct val="115000"/>
              </a:lnSpc>
              <a:spcBef>
                <a:spcPts val="0"/>
              </a:spcBef>
              <a:spcAft>
                <a:spcPts val="0"/>
              </a:spcAft>
            </a:pPr>
            <a:r>
              <a:rPr sz="1050" b="0">
                <a:solidFill>
                  <a:srgbClr val="5C6470"/>
                </a:solidFill>
                <a:latin typeface="Segoe UI"/>
              </a:rPr>
              <a:t>điểm độ chính xác</a:t>
            </a:r>
          </a:p>
        </p:txBody>
      </p:sp>
      <p:sp>
        <p:nvSpPr>
          <p:cNvPr id="10" name="TextBox 9"/>
          <p:cNvSpPr txBox="1"/>
          <p:nvPr/>
        </p:nvSpPr>
        <p:spPr>
          <a:xfrm>
            <a:off x="6415887" y="17373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VÌ SAO PHẢI LÀ CÓ CẤU TRÚC</a:t>
            </a:r>
          </a:p>
        </p:txBody>
      </p:sp>
      <p:sp>
        <p:nvSpPr>
          <p:cNvPr id="11" name="TextBox 10"/>
          <p:cNvSpPr txBox="1"/>
          <p:nvPr/>
        </p:nvSpPr>
        <p:spPr>
          <a:xfrm>
            <a:off x="6415887" y="2084831"/>
            <a:ext cx="4998567" cy="2011680"/>
          </a:xfrm>
          <a:prstGeom prst="rect">
            <a:avLst/>
          </a:prstGeom>
          <a:noFill/>
        </p:spPr>
        <p:txBody>
          <a:bodyPr wrap="square" lIns="0" rIns="0" tIns="0" bIns="0">
            <a:spAutoFit/>
          </a:bodyPr>
          <a:lstStyle/>
          <a:p>
            <a:pPr algn="l">
              <a:lnSpc>
                <a:spcPct val="130000"/>
              </a:lnSpc>
              <a:spcBef>
                <a:spcPts val="0"/>
              </a:spcBef>
              <a:spcAft>
                <a:spcPts val="900"/>
              </a:spcAft>
            </a:pPr>
            <a:r>
              <a:rPr sz="1250" b="0">
                <a:solidFill>
                  <a:srgbClr val="12161C"/>
                </a:solidFill>
                <a:latin typeface="Segoe UI"/>
              </a:rPr>
              <a:t>Cắt tỉa </a:t>
            </a:r>
            <a:r>
              <a:rPr sz="1250" b="1">
                <a:solidFill>
                  <a:srgbClr val="12161C"/>
                </a:solidFill>
                <a:latin typeface="Segoe UI"/>
              </a:rPr>
              <a:t>phi cấu trúc</a:t>
            </a:r>
            <a:r>
              <a:rPr sz="1250" b="0">
                <a:solidFill>
                  <a:srgbClr val="12161C"/>
                </a:solidFill>
                <a:latin typeface="Segoe UI"/>
              </a:rPr>
              <a:t> chỉ đặt lẻ từng trọng số về không, tạo ra ma trận thưa. Phần cứng vẫn phải cấp đủ bộ nhân và bộ nhớ cho kích thước gốc — </a:t>
            </a:r>
            <a:r>
              <a:rPr sz="1250" b="1">
                <a:solidFill>
                  <a:srgbClr val="12161C"/>
                </a:solidFill>
                <a:latin typeface="Segoe UI"/>
              </a:rPr>
              <a:t>không tiết kiệm được gì</a:t>
            </a:r>
            <a:r>
              <a:rPr sz="1250" b="0">
                <a:solidFill>
                  <a:srgbClr val="12161C"/>
                </a:solidFill>
                <a:latin typeface="Segoe UI"/>
              </a:rPr>
              <a:t> trừ khi mạch biết bỏ qua số không.</a:t>
            </a:r>
          </a:p>
          <a:p>
            <a:pPr algn="l">
              <a:lnSpc>
                <a:spcPct val="130000"/>
              </a:lnSpc>
              <a:spcBef>
                <a:spcPts val="0"/>
              </a:spcBef>
              <a:spcAft>
                <a:spcPts val="0"/>
              </a:spcAft>
            </a:pPr>
            <a:r>
              <a:rPr sz="1250" b="0">
                <a:solidFill>
                  <a:srgbClr val="12161C"/>
                </a:solidFill>
                <a:latin typeface="Segoe UI"/>
              </a:rPr>
              <a:t>Cắt tỉa </a:t>
            </a:r>
            <a:r>
              <a:rPr sz="1250" b="1">
                <a:solidFill>
                  <a:srgbClr val="12161C"/>
                </a:solidFill>
                <a:latin typeface="Segoe UI"/>
              </a:rPr>
              <a:t>có cấu trúc</a:t>
            </a:r>
            <a:r>
              <a:rPr sz="1250" b="0">
                <a:solidFill>
                  <a:srgbClr val="12161C"/>
                </a:solidFill>
                <a:latin typeface="Segoe UI"/>
              </a:rPr>
              <a:t> loại trọn bộ lọc, nên kích thước tensor thực sự nhỏ đi — kéo theo số bộ nhân và dung lượng bộ nhớ cùng giảm.</a:t>
            </a:r>
          </a:p>
        </p:txBody>
      </p:sp>
      <p:sp>
        <p:nvSpPr>
          <p:cNvPr id="12" name="Rectangle 11"/>
          <p:cNvSpPr/>
          <p:nvPr/>
        </p:nvSpPr>
        <p:spPr>
          <a:xfrm>
            <a:off x="6415887" y="4160520"/>
            <a:ext cx="4998567" cy="13258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Vì sao dừng ở tám</a:t>
            </a:r>
          </a:p>
          <a:p>
            <a:pPr algn="l">
              <a:lnSpc>
                <a:spcPct val="122000"/>
              </a:lnSpc>
              <a:spcBef>
                <a:spcPts val="0"/>
              </a:spcBef>
              <a:spcAft>
                <a:spcPts val="0"/>
              </a:spcAft>
            </a:pPr>
            <a:r>
              <a:rPr sz="1100" b="0">
                <a:solidFill>
                  <a:srgbClr val="5C6470"/>
                </a:solidFill>
                <a:latin typeface="Segoe UI"/>
              </a:rPr>
              <a:t>Conv4 từ mười sáu kênh xuống tám. Nếu giữ mười sáu, engine phải có mười sáu đơn vị tính — gấp đôi DSP và gấp đôi ALM của khối engine. Số mười sáu ban đầu đến từ thói quen thiết kế mô hình, không từ yêu cầu của bài toán.</a:t>
            </a:r>
          </a:p>
        </p:txBody>
      </p:sp>
      <p:sp>
        <p:nvSpPr>
          <p:cNvPr id="13" name="Rectangle 12"/>
          <p:cNvSpPr/>
          <p:nvPr/>
        </p:nvSpPr>
        <p:spPr>
          <a:xfrm>
            <a:off x="6415887" y="4160520"/>
            <a:ext cx="31750" cy="132588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Tiêu chí chuẩn L1: tổng trị tuyệt đối trọng số trong bộ lọc. Bộ lọc có chuẩn L1 nhỏ đóng góp yếu vào đặc trưng đầu ra nên được loại trước.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LƯỢNG TỬ HOÁ</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2700" b="0">
                <a:solidFill>
                  <a:srgbClr val="12161C"/>
                </a:solidFill>
                <a:latin typeface="Georgia"/>
              </a:rPr>
              <a:t>Luỹ thừa hai bỏ khối nhân, làm tròn nửa lên trả lại độ chính xác</a:t>
            </a:r>
          </a:p>
        </p:txBody>
      </p:sp>
      <p:sp>
        <p:nvSpPr>
          <p:cNvPr id="4" name="TextBox 3"/>
          <p:cNvSpPr txBox="1"/>
          <p:nvPr/>
        </p:nvSpPr>
        <p:spPr>
          <a:xfrm>
            <a:off x="777240" y="17373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BA CÁCH ĐƯA VỀ THANG</a:t>
            </a:r>
          </a:p>
        </p:txBody>
      </p:sp>
      <p:graphicFrame>
        <p:nvGraphicFramePr>
          <p:cNvPr id="5" name="Table 4"/>
          <p:cNvGraphicFramePr>
            <a:graphicFrameLocks noGrp="1"/>
          </p:cNvGraphicFramePr>
          <p:nvPr/>
        </p:nvGraphicFramePr>
        <p:xfrm>
          <a:off x="777240" y="2084831"/>
          <a:ext cx="4998566" cy="1463040"/>
        </p:xfrm>
        <a:graphic>
          <a:graphicData uri="http://schemas.openxmlformats.org/drawingml/2006/table">
            <a:tbl>
              <a:tblPr>
                <a:tableStyleId>{5C22544A-7EE6-4342-B048-85BDC9FD1C3A}</a:tableStyleId>
              </a:tblPr>
              <a:tblGrid>
                <a:gridCol w="2299341"/>
                <a:gridCol w="1899455"/>
                <a:gridCol w="799770"/>
              </a:tblGrid>
              <a:tr h="365760">
                <a:tc>
                  <a:txBody>
                    <a:bodyPr wrap="square"/>
                    <a:lstStyle/>
                    <a:p>
                      <a:pPr algn="l">
                        <a:spcBef>
                          <a:spcPts val="0"/>
                        </a:spcBef>
                        <a:spcAft>
                          <a:spcPts val="0"/>
                        </a:spcAft>
                      </a:pPr>
                      <a:r>
                        <a:rPr sz="950" b="1">
                          <a:solidFill>
                            <a:srgbClr val="858C97"/>
                          </a:solidFill>
                          <a:latin typeface="Segoe UI"/>
                        </a:rPr>
                        <a:t>CÁCH</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PHÉP TOÁN</a:t>
                      </a:r>
                    </a:p>
                  </a:txBody>
                  <a:tcPr marL="73152" marR="73152" marT="27432" marB="27432" anchor="ctr">
                    <a:solidFill>
                      <a:srgbClr val="FBFAF8"/>
                    </a:solidFill>
                  </a:tcPr>
                </a:tc>
                <a:tc>
                  <a:txBody>
                    <a:bodyPr wrap="square"/>
                    <a:lstStyle/>
                    <a:p>
                      <a:pPr algn="ctr">
                        <a:spcBef>
                          <a:spcPts val="0"/>
                        </a:spcBef>
                        <a:spcAft>
                          <a:spcPts val="0"/>
                        </a:spcAft>
                      </a:pPr>
                      <a:r>
                        <a:rPr sz="950" b="1">
                          <a:solidFill>
                            <a:srgbClr val="858C97"/>
                          </a:solidFill>
                          <a:latin typeface="Segoe UI"/>
                        </a:rPr>
                        <a:t>DSP</a:t>
                      </a:r>
                    </a:p>
                  </a:txBody>
                  <a:tcPr marL="73152" marR="73152" marT="27432" marB="27432" anchor="ctr">
                    <a:solidFill>
                      <a:srgbClr val="FBFAF8"/>
                    </a:solidFill>
                  </a:tcPr>
                </a:tc>
              </a:tr>
              <a:tr h="365760">
                <a:tc>
                  <a:txBody>
                    <a:bodyPr wrap="square"/>
                    <a:lstStyle/>
                    <a:p>
                      <a:pPr algn="l">
                        <a:spcBef>
                          <a:spcPts val="0"/>
                        </a:spcBef>
                        <a:spcAft>
                          <a:spcPts val="0"/>
                        </a:spcAft>
                      </a:pPr>
                      <a:r>
                        <a:rPr sz="1100" b="0">
                          <a:solidFill>
                            <a:srgbClr val="12161C"/>
                          </a:solidFill>
                          <a:latin typeface="Segoe UI"/>
                        </a:rPr>
                        <a:t>Thang thực — chuẩn</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nhân rồi dịch</a:t>
                      </a:r>
                    </a:p>
                  </a:txBody>
                  <a:tcPr marL="73152" marR="73152" marT="27432" marB="27432" anchor="ctr">
                    <a:solidFill>
                      <a:srgbClr val="FBFAF8"/>
                    </a:solidFill>
                  </a:tcPr>
                </a:tc>
                <a:tc>
                  <a:txBody>
                    <a:bodyPr wrap="square"/>
                    <a:lstStyle/>
                    <a:p>
                      <a:pPr algn="ct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r>
              <a:tr h="365760">
                <a:tc>
                  <a:txBody>
                    <a:bodyPr wrap="square"/>
                    <a:lstStyle/>
                    <a:p>
                      <a:pPr algn="l">
                        <a:spcBef>
                          <a:spcPts val="0"/>
                        </a:spcBef>
                        <a:spcAft>
                          <a:spcPts val="0"/>
                        </a:spcAft>
                      </a:pPr>
                      <a:r>
                        <a:rPr sz="1100" b="0">
                          <a:solidFill>
                            <a:srgbClr val="12161C"/>
                          </a:solidFill>
                          <a:latin typeface="Segoe UI"/>
                        </a:rPr>
                        <a:t>Luỹ thừa hai, cắt bỏ — Liu</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dịch</a:t>
                      </a:r>
                    </a:p>
                  </a:txBody>
                  <a:tcPr marL="73152" marR="73152" marT="27432" marB="27432" anchor="ctr">
                    <a:solidFill>
                      <a:srgbClr val="FBFAF8"/>
                    </a:solidFill>
                  </a:tcPr>
                </a:tc>
                <a:tc>
                  <a:txBody>
                    <a:bodyPr wrap="square"/>
                    <a:lstStyle/>
                    <a:p>
                      <a:pPr algn="ctr">
                        <a:spcBef>
                          <a:spcPts val="0"/>
                        </a:spcBef>
                        <a:spcAft>
                          <a:spcPts val="0"/>
                        </a:spcAft>
                      </a:pPr>
                      <a:r>
                        <a:rPr sz="1100" b="0">
                          <a:solidFill>
                            <a:srgbClr val="12161C"/>
                          </a:solidFill>
                          <a:latin typeface="Segoe UI"/>
                        </a:rPr>
                        <a:t>0</a:t>
                      </a:r>
                    </a:p>
                  </a:txBody>
                  <a:tcPr marL="73152" marR="73152" marT="27432" marB="27432" anchor="ctr">
                    <a:solidFill>
                      <a:srgbClr val="FBFAF8"/>
                    </a:solidFill>
                  </a:tcPr>
                </a:tc>
              </a:tr>
              <a:tr h="365760">
                <a:tc>
                  <a:txBody>
                    <a:bodyPr wrap="square"/>
                    <a:lstStyle/>
                    <a:p>
                      <a:pPr algn="l">
                        <a:spcBef>
                          <a:spcPts val="0"/>
                        </a:spcBef>
                        <a:spcAft>
                          <a:spcPts val="0"/>
                        </a:spcAft>
                      </a:pPr>
                      <a:r>
                        <a:rPr sz="1100" b="1">
                          <a:solidFill>
                            <a:srgbClr val="12161C"/>
                          </a:solidFill>
                          <a:latin typeface="Segoe UI"/>
                        </a:rPr>
                        <a:t>Luỹ thừa hai, nửa lên — ta</a:t>
                      </a:r>
                    </a:p>
                  </a:txBody>
                  <a:tcPr marL="73152" marR="73152" marT="27432" marB="27432" anchor="ctr">
                    <a:solidFill>
                      <a:srgbClr val="F2F1ED"/>
                    </a:solidFill>
                  </a:tcPr>
                </a:tc>
                <a:tc>
                  <a:txBody>
                    <a:bodyPr wrap="square"/>
                    <a:lstStyle/>
                    <a:p>
                      <a:pPr algn="l">
                        <a:spcBef>
                          <a:spcPts val="0"/>
                        </a:spcBef>
                        <a:spcAft>
                          <a:spcPts val="0"/>
                        </a:spcAft>
                      </a:pPr>
                      <a:r>
                        <a:rPr sz="1100" b="1">
                          <a:solidFill>
                            <a:srgbClr val="12161C"/>
                          </a:solidFill>
                          <a:latin typeface="Segoe UI"/>
                        </a:rPr>
                        <a:t>cộng hằng rồi dịch</a:t>
                      </a:r>
                    </a:p>
                  </a:txBody>
                  <a:tcPr marL="73152" marR="73152" marT="27432" marB="27432" anchor="ctr">
                    <a:solidFill>
                      <a:srgbClr val="F2F1ED"/>
                    </a:solidFill>
                  </a:tcPr>
                </a:tc>
                <a:tc>
                  <a:txBody>
                    <a:bodyPr wrap="square"/>
                    <a:lstStyle/>
                    <a:p>
                      <a:pPr algn="ctr">
                        <a:spcBef>
                          <a:spcPts val="0"/>
                        </a:spcBef>
                        <a:spcAft>
                          <a:spcPts val="0"/>
                        </a:spcAft>
                      </a:pPr>
                      <a:r>
                        <a:rPr sz="1100" b="1">
                          <a:solidFill>
                            <a:srgbClr val="12161C"/>
                          </a:solidFill>
                          <a:latin typeface="Segoe UI"/>
                        </a:rPr>
                        <a:t>0</a:t>
                      </a:r>
                    </a:p>
                  </a:txBody>
                  <a:tcPr marL="73152" marR="73152" marT="27432" marB="27432" anchor="ctr">
                    <a:solidFill>
                      <a:srgbClr val="F2F1ED"/>
                    </a:solidFill>
                  </a:tcPr>
                </a:tc>
              </a:tr>
            </a:tbl>
          </a:graphicData>
        </a:graphic>
      </p:graphicFrame>
      <p:sp>
        <p:nvSpPr>
          <p:cNvPr id="6" name="TextBox 5"/>
          <p:cNvSpPr txBox="1"/>
          <p:nvPr/>
        </p:nvSpPr>
        <p:spPr>
          <a:xfrm>
            <a:off x="777240" y="3749039"/>
            <a:ext cx="4998567" cy="1188720"/>
          </a:xfrm>
          <a:prstGeom prst="rect">
            <a:avLst/>
          </a:prstGeom>
          <a:noFill/>
        </p:spPr>
        <p:txBody>
          <a:bodyPr wrap="square" lIns="0" rIns="0" tIns="0" bIns="0">
            <a:spAutoFit/>
          </a:bodyPr>
          <a:lstStyle/>
          <a:p>
            <a:pPr algn="l">
              <a:lnSpc>
                <a:spcPct val="132000"/>
              </a:lnSpc>
              <a:spcBef>
                <a:spcPts val="0"/>
              </a:spcBef>
              <a:spcAft>
                <a:spcPts val="0"/>
              </a:spcAft>
            </a:pPr>
            <a:r>
              <a:rPr sz="1250" b="0">
                <a:solidFill>
                  <a:srgbClr val="12161C"/>
                </a:solidFill>
                <a:latin typeface="Segoe UI"/>
              </a:rPr>
              <a:t>Cắt bỏ phần thập phân luôn làm tròn xuống, nên sai số có </a:t>
            </a:r>
            <a:r>
              <a:rPr sz="1250" b="1">
                <a:solidFill>
                  <a:srgbClr val="12161C"/>
                </a:solidFill>
                <a:latin typeface="Segoe UI"/>
              </a:rPr>
              <a:t>trung bình lệch −0,5</a:t>
            </a:r>
            <a:r>
              <a:rPr sz="1250" b="0">
                <a:solidFill>
                  <a:srgbClr val="12161C"/>
                </a:solidFill>
                <a:latin typeface="Segoe UI"/>
              </a:rPr>
              <a:t>. Cộng thêm nửa đơn vị trước khi dịch đưa trung bình đó về không.</a:t>
            </a:r>
          </a:p>
        </p:txBody>
      </p:sp>
      <p:sp>
        <p:nvSpPr>
          <p:cNvPr id="7" name="TextBox 6"/>
          <p:cNvSpPr txBox="1"/>
          <p:nvPr/>
        </p:nvSpPr>
        <p:spPr>
          <a:xfrm>
            <a:off x="6415887" y="17373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PHÉP CỘNG KHÔNG TỐN THÊM PHẦN CỨNG</a:t>
            </a:r>
          </a:p>
        </p:txBody>
      </p:sp>
      <p:sp>
        <p:nvSpPr>
          <p:cNvPr id="8" name="TextBox 7"/>
          <p:cNvSpPr txBox="1"/>
          <p:nvPr/>
        </p:nvSpPr>
        <p:spPr>
          <a:xfrm>
            <a:off x="6415887" y="2084831"/>
            <a:ext cx="4998567" cy="7772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Hằng số làm tròn và bias đều là </a:t>
            </a:r>
            <a:r>
              <a:rPr sz="1250" b="1">
                <a:solidFill>
                  <a:srgbClr val="12161C"/>
                </a:solidFill>
                <a:latin typeface="Segoe UI"/>
              </a:rPr>
              <a:t>hằng theo lớp</a:t>
            </a:r>
            <a:r>
              <a:rPr sz="1250" b="0">
                <a:solidFill>
                  <a:srgbClr val="12161C"/>
                </a:solidFill>
                <a:latin typeface="Segoe UI"/>
              </a:rPr>
              <a:t>, nên cả hai được gộp vào số hạng khởi tạo của bộ tích luỹ:</a:t>
            </a:r>
          </a:p>
        </p:txBody>
      </p:sp>
      <p:sp>
        <p:nvSpPr>
          <p:cNvPr id="9" name="Rectangle 8"/>
          <p:cNvSpPr/>
          <p:nvPr/>
        </p:nvSpPr>
        <p:spPr>
          <a:xfrm>
            <a:off x="6415887" y="2852928"/>
            <a:ext cx="4998567" cy="841248"/>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spcBef>
                <a:spcPts val="0"/>
              </a:spcBef>
              <a:spcAft>
                <a:spcPts val="200"/>
              </a:spcAft>
            </a:pPr>
            <a:r>
              <a:rPr sz="1150" b="0">
                <a:solidFill>
                  <a:srgbClr val="12161C"/>
                </a:solidFill>
                <a:latin typeface="Consolas"/>
              </a:rPr>
              <a:t>acc ← tree + bias + round_add</a:t>
            </a:r>
          </a:p>
          <a:p>
            <a:pPr algn="l">
              <a:spcBef>
                <a:spcPts val="0"/>
              </a:spcBef>
              <a:spcAft>
                <a:spcPts val="200"/>
              </a:spcAft>
            </a:pPr>
            <a:r>
              <a:rPr sz="1150" b="0">
                <a:solidFill>
                  <a:srgbClr val="858C97"/>
                </a:solidFill>
                <a:latin typeface="Consolas"/>
              </a:rPr>
              <a:t>…tích luỹ…</a:t>
            </a:r>
          </a:p>
          <a:p>
            <a:pPr algn="l">
              <a:spcBef>
                <a:spcPts val="0"/>
              </a:spcBef>
              <a:spcAft>
                <a:spcPts val="0"/>
              </a:spcAft>
            </a:pPr>
            <a:r>
              <a:rPr sz="1150" b="0">
                <a:solidFill>
                  <a:srgbClr val="12161C"/>
                </a:solidFill>
                <a:latin typeface="Consolas"/>
              </a:rPr>
              <a:t>out ← clamp(acc &gt;&gt;&gt; nb, ±127)</a:t>
            </a:r>
          </a:p>
        </p:txBody>
      </p:sp>
      <p:sp>
        <p:nvSpPr>
          <p:cNvPr id="10" name="TextBox 9"/>
          <p:cNvSpPr txBox="1"/>
          <p:nvPr/>
        </p:nvSpPr>
        <p:spPr>
          <a:xfrm>
            <a:off x="6415887" y="3822191"/>
            <a:ext cx="4998567" cy="82296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Hợp lệ nhờ tính kết hợp của phép cộng số nguyên, và không tràn 32 bit. Kết quả: </a:t>
            </a:r>
            <a:r>
              <a:rPr sz="1250" b="1">
                <a:solidFill>
                  <a:srgbClr val="12161C"/>
                </a:solidFill>
                <a:latin typeface="Segoe UI"/>
              </a:rPr>
              <a:t>cả hai phép cộng nằm ngoài đường tới hạn</a:t>
            </a:r>
            <a:r>
              <a:rPr sz="1250" b="0">
                <a:solidFill>
                  <a:srgbClr val="12161C"/>
                </a:solidFill>
                <a:latin typeface="Segoe UI"/>
              </a:rPr>
              <a:t>.</a:t>
            </a:r>
          </a:p>
        </p:txBody>
      </p:sp>
      <p:sp>
        <p:nvSpPr>
          <p:cNvPr id="11" name="Rectangle 10"/>
          <p:cNvSpPr/>
          <p:nvPr/>
        </p:nvSpPr>
        <p:spPr>
          <a:xfrm>
            <a:off x="6415887" y="4846320"/>
            <a:ext cx="2398699"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5887" y="4937760"/>
            <a:ext cx="2398699" cy="731520"/>
          </a:xfrm>
          <a:prstGeom prst="rect">
            <a:avLst/>
          </a:prstGeom>
          <a:noFill/>
        </p:spPr>
        <p:txBody>
          <a:bodyPr wrap="square" lIns="0" rIns="0" tIns="0" bIns="0">
            <a:spAutoFit/>
          </a:bodyPr>
          <a:lstStyle/>
          <a:p>
            <a:pPr algn="l">
              <a:spcBef>
                <a:spcPts val="0"/>
              </a:spcBef>
              <a:spcAft>
                <a:spcPts val="200"/>
              </a:spcAft>
            </a:pPr>
            <a:r>
              <a:rPr sz="3000" b="1">
                <a:solidFill>
                  <a:srgbClr val="B02840"/>
                </a:solidFill>
                <a:latin typeface="Segoe UI"/>
              </a:rPr>
              <a:t>+0,38</a:t>
            </a:r>
          </a:p>
          <a:p>
            <a:pPr algn="l">
              <a:lnSpc>
                <a:spcPct val="115000"/>
              </a:lnSpc>
              <a:spcBef>
                <a:spcPts val="0"/>
              </a:spcBef>
              <a:spcAft>
                <a:spcPts val="0"/>
              </a:spcAft>
            </a:pPr>
            <a:r>
              <a:rPr sz="1050" b="0">
                <a:solidFill>
                  <a:srgbClr val="5C6470"/>
                </a:solidFill>
                <a:latin typeface="Segoe UI"/>
              </a:rPr>
              <a:t>điểm so với cắt bỏ</a:t>
            </a:r>
          </a:p>
        </p:txBody>
      </p:sp>
      <p:sp>
        <p:nvSpPr>
          <p:cNvPr id="13" name="Rectangle 12"/>
          <p:cNvSpPr/>
          <p:nvPr/>
        </p:nvSpPr>
        <p:spPr>
          <a:xfrm>
            <a:off x="9015754" y="4846320"/>
            <a:ext cx="2398699"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15754" y="4937760"/>
            <a:ext cx="2398699" cy="731520"/>
          </a:xfrm>
          <a:prstGeom prst="rect">
            <a:avLst/>
          </a:prstGeom>
          <a:noFill/>
        </p:spPr>
        <p:txBody>
          <a:bodyPr wrap="square" lIns="0" rIns="0" tIns="0" bIns="0">
            <a:spAutoFit/>
          </a:bodyPr>
          <a:lstStyle/>
          <a:p>
            <a:pPr algn="l">
              <a:spcBef>
                <a:spcPts val="0"/>
              </a:spcBef>
              <a:spcAft>
                <a:spcPts val="200"/>
              </a:spcAft>
            </a:pPr>
            <a:r>
              <a:rPr sz="3000" b="1">
                <a:solidFill>
                  <a:srgbClr val="B02840"/>
                </a:solidFill>
                <a:latin typeface="Segoe UI"/>
              </a:rPr>
              <a:t>0</a:t>
            </a:r>
          </a:p>
          <a:p>
            <a:pPr algn="l">
              <a:lnSpc>
                <a:spcPct val="115000"/>
              </a:lnSpc>
              <a:spcBef>
                <a:spcPts val="0"/>
              </a:spcBef>
              <a:spcAft>
                <a:spcPts val="0"/>
              </a:spcAft>
            </a:pPr>
            <a:r>
              <a:rPr sz="1050" b="0">
                <a:solidFill>
                  <a:srgbClr val="5C6470"/>
                </a:solidFill>
                <a:latin typeface="Segoe UI"/>
              </a:rPr>
              <a:t>DSP cho khâu tái tỉ lệ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KIẾN TRÚC</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Tám đơn vị tích chập–gộp song song theo kênh</a:t>
            </a:r>
          </a:p>
        </p:txBody>
      </p:sp>
      <p:sp>
        <p:nvSpPr>
          <p:cNvPr id="4" name="Rectangle 3"/>
          <p:cNvSpPr/>
          <p:nvPr/>
        </p:nvSpPr>
        <p:spPr>
          <a:xfrm>
            <a:off x="777240" y="1719072"/>
            <a:ext cx="1600200" cy="384048"/>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pPr>
            <a:r>
              <a:rPr sz="1050" b="0">
                <a:solidFill>
                  <a:srgbClr val="12161C"/>
                </a:solidFill>
                <a:latin typeface="Segoe UI"/>
              </a:rPr>
              <a:t>input_sram</a:t>
            </a:r>
          </a:p>
        </p:txBody>
      </p:sp>
      <p:sp>
        <p:nvSpPr>
          <p:cNvPr id="5" name="Rectangle 4"/>
          <p:cNvSpPr/>
          <p:nvPr/>
        </p:nvSpPr>
        <p:spPr>
          <a:xfrm>
            <a:off x="2487168" y="1719072"/>
            <a:ext cx="2148840" cy="384048"/>
          </a:xfrm>
          <a:prstGeom prst="rect">
            <a:avLst/>
          </a:prstGeom>
          <a:solidFill>
            <a:srgbClr val="F2F1ED"/>
          </a:solidFill>
          <a:ln w="12700">
            <a:solidFill>
              <a:srgbClr val="B0284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pPr>
            <a:r>
              <a:rPr sz="1050" b="1">
                <a:solidFill>
                  <a:srgbClr val="B02840"/>
                </a:solidFill>
                <a:latin typeface="Segoe UI"/>
              </a:rPr>
              <a:t>engine unit · 8 × conv-pool</a:t>
            </a:r>
          </a:p>
        </p:txBody>
      </p:sp>
      <p:sp>
        <p:nvSpPr>
          <p:cNvPr id="6" name="Rectangle 5"/>
          <p:cNvSpPr/>
          <p:nvPr/>
        </p:nvSpPr>
        <p:spPr>
          <a:xfrm>
            <a:off x="4745736" y="1719072"/>
            <a:ext cx="1600200" cy="384048"/>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pPr>
            <a:r>
              <a:rPr sz="1050" b="0">
                <a:solidFill>
                  <a:srgbClr val="12161C"/>
                </a:solidFill>
                <a:latin typeface="Segoe UI"/>
              </a:rPr>
              <a:t>ping_pong_sram</a:t>
            </a:r>
          </a:p>
        </p:txBody>
      </p:sp>
      <p:sp>
        <p:nvSpPr>
          <p:cNvPr id="7" name="Rectangle 6"/>
          <p:cNvSpPr/>
          <p:nvPr/>
        </p:nvSpPr>
        <p:spPr>
          <a:xfrm>
            <a:off x="6455664" y="1719072"/>
            <a:ext cx="1600200" cy="384048"/>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pPr>
            <a:r>
              <a:rPr sz="1050" b="0">
                <a:solidFill>
                  <a:srgbClr val="12161C"/>
                </a:solidFill>
                <a:latin typeface="Segoe UI"/>
              </a:rPr>
              <a:t>gap · fc · argmax</a:t>
            </a:r>
          </a:p>
        </p:txBody>
      </p:sp>
      <p:sp>
        <p:nvSpPr>
          <p:cNvPr id="8" name="TextBox 7"/>
          <p:cNvSpPr txBox="1"/>
          <p:nvPr/>
        </p:nvSpPr>
        <p:spPr>
          <a:xfrm>
            <a:off x="777240" y="2267712"/>
            <a:ext cx="4998567" cy="1371600"/>
          </a:xfrm>
          <a:prstGeom prst="rect">
            <a:avLst/>
          </a:prstGeom>
          <a:noFill/>
        </p:spPr>
        <p:txBody>
          <a:bodyPr wrap="square" lIns="0" rIns="0" tIns="0" bIns="0">
            <a:spAutoFit/>
          </a:bodyPr>
          <a:lstStyle/>
          <a:p>
            <a:pPr algn="l">
              <a:lnSpc>
                <a:spcPct val="130000"/>
              </a:lnSpc>
              <a:spcBef>
                <a:spcPts val="0"/>
              </a:spcBef>
              <a:spcAft>
                <a:spcPts val="0"/>
              </a:spcAft>
            </a:pPr>
            <a:r>
              <a:rPr sz="1200" b="0">
                <a:solidFill>
                  <a:srgbClr val="12161C"/>
                </a:solidFill>
                <a:latin typeface="Segoe UI"/>
              </a:rPr>
              <a:t>Mỗi </a:t>
            </a:r>
            <a:r>
              <a:rPr sz="1200" b="1">
                <a:solidFill>
                  <a:srgbClr val="12161C"/>
                </a:solidFill>
                <a:latin typeface="Segoe UI"/>
              </a:rPr>
              <a:t>convolution-pool unit</a:t>
            </a:r>
            <a:r>
              <a:rPr sz="1200" b="0">
                <a:solidFill>
                  <a:srgbClr val="12161C"/>
                </a:solidFill>
                <a:latin typeface="Segoe UI"/>
              </a:rPr>
              <a:t> phụ trách đúng một kênh ra, gồm ba khối con: </a:t>
            </a:r>
            <a:r>
              <a:rPr sz="1200" b="1">
                <a:solidFill>
                  <a:srgbClr val="12161C"/>
                </a:solidFill>
                <a:latin typeface="Segoe UI"/>
              </a:rPr>
              <a:t>mul_add</a:t>
            </a:r>
            <a:r>
              <a:rPr sz="1200" b="0">
                <a:solidFill>
                  <a:srgbClr val="12161C"/>
                </a:solidFill>
                <a:latin typeface="Segoe UI"/>
              </a:rPr>
              <a:t> — năm bộ nhân và cây cộng ba tầng · </a:t>
            </a:r>
            <a:r>
              <a:rPr sz="1200" b="1">
                <a:solidFill>
                  <a:srgbClr val="12161C"/>
                </a:solidFill>
                <a:latin typeface="Segoe UI"/>
              </a:rPr>
              <a:t>accumulate_rescale</a:t>
            </a:r>
            <a:r>
              <a:rPr sz="1200" b="0">
                <a:solidFill>
                  <a:srgbClr val="12161C"/>
                </a:solidFill>
                <a:latin typeface="Segoe UI"/>
              </a:rPr>
              <a:t> — tích luỹ, cộng bias, tái tỉ lệ, bão hoà, ReLU · </a:t>
            </a:r>
            <a:r>
              <a:rPr sz="1200" b="1">
                <a:solidFill>
                  <a:srgbClr val="12161C"/>
                </a:solidFill>
                <a:latin typeface="Segoe UI"/>
              </a:rPr>
              <a:t>pool</a:t>
            </a:r>
            <a:r>
              <a:rPr sz="1200" b="0">
                <a:solidFill>
                  <a:srgbClr val="12161C"/>
                </a:solidFill>
                <a:latin typeface="Segoe UI"/>
              </a:rPr>
              <a:t> — gộp cực đại cửa sổ 5.</a:t>
            </a:r>
          </a:p>
        </p:txBody>
      </p:sp>
      <p:sp>
        <p:nvSpPr>
          <p:cNvPr id="9" name="TextBox 8"/>
          <p:cNvSpPr txBox="1"/>
          <p:nvPr/>
        </p:nvSpPr>
        <p:spPr>
          <a:xfrm>
            <a:off x="777240" y="3401568"/>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SỐ CHU KỲ TIÊN ĐOÁN ĐƯỢC</a:t>
            </a:r>
          </a:p>
        </p:txBody>
      </p:sp>
      <p:graphicFrame>
        <p:nvGraphicFramePr>
          <p:cNvPr id="10" name="Table 9"/>
          <p:cNvGraphicFramePr>
            <a:graphicFrameLocks noGrp="1"/>
          </p:cNvGraphicFramePr>
          <p:nvPr/>
        </p:nvGraphicFramePr>
        <p:xfrm>
          <a:off x="777240" y="3730752"/>
          <a:ext cx="4998566" cy="1645920"/>
        </p:xfrm>
        <a:graphic>
          <a:graphicData uri="http://schemas.openxmlformats.org/drawingml/2006/table">
            <a:tbl>
              <a:tblPr>
                <a:tableStyleId>{5C22544A-7EE6-4342-B048-85BDC9FD1C3A}</a:tableStyleId>
              </a:tblPr>
              <a:tblGrid>
                <a:gridCol w="1199656"/>
                <a:gridCol w="1299627"/>
                <a:gridCol w="1299627"/>
                <a:gridCol w="1199656"/>
              </a:tblGrid>
              <a:tr h="274320">
                <a:tc>
                  <a:txBody>
                    <a:bodyPr wrap="square"/>
                    <a:lstStyle/>
                    <a:p>
                      <a:pPr algn="l">
                        <a:spcBef>
                          <a:spcPts val="0"/>
                        </a:spcBef>
                        <a:spcAft>
                          <a:spcPts val="0"/>
                        </a:spcAft>
                      </a:pPr>
                      <a:r>
                        <a:rPr sz="950" b="1">
                          <a:solidFill>
                            <a:srgbClr val="858C97"/>
                          </a:solidFill>
                          <a:latin typeface="Segoe UI"/>
                        </a:rPr>
                        <a:t>LỚP</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LÝ THUYẾT</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ĐO ĐƯỢC</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PHỤ TRỘI</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Conv1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2.500</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2.517</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17</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Conv2</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2.000</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2.031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31</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Conv3</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400</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431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31</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Conv4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160</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211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51</a:t>
                      </a:r>
                    </a:p>
                  </a:txBody>
                  <a:tcPr marL="73152" marR="73152" marT="27432" marB="27432" anchor="ctr">
                    <a:solidFill>
                      <a:srgbClr val="FBFAF8"/>
                    </a:solidFill>
                  </a:tcPr>
                </a:tc>
              </a:tr>
              <a:tr h="274320">
                <a:tc>
                  <a:txBody>
                    <a:bodyPr wrap="square"/>
                    <a:lstStyle/>
                    <a:p>
                      <a:pPr algn="l">
                        <a:spcBef>
                          <a:spcPts val="0"/>
                        </a:spcBef>
                        <a:spcAft>
                          <a:spcPts val="0"/>
                        </a:spcAft>
                      </a:pPr>
                      <a:r>
                        <a:rPr sz="1100" b="1">
                          <a:solidFill>
                            <a:srgbClr val="12161C"/>
                          </a:solidFill>
                          <a:latin typeface="Segoe UI"/>
                        </a:rPr>
                        <a:t>Tổng</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5.082</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5.216</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134</a:t>
                      </a:r>
                    </a:p>
                  </a:txBody>
                  <a:tcPr marL="73152" marR="73152" marT="27432" marB="27432" anchor="ctr">
                    <a:solidFill>
                      <a:srgbClr val="F2F1ED"/>
                    </a:solidFill>
                  </a:tcPr>
                </a:tc>
              </a:tr>
            </a:tbl>
          </a:graphicData>
        </a:graphic>
      </p:graphicFrame>
      <p:sp>
        <p:nvSpPr>
          <p:cNvPr id="11" name="TextBox 10"/>
          <p:cNvSpPr txBox="1"/>
          <p:nvPr/>
        </p:nvSpPr>
        <p:spPr>
          <a:xfrm>
            <a:off x="6415887" y="2267712"/>
            <a:ext cx="4998567" cy="2377440"/>
          </a:xfrm>
          <a:prstGeom prst="rect">
            <a:avLst/>
          </a:prstGeom>
          <a:noFill/>
        </p:spPr>
        <p:txBody>
          <a:bodyPr wrap="square" lIns="0" rIns="0" tIns="0" bIns="0">
            <a:spAutoFit/>
          </a:bodyPr>
          <a:lstStyle/>
          <a:p>
            <a:pPr algn="l">
              <a:lnSpc>
                <a:spcPct val="130000"/>
              </a:lnSpc>
              <a:spcBef>
                <a:spcPts val="0"/>
              </a:spcBef>
              <a:spcAft>
                <a:spcPts val="900"/>
              </a:spcAft>
            </a:pPr>
            <a:r>
              <a:rPr sz="1250" b="0">
                <a:solidFill>
                  <a:srgbClr val="12161C"/>
                </a:solidFill>
                <a:latin typeface="Segoe UI"/>
              </a:rPr>
              <a:t>Dọc mạng, </a:t>
            </a:r>
            <a:r>
              <a:rPr sz="1250" b="1">
                <a:solidFill>
                  <a:srgbClr val="12161C"/>
                </a:solidFill>
                <a:latin typeface="Segoe UI"/>
              </a:rPr>
              <a:t>độ dài chuỗi giảm mạnh</a:t>
            </a:r>
            <a:r>
              <a:rPr sz="1250" b="0">
                <a:solidFill>
                  <a:srgbClr val="12161C"/>
                </a:solidFill>
                <a:latin typeface="Segoe UI"/>
              </a:rPr>
              <a:t> — từ 2500 xuống 20 điểm ở đầu vào Conv4 — trong khi </a:t>
            </a:r>
            <a:r>
              <a:rPr sz="1250" b="1">
                <a:solidFill>
                  <a:srgbClr val="12161C"/>
                </a:solidFill>
                <a:latin typeface="Segoe UI"/>
              </a:rPr>
              <a:t>số kênh chỉ tăng tám lần</a:t>
            </a:r>
            <a:r>
              <a:rPr sz="1250" b="0">
                <a:solidFill>
                  <a:srgbClr val="12161C"/>
                </a:solidFill>
                <a:latin typeface="Segoe UI"/>
              </a:rPr>
              <a:t>. Song song theo chiều ổn định hơn thì mức sử dụng phần cứng đồng đều hơn qua các lớp.</a:t>
            </a:r>
          </a:p>
          <a:p>
            <a:pPr algn="l">
              <a:lnSpc>
                <a:spcPct val="130000"/>
              </a:lnSpc>
              <a:spcBef>
                <a:spcPts val="0"/>
              </a:spcBef>
              <a:spcAft>
                <a:spcPts val="0"/>
              </a:spcAft>
            </a:pPr>
            <a:r>
              <a:rPr sz="1250" b="0">
                <a:solidFill>
                  <a:srgbClr val="12161C"/>
                </a:solidFill>
                <a:latin typeface="Segoe UI"/>
              </a:rPr>
              <a:t>Quan trọng hơn: khi song song theo kênh, cả tám đơn vị </a:t>
            </a:r>
            <a:r>
              <a:rPr sz="1250" b="1">
                <a:solidFill>
                  <a:srgbClr val="12161C"/>
                </a:solidFill>
                <a:latin typeface="Segoe UI"/>
              </a:rPr>
              <a:t>dùng chung một cửa sổ</a:t>
            </a:r>
            <a:r>
              <a:rPr sz="1250" b="0">
                <a:solidFill>
                  <a:srgbClr val="12161C"/>
                </a:solidFill>
                <a:latin typeface="Segoe UI"/>
              </a:rPr>
              <a:t>. Nếu song song theo vị trí thì phải nạp nhiều cửa sổ chồng lấn cùng lúc, tốn thêm cổng đọc bộ nhớ và thanh ghi dịch.</a:t>
            </a:r>
          </a:p>
        </p:txBody>
      </p:sp>
      <p:sp>
        <p:nvSpPr>
          <p:cNvPr id="12" name="Rectangle 11"/>
          <p:cNvSpPr/>
          <p:nvPr/>
        </p:nvSpPr>
        <p:spPr>
          <a:xfrm>
            <a:off x="6415887" y="4297680"/>
            <a:ext cx="4998567" cy="100584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Bằng chứng</a:t>
            </a:r>
          </a:p>
          <a:p>
            <a:pPr algn="l">
              <a:lnSpc>
                <a:spcPct val="122000"/>
              </a:lnSpc>
              <a:spcBef>
                <a:spcPts val="0"/>
              </a:spcBef>
              <a:spcAft>
                <a:spcPts val="0"/>
              </a:spcAft>
            </a:pPr>
            <a:r>
              <a:rPr sz="1100" b="0">
                <a:solidFill>
                  <a:srgbClr val="5C6470"/>
                </a:solidFill>
                <a:latin typeface="Segoe UI"/>
              </a:rPr>
              <a:t>Số chu kỳ khớp công thức độ dài vào × số kênh vào. Số kênh RA không xuất hiện trong công thức — đúng vì chúng được tính song song.</a:t>
            </a:r>
          </a:p>
        </p:txBody>
      </p:sp>
      <p:sp>
        <p:nvSpPr>
          <p:cNvPr id="13" name="Rectangle 12"/>
          <p:cNvSpPr/>
          <p:nvPr/>
        </p:nvSpPr>
        <p:spPr>
          <a:xfrm>
            <a:off x="6415887" y="4297680"/>
            <a:ext cx="31750" cy="100584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Đánh đổi được thừa nhận: ở Conv1 và Conv2 chỉ bốn trên tám đơn vị hoạt động, vì tám đơn vị được đặt kích thước theo lớp nặng nhất là Conv4.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TRÍCH XUẤT TRỌNG SỐ</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Bố cục bộ nhớ khớp đúng cách mạch đọc</a:t>
            </a:r>
          </a:p>
        </p:txBody>
      </p:sp>
      <p:graphicFrame>
        <p:nvGraphicFramePr>
          <p:cNvPr id="4" name="Table 3"/>
          <p:cNvGraphicFramePr>
            <a:graphicFrameLocks noGrp="1"/>
          </p:cNvGraphicFramePr>
          <p:nvPr/>
        </p:nvGraphicFramePr>
        <p:xfrm>
          <a:off x="777240" y="1737360"/>
          <a:ext cx="4998566" cy="2267712"/>
        </p:xfrm>
        <a:graphic>
          <a:graphicData uri="http://schemas.openxmlformats.org/drawingml/2006/table">
            <a:tbl>
              <a:tblPr>
                <a:tableStyleId>{5C22544A-7EE6-4342-B048-85BDC9FD1C3A}</a:tableStyleId>
              </a:tblPr>
              <a:tblGrid>
                <a:gridCol w="1299627"/>
                <a:gridCol w="699799"/>
                <a:gridCol w="699799"/>
                <a:gridCol w="2299341"/>
              </a:tblGrid>
              <a:tr h="283464">
                <a:tc>
                  <a:txBody>
                    <a:bodyPr wrap="square"/>
                    <a:lstStyle/>
                    <a:p>
                      <a:pPr algn="l">
                        <a:spcBef>
                          <a:spcPts val="0"/>
                        </a:spcBef>
                        <a:spcAft>
                          <a:spcPts val="0"/>
                        </a:spcAft>
                      </a:pPr>
                      <a:r>
                        <a:rPr sz="950" b="1">
                          <a:solidFill>
                            <a:srgbClr val="858C97"/>
                          </a:solidFill>
                          <a:latin typeface="Segoe UI"/>
                        </a:rPr>
                        <a:t>TỆP</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SỐ TỪ</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RỘNG</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NỘI DUNG</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conv1_w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40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4 kênh ra × 1 kênh vào</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conv2_w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16</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40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4 × 4</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conv3_w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32</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40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8 × 4</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conv4_w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64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40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8 × 8</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conv_bias</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32</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32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bias INT32</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fc_weights</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32</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8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4 hàng × 8 cột</a:t>
                      </a:r>
                    </a:p>
                  </a:txBody>
                  <a:tcPr marL="73152" marR="73152" marT="27432" marB="27432" anchor="ctr">
                    <a:solidFill>
                      <a:srgbClr val="FBFAF8"/>
                    </a:solidFill>
                  </a:tcPr>
                </a:tc>
              </a:tr>
              <a:tr h="283464">
                <a:tc>
                  <a:txBody>
                    <a:bodyPr wrap="square"/>
                    <a:lstStyle/>
                    <a:p>
                      <a:pPr algn="l">
                        <a:spcBef>
                          <a:spcPts val="0"/>
                        </a:spcBef>
                        <a:spcAft>
                          <a:spcPts val="0"/>
                        </a:spcAft>
                      </a:pPr>
                      <a:r>
                        <a:rPr sz="1100" b="0">
                          <a:solidFill>
                            <a:srgbClr val="12161C"/>
                          </a:solidFill>
                          <a:latin typeface="Segoe UI"/>
                        </a:rPr>
                        <a:t>fc_bias</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32 b</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bias tầng FC</a:t>
                      </a:r>
                    </a:p>
                  </a:txBody>
                  <a:tcPr marL="73152" marR="73152" marT="27432" marB="27432" anchor="ctr">
                    <a:solidFill>
                      <a:srgbClr val="FBFAF8"/>
                    </a:solidFill>
                  </a:tcPr>
                </a:tc>
              </a:tr>
            </a:tbl>
          </a:graphicData>
        </a:graphic>
      </p:graphicFrame>
      <p:sp>
        <p:nvSpPr>
          <p:cNvPr id="5" name="TextBox 4"/>
          <p:cNvSpPr txBox="1"/>
          <p:nvPr/>
        </p:nvSpPr>
        <p:spPr>
          <a:xfrm>
            <a:off x="6415887" y="173736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ĐÓNG GÓI 40 BIT — MỘT QUYẾT ĐỊNH ĐỒNG THIẾT KẾ</a:t>
            </a:r>
          </a:p>
        </p:txBody>
      </p:sp>
      <p:sp>
        <p:nvSpPr>
          <p:cNvPr id="6" name="TextBox 5"/>
          <p:cNvSpPr txBox="1"/>
          <p:nvPr/>
        </p:nvSpPr>
        <p:spPr>
          <a:xfrm>
            <a:off x="6415887" y="2103120"/>
            <a:ext cx="4998567" cy="2011680"/>
          </a:xfrm>
          <a:prstGeom prst="rect">
            <a:avLst/>
          </a:prstGeom>
          <a:noFill/>
        </p:spPr>
        <p:txBody>
          <a:bodyPr wrap="square" lIns="0" rIns="0" tIns="0" bIns="0">
            <a:spAutoFit/>
          </a:bodyPr>
          <a:lstStyle/>
          <a:p>
            <a:pPr algn="l">
              <a:lnSpc>
                <a:spcPct val="130000"/>
              </a:lnSpc>
              <a:spcBef>
                <a:spcPts val="0"/>
              </a:spcBef>
              <a:spcAft>
                <a:spcPts val="900"/>
              </a:spcAft>
            </a:pPr>
            <a:r>
              <a:rPr sz="1250" b="0">
                <a:solidFill>
                  <a:srgbClr val="12161C"/>
                </a:solidFill>
                <a:latin typeface="Segoe UI"/>
              </a:rPr>
              <a:t>Năm trọng số của một cặp (kênh ra, kênh vào) được gói thành </a:t>
            </a:r>
            <a:r>
              <a:rPr sz="1250" b="1">
                <a:solidFill>
                  <a:srgbClr val="12161C"/>
                </a:solidFill>
                <a:latin typeface="Segoe UI"/>
              </a:rPr>
              <a:t>một từ 40 bit</a:t>
            </a:r>
            <a:r>
              <a:rPr sz="1250" b="0">
                <a:solidFill>
                  <a:srgbClr val="12161C"/>
                </a:solidFill>
                <a:latin typeface="Segoe UI"/>
              </a:rPr>
              <a:t>, sắp xếp kênh ra ở ngoài, kênh vào ở trong.</a:t>
            </a:r>
          </a:p>
          <a:p>
            <a:pPr algn="l">
              <a:lnSpc>
                <a:spcPct val="130000"/>
              </a:lnSpc>
              <a:spcBef>
                <a:spcPts val="0"/>
              </a:spcBef>
              <a:spcAft>
                <a:spcPts val="0"/>
              </a:spcAft>
            </a:pPr>
            <a:r>
              <a:rPr sz="1250" b="0">
                <a:solidFill>
                  <a:srgbClr val="12161C"/>
                </a:solidFill>
                <a:latin typeface="Segoe UI"/>
              </a:rPr>
              <a:t>Cách sắp xếp này khớp đúng cấu trúc mạch: mỗi chu kỳ, một đơn vị tính cần đúng năm trọng số của một kênh vào — tức </a:t>
            </a:r>
            <a:r>
              <a:rPr sz="1250" b="1">
                <a:solidFill>
                  <a:srgbClr val="12161C"/>
                </a:solidFill>
                <a:latin typeface="Segoe UI"/>
              </a:rPr>
              <a:t>đúng một từ, đọc trong một lần truy cập</a:t>
            </a:r>
            <a:r>
              <a:rPr sz="1250" b="0">
                <a:solidFill>
                  <a:srgbClr val="12161C"/>
                </a:solidFill>
                <a:latin typeface="Segoe UI"/>
              </a:rPr>
              <a:t>.</a:t>
            </a:r>
          </a:p>
        </p:txBody>
      </p:sp>
      <p:sp>
        <p:nvSpPr>
          <p:cNvPr id="7" name="Rectangle 6"/>
          <p:cNvSpPr/>
          <p:nvPr/>
        </p:nvSpPr>
        <p:spPr>
          <a:xfrm>
            <a:off x="6415887" y="4114800"/>
            <a:ext cx="4998567" cy="123444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Hệ quả</a:t>
            </a:r>
          </a:p>
          <a:p>
            <a:pPr algn="l">
              <a:lnSpc>
                <a:spcPct val="122000"/>
              </a:lnSpc>
              <a:spcBef>
                <a:spcPts val="0"/>
              </a:spcBef>
              <a:spcAft>
                <a:spcPts val="0"/>
              </a:spcAft>
            </a:pPr>
            <a:r>
              <a:rPr sz="1100" b="0">
                <a:solidFill>
                  <a:srgbClr val="5C6470"/>
                </a:solidFill>
                <a:latin typeface="Segoe UI"/>
              </a:rPr>
              <a:t>Không cần ghép byte lúc chạy, và tiết kiệm đáng kể so với lưu phẳng từng byte. Bố cục tệp trọng số ở đây được quyết định bởi mạch, không phải bởi thư viện học máy.</a:t>
            </a:r>
          </a:p>
        </p:txBody>
      </p:sp>
      <p:sp>
        <p:nvSpPr>
          <p:cNvPr id="8" name="Rectangle 7"/>
          <p:cNvSpPr/>
          <p:nvPr/>
        </p:nvSpPr>
        <p:spPr>
          <a:xfrm>
            <a:off x="6415887" y="4114800"/>
            <a:ext cx="31750" cy="123444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Một ví dụ nhỏ nhưng rõ của đồng thiết kế: định dạng dữ liệu phía phần mềm được chọn theo cách mạch truy cập bộ nhớ.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§3 · KIỂM CHỨNG</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Ba tầng, và một điều kiện đủ mạnh</a:t>
            </a:r>
          </a:p>
        </p:txBody>
      </p:sp>
      <p:graphicFrame>
        <p:nvGraphicFramePr>
          <p:cNvPr id="4" name="Table 3"/>
          <p:cNvGraphicFramePr>
            <a:graphicFrameLocks noGrp="1"/>
          </p:cNvGraphicFramePr>
          <p:nvPr/>
        </p:nvGraphicFramePr>
        <p:xfrm>
          <a:off x="777240" y="1783080"/>
          <a:ext cx="4998566" cy="1865376"/>
        </p:xfrm>
        <a:graphic>
          <a:graphicData uri="http://schemas.openxmlformats.org/drawingml/2006/table">
            <a:tbl>
              <a:tblPr>
                <a:tableStyleId>{5C22544A-7EE6-4342-B048-85BDC9FD1C3A}</a:tableStyleId>
              </a:tblPr>
              <a:tblGrid>
                <a:gridCol w="1199656"/>
                <a:gridCol w="2499283"/>
                <a:gridCol w="1299627"/>
              </a:tblGrid>
              <a:tr h="310896">
                <a:tc>
                  <a:txBody>
                    <a:bodyPr wrap="square"/>
                    <a:lstStyle/>
                    <a:p>
                      <a:pPr algn="l">
                        <a:spcBef>
                          <a:spcPts val="0"/>
                        </a:spcBef>
                        <a:spcAft>
                          <a:spcPts val="0"/>
                        </a:spcAft>
                      </a:pPr>
                      <a:r>
                        <a:rPr sz="950" b="1">
                          <a:solidFill>
                            <a:srgbClr val="858C97"/>
                          </a:solidFill>
                          <a:latin typeface="Segoe UI"/>
                        </a:rPr>
                        <a:t>TẦNG</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NỘI DUNG</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KẾT QUẢ</a:t>
                      </a:r>
                    </a:p>
                  </a:txBody>
                  <a:tcPr marL="73152" marR="73152" marT="27432" marB="27432" anchor="ctr">
                    <a:solidFill>
                      <a:srgbClr val="FBFAF8"/>
                    </a:solidFill>
                  </a:tcPr>
                </a:tc>
              </a:tr>
              <a:tr h="310896">
                <a:tc>
                  <a:txBody>
                    <a:bodyPr wrap="square"/>
                    <a:lstStyle/>
                    <a:p>
                      <a:pPr algn="l">
                        <a:spcBef>
                          <a:spcPts val="0"/>
                        </a:spcBef>
                        <a:spcAft>
                          <a:spcPts val="0"/>
                        </a:spcAft>
                      </a:pPr>
                      <a:r>
                        <a:rPr sz="1100" b="0">
                          <a:solidFill>
                            <a:srgbClr val="12161C"/>
                          </a:solidFill>
                          <a:latin typeface="Segoe UI"/>
                        </a:rPr>
                        <a:t>Mức khối</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đường ống tính toán</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23 đạt</a:t>
                      </a:r>
                    </a:p>
                  </a:txBody>
                  <a:tcPr marL="73152" marR="73152" marT="27432" marB="27432" anchor="ctr">
                    <a:solidFill>
                      <a:srgbClr val="FBFAF8"/>
                    </a:solidFill>
                  </a:tcPr>
                </a:tc>
              </a:tr>
              <a:tr h="310896">
                <a:tc>
                  <a:txBody>
                    <a:bodyPr wrap="square"/>
                    <a:lstStyle/>
                    <a:p>
                      <a:pPr algn="l">
                        <a:spcBef>
                          <a:spcPts val="0"/>
                        </a:spcBef>
                        <a:spcAft>
                          <a:spcPts val="0"/>
                        </a:spcAft>
                      </a:pPr>
                      <a:r>
                        <a:rPr sz="1100" b="0">
                          <a:solidFill>
                            <a:srgbClr val="12161C"/>
                          </a:solidFill>
                          <a:latin typeface="Segoe UI"/>
                        </a:rPr>
                        <a:t>Mức lớp</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vận hành một lớp đầy đủ</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8 đạt</a:t>
                      </a:r>
                    </a:p>
                  </a:txBody>
                  <a:tcPr marL="73152" marR="73152" marT="27432" marB="27432" anchor="ctr">
                    <a:solidFill>
                      <a:srgbClr val="FBFAF8"/>
                    </a:solidFill>
                  </a:tcPr>
                </a:tc>
              </a:tr>
              <a:tr h="310896">
                <a:tc>
                  <a:txBody>
                    <a:bodyPr wrap="square"/>
                    <a:lstStyle/>
                    <a:p>
                      <a:pPr algn="l">
                        <a:spcBef>
                          <a:spcPts val="0"/>
                        </a:spcBef>
                        <a:spcAft>
                          <a:spcPts val="0"/>
                        </a:spcAft>
                      </a:pPr>
                      <a:r>
                        <a:rPr sz="1100" b="1">
                          <a:solidFill>
                            <a:srgbClr val="12161C"/>
                          </a:solidFill>
                          <a:latin typeface="Segoe UI"/>
                        </a:rPr>
                        <a:t>Mức hệ thống</a:t>
                      </a:r>
                    </a:p>
                  </a:txBody>
                  <a:tcPr marL="73152" marR="73152" marT="27432" marB="27432" anchor="ctr">
                    <a:solidFill>
                      <a:srgbClr val="F2F1ED"/>
                    </a:solidFill>
                  </a:tcPr>
                </a:tc>
                <a:tc>
                  <a:txBody>
                    <a:bodyPr wrap="square"/>
                    <a:lstStyle/>
                    <a:p>
                      <a:pPr algn="l">
                        <a:spcBef>
                          <a:spcPts val="0"/>
                        </a:spcBef>
                        <a:spcAft>
                          <a:spcPts val="0"/>
                        </a:spcAft>
                      </a:pPr>
                      <a:r>
                        <a:rPr sz="1100" b="1">
                          <a:solidFill>
                            <a:srgbClr val="12161C"/>
                          </a:solidFill>
                          <a:latin typeface="Segoe UI"/>
                        </a:rPr>
                        <a:t>khớp bit từng giá trị trung gian</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7/7</a:t>
                      </a:r>
                    </a:p>
                  </a:txBody>
                  <a:tcPr marL="73152" marR="73152" marT="27432" marB="27432" anchor="ctr">
                    <a:solidFill>
                      <a:srgbClr val="F2F1ED"/>
                    </a:solidFill>
                  </a:tcPr>
                </a:tc>
              </a:tr>
              <a:tr h="310896">
                <a:tc>
                  <a:txBody>
                    <a:bodyPr wrap="square"/>
                    <a:lstStyle/>
                    <a:p>
                      <a:pPr algn="l">
                        <a:spcBef>
                          <a:spcPts val="0"/>
                        </a:spcBef>
                        <a:spcAft>
                          <a:spcPts val="0"/>
                        </a:spcAft>
                      </a:pPr>
                      <a:r>
                        <a:rPr sz="1100" b="0">
                          <a:solidFill>
                            <a:srgbClr val="12161C"/>
                          </a:solidFill>
                          <a:latin typeface="Segoe UI"/>
                        </a:rPr>
                        <a:t>Trên board</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toàn tập kiểm tra chính</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94,27%</a:t>
                      </a:r>
                    </a:p>
                  </a:txBody>
                  <a:tcPr marL="73152" marR="73152" marT="27432" marB="27432" anchor="ctr">
                    <a:solidFill>
                      <a:srgbClr val="FBFAF8"/>
                    </a:solidFill>
                  </a:tcPr>
                </a:tc>
              </a:tr>
              <a:tr h="310896">
                <a:tc>
                  <a:txBody>
                    <a:bodyPr wrap="square"/>
                    <a:lstStyle/>
                    <a:p>
                      <a:pPr algn="l">
                        <a:spcBef>
                          <a:spcPts val="0"/>
                        </a:spcBef>
                        <a:spcAft>
                          <a:spcPts val="0"/>
                        </a:spcAft>
                      </a:pPr>
                      <a:r>
                        <a:rPr sz="1100" b="0">
                          <a:solidFill>
                            <a:srgbClr val="12161C"/>
                          </a:solidFill>
                          <a:latin typeface="Segoe UI"/>
                        </a:rPr>
                        <a:t>Trên board</a:t>
                      </a:r>
                    </a:p>
                  </a:txBody>
                  <a:tcPr marL="73152" marR="73152" marT="27432" marB="27432" anchor="ctr">
                    <a:solidFill>
                      <a:srgbClr val="FBFAF8"/>
                    </a:solidFill>
                  </a:tcPr>
                </a:tc>
                <a:tc>
                  <a:txBody>
                    <a:bodyPr wrap="square"/>
                    <a:lstStyle/>
                    <a:p>
                      <a:pPr algn="l">
                        <a:spcBef>
                          <a:spcPts val="0"/>
                        </a:spcBef>
                        <a:spcAft>
                          <a:spcPts val="0"/>
                        </a:spcAft>
                      </a:pPr>
                      <a:r>
                        <a:rPr sz="1100" b="0">
                          <a:solidFill>
                            <a:srgbClr val="12161C"/>
                          </a:solidFill>
                          <a:latin typeface="Segoe UI"/>
                        </a:rPr>
                        <a:t>toàn tập kiểm tra chéo</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93,00%</a:t>
                      </a:r>
                    </a:p>
                  </a:txBody>
                  <a:tcPr marL="73152" marR="73152" marT="27432" marB="27432" anchor="ctr">
                    <a:solidFill>
                      <a:srgbClr val="FBFAF8"/>
                    </a:solidFill>
                  </a:tcPr>
                </a:tc>
              </a:tr>
            </a:tbl>
          </a:graphicData>
        </a:graphic>
      </p:graphicFrame>
      <p:sp>
        <p:nvSpPr>
          <p:cNvPr id="5" name="TextBox 4"/>
          <p:cNvSpPr txBox="1"/>
          <p:nvPr/>
        </p:nvSpPr>
        <p:spPr>
          <a:xfrm>
            <a:off x="777240" y="3840480"/>
            <a:ext cx="4998567" cy="91440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Bảy điểm kiểm tra: đầu vào · bốn đầu ra gộp · GAP · logits. </a:t>
            </a:r>
            <a:r>
              <a:rPr sz="1250" b="1">
                <a:solidFill>
                  <a:srgbClr val="12161C"/>
                </a:solidFill>
                <a:latin typeface="Segoe UI"/>
              </a:rPr>
              <a:t>Sai lệch tuyệt đối lớn nhất bằng không.</a:t>
            </a:r>
          </a:p>
        </p:txBody>
      </p:sp>
      <p:sp>
        <p:nvSpPr>
          <p:cNvPr id="6" name="TextBox 5"/>
          <p:cNvSpPr txBox="1"/>
          <p:nvPr/>
        </p:nvSpPr>
        <p:spPr>
          <a:xfrm>
            <a:off x="6415887" y="178308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VÌ SAO SO ĐỘ CHÍNH XÁC LÀ CHƯA ĐỦ</a:t>
            </a:r>
          </a:p>
        </p:txBody>
      </p:sp>
      <p:sp>
        <p:nvSpPr>
          <p:cNvPr id="7" name="TextBox 6"/>
          <p:cNvSpPr txBox="1"/>
          <p:nvPr/>
        </p:nvSpPr>
        <p:spPr>
          <a:xfrm>
            <a:off x="6415887" y="2130552"/>
            <a:ext cx="4998567" cy="82296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Hai hệ thống có thể cùng cho 94% mà vẫn tính khác nhau. Độ chính xác là thống kê tổng hợp — nó </a:t>
            </a:r>
            <a:r>
              <a:rPr sz="1250" b="1">
                <a:solidFill>
                  <a:srgbClr val="12161C"/>
                </a:solidFill>
                <a:latin typeface="Segoe UI"/>
              </a:rPr>
              <a:t>che</a:t>
            </a:r>
            <a:r>
              <a:rPr sz="1250" b="0">
                <a:solidFill>
                  <a:srgbClr val="12161C"/>
                </a:solidFill>
                <a:latin typeface="Segoe UI"/>
              </a:rPr>
              <a:t> lỗi triển khai.</a:t>
            </a:r>
          </a:p>
        </p:txBody>
      </p:sp>
      <p:sp>
        <p:nvSpPr>
          <p:cNvPr id="8" name="Rectangle 7"/>
          <p:cNvSpPr/>
          <p:nvPr/>
        </p:nvSpPr>
        <p:spPr>
          <a:xfrm>
            <a:off x="6415887" y="3017520"/>
            <a:ext cx="4998567" cy="1325880"/>
          </a:xfrm>
          <a:prstGeom prst="rect">
            <a:avLst/>
          </a:prstGeom>
          <a:solidFill>
            <a:srgbClr val="F2F1ED"/>
          </a:solidFill>
          <a:ln w="9525">
            <a:solidFill>
              <a:srgbClr val="DFE1E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spcBef>
                <a:spcPts val="0"/>
              </a:spcBef>
              <a:spcAft>
                <a:spcPts val="300"/>
              </a:spcAft>
            </a:pPr>
            <a:r>
              <a:rPr sz="1250" b="1">
                <a:solidFill>
                  <a:srgbClr val="12161C"/>
                </a:solidFill>
                <a:latin typeface="Segoe UI"/>
              </a:rPr>
              <a:t>Bằng chứng thực nghiệm</a:t>
            </a:r>
          </a:p>
          <a:p>
            <a:pPr algn="l">
              <a:lnSpc>
                <a:spcPct val="122000"/>
              </a:lnSpc>
              <a:spcBef>
                <a:spcPts val="0"/>
              </a:spcBef>
              <a:spcAft>
                <a:spcPts val="0"/>
              </a:spcAft>
            </a:pPr>
            <a:r>
              <a:rPr sz="1100" b="0">
                <a:solidFill>
                  <a:srgbClr val="5C6470"/>
                </a:solidFill>
                <a:latin typeface="Segoe UI"/>
              </a:rPr>
              <a:t>Một lỗi lệch một chu kỳ trong đường ống làm cửa sổ gộp trượt sang phải một vị trí. Lỗi đó VƯỢT QUA phép so dung sai ±10 ở tầng gộp thứ nhất. Chỉ khi so từng bit mới lộ ra.</a:t>
            </a:r>
          </a:p>
        </p:txBody>
      </p:sp>
      <p:sp>
        <p:nvSpPr>
          <p:cNvPr id="9" name="Rectangle 8"/>
          <p:cNvSpPr/>
          <p:nvPr/>
        </p:nvSpPr>
        <p:spPr>
          <a:xfrm>
            <a:off x="6415887" y="3017520"/>
            <a:ext cx="31750" cy="132588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5887" y="4498848"/>
            <a:ext cx="4998567" cy="1005840"/>
          </a:xfrm>
          <a:prstGeom prst="rect">
            <a:avLst/>
          </a:prstGeom>
          <a:noFill/>
        </p:spPr>
        <p:txBody>
          <a:bodyPr wrap="square" lIns="0" rIns="0" tIns="0" bIns="0">
            <a:spAutoFit/>
          </a:bodyPr>
          <a:lstStyle/>
          <a:p>
            <a:pPr algn="l">
              <a:lnSpc>
                <a:spcPct val="130000"/>
              </a:lnSpc>
              <a:spcBef>
                <a:spcPts val="0"/>
              </a:spcBef>
              <a:spcAft>
                <a:spcPts val="0"/>
              </a:spcAft>
            </a:pPr>
            <a:r>
              <a:rPr sz="1250" b="0">
                <a:solidFill>
                  <a:srgbClr val="12161C"/>
                </a:solidFill>
                <a:latin typeface="Segoe UI"/>
              </a:rPr>
              <a:t>Khớp bit còn là điều kiện để </a:t>
            </a:r>
            <a:r>
              <a:rPr sz="1250" b="1">
                <a:solidFill>
                  <a:srgbClr val="12161C"/>
                </a:solidFill>
                <a:latin typeface="Segoe UI"/>
              </a:rPr>
              <a:t>tối ưu định thời an toàn</a:t>
            </a:r>
            <a:r>
              <a:rPr sz="1250" b="0">
                <a:solidFill>
                  <a:srgbClr val="12161C"/>
                </a:solidFill>
                <a:latin typeface="Segoe UI"/>
              </a:rPr>
              <a:t>: phép gộp bias và hằng làm tròn vào bộ tích luỹ được xác nhận không đổi một bit nào ở cả bảy điểm.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777240" y="2331720"/>
            <a:ext cx="10637215" cy="274320"/>
          </a:xfrm>
          <a:prstGeom prst="rect">
            <a:avLst/>
          </a:prstGeom>
          <a:noFill/>
        </p:spPr>
        <p:txBody>
          <a:bodyPr wrap="square" lIns="0" rIns="0" tIns="0" bIns="0">
            <a:spAutoFit/>
          </a:bodyPr>
          <a:lstStyle/>
          <a:p>
            <a:pPr algn="l">
              <a:spcBef>
                <a:spcPts val="0"/>
              </a:spcBef>
              <a:spcAft>
                <a:spcPts val="0"/>
              </a:spcAft>
            </a:pPr>
            <a:r>
              <a:rPr sz="1100" b="1">
                <a:solidFill>
                  <a:srgbClr val="B02840"/>
                </a:solidFill>
                <a:latin typeface="Segoe UI"/>
              </a:rPr>
              <a:t>§4</a:t>
            </a:r>
          </a:p>
        </p:txBody>
      </p:sp>
      <p:sp>
        <p:nvSpPr>
          <p:cNvPr id="3" name="TextBox 2"/>
          <p:cNvSpPr txBox="1"/>
          <p:nvPr/>
        </p:nvSpPr>
        <p:spPr>
          <a:xfrm>
            <a:off x="777240" y="2743200"/>
            <a:ext cx="10637215" cy="1097280"/>
          </a:xfrm>
          <a:prstGeom prst="rect">
            <a:avLst/>
          </a:prstGeom>
          <a:noFill/>
        </p:spPr>
        <p:txBody>
          <a:bodyPr wrap="square" lIns="0" rIns="0" tIns="0" bIns="0">
            <a:spAutoFit/>
          </a:bodyPr>
          <a:lstStyle/>
          <a:p>
            <a:pPr algn="l">
              <a:spcBef>
                <a:spcPts val="0"/>
              </a:spcBef>
              <a:spcAft>
                <a:spcPts val="0"/>
              </a:spcAft>
            </a:pPr>
            <a:r>
              <a:rPr sz="4600" b="0">
                <a:solidFill>
                  <a:srgbClr val="FBFAF8"/>
                </a:solidFill>
                <a:latin typeface="Georgia"/>
              </a:rPr>
              <a:t>Kết quả thực nghiệm</a:t>
            </a:r>
          </a:p>
        </p:txBody>
      </p:sp>
      <p:sp>
        <p:nvSpPr>
          <p:cNvPr id="4" name="TextBox 3"/>
          <p:cNvSpPr txBox="1"/>
          <p:nvPr/>
        </p:nvSpPr>
        <p:spPr>
          <a:xfrm>
            <a:off x="777240" y="3977639"/>
            <a:ext cx="10637215" cy="457200"/>
          </a:xfrm>
          <a:prstGeom prst="rect">
            <a:avLst/>
          </a:prstGeom>
          <a:noFill/>
        </p:spPr>
        <p:txBody>
          <a:bodyPr wrap="square" lIns="0" rIns="0" tIns="0" bIns="0">
            <a:spAutoFit/>
          </a:bodyPr>
          <a:lstStyle/>
          <a:p>
            <a:pPr algn="l">
              <a:spcBef>
                <a:spcPts val="0"/>
              </a:spcBef>
              <a:spcAft>
                <a:spcPts val="0"/>
              </a:spcAft>
            </a:pPr>
            <a:r>
              <a:rPr sz="1500" b="0">
                <a:solidFill>
                  <a:srgbClr val="858C97"/>
                </a:solidFill>
                <a:latin typeface="Segoe UI"/>
              </a:rPr>
              <a:t>Mô hình · Tài nguyên và định thời · Đối chiếu với công trình đã có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§4 · MÔ HÌNH</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Cắt tỉa gần một nửa, mất một phần ba điểm</a:t>
            </a:r>
          </a:p>
        </p:txBody>
      </p:sp>
      <p:graphicFrame>
        <p:nvGraphicFramePr>
          <p:cNvPr id="4" name="Table 3"/>
          <p:cNvGraphicFramePr>
            <a:graphicFrameLocks noGrp="1"/>
          </p:cNvGraphicFramePr>
          <p:nvPr/>
        </p:nvGraphicFramePr>
        <p:xfrm>
          <a:off x="777240" y="1719072"/>
          <a:ext cx="10637213" cy="1389888"/>
        </p:xfrm>
        <a:graphic>
          <a:graphicData uri="http://schemas.openxmlformats.org/drawingml/2006/table">
            <a:tbl>
              <a:tblPr>
                <a:tableStyleId>{5C22544A-7EE6-4342-B048-85BDC9FD1C3A}</a:tableStyleId>
              </a:tblPr>
              <a:tblGrid>
                <a:gridCol w="4042141"/>
                <a:gridCol w="1489210"/>
                <a:gridCol w="1914698"/>
                <a:gridCol w="1595582"/>
                <a:gridCol w="1595582"/>
              </a:tblGrid>
              <a:tr h="347472">
                <a:tc>
                  <a:txBody>
                    <a:bodyPr wrap="square"/>
                    <a:lstStyle/>
                    <a:p>
                      <a:pPr algn="l">
                        <a:spcBef>
                          <a:spcPts val="0"/>
                        </a:spcBef>
                        <a:spcAft>
                          <a:spcPts val="0"/>
                        </a:spcAft>
                      </a:pPr>
                      <a:r>
                        <a:rPr sz="950" b="1">
                          <a:solidFill>
                            <a:srgbClr val="858C97"/>
                          </a:solidFill>
                          <a:latin typeface="Segoe UI"/>
                        </a:rPr>
                        <a:t>MÔ HÌNH</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THAM SỐ</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ĐỘ CHÍNH XÁC</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F1-MACRO</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AUC</a:t>
                      </a:r>
                    </a:p>
                  </a:txBody>
                  <a:tcPr marL="73152" marR="73152" marT="27432" marB="27432" anchor="ctr">
                    <a:solidFill>
                      <a:srgbClr val="FBFAF8"/>
                    </a:solidFill>
                  </a:tcPr>
                </a:tc>
              </a:tr>
              <a:tr h="347472">
                <a:tc>
                  <a:txBody>
                    <a:bodyPr wrap="square"/>
                    <a:lstStyle/>
                    <a:p>
                      <a:pPr algn="l">
                        <a:spcBef>
                          <a:spcPts val="0"/>
                        </a:spcBef>
                        <a:spcAft>
                          <a:spcPts val="0"/>
                        </a:spcAft>
                      </a:pPr>
                      <a:r>
                        <a:rPr sz="1200" b="0">
                          <a:solidFill>
                            <a:srgbClr val="12161C"/>
                          </a:solidFill>
                          <a:latin typeface="Segoe UI"/>
                        </a:rPr>
                        <a:t>Số thực 32 bit, đầy đủ</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1.244</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95,35%</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a:t>
                      </a:r>
                    </a:p>
                  </a:txBody>
                  <a:tcPr marL="73152" marR="73152" marT="27432" marB="27432" anchor="ctr">
                    <a:solidFill>
                      <a:srgbClr val="FBFAF8"/>
                    </a:solidFill>
                  </a:tcPr>
                </a:tc>
              </a:tr>
              <a:tr h="347472">
                <a:tc>
                  <a:txBody>
                    <a:bodyPr wrap="square"/>
                    <a:lstStyle/>
                    <a:p>
                      <a:pPr algn="l">
                        <a:spcBef>
                          <a:spcPts val="0"/>
                        </a:spcBef>
                        <a:spcAft>
                          <a:spcPts val="0"/>
                        </a:spcAft>
                      </a:pPr>
                      <a:r>
                        <a:rPr sz="1200" b="0">
                          <a:solidFill>
                            <a:srgbClr val="12161C"/>
                          </a:solidFill>
                          <a:latin typeface="Segoe UI"/>
                        </a:rPr>
                        <a:t>Số thực 32 bit, đã cắt tỉa</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640</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95,03%</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0,9446</a:t>
                      </a:r>
                    </a:p>
                  </a:txBody>
                  <a:tcPr marL="73152" marR="73152" marT="27432" marB="27432" anchor="ctr">
                    <a:solidFill>
                      <a:srgbClr val="FBFAF8"/>
                    </a:solidFill>
                  </a:tcPr>
                </a:tc>
                <a:tc>
                  <a:txBody>
                    <a:bodyPr wrap="square"/>
                    <a:lstStyle/>
                    <a:p>
                      <a:pPr algn="r">
                        <a:spcBef>
                          <a:spcPts val="0"/>
                        </a:spcBef>
                        <a:spcAft>
                          <a:spcPts val="0"/>
                        </a:spcAft>
                      </a:pPr>
                      <a:r>
                        <a:rPr sz="1200" b="0">
                          <a:solidFill>
                            <a:srgbClr val="12161C"/>
                          </a:solidFill>
                          <a:latin typeface="Segoe UI"/>
                        </a:rPr>
                        <a:t>0,9938</a:t>
                      </a:r>
                    </a:p>
                  </a:txBody>
                  <a:tcPr marL="73152" marR="73152" marT="27432" marB="27432" anchor="ctr">
                    <a:solidFill>
                      <a:srgbClr val="FBFAF8"/>
                    </a:solidFill>
                  </a:tcPr>
                </a:tc>
              </a:tr>
              <a:tr h="347472">
                <a:tc>
                  <a:txBody>
                    <a:bodyPr wrap="square"/>
                    <a:lstStyle/>
                    <a:p>
                      <a:pPr algn="l">
                        <a:spcBef>
                          <a:spcPts val="0"/>
                        </a:spcBef>
                        <a:spcAft>
                          <a:spcPts val="0"/>
                        </a:spcAft>
                      </a:pPr>
                      <a:r>
                        <a:rPr sz="1200" b="1">
                          <a:solidFill>
                            <a:srgbClr val="12161C"/>
                          </a:solidFill>
                          <a:latin typeface="Segoe UI"/>
                        </a:rPr>
                        <a:t>Số nguyên 8 bit, khớp bit</a:t>
                      </a:r>
                    </a:p>
                  </a:txBody>
                  <a:tcPr marL="73152" marR="73152" marT="27432" marB="27432" anchor="ctr">
                    <a:solidFill>
                      <a:srgbClr val="F2F1ED"/>
                    </a:solidFill>
                  </a:tcPr>
                </a:tc>
                <a:tc>
                  <a:txBody>
                    <a:bodyPr wrap="square"/>
                    <a:lstStyle/>
                    <a:p>
                      <a:pPr algn="r">
                        <a:spcBef>
                          <a:spcPts val="0"/>
                        </a:spcBef>
                        <a:spcAft>
                          <a:spcPts val="0"/>
                        </a:spcAft>
                      </a:pPr>
                      <a:r>
                        <a:rPr sz="1200" b="1">
                          <a:solidFill>
                            <a:srgbClr val="12161C"/>
                          </a:solidFill>
                          <a:latin typeface="Segoe UI"/>
                        </a:rPr>
                        <a:t>640</a:t>
                      </a:r>
                    </a:p>
                  </a:txBody>
                  <a:tcPr marL="73152" marR="73152" marT="27432" marB="27432" anchor="ctr">
                    <a:solidFill>
                      <a:srgbClr val="F2F1ED"/>
                    </a:solidFill>
                  </a:tcPr>
                </a:tc>
                <a:tc>
                  <a:txBody>
                    <a:bodyPr wrap="square"/>
                    <a:lstStyle/>
                    <a:p>
                      <a:pPr algn="r">
                        <a:spcBef>
                          <a:spcPts val="0"/>
                        </a:spcBef>
                        <a:spcAft>
                          <a:spcPts val="0"/>
                        </a:spcAft>
                      </a:pPr>
                      <a:r>
                        <a:rPr sz="1200" b="1">
                          <a:solidFill>
                            <a:srgbClr val="12161C"/>
                          </a:solidFill>
                          <a:latin typeface="Segoe UI"/>
                        </a:rPr>
                        <a:t>94,27%</a:t>
                      </a:r>
                    </a:p>
                  </a:txBody>
                  <a:tcPr marL="73152" marR="73152" marT="27432" marB="27432" anchor="ctr">
                    <a:solidFill>
                      <a:srgbClr val="F2F1ED"/>
                    </a:solidFill>
                  </a:tcPr>
                </a:tc>
                <a:tc>
                  <a:txBody>
                    <a:bodyPr wrap="square"/>
                    <a:lstStyle/>
                    <a:p>
                      <a:pPr algn="r">
                        <a:spcBef>
                          <a:spcPts val="0"/>
                        </a:spcBef>
                        <a:spcAft>
                          <a:spcPts val="0"/>
                        </a:spcAft>
                      </a:pPr>
                      <a:r>
                        <a:rPr sz="1200" b="1">
                          <a:solidFill>
                            <a:srgbClr val="12161C"/>
                          </a:solidFill>
                          <a:latin typeface="Segoe UI"/>
                        </a:rPr>
                        <a:t>0,9356</a:t>
                      </a:r>
                    </a:p>
                  </a:txBody>
                  <a:tcPr marL="73152" marR="73152" marT="27432" marB="27432" anchor="ctr">
                    <a:solidFill>
                      <a:srgbClr val="F2F1ED"/>
                    </a:solidFill>
                  </a:tcPr>
                </a:tc>
                <a:tc>
                  <a:txBody>
                    <a:bodyPr wrap="square"/>
                    <a:lstStyle/>
                    <a:p>
                      <a:pPr algn="r">
                        <a:spcBef>
                          <a:spcPts val="0"/>
                        </a:spcBef>
                        <a:spcAft>
                          <a:spcPts val="0"/>
                        </a:spcAft>
                      </a:pPr>
                      <a:r>
                        <a:rPr sz="1200" b="1">
                          <a:solidFill>
                            <a:srgbClr val="12161C"/>
                          </a:solidFill>
                          <a:latin typeface="Segoe UI"/>
                        </a:rPr>
                        <a:t>0,9712</a:t>
                      </a:r>
                    </a:p>
                  </a:txBody>
                  <a:tcPr marL="73152" marR="73152" marT="27432" marB="27432" anchor="ctr">
                    <a:solidFill>
                      <a:srgbClr val="F2F1ED"/>
                    </a:solidFill>
                  </a:tcPr>
                </a:tc>
              </a:tr>
            </a:tbl>
          </a:graphicData>
        </a:graphic>
      </p:graphicFrame>
      <p:sp>
        <p:nvSpPr>
          <p:cNvPr id="5" name="TextBox 4"/>
          <p:cNvSpPr txBox="1"/>
          <p:nvPr/>
        </p:nvSpPr>
        <p:spPr>
          <a:xfrm>
            <a:off x="777240" y="324612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CHI PHÍ TỪNG BƯỚC</a:t>
            </a:r>
          </a:p>
        </p:txBody>
      </p:sp>
      <p:graphicFrame>
        <p:nvGraphicFramePr>
          <p:cNvPr id="6" name="Table 5"/>
          <p:cNvGraphicFramePr>
            <a:graphicFrameLocks noGrp="1"/>
          </p:cNvGraphicFramePr>
          <p:nvPr/>
        </p:nvGraphicFramePr>
        <p:xfrm>
          <a:off x="777240" y="3584448"/>
          <a:ext cx="4998567" cy="932688"/>
        </p:xfrm>
        <a:graphic>
          <a:graphicData uri="http://schemas.openxmlformats.org/drawingml/2006/table">
            <a:tbl>
              <a:tblPr>
                <a:tableStyleId>{5C22544A-7EE6-4342-B048-85BDC9FD1C3A}</a:tableStyleId>
              </a:tblPr>
              <a:tblGrid>
                <a:gridCol w="3199083"/>
                <a:gridCol w="1799484"/>
              </a:tblGrid>
              <a:tr h="310896">
                <a:tc>
                  <a:txBody>
                    <a:bodyPr wrap="square"/>
                    <a:lstStyle/>
                    <a:p>
                      <a:pPr algn="l">
                        <a:spcBef>
                          <a:spcPts val="0"/>
                        </a:spcBef>
                        <a:spcAft>
                          <a:spcPts val="0"/>
                        </a:spcAft>
                      </a:pPr>
                      <a:r>
                        <a:rPr sz="1150" b="0">
                          <a:solidFill>
                            <a:srgbClr val="12161C"/>
                          </a:solidFill>
                          <a:latin typeface="Segoe UI"/>
                        </a:rPr>
                        <a:t>Cắt tỉa 48,55% tham số</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−0,32 điểm</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Lượng tử hoá về 8 bit</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−0,76 điểm</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Cắt bỏ thay vì làm tròn nửa lên</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−0,38 điểm nữa</a:t>
                      </a:r>
                    </a:p>
                  </a:txBody>
                  <a:tcPr marL="73152" marR="73152" marT="27432" marB="27432" anchor="ctr">
                    <a:solidFill>
                      <a:srgbClr val="FBFAF8"/>
                    </a:solidFill>
                  </a:tcPr>
                </a:tc>
              </a:tr>
            </a:tbl>
          </a:graphicData>
        </a:graphic>
      </p:graphicFrame>
      <p:sp>
        <p:nvSpPr>
          <p:cNvPr id="7" name="TextBox 6"/>
          <p:cNvSpPr txBox="1"/>
          <p:nvPr/>
        </p:nvSpPr>
        <p:spPr>
          <a:xfrm>
            <a:off x="6415887" y="324612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KIỂM CHỨNG CHÉO — GEORGIA, KHÔNG HUẤN LUYỆN</a:t>
            </a:r>
          </a:p>
        </p:txBody>
      </p:sp>
      <p:graphicFrame>
        <p:nvGraphicFramePr>
          <p:cNvPr id="8" name="Table 7"/>
          <p:cNvGraphicFramePr>
            <a:graphicFrameLocks noGrp="1"/>
          </p:cNvGraphicFramePr>
          <p:nvPr/>
        </p:nvGraphicFramePr>
        <p:xfrm>
          <a:off x="6415887" y="3584448"/>
          <a:ext cx="4998564" cy="932688"/>
        </p:xfrm>
        <a:graphic>
          <a:graphicData uri="http://schemas.openxmlformats.org/drawingml/2006/table">
            <a:tbl>
              <a:tblPr>
                <a:tableStyleId>{5C22544A-7EE6-4342-B048-85BDC9FD1C3A}</a:tableStyleId>
              </a:tblPr>
              <a:tblGrid>
                <a:gridCol w="1699512"/>
                <a:gridCol w="1099684"/>
                <a:gridCol w="1099684"/>
                <a:gridCol w="1099684"/>
              </a:tblGrid>
              <a:tr h="310896">
                <a:tc>
                  <a:txBody>
                    <a:bodyPr wrap="square"/>
                    <a:lstStyle/>
                    <a:p>
                      <a:pPr algn="l">
                        <a:spcBef>
                          <a:spcPts val="0"/>
                        </a:spcBef>
                        <a:spcAft>
                          <a:spcPts val="0"/>
                        </a:spcAft>
                      </a:pP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SỐ THỰC</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INT8</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CHÊNH</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Độ chính xác</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0,9291</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0,9300</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+0,0009</a:t>
                      </a:r>
                    </a:p>
                  </a:txBody>
                  <a:tcPr marL="73152" marR="73152" marT="27432" marB="27432" anchor="ctr">
                    <a:solidFill>
                      <a:srgbClr val="FBFAF8"/>
                    </a:solidFill>
                  </a:tcPr>
                </a:tc>
              </a:tr>
              <a:tr h="310896">
                <a:tc>
                  <a:txBody>
                    <a:bodyPr wrap="square"/>
                    <a:lstStyle/>
                    <a:p>
                      <a:pPr algn="l">
                        <a:spcBef>
                          <a:spcPts val="0"/>
                        </a:spcBef>
                        <a:spcAft>
                          <a:spcPts val="0"/>
                        </a:spcAft>
                      </a:pPr>
                      <a:r>
                        <a:rPr sz="1150" b="0">
                          <a:solidFill>
                            <a:srgbClr val="12161C"/>
                          </a:solidFill>
                          <a:latin typeface="Segoe UI"/>
                        </a:rPr>
                        <a:t>F1-macro</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0,9142</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0,9151</a:t>
                      </a:r>
                    </a:p>
                  </a:txBody>
                  <a:tcPr marL="73152" marR="73152" marT="27432" marB="27432" anchor="ctr">
                    <a:solidFill>
                      <a:srgbClr val="FBFAF8"/>
                    </a:solidFill>
                  </a:tcPr>
                </a:tc>
                <a:tc>
                  <a:txBody>
                    <a:bodyPr wrap="square"/>
                    <a:lstStyle/>
                    <a:p>
                      <a:pPr algn="r">
                        <a:spcBef>
                          <a:spcPts val="0"/>
                        </a:spcBef>
                        <a:spcAft>
                          <a:spcPts val="0"/>
                        </a:spcAft>
                      </a:pPr>
                      <a:r>
                        <a:rPr sz="1150" b="0">
                          <a:solidFill>
                            <a:srgbClr val="12161C"/>
                          </a:solidFill>
                          <a:latin typeface="Segoe UI"/>
                        </a:rPr>
                        <a:t>+0,0009</a:t>
                      </a:r>
                    </a:p>
                  </a:txBody>
                  <a:tcPr marL="73152" marR="73152" marT="27432" marB="27432" anchor="ctr">
                    <a:solidFill>
                      <a:srgbClr val="FBFAF8"/>
                    </a:solidFill>
                  </a:tcPr>
                </a:tc>
              </a:tr>
            </a:tbl>
          </a:graphicData>
        </a:graphic>
      </p:graphicFrame>
      <p:sp>
        <p:nvSpPr>
          <p:cNvPr id="9" name="TextBox 8"/>
          <p:cNvSpPr txBox="1"/>
          <p:nvPr/>
        </p:nvSpPr>
        <p:spPr>
          <a:xfrm>
            <a:off x="6415887" y="4754880"/>
            <a:ext cx="4998567" cy="82296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858C97"/>
                </a:solidFill>
                <a:latin typeface="Segoe UI"/>
              </a:rPr>
              <a:t>INT8 </a:t>
            </a:r>
            <a:r>
              <a:rPr sz="1150" b="1">
                <a:solidFill>
                  <a:srgbClr val="858C97"/>
                </a:solidFill>
                <a:latin typeface="Segoe UI"/>
              </a:rPr>
              <a:t>không tệ hơn</a:t>
            </a:r>
            <a:r>
              <a:rPr sz="1150" b="0">
                <a:solidFill>
                  <a:srgbClr val="858C97"/>
                </a:solidFill>
                <a:latin typeface="Segoe UI"/>
              </a:rPr>
              <a:t> số thực khi đổi nguồn dữ liệu. Suy giảm nếu có đến từ khác biệt phân bố, không từ lượng tử hoá.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§4 · PHẦN CỨNG</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Tài nguyên, định thời và công suất</a:t>
            </a:r>
          </a:p>
        </p:txBody>
      </p:sp>
      <p:sp>
        <p:nvSpPr>
          <p:cNvPr id="4" name="Rectangle 3"/>
          <p:cNvSpPr/>
          <p:nvPr/>
        </p:nvSpPr>
        <p:spPr>
          <a:xfrm>
            <a:off x="777240" y="1719072"/>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10512"/>
            <a:ext cx="2508427" cy="82296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2.148</a:t>
            </a:r>
          </a:p>
          <a:p>
            <a:pPr algn="l">
              <a:lnSpc>
                <a:spcPct val="115000"/>
              </a:lnSpc>
              <a:spcBef>
                <a:spcPts val="0"/>
              </a:spcBef>
              <a:spcAft>
                <a:spcPts val="0"/>
              </a:spcAft>
            </a:pPr>
            <a:r>
              <a:rPr sz="1050" b="0">
                <a:solidFill>
                  <a:srgbClr val="5C6470"/>
                </a:solidFill>
                <a:latin typeface="Segoe UI"/>
              </a:rPr>
              <a:t>ALM · 5% chip</a:t>
            </a:r>
          </a:p>
        </p:txBody>
      </p:sp>
      <p:sp>
        <p:nvSpPr>
          <p:cNvPr id="6" name="Rectangle 5"/>
          <p:cNvSpPr/>
          <p:nvPr/>
        </p:nvSpPr>
        <p:spPr>
          <a:xfrm>
            <a:off x="3486835" y="1719072"/>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86835" y="1810512"/>
            <a:ext cx="2508427" cy="82296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28</a:t>
            </a:r>
          </a:p>
          <a:p>
            <a:pPr algn="l">
              <a:lnSpc>
                <a:spcPct val="115000"/>
              </a:lnSpc>
              <a:spcBef>
                <a:spcPts val="0"/>
              </a:spcBef>
              <a:spcAft>
                <a:spcPts val="0"/>
              </a:spcAft>
            </a:pPr>
            <a:r>
              <a:rPr sz="1050" b="0">
                <a:solidFill>
                  <a:srgbClr val="5C6470"/>
                </a:solidFill>
                <a:latin typeface="Segoe UI"/>
              </a:rPr>
              <a:t>DSP · 25%</a:t>
            </a:r>
          </a:p>
        </p:txBody>
      </p:sp>
      <p:sp>
        <p:nvSpPr>
          <p:cNvPr id="8" name="Rectangle 7"/>
          <p:cNvSpPr/>
          <p:nvPr/>
        </p:nvSpPr>
        <p:spPr>
          <a:xfrm>
            <a:off x="6196430" y="1719072"/>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6430" y="1810512"/>
            <a:ext cx="2508427" cy="82296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108,86</a:t>
            </a:r>
          </a:p>
          <a:p>
            <a:pPr algn="l">
              <a:lnSpc>
                <a:spcPct val="115000"/>
              </a:lnSpc>
              <a:spcBef>
                <a:spcPts val="0"/>
              </a:spcBef>
              <a:spcAft>
                <a:spcPts val="0"/>
              </a:spcAft>
            </a:pPr>
            <a:r>
              <a:rPr sz="1050" b="0">
                <a:solidFill>
                  <a:srgbClr val="5C6470"/>
                </a:solidFill>
                <a:latin typeface="Segoe UI"/>
              </a:rPr>
              <a:t>MHz · dư 0,814 ns</a:t>
            </a:r>
          </a:p>
        </p:txBody>
      </p:sp>
      <p:sp>
        <p:nvSpPr>
          <p:cNvPr id="10" name="Rectangle 9"/>
          <p:cNvSpPr/>
          <p:nvPr/>
        </p:nvSpPr>
        <p:spPr>
          <a:xfrm>
            <a:off x="8906025" y="1719072"/>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06025" y="1810512"/>
            <a:ext cx="2508427" cy="82296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52,16</a:t>
            </a:r>
          </a:p>
          <a:p>
            <a:pPr algn="l">
              <a:lnSpc>
                <a:spcPct val="115000"/>
              </a:lnSpc>
              <a:spcBef>
                <a:spcPts val="0"/>
              </a:spcBef>
              <a:spcAft>
                <a:spcPts val="0"/>
              </a:spcAft>
            </a:pPr>
            <a:r>
              <a:rPr sz="1050" b="0">
                <a:solidFill>
                  <a:srgbClr val="5C6470"/>
                </a:solidFill>
                <a:latin typeface="Segoe UI"/>
              </a:rPr>
              <a:t>µs · 5.216 chu kỳ</a:t>
            </a:r>
          </a:p>
        </p:txBody>
      </p:sp>
      <p:sp>
        <p:nvSpPr>
          <p:cNvPr id="12" name="TextBox 11"/>
          <p:cNvSpPr txBox="1"/>
          <p:nvPr/>
        </p:nvSpPr>
        <p:spPr>
          <a:xfrm>
            <a:off x="777240" y="2907792"/>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PHÂN BỔ TÀI NGUYÊN THEO KHỐI</a:t>
            </a:r>
          </a:p>
        </p:txBody>
      </p:sp>
      <p:graphicFrame>
        <p:nvGraphicFramePr>
          <p:cNvPr id="13" name="Table 12"/>
          <p:cNvGraphicFramePr>
            <a:graphicFrameLocks noGrp="1"/>
          </p:cNvGraphicFramePr>
          <p:nvPr/>
        </p:nvGraphicFramePr>
        <p:xfrm>
          <a:off x="777240" y="3246120"/>
          <a:ext cx="4998565" cy="1645920"/>
        </p:xfrm>
        <a:graphic>
          <a:graphicData uri="http://schemas.openxmlformats.org/drawingml/2006/table">
            <a:tbl>
              <a:tblPr>
                <a:tableStyleId>{5C22544A-7EE6-4342-B048-85BDC9FD1C3A}</a:tableStyleId>
              </a:tblPr>
              <a:tblGrid>
                <a:gridCol w="2299341"/>
                <a:gridCol w="1099684"/>
                <a:gridCol w="799770"/>
                <a:gridCol w="799770"/>
              </a:tblGrid>
              <a:tr h="274320">
                <a:tc>
                  <a:txBody>
                    <a:bodyPr wrap="square"/>
                    <a:lstStyle/>
                    <a:p>
                      <a:pPr algn="l">
                        <a:spcBef>
                          <a:spcPts val="0"/>
                        </a:spcBef>
                        <a:spcAft>
                          <a:spcPts val="0"/>
                        </a:spcAft>
                      </a:pPr>
                      <a:r>
                        <a:rPr sz="950" b="1">
                          <a:solidFill>
                            <a:srgbClr val="858C97"/>
                          </a:solidFill>
                          <a:latin typeface="Segoe UI"/>
                        </a:rPr>
                        <a:t>KHỐI</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ALM</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DSP</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M10K</a:t>
                      </a:r>
                    </a:p>
                  </a:txBody>
                  <a:tcPr marL="73152" marR="73152" marT="27432" marB="27432" anchor="ctr">
                    <a:solidFill>
                      <a:srgbClr val="FBFAF8"/>
                    </a:solidFill>
                  </a:tcPr>
                </a:tc>
              </a:tr>
              <a:tr h="274320">
                <a:tc>
                  <a:txBody>
                    <a:bodyPr wrap="square"/>
                    <a:lstStyle/>
                    <a:p>
                      <a:pPr algn="l">
                        <a:spcBef>
                          <a:spcPts val="0"/>
                        </a:spcBef>
                        <a:spcAft>
                          <a:spcPts val="0"/>
                        </a:spcAft>
                      </a:pPr>
                      <a:r>
                        <a:rPr sz="1100" b="1">
                          <a:solidFill>
                            <a:srgbClr val="12161C"/>
                          </a:solidFill>
                          <a:latin typeface="Segoe UI"/>
                        </a:rPr>
                        <a:t>Engine tám đơn vị</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1.691,9</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24</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a:t>
                      </a:r>
                    </a:p>
                  </a:txBody>
                  <a:tcPr marL="73152" marR="73152" marT="27432" marB="27432" anchor="ctr">
                    <a:solidFill>
                      <a:srgbClr val="F2F1ED"/>
                    </a:solidFill>
                  </a:tcPr>
                </a:tc>
              </a:tr>
              <a:tr h="274320">
                <a:tc>
                  <a:txBody>
                    <a:bodyPr wrap="square"/>
                    <a:lstStyle/>
                    <a:p>
                      <a:pPr algn="l">
                        <a:spcBef>
                          <a:spcPts val="0"/>
                        </a:spcBef>
                        <a:spcAft>
                          <a:spcPts val="0"/>
                        </a:spcAft>
                      </a:pPr>
                      <a:r>
                        <a:rPr sz="1100" b="0">
                          <a:solidFill>
                            <a:srgbClr val="12161C"/>
                          </a:solidFill>
                          <a:latin typeface="Segoe UI"/>
                        </a:rPr>
                        <a:t>GAP · FC · Argmax</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342,2</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Bộ nhớ trọng số</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230,7</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Bộ điều khiển</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71,8</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r>
              <a:tr h="274320">
                <a:tc>
                  <a:txBody>
                    <a:bodyPr wrap="square"/>
                    <a:lstStyle/>
                    <a:p>
                      <a:pPr algn="l">
                        <a:spcBef>
                          <a:spcPts val="0"/>
                        </a:spcBef>
                        <a:spcAft>
                          <a:spcPts val="0"/>
                        </a:spcAft>
                      </a:pPr>
                      <a:r>
                        <a:rPr sz="1100" b="0">
                          <a:solidFill>
                            <a:srgbClr val="12161C"/>
                          </a:solidFill>
                          <a:latin typeface="Segoe UI"/>
                        </a:rPr>
                        <a:t>Ping-pong · vào</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25,1</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20</a:t>
                      </a:r>
                    </a:p>
                  </a:txBody>
                  <a:tcPr marL="73152" marR="73152" marT="27432" marB="27432" anchor="ctr">
                    <a:solidFill>
                      <a:srgbClr val="FBFAF8"/>
                    </a:solidFill>
                  </a:tcPr>
                </a:tc>
              </a:tr>
            </a:tbl>
          </a:graphicData>
        </a:graphic>
      </p:graphicFrame>
      <p:sp>
        <p:nvSpPr>
          <p:cNvPr id="14" name="TextBox 13"/>
          <p:cNvSpPr txBox="1"/>
          <p:nvPr/>
        </p:nvSpPr>
        <p:spPr>
          <a:xfrm>
            <a:off x="6415887" y="2907792"/>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CÔNG SUẤT — ƯỚC LƯỢNG, ĐỘ TIN CẬY THẤP</a:t>
            </a:r>
          </a:p>
        </p:txBody>
      </p:sp>
      <p:graphicFrame>
        <p:nvGraphicFramePr>
          <p:cNvPr id="15" name="Table 14"/>
          <p:cNvGraphicFramePr>
            <a:graphicFrameLocks noGrp="1"/>
          </p:cNvGraphicFramePr>
          <p:nvPr/>
        </p:nvGraphicFramePr>
        <p:xfrm>
          <a:off x="6415887" y="3246120"/>
          <a:ext cx="4998567" cy="1170432"/>
        </p:xfrm>
        <a:graphic>
          <a:graphicData uri="http://schemas.openxmlformats.org/drawingml/2006/table">
            <a:tbl>
              <a:tblPr>
                <a:tableStyleId>{5C22544A-7EE6-4342-B048-85BDC9FD1C3A}</a:tableStyleId>
              </a:tblPr>
              <a:tblGrid>
                <a:gridCol w="2599255"/>
                <a:gridCol w="1499570"/>
                <a:gridCol w="899742"/>
              </a:tblGrid>
              <a:tr h="292608">
                <a:tc>
                  <a:txBody>
                    <a:bodyPr wrap="square"/>
                    <a:lstStyle/>
                    <a:p>
                      <a:pPr algn="l">
                        <a:spcBef>
                          <a:spcPts val="0"/>
                        </a:spcBef>
                        <a:spcAft>
                          <a:spcPts val="0"/>
                        </a:spcAft>
                      </a:pPr>
                      <a:r>
                        <a:rPr sz="1100" b="0">
                          <a:solidFill>
                            <a:srgbClr val="12161C"/>
                          </a:solidFill>
                          <a:latin typeface="Segoe UI"/>
                        </a:rPr>
                        <a:t>Tĩnh — thuộc về chip</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412,12 mW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77%</a:t>
                      </a:r>
                    </a:p>
                  </a:txBody>
                  <a:tcPr marL="73152" marR="73152" marT="27432" marB="27432" anchor="ctr">
                    <a:solidFill>
                      <a:srgbClr val="FBFAF8"/>
                    </a:solidFill>
                  </a:tcPr>
                </a:tc>
              </a:tr>
              <a:tr h="292608">
                <a:tc>
                  <a:txBody>
                    <a:bodyPr wrap="square"/>
                    <a:lstStyle/>
                    <a:p>
                      <a:pPr algn="l">
                        <a:spcBef>
                          <a:spcPts val="0"/>
                        </a:spcBef>
                        <a:spcAft>
                          <a:spcPts val="0"/>
                        </a:spcAft>
                      </a:pPr>
                      <a:r>
                        <a:rPr sz="1100" b="1">
                          <a:solidFill>
                            <a:srgbClr val="12161C"/>
                          </a:solidFill>
                          <a:latin typeface="Segoe UI"/>
                        </a:rPr>
                        <a:t>Động — thuộc về thiết kế</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110,89 mW</a:t>
                      </a:r>
                    </a:p>
                  </a:txBody>
                  <a:tcPr marL="73152" marR="73152" marT="27432" marB="27432" anchor="ctr">
                    <a:solidFill>
                      <a:srgbClr val="F2F1ED"/>
                    </a:solidFill>
                  </a:tcPr>
                </a:tc>
                <a:tc>
                  <a:txBody>
                    <a:bodyPr wrap="square"/>
                    <a:lstStyle/>
                    <a:p>
                      <a:pPr algn="r">
                        <a:spcBef>
                          <a:spcPts val="0"/>
                        </a:spcBef>
                        <a:spcAft>
                          <a:spcPts val="0"/>
                        </a:spcAft>
                      </a:pPr>
                      <a:r>
                        <a:rPr sz="1100" b="1">
                          <a:solidFill>
                            <a:srgbClr val="12161C"/>
                          </a:solidFill>
                          <a:latin typeface="Segoe UI"/>
                        </a:rPr>
                        <a:t>23%</a:t>
                      </a:r>
                    </a:p>
                  </a:txBody>
                  <a:tcPr marL="73152" marR="73152" marT="27432" marB="27432" anchor="ctr">
                    <a:solidFill>
                      <a:srgbClr val="F2F1ED"/>
                    </a:solidFill>
                  </a:tcPr>
                </a:tc>
              </a:tr>
              <a:tr h="292608">
                <a:tc>
                  <a:txBody>
                    <a:bodyPr wrap="square"/>
                    <a:lstStyle/>
                    <a:p>
                      <a:pPr algn="l">
                        <a:spcBef>
                          <a:spcPts val="0"/>
                        </a:spcBef>
                        <a:spcAft>
                          <a:spcPts val="0"/>
                        </a:spcAft>
                      </a:pPr>
                      <a:r>
                        <a:rPr sz="1100" b="0">
                          <a:solidFill>
                            <a:srgbClr val="12161C"/>
                          </a:solidFill>
                          <a:latin typeface="Segoe UI"/>
                        </a:rPr>
                        <a:t>Tổng</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536,08 mW</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r>
              <a:tr h="292608">
                <a:tc>
                  <a:txBody>
                    <a:bodyPr wrap="square"/>
                    <a:lstStyle/>
                    <a:p>
                      <a:pPr algn="l">
                        <a:spcBef>
                          <a:spcPts val="0"/>
                        </a:spcBef>
                        <a:spcAft>
                          <a:spcPts val="0"/>
                        </a:spcAft>
                      </a:pPr>
                      <a:r>
                        <a:rPr sz="1100" b="0">
                          <a:solidFill>
                            <a:srgbClr val="12161C"/>
                          </a:solidFill>
                          <a:latin typeface="Segoe UI"/>
                        </a:rPr>
                        <a:t>Năng lượng mỗi lần</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27,96 µJ</a:t>
                      </a:r>
                    </a:p>
                  </a:txBody>
                  <a:tcPr marL="73152" marR="73152" marT="27432" marB="27432" anchor="ctr">
                    <a:solidFill>
                      <a:srgbClr val="FBFAF8"/>
                    </a:solidFill>
                  </a:tcPr>
                </a:tc>
                <a:tc>
                  <a:txBody>
                    <a:bodyPr wrap="square"/>
                    <a:lstStyle/>
                    <a:p>
                      <a:pPr algn="r">
                        <a:spcBef>
                          <a:spcPts val="0"/>
                        </a:spcBef>
                        <a:spcAft>
                          <a:spcPts val="0"/>
                        </a:spcAft>
                      </a:pPr>
                      <a:r>
                        <a:rPr sz="1100" b="0">
                          <a:solidFill>
                            <a:srgbClr val="12161C"/>
                          </a:solidFill>
                          <a:latin typeface="Segoe UI"/>
                        </a:rPr>
                        <a:t>—</a:t>
                      </a:r>
                    </a:p>
                  </a:txBody>
                  <a:tcPr marL="73152" marR="73152" marT="27432" marB="27432" anchor="ctr">
                    <a:solidFill>
                      <a:srgbClr val="FBFAF8"/>
                    </a:solidFill>
                  </a:tcPr>
                </a:tc>
              </a:tr>
            </a:tbl>
          </a:graphicData>
        </a:graphic>
      </p:graphicFrame>
      <p:sp>
        <p:nvSpPr>
          <p:cNvPr id="16" name="TextBox 15"/>
          <p:cNvSpPr txBox="1"/>
          <p:nvPr/>
        </p:nvSpPr>
        <p:spPr>
          <a:xfrm>
            <a:off x="6415887" y="4526280"/>
            <a:ext cx="4998567" cy="822960"/>
          </a:xfrm>
          <a:prstGeom prst="rect">
            <a:avLst/>
          </a:prstGeom>
          <a:noFill/>
        </p:spPr>
        <p:txBody>
          <a:bodyPr wrap="square" lIns="0" rIns="0" tIns="0" bIns="0">
            <a:spAutoFit/>
          </a:bodyPr>
          <a:lstStyle/>
          <a:p>
            <a:pPr algn="l">
              <a:lnSpc>
                <a:spcPct val="130000"/>
              </a:lnSpc>
              <a:spcBef>
                <a:spcPts val="0"/>
              </a:spcBef>
              <a:spcAft>
                <a:spcPts val="0"/>
              </a:spcAft>
            </a:pPr>
            <a:r>
              <a:rPr sz="1150" b="0">
                <a:solidFill>
                  <a:srgbClr val="858C97"/>
                </a:solidFill>
                <a:latin typeface="Segoe UI"/>
              </a:rPr>
              <a:t>Trong phần động, khối DSP chiếm </a:t>
            </a:r>
            <a:r>
              <a:rPr sz="1150" b="1">
                <a:solidFill>
                  <a:srgbClr val="858C97"/>
                </a:solidFill>
                <a:latin typeface="Segoe UI"/>
              </a:rPr>
              <a:t>54%</a:t>
            </a:r>
            <a:r>
              <a:rPr sz="1150" b="0">
                <a:solidFill>
                  <a:srgbClr val="858C97"/>
                </a:solidFill>
                <a:latin typeface="Segoe UI"/>
              </a:rPr>
              <a:t> — nên bỏ khối nhân ở khâu tái tỉ lệ cắt đúng vào thành phần tốn nhất, không phải tối ưu ngoài lề.</a:t>
            </a:r>
          </a:p>
        </p:txBody>
      </p:sp>
      <p:sp>
        <p:nvSpPr>
          <p:cNvPr id="17" name="Rectangle 16"/>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Công suất được PowerPlay ước lượng và chính công cụ xếp độ tin cậy THẤP, do tệp hoạt động chưa phủ hết các nút tổ hợp. Con số chỉ dùng để so sánh tương đối.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§4 · ĐỐI CHIẾU</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Ba công trình so được số</a:t>
            </a:r>
          </a:p>
        </p:txBody>
      </p:sp>
      <p:graphicFrame>
        <p:nvGraphicFramePr>
          <p:cNvPr id="4" name="Table 3"/>
          <p:cNvGraphicFramePr>
            <a:graphicFrameLocks noGrp="1"/>
          </p:cNvGraphicFramePr>
          <p:nvPr/>
        </p:nvGraphicFramePr>
        <p:xfrm>
          <a:off x="777240" y="1719072"/>
          <a:ext cx="10637211" cy="1920240"/>
        </p:xfrm>
        <a:graphic>
          <a:graphicData uri="http://schemas.openxmlformats.org/drawingml/2006/table">
            <a:tbl>
              <a:tblPr>
                <a:tableStyleId>{5C22544A-7EE6-4342-B048-85BDC9FD1C3A}</a:tableStyleId>
              </a:tblPr>
              <a:tblGrid>
                <a:gridCol w="1549108"/>
                <a:gridCol w="1239287"/>
                <a:gridCol w="1755656"/>
                <a:gridCol w="1032739"/>
                <a:gridCol w="2065478"/>
                <a:gridCol w="826191"/>
                <a:gridCol w="1032739"/>
                <a:gridCol w="1136013"/>
              </a:tblGrid>
              <a:tr h="384048">
                <a:tc>
                  <a:txBody>
                    <a:bodyPr wrap="square"/>
                    <a:lstStyle/>
                    <a:p>
                      <a:pPr algn="l">
                        <a:spcBef>
                          <a:spcPts val="0"/>
                        </a:spcBef>
                        <a:spcAft>
                          <a:spcPts val="0"/>
                        </a:spcAft>
                      </a:pPr>
                      <a:r>
                        <a:rPr sz="950" b="1">
                          <a:solidFill>
                            <a:srgbClr val="858C97"/>
                          </a:solidFill>
                          <a:latin typeface="Segoe UI"/>
                        </a:rPr>
                        <a:t>CÔNG TRÌNH</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NỀN TẢNG</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BÀI TOÁN</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ACC</a:t>
                      </a:r>
                    </a:p>
                  </a:txBody>
                  <a:tcPr marL="73152" marR="73152" marT="27432" marB="27432" anchor="ctr">
                    <a:solidFill>
                      <a:srgbClr val="FBFAF8"/>
                    </a:solidFill>
                  </a:tcPr>
                </a:tc>
                <a:tc>
                  <a:txBody>
                    <a:bodyPr wrap="square"/>
                    <a:lstStyle/>
                    <a:p>
                      <a:pPr algn="l">
                        <a:spcBef>
                          <a:spcPts val="0"/>
                        </a:spcBef>
                        <a:spcAft>
                          <a:spcPts val="0"/>
                        </a:spcAft>
                      </a:pPr>
                      <a:r>
                        <a:rPr sz="950" b="1">
                          <a:solidFill>
                            <a:srgbClr val="858C97"/>
                          </a:solidFill>
                          <a:latin typeface="Segoe UI"/>
                        </a:rPr>
                        <a:t>TÀI NGUYÊN</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MHZ</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ĐỘ TRỄ</a:t>
                      </a:r>
                    </a:p>
                  </a:txBody>
                  <a:tcPr marL="73152" marR="73152" marT="27432" marB="27432" anchor="ctr">
                    <a:solidFill>
                      <a:srgbClr val="FBFAF8"/>
                    </a:solidFill>
                  </a:tcPr>
                </a:tc>
                <a:tc>
                  <a:txBody>
                    <a:bodyPr wrap="square"/>
                    <a:lstStyle/>
                    <a:p>
                      <a:pPr algn="r">
                        <a:spcBef>
                          <a:spcPts val="0"/>
                        </a:spcBef>
                        <a:spcAft>
                          <a:spcPts val="0"/>
                        </a:spcAft>
                      </a:pPr>
                      <a:r>
                        <a:rPr sz="950" b="1">
                          <a:solidFill>
                            <a:srgbClr val="858C97"/>
                          </a:solidFill>
                          <a:latin typeface="Segoe UI"/>
                        </a:rPr>
                        <a:t>CÔNG SUẤT</a:t>
                      </a:r>
                    </a:p>
                  </a:txBody>
                  <a:tcPr marL="73152" marR="73152" marT="27432" marB="27432" anchor="ctr">
                    <a:solidFill>
                      <a:srgbClr val="FBFAF8"/>
                    </a:solidFill>
                  </a:tcPr>
                </a:tc>
              </a:tr>
              <a:tr h="384048">
                <a:tc>
                  <a:txBody>
                    <a:bodyPr wrap="square"/>
                    <a:lstStyle/>
                    <a:p>
                      <a:pPr algn="l">
                        <a:spcBef>
                          <a:spcPts val="0"/>
                        </a:spcBef>
                        <a:spcAft>
                          <a:spcPts val="0"/>
                        </a:spcAft>
                      </a:pPr>
                      <a:r>
                        <a:rPr sz="1000" b="1">
                          <a:solidFill>
                            <a:srgbClr val="12161C"/>
                          </a:solidFill>
                          <a:latin typeface="Segoe UI"/>
                        </a:rPr>
                        <a:t>Khoá luận này</a:t>
                      </a:r>
                    </a:p>
                  </a:txBody>
                  <a:tcPr marL="73152" marR="73152" marT="27432" marB="27432" anchor="ctr">
                    <a:solidFill>
                      <a:srgbClr val="F2F1ED"/>
                    </a:solidFill>
                  </a:tcPr>
                </a:tc>
                <a:tc>
                  <a:txBody>
                    <a:bodyPr wrap="square"/>
                    <a:lstStyle/>
                    <a:p>
                      <a:pPr algn="l">
                        <a:spcBef>
                          <a:spcPts val="0"/>
                        </a:spcBef>
                        <a:spcAft>
                          <a:spcPts val="0"/>
                        </a:spcAft>
                      </a:pPr>
                      <a:r>
                        <a:rPr sz="1000" b="1">
                          <a:solidFill>
                            <a:srgbClr val="12161C"/>
                          </a:solidFill>
                          <a:latin typeface="Segoe UI"/>
                        </a:rPr>
                        <a:t>Cyclone V</a:t>
                      </a:r>
                    </a:p>
                  </a:txBody>
                  <a:tcPr marL="73152" marR="73152" marT="27432" marB="27432" anchor="ctr">
                    <a:solidFill>
                      <a:srgbClr val="F2F1ED"/>
                    </a:solidFill>
                  </a:tcPr>
                </a:tc>
                <a:tc>
                  <a:txBody>
                    <a:bodyPr wrap="square"/>
                    <a:lstStyle/>
                    <a:p>
                      <a:pPr algn="l">
                        <a:spcBef>
                          <a:spcPts val="0"/>
                        </a:spcBef>
                        <a:spcAft>
                          <a:spcPts val="0"/>
                        </a:spcAft>
                      </a:pPr>
                      <a:r>
                        <a:rPr sz="1000" b="1">
                          <a:solidFill>
                            <a:srgbClr val="12161C"/>
                          </a:solidFill>
                          <a:latin typeface="Segoe UI"/>
                        </a:rPr>
                        <a:t>Chapman · nhịp</a:t>
                      </a:r>
                    </a:p>
                  </a:txBody>
                  <a:tcPr marL="73152" marR="73152" marT="27432" marB="27432" anchor="ctr">
                    <a:solidFill>
                      <a:srgbClr val="F2F1ED"/>
                    </a:solidFill>
                  </a:tcPr>
                </a:tc>
                <a:tc>
                  <a:txBody>
                    <a:bodyPr wrap="square"/>
                    <a:lstStyle/>
                    <a:p>
                      <a:pPr algn="r">
                        <a:spcBef>
                          <a:spcPts val="0"/>
                        </a:spcBef>
                        <a:spcAft>
                          <a:spcPts val="0"/>
                        </a:spcAft>
                      </a:pPr>
                      <a:r>
                        <a:rPr sz="1000" b="1">
                          <a:solidFill>
                            <a:srgbClr val="12161C"/>
                          </a:solidFill>
                          <a:latin typeface="Segoe UI"/>
                        </a:rPr>
                        <a:t>94,27%</a:t>
                      </a:r>
                    </a:p>
                  </a:txBody>
                  <a:tcPr marL="73152" marR="73152" marT="27432" marB="27432" anchor="ctr">
                    <a:solidFill>
                      <a:srgbClr val="F2F1ED"/>
                    </a:solidFill>
                  </a:tcPr>
                </a:tc>
                <a:tc>
                  <a:txBody>
                    <a:bodyPr wrap="square"/>
                    <a:lstStyle/>
                    <a:p>
                      <a:pPr algn="l">
                        <a:spcBef>
                          <a:spcPts val="0"/>
                        </a:spcBef>
                        <a:spcAft>
                          <a:spcPts val="0"/>
                        </a:spcAft>
                      </a:pPr>
                      <a:r>
                        <a:rPr sz="1000" b="1">
                          <a:solidFill>
                            <a:srgbClr val="12161C"/>
                          </a:solidFill>
                          <a:latin typeface="Segoe UI"/>
                        </a:rPr>
                        <a:t>5% ALM · 28 DSP</a:t>
                      </a:r>
                    </a:p>
                  </a:txBody>
                  <a:tcPr marL="73152" marR="73152" marT="27432" marB="27432" anchor="ctr">
                    <a:solidFill>
                      <a:srgbClr val="F2F1ED"/>
                    </a:solidFill>
                  </a:tcPr>
                </a:tc>
                <a:tc>
                  <a:txBody>
                    <a:bodyPr wrap="square"/>
                    <a:lstStyle/>
                    <a:p>
                      <a:pPr algn="r">
                        <a:spcBef>
                          <a:spcPts val="0"/>
                        </a:spcBef>
                        <a:spcAft>
                          <a:spcPts val="0"/>
                        </a:spcAft>
                      </a:pPr>
                      <a:r>
                        <a:rPr sz="1000" b="1">
                          <a:solidFill>
                            <a:srgbClr val="12161C"/>
                          </a:solidFill>
                          <a:latin typeface="Segoe UI"/>
                        </a:rPr>
                        <a:t>108,86</a:t>
                      </a:r>
                    </a:p>
                  </a:txBody>
                  <a:tcPr marL="73152" marR="73152" marT="27432" marB="27432" anchor="ctr">
                    <a:solidFill>
                      <a:srgbClr val="F2F1ED"/>
                    </a:solidFill>
                  </a:tcPr>
                </a:tc>
                <a:tc>
                  <a:txBody>
                    <a:bodyPr wrap="square"/>
                    <a:lstStyle/>
                    <a:p>
                      <a:pPr algn="r">
                        <a:spcBef>
                          <a:spcPts val="0"/>
                        </a:spcBef>
                        <a:spcAft>
                          <a:spcPts val="0"/>
                        </a:spcAft>
                      </a:pPr>
                      <a:r>
                        <a:rPr sz="1000" b="1">
                          <a:solidFill>
                            <a:srgbClr val="12161C"/>
                          </a:solidFill>
                          <a:latin typeface="Segoe UI"/>
                        </a:rPr>
                        <a:t>52,16 µs</a:t>
                      </a:r>
                    </a:p>
                  </a:txBody>
                  <a:tcPr marL="73152" marR="73152" marT="27432" marB="27432" anchor="ctr">
                    <a:solidFill>
                      <a:srgbClr val="F2F1ED"/>
                    </a:solidFill>
                  </a:tcPr>
                </a:tc>
                <a:tc>
                  <a:txBody>
                    <a:bodyPr wrap="square"/>
                    <a:lstStyle/>
                    <a:p>
                      <a:pPr algn="r">
                        <a:spcBef>
                          <a:spcPts val="0"/>
                        </a:spcBef>
                        <a:spcAft>
                          <a:spcPts val="0"/>
                        </a:spcAft>
                      </a:pPr>
                      <a:r>
                        <a:rPr sz="1000" b="1">
                          <a:solidFill>
                            <a:srgbClr val="12161C"/>
                          </a:solidFill>
                          <a:latin typeface="Segoe UI"/>
                        </a:rPr>
                        <a:t>536 mW</a:t>
                      </a:r>
                    </a:p>
                  </a:txBody>
                  <a:tcPr marL="73152" marR="73152" marT="27432" marB="27432" anchor="ctr">
                    <a:solidFill>
                      <a:srgbClr val="F2F1ED"/>
                    </a:solidFill>
                  </a:tcPr>
                </a:tc>
              </a:tr>
              <a:tr h="384048">
                <a:tc>
                  <a:txBody>
                    <a:bodyPr wrap="square"/>
                    <a:lstStyle/>
                    <a:p>
                      <a:pPr algn="l">
                        <a:spcBef>
                          <a:spcPts val="0"/>
                        </a:spcBef>
                        <a:spcAft>
                          <a:spcPts val="0"/>
                        </a:spcAft>
                      </a:pPr>
                      <a:r>
                        <a:rPr sz="1000" b="0">
                          <a:solidFill>
                            <a:srgbClr val="12161C"/>
                          </a:solidFill>
                          <a:latin typeface="Segoe UI"/>
                        </a:rPr>
                        <a:t>Liu 2023</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Cyclone V</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Chapman · nhịp</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92,95%</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51% ALM · 86% reg</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50</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66 µs</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66 mW</a:t>
                      </a:r>
                    </a:p>
                  </a:txBody>
                  <a:tcPr marL="73152" marR="73152" marT="27432" marB="27432" anchor="ctr">
                    <a:solidFill>
                      <a:srgbClr val="FBFAF8"/>
                    </a:solidFill>
                  </a:tcPr>
                </a:tc>
              </a:tr>
              <a:tr h="384048">
                <a:tc>
                  <a:txBody>
                    <a:bodyPr wrap="square"/>
                    <a:lstStyle/>
                    <a:p>
                      <a:pPr algn="l">
                        <a:spcBef>
                          <a:spcPts val="0"/>
                        </a:spcBef>
                        <a:spcAft>
                          <a:spcPts val="0"/>
                        </a:spcAft>
                      </a:pPr>
                      <a:r>
                        <a:rPr sz="1000" b="0">
                          <a:solidFill>
                            <a:srgbClr val="12161C"/>
                          </a:solidFill>
                          <a:latin typeface="Segoe UI"/>
                        </a:rPr>
                        <a:t>Pham 2025</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Zynq US+</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99,37%</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24.685 LUT · 40 DSP</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250</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34,45 µs</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827 mW</a:t>
                      </a:r>
                    </a:p>
                  </a:txBody>
                  <a:tcPr marL="73152" marR="73152" marT="27432" marB="27432" anchor="ctr">
                    <a:solidFill>
                      <a:srgbClr val="FBFAF8"/>
                    </a:solidFill>
                  </a:tcPr>
                </a:tc>
              </a:tr>
              <a:tr h="384048">
                <a:tc>
                  <a:txBody>
                    <a:bodyPr wrap="square"/>
                    <a:lstStyle/>
                    <a:p>
                      <a:pPr algn="l">
                        <a:spcBef>
                          <a:spcPts val="0"/>
                        </a:spcBef>
                        <a:spcAft>
                          <a:spcPts val="0"/>
                        </a:spcAft>
                      </a:pPr>
                      <a:r>
                        <a:rPr sz="1000" b="0">
                          <a:solidFill>
                            <a:srgbClr val="12161C"/>
                          </a:solidFill>
                          <a:latin typeface="Segoe UI"/>
                        </a:rPr>
                        <a:t>Tran 2026</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Pynq-Z2</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MIT-BIH · nhát bóp</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97,18%</a:t>
                      </a:r>
                    </a:p>
                  </a:txBody>
                  <a:tcPr marL="73152" marR="73152" marT="27432" marB="27432" anchor="ctr">
                    <a:solidFill>
                      <a:srgbClr val="FBFAF8"/>
                    </a:solidFill>
                  </a:tcPr>
                </a:tc>
                <a:tc>
                  <a:txBody>
                    <a:bodyPr wrap="square"/>
                    <a:lstStyle/>
                    <a:p>
                      <a:pPr algn="l">
                        <a:spcBef>
                          <a:spcPts val="0"/>
                        </a:spcBef>
                        <a:spcAft>
                          <a:spcPts val="0"/>
                        </a:spcAft>
                      </a:pPr>
                      <a:r>
                        <a:rPr sz="1000" b="0">
                          <a:solidFill>
                            <a:srgbClr val="12161C"/>
                          </a:solidFill>
                          <a:latin typeface="Segoe UI"/>
                        </a:rPr>
                        <a:t>8.255 LUT · 0 DSP</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50</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23,9 µs</a:t>
                      </a:r>
                    </a:p>
                  </a:txBody>
                  <a:tcPr marL="73152" marR="73152" marT="27432" marB="27432" anchor="ctr">
                    <a:solidFill>
                      <a:srgbClr val="FBFAF8"/>
                    </a:solidFill>
                  </a:tcPr>
                </a:tc>
                <a:tc>
                  <a:txBody>
                    <a:bodyPr wrap="square"/>
                    <a:lstStyle/>
                    <a:p>
                      <a:pPr algn="r">
                        <a:spcBef>
                          <a:spcPts val="0"/>
                        </a:spcBef>
                        <a:spcAft>
                          <a:spcPts val="0"/>
                        </a:spcAft>
                      </a:pPr>
                      <a:r>
                        <a:rPr sz="1000" b="0">
                          <a:solidFill>
                            <a:srgbClr val="12161C"/>
                          </a:solidFill>
                          <a:latin typeface="Segoe UI"/>
                        </a:rPr>
                        <a:t>1.709 mW</a:t>
                      </a:r>
                    </a:p>
                  </a:txBody>
                  <a:tcPr marL="73152" marR="73152" marT="27432" marB="27432" anchor="ctr">
                    <a:solidFill>
                      <a:srgbClr val="FBFAF8"/>
                    </a:solidFill>
                  </a:tcPr>
                </a:tc>
              </a:tr>
            </a:tbl>
          </a:graphicData>
        </a:graphic>
      </p:graphicFrame>
      <p:sp>
        <p:nvSpPr>
          <p:cNvPr id="5" name="TextBox 4"/>
          <p:cNvSpPr txBox="1"/>
          <p:nvPr/>
        </p:nvSpPr>
        <p:spPr>
          <a:xfrm>
            <a:off x="777240" y="3977639"/>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ĐIỂM BÁN ĐƯỢC</a:t>
            </a:r>
          </a:p>
        </p:txBody>
      </p:sp>
      <p:sp>
        <p:nvSpPr>
          <p:cNvPr id="6" name="TextBox 5"/>
          <p:cNvSpPr txBox="1"/>
          <p:nvPr/>
        </p:nvSpPr>
        <p:spPr>
          <a:xfrm>
            <a:off x="777240" y="4315968"/>
            <a:ext cx="4998567" cy="1188720"/>
          </a:xfrm>
          <a:prstGeom prst="rect">
            <a:avLst/>
          </a:prstGeom>
          <a:noFill/>
        </p:spPr>
        <p:txBody>
          <a:bodyPr wrap="square" lIns="0" rIns="0" tIns="0" bIns="0">
            <a:spAutoFit/>
          </a:bodyPr>
          <a:lstStyle/>
          <a:p>
            <a:pPr algn="l">
              <a:lnSpc>
                <a:spcPct val="130000"/>
              </a:lnSpc>
              <a:spcBef>
                <a:spcPts val="0"/>
              </a:spcBef>
              <a:spcAft>
                <a:spcPts val="0"/>
              </a:spcAft>
            </a:pPr>
            <a:r>
              <a:rPr sz="1250" b="1">
                <a:solidFill>
                  <a:srgbClr val="12161C"/>
                </a:solidFill>
                <a:latin typeface="Segoe UI"/>
              </a:rPr>
              <a:t>Diện tích.</a:t>
            </a:r>
            <a:r>
              <a:rPr sz="1250" b="0">
                <a:solidFill>
                  <a:srgbClr val="12161C"/>
                </a:solidFill>
                <a:latin typeface="Segoe UI"/>
              </a:rPr>
              <a:t> Cùng chip, cùng tập dữ liệu, cùng bài toán: </a:t>
            </a:r>
            <a:r>
              <a:rPr sz="1250" b="1">
                <a:solidFill>
                  <a:srgbClr val="12161C"/>
                </a:solidFill>
                <a:latin typeface="Segoe UI"/>
              </a:rPr>
              <a:t>5% ALM</a:t>
            </a:r>
            <a:r>
              <a:rPr sz="1250" b="0">
                <a:solidFill>
                  <a:srgbClr val="12161C"/>
                </a:solidFill>
                <a:latin typeface="Segoe UI"/>
              </a:rPr>
              <a:t> so với </a:t>
            </a:r>
            <a:r>
              <a:rPr sz="1250" b="1">
                <a:solidFill>
                  <a:srgbClr val="12161C"/>
                </a:solidFill>
                <a:latin typeface="Segoe UI"/>
              </a:rPr>
              <a:t>51%</a:t>
            </a:r>
            <a:r>
              <a:rPr sz="1250" b="0">
                <a:solidFill>
                  <a:srgbClr val="12161C"/>
                </a:solidFill>
                <a:latin typeface="Segoe UI"/>
              </a:rPr>
              <a:t>. Con số lấy từ báo cáo tổng hợp của cả hai bên.</a:t>
            </a:r>
          </a:p>
        </p:txBody>
      </p:sp>
      <p:sp>
        <p:nvSpPr>
          <p:cNvPr id="7" name="TextBox 6"/>
          <p:cNvSpPr txBox="1"/>
          <p:nvPr/>
        </p:nvSpPr>
        <p:spPr>
          <a:xfrm>
            <a:off x="6415887" y="3977639"/>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ĐIỂM THỪA NHẬN THẲNG</a:t>
            </a:r>
          </a:p>
        </p:txBody>
      </p:sp>
      <p:sp>
        <p:nvSpPr>
          <p:cNvPr id="8" name="TextBox 7"/>
          <p:cNvSpPr txBox="1"/>
          <p:nvPr/>
        </p:nvSpPr>
        <p:spPr>
          <a:xfrm>
            <a:off x="6415887" y="4315968"/>
            <a:ext cx="4998567" cy="1280160"/>
          </a:xfrm>
          <a:prstGeom prst="rect">
            <a:avLst/>
          </a:prstGeom>
          <a:noFill/>
        </p:spPr>
        <p:txBody>
          <a:bodyPr wrap="square" lIns="0" rIns="0" tIns="0" bIns="0">
            <a:spAutoFit/>
          </a:bodyPr>
          <a:lstStyle/>
          <a:p>
            <a:pPr algn="l">
              <a:lnSpc>
                <a:spcPct val="130000"/>
              </a:lnSpc>
              <a:spcBef>
                <a:spcPts val="0"/>
              </a:spcBef>
              <a:spcAft>
                <a:spcPts val="0"/>
              </a:spcAft>
            </a:pPr>
            <a:r>
              <a:rPr sz="1250" b="1">
                <a:solidFill>
                  <a:srgbClr val="12161C"/>
                </a:solidFill>
                <a:latin typeface="Segoe UI"/>
              </a:rPr>
              <a:t>Công suất.</a:t>
            </a:r>
            <a:r>
              <a:rPr sz="1250" b="0">
                <a:solidFill>
                  <a:srgbClr val="12161C"/>
                </a:solidFill>
                <a:latin typeface="Segoe UI"/>
              </a:rPr>
              <a:t> Liu thấp hơn hẳn. Nhưng phải tách đúng thành phần: </a:t>
            </a:r>
            <a:r>
              <a:rPr sz="1250" b="1">
                <a:solidFill>
                  <a:srgbClr val="12161C"/>
                </a:solidFill>
                <a:latin typeface="Segoe UI"/>
              </a:rPr>
              <a:t>412</a:t>
            </a:r>
            <a:r>
              <a:rPr sz="1250" b="0">
                <a:solidFill>
                  <a:srgbClr val="12161C"/>
                </a:solidFill>
                <a:latin typeface="Segoe UI"/>
              </a:rPr>
              <a:t> trong </a:t>
            </a:r>
            <a:r>
              <a:rPr sz="1250" b="1">
                <a:solidFill>
                  <a:srgbClr val="12161C"/>
                </a:solidFill>
                <a:latin typeface="Segoe UI"/>
              </a:rPr>
              <a:t>536 mW</a:t>
            </a:r>
            <a:r>
              <a:rPr sz="1250" b="0">
                <a:solidFill>
                  <a:srgbClr val="12161C"/>
                </a:solidFill>
                <a:latin typeface="Segoe UI"/>
              </a:rPr>
              <a:t> là tĩnh của chip Cyclone V cỡ lớn có lõi ARM cứng. Phần động thực sự chỉ </a:t>
            </a:r>
            <a:r>
              <a:rPr sz="1250" b="1">
                <a:solidFill>
                  <a:srgbClr val="12161C"/>
                </a:solidFill>
                <a:latin typeface="Segoe UI"/>
              </a:rPr>
              <a:t>110,89 mW</a:t>
            </a:r>
            <a:r>
              <a:rPr sz="1250" b="0">
                <a:solidFill>
                  <a:srgbClr val="12161C"/>
                </a:solidFill>
                <a:latin typeface="Segoe UI"/>
              </a:rPr>
              <a:t>. Liu dùng chip nhỏ hơn, không SoC.</a:t>
            </a:r>
          </a:p>
        </p:txBody>
      </p:sp>
      <p:sp>
        <p:nvSpPr>
          <p:cNvPr id="9" name="Rectangle 8"/>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Pham và Tran phân loại theo NHÁT BÓP — một nhãn cho mỗi nhát — nên độ chính xác không xếp thẳng hàng với bài toán theo đoạn ghi. Đưa vào bảng để định vị, không để xếp hạng.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§5 · HẠN CHẾ</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Bốn hạn chế, nêu trước khi được hỏi</a:t>
            </a:r>
          </a:p>
        </p:txBody>
      </p:sp>
      <p:sp>
        <p:nvSpPr>
          <p:cNvPr id="4" name="Rectangle 3"/>
          <p:cNvSpPr/>
          <p:nvPr/>
        </p:nvSpPr>
        <p:spPr>
          <a:xfrm>
            <a:off x="777240" y="1755648"/>
            <a:ext cx="31750" cy="96012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3544" y="1755648"/>
            <a:ext cx="10490911" cy="960120"/>
          </a:xfrm>
          <a:prstGeom prst="rect">
            <a:avLst/>
          </a:prstGeom>
          <a:noFill/>
        </p:spPr>
        <p:txBody>
          <a:bodyPr wrap="square" lIns="0" rIns="0" tIns="0" bIns="0">
            <a:spAutoFit/>
          </a:bodyPr>
          <a:lstStyle/>
          <a:p>
            <a:pPr algn="l">
              <a:spcBef>
                <a:spcPts val="0"/>
              </a:spcBef>
              <a:spcAft>
                <a:spcPts val="300"/>
              </a:spcAft>
            </a:pPr>
            <a:r>
              <a:rPr sz="1300" b="1">
                <a:solidFill>
                  <a:srgbClr val="12161C"/>
                </a:solidFill>
                <a:latin typeface="Segoe UI"/>
              </a:rPr>
              <a:t>1 · Công suất chưa phải số đo thực</a:t>
            </a:r>
          </a:p>
          <a:p>
            <a:pPr algn="l">
              <a:lnSpc>
                <a:spcPct val="122000"/>
              </a:lnSpc>
              <a:spcBef>
                <a:spcPts val="0"/>
              </a:spcBef>
              <a:spcAft>
                <a:spcPts val="0"/>
              </a:spcAft>
            </a:pPr>
            <a:r>
              <a:rPr sz="1150" b="0">
                <a:solidFill>
                  <a:srgbClr val="5C6470"/>
                </a:solidFill>
                <a:latin typeface="Segoe UI"/>
              </a:rPr>
              <a:t>Giá trị 536,08 mW là ước lượng bằng PowerPlay, và </a:t>
            </a:r>
            <a:r>
              <a:rPr sz="1150" b="1">
                <a:solidFill>
                  <a:srgbClr val="5C6470"/>
                </a:solidFill>
                <a:latin typeface="Segoe UI"/>
              </a:rPr>
              <a:t>chính công cụ xếp độ tin cậy là thấp</a:t>
            </a:r>
            <a:r>
              <a:rPr sz="1150" b="0">
                <a:solidFill>
                  <a:srgbClr val="5C6470"/>
                </a:solidFill>
                <a:latin typeface="Segoe UI"/>
              </a:rPr>
              <a:t> do tệp hoạt động chưa phủ hết các nút tổ hợp. Phần tĩnh chiếm 77% — đặc tính của chip được dùng, không của thiết kế.</a:t>
            </a:r>
          </a:p>
        </p:txBody>
      </p:sp>
      <p:sp>
        <p:nvSpPr>
          <p:cNvPr id="6" name="Rectangle 5"/>
          <p:cNvSpPr/>
          <p:nvPr/>
        </p:nvSpPr>
        <p:spPr>
          <a:xfrm>
            <a:off x="777240" y="2834640"/>
            <a:ext cx="31750" cy="96012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834640"/>
            <a:ext cx="10490911" cy="960120"/>
          </a:xfrm>
          <a:prstGeom prst="rect">
            <a:avLst/>
          </a:prstGeom>
          <a:noFill/>
        </p:spPr>
        <p:txBody>
          <a:bodyPr wrap="square" lIns="0" rIns="0" tIns="0" bIns="0">
            <a:spAutoFit/>
          </a:bodyPr>
          <a:lstStyle/>
          <a:p>
            <a:pPr algn="l">
              <a:spcBef>
                <a:spcPts val="0"/>
              </a:spcBef>
              <a:spcAft>
                <a:spcPts val="300"/>
              </a:spcAft>
            </a:pPr>
            <a:r>
              <a:rPr sz="1300" b="1">
                <a:solidFill>
                  <a:srgbClr val="12161C"/>
                </a:solidFill>
                <a:latin typeface="Segoe UI"/>
              </a:rPr>
              <a:t>2 · Phạm vi bài toán còn hẹp</a:t>
            </a:r>
          </a:p>
          <a:p>
            <a:pPr algn="l">
              <a:lnSpc>
                <a:spcPct val="122000"/>
              </a:lnSpc>
              <a:spcBef>
                <a:spcPts val="0"/>
              </a:spcBef>
              <a:spcAft>
                <a:spcPts val="0"/>
              </a:spcAft>
            </a:pPr>
            <a:r>
              <a:rPr sz="1150" b="0">
                <a:solidFill>
                  <a:srgbClr val="5C6470"/>
                </a:solidFill>
                <a:latin typeface="Segoe UI"/>
              </a:rPr>
              <a:t>Một chuyển đạo, bốn nhóm nhịp, phân loại ở mức toàn đoạn mười giây. Chưa định vị được thời điểm xảy ra bất thường bên trong đoạn tín hiệu.</a:t>
            </a:r>
          </a:p>
        </p:txBody>
      </p:sp>
      <p:sp>
        <p:nvSpPr>
          <p:cNvPr id="8" name="Rectangle 7"/>
          <p:cNvSpPr/>
          <p:nvPr/>
        </p:nvSpPr>
        <p:spPr>
          <a:xfrm>
            <a:off x="777240" y="3913632"/>
            <a:ext cx="31750" cy="96012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3913632"/>
            <a:ext cx="10490911" cy="960120"/>
          </a:xfrm>
          <a:prstGeom prst="rect">
            <a:avLst/>
          </a:prstGeom>
          <a:noFill/>
        </p:spPr>
        <p:txBody>
          <a:bodyPr wrap="square" lIns="0" rIns="0" tIns="0" bIns="0">
            <a:spAutoFit/>
          </a:bodyPr>
          <a:lstStyle/>
          <a:p>
            <a:pPr algn="l">
              <a:spcBef>
                <a:spcPts val="0"/>
              </a:spcBef>
              <a:spcAft>
                <a:spcPts val="300"/>
              </a:spcAft>
            </a:pPr>
            <a:r>
              <a:rPr sz="1300" b="1">
                <a:solidFill>
                  <a:srgbClr val="12161C"/>
                </a:solidFill>
                <a:latin typeface="Segoe UI"/>
              </a:rPr>
              <a:t>3 · Cấu hình cố định tại thời điểm tổng hợp</a:t>
            </a:r>
          </a:p>
          <a:p>
            <a:pPr algn="l">
              <a:lnSpc>
                <a:spcPct val="122000"/>
              </a:lnSpc>
              <a:spcBef>
                <a:spcPts val="0"/>
              </a:spcBef>
              <a:spcAft>
                <a:spcPts val="0"/>
              </a:spcAft>
            </a:pPr>
            <a:r>
              <a:rPr sz="1150" b="0">
                <a:solidFill>
                  <a:srgbClr val="5C6470"/>
                </a:solidFill>
                <a:latin typeface="Segoe UI"/>
              </a:rPr>
              <a:t>Trọng số nạp sẵn trong bộ nhớ chỉ đọc. Mỗi lần đổi mô hình đều phải tổng hợp và nạp lại bitstream.</a:t>
            </a:r>
          </a:p>
        </p:txBody>
      </p:sp>
      <p:sp>
        <p:nvSpPr>
          <p:cNvPr id="10" name="Rectangle 9"/>
          <p:cNvSpPr/>
          <p:nvPr/>
        </p:nvSpPr>
        <p:spPr>
          <a:xfrm>
            <a:off x="777240" y="4992624"/>
            <a:ext cx="31750" cy="960120"/>
          </a:xfrm>
          <a:prstGeom prst="rect">
            <a:avLst/>
          </a:prstGeom>
          <a:solidFill>
            <a:srgbClr val="B0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4992624"/>
            <a:ext cx="10490911" cy="960120"/>
          </a:xfrm>
          <a:prstGeom prst="rect">
            <a:avLst/>
          </a:prstGeom>
          <a:noFill/>
        </p:spPr>
        <p:txBody>
          <a:bodyPr wrap="square" lIns="0" rIns="0" tIns="0" bIns="0">
            <a:spAutoFit/>
          </a:bodyPr>
          <a:lstStyle/>
          <a:p>
            <a:pPr algn="l">
              <a:spcBef>
                <a:spcPts val="0"/>
              </a:spcBef>
              <a:spcAft>
                <a:spcPts val="300"/>
              </a:spcAft>
            </a:pPr>
            <a:r>
              <a:rPr sz="1300" b="1">
                <a:solidFill>
                  <a:srgbClr val="12161C"/>
                </a:solidFill>
                <a:latin typeface="Segoe UI"/>
              </a:rPr>
              <a:t>4 · Đường vào dữ liệu mới ở mức thí nghiệm</a:t>
            </a:r>
          </a:p>
          <a:p>
            <a:pPr algn="l">
              <a:lnSpc>
                <a:spcPct val="122000"/>
              </a:lnSpc>
              <a:spcBef>
                <a:spcPts val="0"/>
              </a:spcBef>
              <a:spcAft>
                <a:spcPts val="0"/>
              </a:spcAft>
            </a:pPr>
            <a:r>
              <a:rPr sz="1150" b="0">
                <a:solidFill>
                  <a:srgbClr val="5C6470"/>
                </a:solidFill>
                <a:latin typeface="Segoe UI"/>
              </a:rPr>
              <a:t>Dữ liệu truyền từ máy tính qua cầu JTAG. Chưa ghép với mạch thu tín hiệu thực, chưa làm việc trên luồng liên tục.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B02840"/>
                </a:solidFill>
                <a:latin typeface="Segoe UI"/>
              </a:rPr>
              <a:t>§5 · KẾT LUẬN</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Bốn đóng góp, bốn số đo</a:t>
            </a:r>
          </a:p>
        </p:txBody>
      </p:sp>
      <p:sp>
        <p:nvSpPr>
          <p:cNvPr id="4" name="Rectangle 3"/>
          <p:cNvSpPr/>
          <p:nvPr/>
        </p:nvSpPr>
        <p:spPr>
          <a:xfrm>
            <a:off x="777240" y="17830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2161C"/>
                </a:solidFill>
                <a:latin typeface="Segoe UI"/>
              </a:rPr>
              <a:t>640</a:t>
            </a:r>
          </a:p>
          <a:p>
            <a:pPr algn="l">
              <a:lnSpc>
                <a:spcPct val="115000"/>
              </a:lnSpc>
              <a:spcBef>
                <a:spcPts val="0"/>
              </a:spcBef>
              <a:spcAft>
                <a:spcPts val="0"/>
              </a:spcAft>
            </a:pPr>
            <a:r>
              <a:rPr sz="1050" b="0">
                <a:solidFill>
                  <a:srgbClr val="5C6470"/>
                </a:solidFill>
                <a:latin typeface="Segoe UI"/>
              </a:rPr>
              <a:t>tham số · trọng số nằm trọn trên chip</a:t>
            </a:r>
          </a:p>
        </p:txBody>
      </p:sp>
      <p:sp>
        <p:nvSpPr>
          <p:cNvPr id="6" name="Rectangle 5"/>
          <p:cNvSpPr/>
          <p:nvPr/>
        </p:nvSpPr>
        <p:spPr>
          <a:xfrm>
            <a:off x="3486835" y="17830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86835" y="18745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B02840"/>
                </a:solidFill>
                <a:latin typeface="Segoe UI"/>
              </a:rPr>
              <a:t>0</a:t>
            </a:r>
          </a:p>
          <a:p>
            <a:pPr algn="l">
              <a:lnSpc>
                <a:spcPct val="115000"/>
              </a:lnSpc>
              <a:spcBef>
                <a:spcPts val="0"/>
              </a:spcBef>
              <a:spcAft>
                <a:spcPts val="0"/>
              </a:spcAft>
            </a:pPr>
            <a:r>
              <a:rPr sz="1050" b="0">
                <a:solidFill>
                  <a:srgbClr val="5C6470"/>
                </a:solidFill>
                <a:latin typeface="Segoe UI"/>
              </a:rPr>
              <a:t>DSP cho khâu tái tỉ lệ</a:t>
            </a:r>
          </a:p>
        </p:txBody>
      </p:sp>
      <p:sp>
        <p:nvSpPr>
          <p:cNvPr id="8" name="Rectangle 7"/>
          <p:cNvSpPr/>
          <p:nvPr/>
        </p:nvSpPr>
        <p:spPr>
          <a:xfrm>
            <a:off x="6196430" y="17830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6430" y="18745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B6B5A"/>
                </a:solidFill>
                <a:latin typeface="Segoe UI"/>
              </a:rPr>
              <a:t>7/7</a:t>
            </a:r>
          </a:p>
          <a:p>
            <a:pPr algn="l">
              <a:lnSpc>
                <a:spcPct val="115000"/>
              </a:lnSpc>
              <a:spcBef>
                <a:spcPts val="0"/>
              </a:spcBef>
              <a:spcAft>
                <a:spcPts val="0"/>
              </a:spcAft>
            </a:pPr>
            <a:r>
              <a:rPr sz="1050" b="0">
                <a:solidFill>
                  <a:srgbClr val="5C6470"/>
                </a:solidFill>
                <a:latin typeface="Segoe UI"/>
              </a:rPr>
              <a:t>điểm khớp bit · sai lệch = 0</a:t>
            </a:r>
          </a:p>
        </p:txBody>
      </p:sp>
      <p:sp>
        <p:nvSpPr>
          <p:cNvPr id="10" name="Rectangle 9"/>
          <p:cNvSpPr/>
          <p:nvPr/>
        </p:nvSpPr>
        <p:spPr>
          <a:xfrm>
            <a:off x="8906025" y="1783080"/>
            <a:ext cx="2508427" cy="254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06025" y="1874520"/>
            <a:ext cx="2508427" cy="914400"/>
          </a:xfrm>
          <a:prstGeom prst="rect">
            <a:avLst/>
          </a:prstGeom>
          <a:noFill/>
        </p:spPr>
        <p:txBody>
          <a:bodyPr wrap="square" lIns="0" rIns="0" tIns="0" bIns="0">
            <a:spAutoFit/>
          </a:bodyPr>
          <a:lstStyle/>
          <a:p>
            <a:pPr algn="l">
              <a:spcBef>
                <a:spcPts val="0"/>
              </a:spcBef>
              <a:spcAft>
                <a:spcPts val="200"/>
              </a:spcAft>
            </a:pPr>
            <a:r>
              <a:rPr sz="3000" b="1">
                <a:solidFill>
                  <a:srgbClr val="1B6B5A"/>
                </a:solidFill>
                <a:latin typeface="Segoe UI"/>
              </a:rPr>
              <a:t>93,00%</a:t>
            </a:r>
          </a:p>
          <a:p>
            <a:pPr algn="l">
              <a:lnSpc>
                <a:spcPct val="115000"/>
              </a:lnSpc>
              <a:spcBef>
                <a:spcPts val="0"/>
              </a:spcBef>
              <a:spcAft>
                <a:spcPts val="0"/>
              </a:spcAft>
            </a:pPr>
            <a:r>
              <a:rPr sz="1050" b="0">
                <a:solidFill>
                  <a:srgbClr val="5C6470"/>
                </a:solidFill>
                <a:latin typeface="Segoe UI"/>
              </a:rPr>
              <a:t>tập chéo trên board = phần mềm</a:t>
            </a:r>
          </a:p>
        </p:txBody>
      </p:sp>
      <p:sp>
        <p:nvSpPr>
          <p:cNvPr id="12" name="TextBox 11"/>
          <p:cNvSpPr txBox="1"/>
          <p:nvPr/>
        </p:nvSpPr>
        <p:spPr>
          <a:xfrm>
            <a:off x="777240" y="324612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ĐIỀU KHOÁ LUẬN KHẲNG ĐỊNH</a:t>
            </a:r>
          </a:p>
        </p:txBody>
      </p:sp>
      <p:sp>
        <p:nvSpPr>
          <p:cNvPr id="13" name="TextBox 12"/>
          <p:cNvSpPr txBox="1"/>
          <p:nvPr/>
        </p:nvSpPr>
        <p:spPr>
          <a:xfrm>
            <a:off x="777240" y="3611880"/>
            <a:ext cx="4998567" cy="2011680"/>
          </a:xfrm>
          <a:prstGeom prst="rect">
            <a:avLst/>
          </a:prstGeom>
          <a:noFill/>
        </p:spPr>
        <p:txBody>
          <a:bodyPr wrap="square" lIns="0" rIns="0" tIns="0" bIns="0">
            <a:spAutoFit/>
          </a:bodyPr>
          <a:lstStyle/>
          <a:p>
            <a:pPr algn="l">
              <a:lnSpc>
                <a:spcPct val="132000"/>
              </a:lnSpc>
              <a:spcBef>
                <a:spcPts val="0"/>
              </a:spcBef>
              <a:spcAft>
                <a:spcPts val="1000"/>
              </a:spcAft>
            </a:pPr>
            <a:r>
              <a:rPr sz="1350" b="0">
                <a:solidFill>
                  <a:srgbClr val="12161C"/>
                </a:solidFill>
                <a:latin typeface="Segoe UI"/>
              </a:rPr>
              <a:t>Khi ràng buộc phần cứng được đưa vào </a:t>
            </a:r>
            <a:r>
              <a:rPr sz="1350" b="1">
                <a:solidFill>
                  <a:srgbClr val="12161C"/>
                </a:solidFill>
                <a:latin typeface="Segoe UI"/>
              </a:rPr>
              <a:t>ngay từ lúc thiết kế mô hình</a:t>
            </a:r>
            <a:r>
              <a:rPr sz="1350" b="0">
                <a:solidFill>
                  <a:srgbClr val="12161C"/>
                </a:solidFill>
                <a:latin typeface="Segoe UI"/>
              </a:rPr>
              <a:t>, mạch thu về chiếm 5% dung lượng logic mà vẫn giữ độ chính xác ở mức so được với các thiết kế lớn hơn nhiều lần.</a:t>
            </a:r>
          </a:p>
          <a:p>
            <a:pPr algn="l">
              <a:lnSpc>
                <a:spcPct val="132000"/>
              </a:lnSpc>
              <a:spcBef>
                <a:spcPts val="0"/>
              </a:spcBef>
              <a:spcAft>
                <a:spcPts val="0"/>
              </a:spcAft>
            </a:pPr>
            <a:r>
              <a:rPr sz="1350" b="0">
                <a:solidFill>
                  <a:srgbClr val="12161C"/>
                </a:solidFill>
                <a:latin typeface="Segoe UI"/>
              </a:rPr>
              <a:t>Và điều đó </a:t>
            </a:r>
            <a:r>
              <a:rPr sz="1350" b="1">
                <a:solidFill>
                  <a:srgbClr val="12161C"/>
                </a:solidFill>
                <a:latin typeface="Segoe UI"/>
              </a:rPr>
              <a:t>chứng minh được</a:t>
            </a:r>
            <a:r>
              <a:rPr sz="1350" b="0">
                <a:solidFill>
                  <a:srgbClr val="12161C"/>
                </a:solidFill>
                <a:latin typeface="Segoe UI"/>
              </a:rPr>
              <a:t>, không chỉ đo được: mạch thực thi đúng từng giá trị trung gian của mô hình tham chiếu.</a:t>
            </a:r>
          </a:p>
        </p:txBody>
      </p:sp>
      <p:sp>
        <p:nvSpPr>
          <p:cNvPr id="14" name="TextBox 13"/>
          <p:cNvSpPr txBox="1"/>
          <p:nvPr/>
        </p:nvSpPr>
        <p:spPr>
          <a:xfrm>
            <a:off x="6415887" y="3246120"/>
            <a:ext cx="4998567" cy="274320"/>
          </a:xfrm>
          <a:prstGeom prst="rect">
            <a:avLst/>
          </a:prstGeom>
          <a:noFill/>
        </p:spPr>
        <p:txBody>
          <a:bodyPr wrap="square" lIns="0" rIns="0" tIns="0" bIns="0">
            <a:spAutoFit/>
          </a:bodyPr>
          <a:lstStyle/>
          <a:p>
            <a:pPr algn="l">
              <a:spcBef>
                <a:spcPts val="0"/>
              </a:spcBef>
              <a:spcAft>
                <a:spcPts val="0"/>
              </a:spcAft>
            </a:pPr>
            <a:r>
              <a:rPr sz="1100" b="1">
                <a:solidFill>
                  <a:srgbClr val="5C6470"/>
                </a:solidFill>
                <a:latin typeface="Segoe UI"/>
              </a:rPr>
              <a:t>HƯỚNG PHÁT TRIỂN</a:t>
            </a:r>
          </a:p>
        </p:txBody>
      </p:sp>
      <p:sp>
        <p:nvSpPr>
          <p:cNvPr id="15" name="TextBox 14"/>
          <p:cNvSpPr txBox="1"/>
          <p:nvPr/>
        </p:nvSpPr>
        <p:spPr>
          <a:xfrm>
            <a:off x="6415887" y="3611880"/>
            <a:ext cx="4998567" cy="2194560"/>
          </a:xfrm>
          <a:prstGeom prst="rect">
            <a:avLst/>
          </a:prstGeom>
          <a:noFill/>
        </p:spPr>
        <p:txBody>
          <a:bodyPr wrap="square" lIns="0" rIns="0" tIns="0" bIns="0">
            <a:spAutoFit/>
          </a:bodyPr>
          <a:lstStyle/>
          <a:p>
            <a:pPr algn="l">
              <a:lnSpc>
                <a:spcPct val="128000"/>
              </a:lnSpc>
              <a:spcBef>
                <a:spcPts val="0"/>
              </a:spcBef>
              <a:spcAft>
                <a:spcPts val="700"/>
              </a:spcAft>
            </a:pPr>
            <a:r>
              <a:rPr sz="1250" b="0">
                <a:solidFill>
                  <a:srgbClr val="12161C"/>
                </a:solidFill>
                <a:latin typeface="Segoe UI"/>
              </a:rPr>
              <a:t>— Đo dòng tiêu thụ thực, nâng độ tin cậy số công suất</a:t>
            </a:r>
          </a:p>
          <a:p>
            <a:pPr algn="l">
              <a:lnSpc>
                <a:spcPct val="128000"/>
              </a:lnSpc>
              <a:spcBef>
                <a:spcPts val="0"/>
              </a:spcBef>
              <a:spcAft>
                <a:spcPts val="700"/>
              </a:spcAft>
            </a:pPr>
            <a:r>
              <a:rPr sz="1250" b="0">
                <a:solidFill>
                  <a:srgbClr val="12161C"/>
                </a:solidFill>
                <a:latin typeface="Segoe UI"/>
              </a:rPr>
              <a:t>— Chuyển sang chip nhỏ hơn — lõi chỉ dùng 5% dung lượng</a:t>
            </a:r>
          </a:p>
          <a:p>
            <a:pPr algn="l">
              <a:lnSpc>
                <a:spcPct val="128000"/>
              </a:lnSpc>
              <a:spcBef>
                <a:spcPts val="0"/>
              </a:spcBef>
              <a:spcAft>
                <a:spcPts val="700"/>
              </a:spcAft>
            </a:pPr>
            <a:r>
              <a:rPr sz="1250" b="0">
                <a:solidFill>
                  <a:srgbClr val="12161C"/>
                </a:solidFill>
                <a:latin typeface="Segoe UI"/>
              </a:rPr>
              <a:t>— Nhiều chuyển đạo, phân loại theo cửa sổ trượt</a:t>
            </a:r>
          </a:p>
          <a:p>
            <a:pPr algn="l">
              <a:lnSpc>
                <a:spcPct val="128000"/>
              </a:lnSpc>
              <a:spcBef>
                <a:spcPts val="0"/>
              </a:spcBef>
              <a:spcAft>
                <a:spcPts val="700"/>
              </a:spcAft>
            </a:pPr>
            <a:r>
              <a:rPr sz="1250" b="0">
                <a:solidFill>
                  <a:srgbClr val="12161C"/>
                </a:solidFill>
                <a:latin typeface="Segoe UI"/>
              </a:rPr>
              <a:t>— Xếp chồng các lớp theo đường ống để giảm độ trễ</a:t>
            </a:r>
          </a:p>
          <a:p>
            <a:pPr algn="l">
              <a:lnSpc>
                <a:spcPct val="128000"/>
              </a:lnSpc>
              <a:spcBef>
                <a:spcPts val="0"/>
              </a:spcBef>
              <a:spcAft>
                <a:spcPts val="700"/>
              </a:spcAft>
            </a:pPr>
            <a:r>
              <a:rPr sz="1250" b="0">
                <a:solidFill>
                  <a:srgbClr val="12161C"/>
                </a:solidFill>
                <a:latin typeface="Segoe UI"/>
              </a:rPr>
              <a:t>— Ghép với mạch thu tín hiệu để làm việc thời gian thực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PHẦN DỰ PHÒNG</a:t>
            </a:r>
          </a:p>
        </p:txBody>
      </p:sp>
      <p:sp>
        <p:nvSpPr>
          <p:cNvPr id="3" name="TextBox 2"/>
          <p:cNvSpPr txBox="1"/>
          <p:nvPr/>
        </p:nvSpPr>
        <p:spPr>
          <a:xfrm>
            <a:off x="777240" y="749808"/>
            <a:ext cx="10637215" cy="914400"/>
          </a:xfrm>
          <a:prstGeom prst="rect">
            <a:avLst/>
          </a:prstGeom>
          <a:noFill/>
        </p:spPr>
        <p:txBody>
          <a:bodyPr wrap="square" lIns="0" rIns="0" tIns="0" bIns="0">
            <a:spAutoFit/>
          </a:bodyPr>
          <a:lstStyle/>
          <a:p>
            <a:pPr algn="l">
              <a:lnSpc>
                <a:spcPct val="106000"/>
              </a:lnSpc>
              <a:spcBef>
                <a:spcPts val="0"/>
              </a:spcBef>
              <a:spcAft>
                <a:spcPts val="0"/>
              </a:spcAft>
            </a:pPr>
            <a:r>
              <a:rPr sz="3000" b="0">
                <a:solidFill>
                  <a:srgbClr val="12161C"/>
                </a:solidFill>
                <a:latin typeface="Georgia"/>
              </a:rPr>
              <a:t>Mục lục câu hỏi</a:t>
            </a:r>
          </a:p>
        </p:txBody>
      </p:sp>
      <p:sp>
        <p:nvSpPr>
          <p:cNvPr id="4" name="TextBox 3"/>
          <p:cNvSpPr txBox="1"/>
          <p:nvPr/>
        </p:nvSpPr>
        <p:spPr>
          <a:xfrm>
            <a:off x="777240" y="1737360"/>
            <a:ext cx="4998567" cy="365760"/>
          </a:xfrm>
          <a:prstGeom prst="rect">
            <a:avLst/>
          </a:prstGeom>
          <a:noFill/>
        </p:spPr>
        <p:txBody>
          <a:bodyPr wrap="square" lIns="0" rIns="0" tIns="0" bIns="0">
            <a:spAutoFit/>
          </a:bodyPr>
          <a:lstStyle/>
          <a:p>
            <a:r>
              <a:rPr sz="1200" b="1">
                <a:solidFill>
                  <a:srgbClr val="B02840"/>
                </a:solidFill>
                <a:latin typeface="Segoe UI"/>
              </a:rPr>
              <a:t>23   </a:t>
            </a:r>
            <a:r>
              <a:rPr sz="1150">
                <a:solidFill>
                  <a:srgbClr val="12161C"/>
                </a:solidFill>
                <a:latin typeface="Segoe UI"/>
              </a:rPr>
              <a:t>Liu cũng dùng luỹ thừa hai. Vậy đóng góp của em mới ở chỗ nào?</a:t>
            </a:r>
          </a:p>
        </p:txBody>
      </p:sp>
      <p:sp>
        <p:nvSpPr>
          <p:cNvPr id="5" name="Rectangle 4"/>
          <p:cNvSpPr/>
          <p:nvPr/>
        </p:nvSpPr>
        <p:spPr>
          <a:xfrm>
            <a:off x="777240" y="2066544"/>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39696"/>
            <a:ext cx="4998567" cy="365760"/>
          </a:xfrm>
          <a:prstGeom prst="rect">
            <a:avLst/>
          </a:prstGeom>
          <a:noFill/>
        </p:spPr>
        <p:txBody>
          <a:bodyPr wrap="square" lIns="0" rIns="0" tIns="0" bIns="0">
            <a:spAutoFit/>
          </a:bodyPr>
          <a:lstStyle/>
          <a:p>
            <a:r>
              <a:rPr sz="1200" b="1">
                <a:solidFill>
                  <a:srgbClr val="B02840"/>
                </a:solidFill>
                <a:latin typeface="Segoe UI"/>
              </a:rPr>
              <a:t>24   </a:t>
            </a:r>
            <a:r>
              <a:rPr sz="1150">
                <a:solidFill>
                  <a:srgbClr val="12161C"/>
                </a:solidFill>
                <a:latin typeface="Segoe UI"/>
              </a:rPr>
              <a:t>Khớp bit thì có gì mới? Ai làm phần cứng cũng phải mô phỏng đối chiếu.</a:t>
            </a:r>
          </a:p>
        </p:txBody>
      </p:sp>
      <p:sp>
        <p:nvSpPr>
          <p:cNvPr id="7" name="Rectangle 6"/>
          <p:cNvSpPr/>
          <p:nvPr/>
        </p:nvSpPr>
        <p:spPr>
          <a:xfrm>
            <a:off x="777240" y="2468880"/>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42032"/>
            <a:ext cx="4998567" cy="365760"/>
          </a:xfrm>
          <a:prstGeom prst="rect">
            <a:avLst/>
          </a:prstGeom>
          <a:noFill/>
        </p:spPr>
        <p:txBody>
          <a:bodyPr wrap="square" lIns="0" rIns="0" tIns="0" bIns="0">
            <a:spAutoFit/>
          </a:bodyPr>
          <a:lstStyle/>
          <a:p>
            <a:r>
              <a:rPr sz="1200" b="1">
                <a:solidFill>
                  <a:srgbClr val="B02840"/>
                </a:solidFill>
                <a:latin typeface="Segoe UI"/>
              </a:rPr>
              <a:t>25   </a:t>
            </a:r>
            <a:r>
              <a:rPr sz="1150">
                <a:solidFill>
                  <a:srgbClr val="12161C"/>
                </a:solidFill>
                <a:latin typeface="Segoe UI"/>
              </a:rPr>
              <a:t>Vì sao cắt tỉa xuống tám kênh? Sao không phải sáu hay mười?</a:t>
            </a:r>
          </a:p>
        </p:txBody>
      </p:sp>
      <p:sp>
        <p:nvSpPr>
          <p:cNvPr id="9" name="Rectangle 8"/>
          <p:cNvSpPr/>
          <p:nvPr/>
        </p:nvSpPr>
        <p:spPr>
          <a:xfrm>
            <a:off x="777240" y="2871216"/>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44368"/>
            <a:ext cx="4998567" cy="365760"/>
          </a:xfrm>
          <a:prstGeom prst="rect">
            <a:avLst/>
          </a:prstGeom>
          <a:noFill/>
        </p:spPr>
        <p:txBody>
          <a:bodyPr wrap="square" lIns="0" rIns="0" tIns="0" bIns="0">
            <a:spAutoFit/>
          </a:bodyPr>
          <a:lstStyle/>
          <a:p>
            <a:r>
              <a:rPr sz="1200" b="1">
                <a:solidFill>
                  <a:srgbClr val="B02840"/>
                </a:solidFill>
                <a:latin typeface="Segoe UI"/>
              </a:rPr>
              <a:t>26   </a:t>
            </a:r>
            <a:r>
              <a:rPr sz="1150">
                <a:solidFill>
                  <a:srgbClr val="12161C"/>
                </a:solidFill>
                <a:latin typeface="Segoe UI"/>
              </a:rPr>
              <a:t>94,27% thấp hơn nhiều công trình báo 98–99%. Giải thích thế nào?</a:t>
            </a:r>
          </a:p>
        </p:txBody>
      </p:sp>
      <p:sp>
        <p:nvSpPr>
          <p:cNvPr id="11" name="Rectangle 10"/>
          <p:cNvSpPr/>
          <p:nvPr/>
        </p:nvSpPr>
        <p:spPr>
          <a:xfrm>
            <a:off x="777240" y="3273552"/>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46704"/>
            <a:ext cx="4998567" cy="365760"/>
          </a:xfrm>
          <a:prstGeom prst="rect">
            <a:avLst/>
          </a:prstGeom>
          <a:noFill/>
        </p:spPr>
        <p:txBody>
          <a:bodyPr wrap="square" lIns="0" rIns="0" tIns="0" bIns="0">
            <a:spAutoFit/>
          </a:bodyPr>
          <a:lstStyle/>
          <a:p>
            <a:r>
              <a:rPr sz="1200" b="1">
                <a:solidFill>
                  <a:srgbClr val="B02840"/>
                </a:solidFill>
                <a:latin typeface="Segoe UI"/>
              </a:rPr>
              <a:t>27   </a:t>
            </a:r>
            <a:r>
              <a:rPr sz="1150">
                <a:solidFill>
                  <a:srgbClr val="12161C"/>
                </a:solidFill>
                <a:latin typeface="Segoe UI"/>
              </a:rPr>
              <a:t>Công suất 536 mW cao gấp tám lần Liu 66 mW. Sao gọi là hiệu quả?</a:t>
            </a:r>
          </a:p>
        </p:txBody>
      </p:sp>
      <p:sp>
        <p:nvSpPr>
          <p:cNvPr id="13" name="Rectangle 12"/>
          <p:cNvSpPr/>
          <p:nvPr/>
        </p:nvSpPr>
        <p:spPr>
          <a:xfrm>
            <a:off x="777240" y="3675888"/>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49040"/>
            <a:ext cx="4998567" cy="365760"/>
          </a:xfrm>
          <a:prstGeom prst="rect">
            <a:avLst/>
          </a:prstGeom>
          <a:noFill/>
        </p:spPr>
        <p:txBody>
          <a:bodyPr wrap="square" lIns="0" rIns="0" tIns="0" bIns="0">
            <a:spAutoFit/>
          </a:bodyPr>
          <a:lstStyle/>
          <a:p>
            <a:r>
              <a:rPr sz="1200" b="1">
                <a:solidFill>
                  <a:srgbClr val="B02840"/>
                </a:solidFill>
                <a:latin typeface="Segoe UI"/>
              </a:rPr>
              <a:t>28   </a:t>
            </a:r>
            <a:r>
              <a:rPr sz="1150">
                <a:solidFill>
                  <a:srgbClr val="12161C"/>
                </a:solidFill>
                <a:latin typeface="Segoe UI"/>
              </a:rPr>
              <a:t>Cắt tỉa có cấu trúc là kỹ thuật đã có từ lâu. Đóng góp ở đâu?</a:t>
            </a:r>
          </a:p>
        </p:txBody>
      </p:sp>
      <p:sp>
        <p:nvSpPr>
          <p:cNvPr id="15" name="Rectangle 14"/>
          <p:cNvSpPr/>
          <p:nvPr/>
        </p:nvSpPr>
        <p:spPr>
          <a:xfrm>
            <a:off x="777240" y="4078224"/>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51376"/>
            <a:ext cx="4998567" cy="365760"/>
          </a:xfrm>
          <a:prstGeom prst="rect">
            <a:avLst/>
          </a:prstGeom>
          <a:noFill/>
        </p:spPr>
        <p:txBody>
          <a:bodyPr wrap="square" lIns="0" rIns="0" tIns="0" bIns="0">
            <a:spAutoFit/>
          </a:bodyPr>
          <a:lstStyle/>
          <a:p>
            <a:r>
              <a:rPr sz="1200" b="1">
                <a:solidFill>
                  <a:srgbClr val="B02840"/>
                </a:solidFill>
                <a:latin typeface="Segoe UI"/>
              </a:rPr>
              <a:t>29   </a:t>
            </a:r>
            <a:r>
              <a:rPr sz="1150">
                <a:solidFill>
                  <a:srgbClr val="12161C"/>
                </a:solidFill>
                <a:latin typeface="Segoe UI"/>
              </a:rPr>
              <a:t>Làm tròn nửa lên là kỹ thuật cơ bản. Có phải phát minh của em không?</a:t>
            </a:r>
          </a:p>
        </p:txBody>
      </p:sp>
      <p:sp>
        <p:nvSpPr>
          <p:cNvPr id="17" name="Rectangle 16"/>
          <p:cNvSpPr/>
          <p:nvPr/>
        </p:nvSpPr>
        <p:spPr>
          <a:xfrm>
            <a:off x="777240" y="4480560"/>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553712"/>
            <a:ext cx="4998567" cy="365760"/>
          </a:xfrm>
          <a:prstGeom prst="rect">
            <a:avLst/>
          </a:prstGeom>
          <a:noFill/>
        </p:spPr>
        <p:txBody>
          <a:bodyPr wrap="square" lIns="0" rIns="0" tIns="0" bIns="0">
            <a:spAutoFit/>
          </a:bodyPr>
          <a:lstStyle/>
          <a:p>
            <a:r>
              <a:rPr sz="1200" b="1">
                <a:solidFill>
                  <a:srgbClr val="B02840"/>
                </a:solidFill>
                <a:latin typeface="Segoe UI"/>
              </a:rPr>
              <a:t>30   </a:t>
            </a:r>
            <a:r>
              <a:rPr sz="1150">
                <a:solidFill>
                  <a:srgbClr val="12161C"/>
                </a:solidFill>
                <a:latin typeface="Segoe UI"/>
              </a:rPr>
              <a:t>Vì sao ở Conv1 phải dịch tám bit, trong khi trọng số chỉ dịch sáu?</a:t>
            </a:r>
          </a:p>
        </p:txBody>
      </p:sp>
      <p:sp>
        <p:nvSpPr>
          <p:cNvPr id="19" name="Rectangle 18"/>
          <p:cNvSpPr/>
          <p:nvPr/>
        </p:nvSpPr>
        <p:spPr>
          <a:xfrm>
            <a:off x="777240" y="4882896"/>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56048"/>
            <a:ext cx="4998567" cy="365760"/>
          </a:xfrm>
          <a:prstGeom prst="rect">
            <a:avLst/>
          </a:prstGeom>
          <a:noFill/>
        </p:spPr>
        <p:txBody>
          <a:bodyPr wrap="square" lIns="0" rIns="0" tIns="0" bIns="0">
            <a:spAutoFit/>
          </a:bodyPr>
          <a:lstStyle/>
          <a:p>
            <a:r>
              <a:rPr sz="1200" b="1">
                <a:solidFill>
                  <a:srgbClr val="B02840"/>
                </a:solidFill>
                <a:latin typeface="Segoe UI"/>
              </a:rPr>
              <a:t>31   </a:t>
            </a:r>
            <a:r>
              <a:rPr sz="1150">
                <a:solidFill>
                  <a:srgbClr val="12161C"/>
                </a:solidFill>
                <a:latin typeface="Segoe UI"/>
              </a:rPr>
              <a:t>Gộp bias và hằng làm tròn vào bộ tích luỹ — có nguy cơ tràn số không?</a:t>
            </a:r>
          </a:p>
        </p:txBody>
      </p:sp>
      <p:sp>
        <p:nvSpPr>
          <p:cNvPr id="21" name="Rectangle 20"/>
          <p:cNvSpPr/>
          <p:nvPr/>
        </p:nvSpPr>
        <p:spPr>
          <a:xfrm>
            <a:off x="777240" y="5285232"/>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5887" y="1737360"/>
            <a:ext cx="4998567" cy="365760"/>
          </a:xfrm>
          <a:prstGeom prst="rect">
            <a:avLst/>
          </a:prstGeom>
          <a:noFill/>
        </p:spPr>
        <p:txBody>
          <a:bodyPr wrap="square" lIns="0" rIns="0" tIns="0" bIns="0">
            <a:spAutoFit/>
          </a:bodyPr>
          <a:lstStyle/>
          <a:p>
            <a:r>
              <a:rPr sz="1200" b="1">
                <a:solidFill>
                  <a:srgbClr val="B02840"/>
                </a:solidFill>
                <a:latin typeface="Segoe UI"/>
              </a:rPr>
              <a:t>32   </a:t>
            </a:r>
            <a:r>
              <a:rPr sz="1150">
                <a:solidFill>
                  <a:srgbClr val="12161C"/>
                </a:solidFill>
                <a:latin typeface="Segoe UI"/>
              </a:rPr>
              <a:t>Vì sao GAP chia lấy phần nguyên thay vì lấy trung bình thực?</a:t>
            </a:r>
          </a:p>
        </p:txBody>
      </p:sp>
      <p:sp>
        <p:nvSpPr>
          <p:cNvPr id="23" name="Rectangle 22"/>
          <p:cNvSpPr/>
          <p:nvPr/>
        </p:nvSpPr>
        <p:spPr>
          <a:xfrm>
            <a:off x="6415887" y="2066544"/>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2139696"/>
            <a:ext cx="4998567" cy="365760"/>
          </a:xfrm>
          <a:prstGeom prst="rect">
            <a:avLst/>
          </a:prstGeom>
          <a:noFill/>
        </p:spPr>
        <p:txBody>
          <a:bodyPr wrap="square" lIns="0" rIns="0" tIns="0" bIns="0">
            <a:spAutoFit/>
          </a:bodyPr>
          <a:lstStyle/>
          <a:p>
            <a:r>
              <a:rPr sz="1200" b="1">
                <a:solidFill>
                  <a:srgbClr val="B02840"/>
                </a:solidFill>
                <a:latin typeface="Segoe UI"/>
              </a:rPr>
              <a:t>33   </a:t>
            </a:r>
            <a:r>
              <a:rPr sz="1150">
                <a:solidFill>
                  <a:srgbClr val="12161C"/>
                </a:solidFill>
                <a:latin typeface="Segoe UI"/>
              </a:rPr>
              <a:t>Vì sao chỉ Conv4 có ReLU, ba lớp trước thì không?</a:t>
            </a:r>
          </a:p>
        </p:txBody>
      </p:sp>
      <p:sp>
        <p:nvSpPr>
          <p:cNvPr id="25" name="Rectangle 24"/>
          <p:cNvSpPr/>
          <p:nvPr/>
        </p:nvSpPr>
        <p:spPr>
          <a:xfrm>
            <a:off x="6415887" y="2468880"/>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5887" y="2542032"/>
            <a:ext cx="4998567" cy="365760"/>
          </a:xfrm>
          <a:prstGeom prst="rect">
            <a:avLst/>
          </a:prstGeom>
          <a:noFill/>
        </p:spPr>
        <p:txBody>
          <a:bodyPr wrap="square" lIns="0" rIns="0" tIns="0" bIns="0">
            <a:spAutoFit/>
          </a:bodyPr>
          <a:lstStyle/>
          <a:p>
            <a:r>
              <a:rPr sz="1200" b="1">
                <a:solidFill>
                  <a:srgbClr val="B02840"/>
                </a:solidFill>
                <a:latin typeface="Segoe UI"/>
              </a:rPr>
              <a:t>34   </a:t>
            </a:r>
            <a:r>
              <a:rPr sz="1150">
                <a:solidFill>
                  <a:srgbClr val="12161C"/>
                </a:solidFill>
                <a:latin typeface="Segoe UI"/>
              </a:rPr>
              <a:t>Chia dữ liệu theo bệnh nhân — làm sao chắc không rò rỉ giữa các tập?</a:t>
            </a:r>
          </a:p>
        </p:txBody>
      </p:sp>
      <p:sp>
        <p:nvSpPr>
          <p:cNvPr id="27" name="Rectangle 26"/>
          <p:cNvSpPr/>
          <p:nvPr/>
        </p:nvSpPr>
        <p:spPr>
          <a:xfrm>
            <a:off x="6415887" y="2871216"/>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5887" y="2944368"/>
            <a:ext cx="4998567" cy="365760"/>
          </a:xfrm>
          <a:prstGeom prst="rect">
            <a:avLst/>
          </a:prstGeom>
          <a:noFill/>
        </p:spPr>
        <p:txBody>
          <a:bodyPr wrap="square" lIns="0" rIns="0" tIns="0" bIns="0">
            <a:spAutoFit/>
          </a:bodyPr>
          <a:lstStyle/>
          <a:p>
            <a:r>
              <a:rPr sz="1200" b="1">
                <a:solidFill>
                  <a:srgbClr val="B02840"/>
                </a:solidFill>
                <a:latin typeface="Segoe UI"/>
              </a:rPr>
              <a:t>35   </a:t>
            </a:r>
            <a:r>
              <a:rPr sz="1150">
                <a:solidFill>
                  <a:srgbClr val="12161C"/>
                </a:solidFill>
                <a:latin typeface="Segoe UI"/>
              </a:rPr>
              <a:t>Vì sao chọn Chapman và Georgia, không dùng MIT-BIH?</a:t>
            </a:r>
          </a:p>
        </p:txBody>
      </p:sp>
      <p:sp>
        <p:nvSpPr>
          <p:cNvPr id="29" name="Rectangle 28"/>
          <p:cNvSpPr/>
          <p:nvPr/>
        </p:nvSpPr>
        <p:spPr>
          <a:xfrm>
            <a:off x="6415887" y="3273552"/>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5887" y="3346704"/>
            <a:ext cx="4998567" cy="365760"/>
          </a:xfrm>
          <a:prstGeom prst="rect">
            <a:avLst/>
          </a:prstGeom>
          <a:noFill/>
        </p:spPr>
        <p:txBody>
          <a:bodyPr wrap="square" lIns="0" rIns="0" tIns="0" bIns="0">
            <a:spAutoFit/>
          </a:bodyPr>
          <a:lstStyle/>
          <a:p>
            <a:r>
              <a:rPr sz="1200" b="1">
                <a:solidFill>
                  <a:srgbClr val="B02840"/>
                </a:solidFill>
                <a:latin typeface="Segoe UI"/>
              </a:rPr>
              <a:t>36   </a:t>
            </a:r>
            <a:r>
              <a:rPr sz="1150">
                <a:solidFill>
                  <a:srgbClr val="12161C"/>
                </a:solidFill>
                <a:latin typeface="Segoe UI"/>
              </a:rPr>
              <a:t>Mô hình hay nhầm nhịp chậm xoang với nhịp xoang bình thường. Đó là lỗi của mô hình?</a:t>
            </a:r>
          </a:p>
        </p:txBody>
      </p:sp>
      <p:sp>
        <p:nvSpPr>
          <p:cNvPr id="31" name="Rectangle 30"/>
          <p:cNvSpPr/>
          <p:nvPr/>
        </p:nvSpPr>
        <p:spPr>
          <a:xfrm>
            <a:off x="6415887" y="3675888"/>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5887" y="3749040"/>
            <a:ext cx="4998567" cy="365760"/>
          </a:xfrm>
          <a:prstGeom prst="rect">
            <a:avLst/>
          </a:prstGeom>
          <a:noFill/>
        </p:spPr>
        <p:txBody>
          <a:bodyPr wrap="square" lIns="0" rIns="0" tIns="0" bIns="0">
            <a:spAutoFit/>
          </a:bodyPr>
          <a:lstStyle/>
          <a:p>
            <a:r>
              <a:rPr sz="1200" b="1">
                <a:solidFill>
                  <a:srgbClr val="B02840"/>
                </a:solidFill>
                <a:latin typeface="Segoe UI"/>
              </a:rPr>
              <a:t>37   </a:t>
            </a:r>
            <a:r>
              <a:rPr sz="1150">
                <a:solidFill>
                  <a:srgbClr val="12161C"/>
                </a:solidFill>
                <a:latin typeface="Segoe UI"/>
              </a:rPr>
              <a:t>Bảy điểm kiểm tra khớp bit — có đủ nhiều không?</a:t>
            </a:r>
          </a:p>
        </p:txBody>
      </p:sp>
      <p:sp>
        <p:nvSpPr>
          <p:cNvPr id="33" name="Rectangle 32"/>
          <p:cNvSpPr/>
          <p:nvPr/>
        </p:nvSpPr>
        <p:spPr>
          <a:xfrm>
            <a:off x="6415887" y="4078224"/>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5887" y="4151376"/>
            <a:ext cx="4998567" cy="365760"/>
          </a:xfrm>
          <a:prstGeom prst="rect">
            <a:avLst/>
          </a:prstGeom>
          <a:noFill/>
        </p:spPr>
        <p:txBody>
          <a:bodyPr wrap="square" lIns="0" rIns="0" tIns="0" bIns="0">
            <a:spAutoFit/>
          </a:bodyPr>
          <a:lstStyle/>
          <a:p>
            <a:r>
              <a:rPr sz="1200" b="1">
                <a:solidFill>
                  <a:srgbClr val="B02840"/>
                </a:solidFill>
                <a:latin typeface="Segoe UI"/>
              </a:rPr>
              <a:t>38   </a:t>
            </a:r>
            <a:r>
              <a:rPr sz="1150">
                <a:solidFill>
                  <a:srgbClr val="12161C"/>
                </a:solidFill>
                <a:latin typeface="Segoe UI"/>
              </a:rPr>
              <a:t>Thiết kế này có chạy được thời gian thực không?</a:t>
            </a:r>
          </a:p>
        </p:txBody>
      </p:sp>
      <p:sp>
        <p:nvSpPr>
          <p:cNvPr id="35" name="Rectangle 34"/>
          <p:cNvSpPr/>
          <p:nvPr/>
        </p:nvSpPr>
        <p:spPr>
          <a:xfrm>
            <a:off x="6415887" y="4480560"/>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5887" y="4553712"/>
            <a:ext cx="4998567" cy="365760"/>
          </a:xfrm>
          <a:prstGeom prst="rect">
            <a:avLst/>
          </a:prstGeom>
          <a:noFill/>
        </p:spPr>
        <p:txBody>
          <a:bodyPr wrap="square" lIns="0" rIns="0" tIns="0" bIns="0">
            <a:spAutoFit/>
          </a:bodyPr>
          <a:lstStyle/>
          <a:p>
            <a:r>
              <a:rPr sz="1200" b="1">
                <a:solidFill>
                  <a:srgbClr val="B02840"/>
                </a:solidFill>
                <a:latin typeface="Segoe UI"/>
              </a:rPr>
              <a:t>39   </a:t>
            </a:r>
            <a:r>
              <a:rPr sz="1150">
                <a:solidFill>
                  <a:srgbClr val="12161C"/>
                </a:solidFill>
                <a:latin typeface="Segoe UI"/>
              </a:rPr>
              <a:t>Số liệu nào là đo, số liệu nào là ước lượng?</a:t>
            </a:r>
          </a:p>
        </p:txBody>
      </p:sp>
      <p:sp>
        <p:nvSpPr>
          <p:cNvPr id="37" name="Rectangle 36"/>
          <p:cNvSpPr/>
          <p:nvPr/>
        </p:nvSpPr>
        <p:spPr>
          <a:xfrm>
            <a:off x="6415887" y="4882896"/>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5887" y="4956048"/>
            <a:ext cx="4998567" cy="365760"/>
          </a:xfrm>
          <a:prstGeom prst="rect">
            <a:avLst/>
          </a:prstGeom>
          <a:noFill/>
        </p:spPr>
        <p:txBody>
          <a:bodyPr wrap="square" lIns="0" rIns="0" tIns="0" bIns="0">
            <a:spAutoFit/>
          </a:bodyPr>
          <a:lstStyle/>
          <a:p>
            <a:r>
              <a:rPr sz="1200" b="1">
                <a:solidFill>
                  <a:srgbClr val="B02840"/>
                </a:solidFill>
                <a:latin typeface="Segoe UI"/>
              </a:rPr>
              <a:t>40   </a:t>
            </a:r>
            <a:r>
              <a:rPr sz="1150">
                <a:solidFill>
                  <a:srgbClr val="12161C"/>
                </a:solidFill>
                <a:latin typeface="Segoe UI"/>
              </a:rPr>
              <a:t>Nếu được làm lại, em sẽ làm khác ở chỗ nào?</a:t>
            </a:r>
          </a:p>
        </p:txBody>
      </p:sp>
      <p:sp>
        <p:nvSpPr>
          <p:cNvPr id="39" name="Rectangle 38"/>
          <p:cNvSpPr/>
          <p:nvPr/>
        </p:nvSpPr>
        <p:spPr>
          <a:xfrm>
            <a:off x="6415887" y="5285232"/>
            <a:ext cx="4998567"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6053328"/>
            <a:ext cx="10637215" cy="12700"/>
          </a:xfrm>
          <a:prstGeom prst="rect">
            <a:avLst/>
          </a:prstGeom>
          <a:solidFill>
            <a:srgbClr val="DFE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6181344"/>
            <a:ext cx="10637215" cy="457200"/>
          </a:xfrm>
          <a:prstGeom prst="rect">
            <a:avLst/>
          </a:prstGeom>
          <a:noFill/>
        </p:spPr>
        <p:txBody>
          <a:bodyPr wrap="square" lIns="0" rIns="0" tIns="0" bIns="0">
            <a:spAutoFit/>
          </a:bodyPr>
          <a:lstStyle/>
          <a:p>
            <a:pPr algn="l">
              <a:lnSpc>
                <a:spcPct val="125000"/>
              </a:lnSpc>
              <a:spcBef>
                <a:spcPts val="0"/>
              </a:spcBef>
              <a:spcAft>
                <a:spcPts val="0"/>
              </a:spcAft>
            </a:pPr>
            <a:r>
              <a:rPr sz="1050" b="0">
                <a:solidFill>
                  <a:srgbClr val="5C6470"/>
                </a:solidFill>
                <a:latin typeface="Segoe UI"/>
              </a:rPr>
              <a:t>Trong chế độ trình chiếu, gõ số trang rồi Enter để nhảy thẳng tới câu trả lời.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23</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“Liu cũng dùng luỹ thừa hai. Vậy đóng góp của em mới ở chỗ nào?”</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Đúng, Liu đã dùng và em </a:t>
            </a:r>
            <a:r>
              <a:rPr sz="1350" b="1">
                <a:solidFill>
                  <a:srgbClr val="12161C"/>
                </a:solidFill>
                <a:latin typeface="Segoe UI"/>
              </a:rPr>
              <a:t>không nhận đó là của mình</a:t>
            </a:r>
            <a:r>
              <a:rPr sz="1350" b="0">
                <a:solidFill>
                  <a:srgbClr val="12161C"/>
                </a:solidFill>
                <a:latin typeface="Segoe UI"/>
              </a:rPr>
              <a:t>. Trong quyển, luỹ thừa hai được trình bày như nền tảng chung, có trích dẫn Liu.</a:t>
            </a:r>
          </a:p>
          <a:p>
            <a:pPr algn="l">
              <a:lnSpc>
                <a:spcPct val="134000"/>
              </a:lnSpc>
              <a:spcBef>
                <a:spcPts val="0"/>
              </a:spcBef>
              <a:spcAft>
                <a:spcPts val="900"/>
              </a:spcAft>
            </a:pPr>
            <a:r>
              <a:rPr sz="1350" b="0">
                <a:solidFill>
                  <a:srgbClr val="5C6470"/>
                </a:solidFill>
                <a:latin typeface="Segoe UI"/>
              </a:rPr>
              <a:t>Khác biệt nằm ở </a:t>
            </a:r>
            <a:r>
              <a:rPr sz="1350" b="1">
                <a:solidFill>
                  <a:srgbClr val="5C6470"/>
                </a:solidFill>
                <a:latin typeface="Segoe UI"/>
              </a:rPr>
              <a:t>cách làm tròn</a:t>
            </a:r>
            <a:r>
              <a:rPr sz="1350" b="0">
                <a:solidFill>
                  <a:srgbClr val="5C6470"/>
                </a:solidFill>
                <a:latin typeface="Segoe UI"/>
              </a:rPr>
              <a:t>. Liu dùng dịch phải số học thuần, tức cắt bỏ phần thập phân, nên sai số luôn lệch về một phía. Em cộng thêm nửa đơn vị trước khi dịch, đưa trung bình sai số về không.</a:t>
            </a:r>
          </a:p>
          <a:p>
            <a:pPr algn="l">
              <a:lnSpc>
                <a:spcPct val="134000"/>
              </a:lnSpc>
              <a:spcBef>
                <a:spcPts val="0"/>
              </a:spcBef>
              <a:spcAft>
                <a:spcPts val="900"/>
              </a:spcAft>
            </a:pPr>
            <a:r>
              <a:rPr sz="1350" b="0">
                <a:solidFill>
                  <a:srgbClr val="5C6470"/>
                </a:solidFill>
                <a:latin typeface="Segoe UI"/>
              </a:rPr>
              <a:t>Chênh lệch đo được là </a:t>
            </a:r>
            <a:r>
              <a:rPr sz="1350" b="1">
                <a:solidFill>
                  <a:srgbClr val="5C6470"/>
                </a:solidFill>
                <a:latin typeface="Segoe UI"/>
              </a:rPr>
              <a:t>0,38 điểm phần trăm</a:t>
            </a:r>
            <a:r>
              <a:rPr sz="1350" b="0">
                <a:solidFill>
                  <a:srgbClr val="5C6470"/>
                </a:solidFill>
                <a:latin typeface="Segoe UI"/>
              </a:rPr>
              <a:t> — trên cùng mô hình, cùng dữ liệu, cùng cách chia, chỉ khác một dòng. Và không tốn thêm phần cứng, vì phép cộng đó đã được gộp vào hằng số khởi tạo bộ tích luỹ.</a:t>
            </a:r>
          </a:p>
          <a:p>
            <a:pPr algn="l">
              <a:lnSpc>
                <a:spcPct val="134000"/>
              </a:lnSpc>
              <a:spcBef>
                <a:spcPts val="0"/>
              </a:spcBef>
              <a:spcAft>
                <a:spcPts val="900"/>
              </a:spcAft>
            </a:pPr>
            <a:r>
              <a:rPr sz="1350" b="0">
                <a:solidFill>
                  <a:srgbClr val="5C6470"/>
                </a:solidFill>
                <a:latin typeface="Segoe UI"/>
              </a:rPr>
              <a:t>Đóng góp thứ hai ở đây là </a:t>
            </a:r>
            <a:r>
              <a:rPr sz="1350" b="1">
                <a:solidFill>
                  <a:srgbClr val="5C6470"/>
                </a:solidFill>
                <a:latin typeface="Segoe UI"/>
              </a:rPr>
              <a:t>đo được chi phí của lựa chọn</a:t>
            </a:r>
            <a:r>
              <a:rPr sz="1350" b="0">
                <a:solidFill>
                  <a:srgbClr val="5C6470"/>
                </a:solidFill>
                <a:latin typeface="Segoe UI"/>
              </a:rPr>
              <a:t>. Trước đó không ai cho biết cắt bỏ phần thập phân đắt bao nhiêu.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24</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“Khớp bit thì có gì mới? Ai làm phần cứng cũng phải mô phỏng đối chiếu.”</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Mô phỏng thì ai cũng làm, nhưng thường so </a:t>
            </a:r>
            <a:r>
              <a:rPr sz="1350" b="1">
                <a:solidFill>
                  <a:srgbClr val="12161C"/>
                </a:solidFill>
                <a:latin typeface="Segoe UI"/>
              </a:rPr>
              <a:t>kết quả cuối cùng</a:t>
            </a:r>
            <a:r>
              <a:rPr sz="1350" b="0">
                <a:solidFill>
                  <a:srgbClr val="12161C"/>
                </a:solidFill>
                <a:latin typeface="Segoe UI"/>
              </a:rPr>
              <a:t>, hoặc so trong một dung sai. Em so </a:t>
            </a:r>
            <a:r>
              <a:rPr sz="1350" b="1">
                <a:solidFill>
                  <a:srgbClr val="12161C"/>
                </a:solidFill>
                <a:latin typeface="Segoe UI"/>
              </a:rPr>
              <a:t>từng giá trị trung gian, sai lệch bằng không</a:t>
            </a:r>
            <a:r>
              <a:rPr sz="1350" b="0">
                <a:solidFill>
                  <a:srgbClr val="12161C"/>
                </a:solidFill>
                <a:latin typeface="Segoe UI"/>
              </a:rPr>
              <a:t>.</a:t>
            </a:r>
          </a:p>
          <a:p>
            <a:pPr algn="l">
              <a:lnSpc>
                <a:spcPct val="134000"/>
              </a:lnSpc>
              <a:spcBef>
                <a:spcPts val="0"/>
              </a:spcBef>
              <a:spcAft>
                <a:spcPts val="900"/>
              </a:spcAft>
            </a:pPr>
            <a:r>
              <a:rPr sz="1350" b="0">
                <a:solidFill>
                  <a:srgbClr val="5C6470"/>
                </a:solidFill>
                <a:latin typeface="Segoe UI"/>
              </a:rPr>
              <a:t>Khác biệt này không phải hình thức. Trong quá trình làm em gặp một lỗi </a:t>
            </a:r>
            <a:r>
              <a:rPr sz="1350" b="1">
                <a:solidFill>
                  <a:srgbClr val="5C6470"/>
                </a:solidFill>
                <a:latin typeface="Segoe UI"/>
              </a:rPr>
              <a:t>lệch một chu kỳ</a:t>
            </a:r>
            <a:r>
              <a:rPr sz="1350" b="0">
                <a:solidFill>
                  <a:srgbClr val="5C6470"/>
                </a:solidFill>
                <a:latin typeface="Segoe UI"/>
              </a:rPr>
              <a:t> ở đường ống: cửa sổ gộp trượt sang phải một vị trí. Lỗi đó </a:t>
            </a:r>
            <a:r>
              <a:rPr sz="1350" b="1">
                <a:solidFill>
                  <a:srgbClr val="5C6470"/>
                </a:solidFill>
                <a:latin typeface="Segoe UI"/>
              </a:rPr>
              <a:t>vượt qua</a:t>
            </a:r>
            <a:r>
              <a:rPr sz="1350" b="0">
                <a:solidFill>
                  <a:srgbClr val="5C6470"/>
                </a:solidFill>
                <a:latin typeface="Segoe UI"/>
              </a:rPr>
              <a:t> phép so dung sai ±10 ở tầng gộp thứ nhất, vì chênh lệch chỉ khoảng một đơn vị ở những đoạn tín hiệu phẳng. Chỉ khi so từng bit mới lộ ra.</a:t>
            </a:r>
          </a:p>
          <a:p>
            <a:pPr algn="l">
              <a:lnSpc>
                <a:spcPct val="134000"/>
              </a:lnSpc>
              <a:spcBef>
                <a:spcPts val="0"/>
              </a:spcBef>
              <a:spcAft>
                <a:spcPts val="900"/>
              </a:spcAft>
            </a:pPr>
            <a:r>
              <a:rPr sz="1350" b="0">
                <a:solidFill>
                  <a:srgbClr val="5C6470"/>
                </a:solidFill>
                <a:latin typeface="Segoe UI"/>
              </a:rPr>
              <a:t>Nếu chỉ so độ chính xác cuối, lỗi đó có thể đã đi vào kết quả công bố.</a:t>
            </a:r>
          </a:p>
          <a:p>
            <a:pPr algn="l">
              <a:lnSpc>
                <a:spcPct val="134000"/>
              </a:lnSpc>
              <a:spcBef>
                <a:spcPts val="0"/>
              </a:spcBef>
              <a:spcAft>
                <a:spcPts val="900"/>
              </a:spcAft>
            </a:pPr>
            <a:r>
              <a:rPr sz="1350" b="0">
                <a:solidFill>
                  <a:srgbClr val="5C6470"/>
                </a:solidFill>
                <a:latin typeface="Segoe UI"/>
              </a:rPr>
              <a:t>Khớp bit còn có công dụng thứ hai: nó là </a:t>
            </a:r>
            <a:r>
              <a:rPr sz="1350" b="1">
                <a:solidFill>
                  <a:srgbClr val="5C6470"/>
                </a:solidFill>
                <a:latin typeface="Segoe UI"/>
              </a:rPr>
              <a:t>điều kiện để tối ưu định thời an toàn</a:t>
            </a:r>
            <a:r>
              <a:rPr sz="1350" b="0">
                <a:solidFill>
                  <a:srgbClr val="5C6470"/>
                </a:solidFill>
                <a:latin typeface="Segoe UI"/>
              </a:rPr>
              <a:t>. Phép gộp bias và hằng làm tròn vào bộ tích luỹ là một thay đổi có rủi ro. Nhờ khớp bit, em xác nhận được nó không đổi một bit nào ở cả bảy điểm.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25</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“Vì sao cắt tỉa xuống tám kênh? Sao không phải sáu hay mười?”</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mạch có </a:t>
            </a:r>
            <a:r>
              <a:rPr sz="1350" b="1">
                <a:solidFill>
                  <a:srgbClr val="12161C"/>
                </a:solidFill>
                <a:latin typeface="Segoe UI"/>
              </a:rPr>
              <a:t>tám đơn vị tính song song</a:t>
            </a:r>
            <a:r>
              <a:rPr sz="1350" b="0">
                <a:solidFill>
                  <a:srgbClr val="12161C"/>
                </a:solidFill>
                <a:latin typeface="Segoe UI"/>
              </a:rPr>
              <a:t>. Nếu để mười kênh thì Conv4 phải chạy hai lượt, lượt thứ hai chỉ dùng hai trên tám đơn vị. Nếu để sáu thì hai đơn vị bỏ không ở mọi lớp.</a:t>
            </a:r>
          </a:p>
          <a:p>
            <a:pPr algn="l">
              <a:lnSpc>
                <a:spcPct val="134000"/>
              </a:lnSpc>
              <a:spcBef>
                <a:spcPts val="0"/>
              </a:spcBef>
              <a:spcAft>
                <a:spcPts val="900"/>
              </a:spcAft>
            </a:pPr>
            <a:r>
              <a:rPr sz="1350" b="0">
                <a:solidFill>
                  <a:srgbClr val="5C6470"/>
                </a:solidFill>
                <a:latin typeface="Segoe UI"/>
              </a:rPr>
              <a:t>Số tám cũng là luỹ thừa của hai, nên bộ đếm địa chỉ và cây cộng không cần logic dư.</a:t>
            </a:r>
          </a:p>
          <a:p>
            <a:pPr algn="l">
              <a:lnSpc>
                <a:spcPct val="134000"/>
              </a:lnSpc>
              <a:spcBef>
                <a:spcPts val="0"/>
              </a:spcBef>
              <a:spcAft>
                <a:spcPts val="900"/>
              </a:spcAft>
            </a:pPr>
            <a:r>
              <a:rPr sz="1350" b="0">
                <a:solidFill>
                  <a:srgbClr val="5C6470"/>
                </a:solidFill>
                <a:latin typeface="Segoe UI"/>
              </a:rPr>
              <a:t>Điểm cần nhấn: số tám </a:t>
            </a:r>
            <a:r>
              <a:rPr sz="1350" b="1">
                <a:solidFill>
                  <a:srgbClr val="5C6470"/>
                </a:solidFill>
                <a:latin typeface="Segoe UI"/>
              </a:rPr>
              <a:t>không đến từ phía mô hình</a:t>
            </a:r>
            <a:r>
              <a:rPr sz="1350" b="0">
                <a:solidFill>
                  <a:srgbClr val="5C6470"/>
                </a:solidFill>
                <a:latin typeface="Segoe UI"/>
              </a:rPr>
              <a:t>. Không có lý do nào trong bài toán phân loại nhịp bắt buộc phải là tám kênh. Nó đến từ phía mạch.</a:t>
            </a:r>
          </a:p>
          <a:p>
            <a:pPr algn="l">
              <a:lnSpc>
                <a:spcPct val="134000"/>
              </a:lnSpc>
              <a:spcBef>
                <a:spcPts val="0"/>
              </a:spcBef>
              <a:spcAft>
                <a:spcPts val="900"/>
              </a:spcAft>
            </a:pPr>
            <a:r>
              <a:rPr sz="1350" b="1">
                <a:solidFill>
                  <a:srgbClr val="5C6470"/>
                </a:solidFill>
                <a:latin typeface="Segoe UI"/>
              </a:rPr>
              <a:t>Đó chính là chỗ “đồng thiết kế” nằm.</a:t>
            </a:r>
            <a:r>
              <a:rPr sz="1350" b="0">
                <a:solidFill>
                  <a:srgbClr val="5C6470"/>
                </a:solidFill>
                <a:latin typeface="Segoe UI"/>
              </a:rPr>
              <a:t> Nếu bỏ ràng buộc phần cứng đi thì không còn lý do gì để dừng ở tám — và cấu hình gốc trước khi cắt tỉa đúng là mười sáu kênh ở Conv4.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26</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“94,27% thấp hơn nhiều công trình báo 98–99%. Giải thích thế nào?”</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a:t>
            </a:r>
            <a:r>
              <a:rPr sz="1350" b="1">
                <a:solidFill>
                  <a:srgbClr val="12161C"/>
                </a:solidFill>
                <a:latin typeface="Segoe UI"/>
              </a:rPr>
              <a:t>khác đơn vị phân loại</a:t>
            </a:r>
            <a:r>
              <a:rPr sz="1350" b="0">
                <a:solidFill>
                  <a:srgbClr val="12161C"/>
                </a:solidFill>
                <a:latin typeface="Segoe UI"/>
              </a:rPr>
              <a:t>. Các công trình báo 98–99% hầu hết làm trên MIT-BIH ở mức </a:t>
            </a:r>
            <a:r>
              <a:rPr sz="1350" b="1">
                <a:solidFill>
                  <a:srgbClr val="12161C"/>
                </a:solidFill>
                <a:latin typeface="Segoe UI"/>
              </a:rPr>
              <a:t>nhát bóp</a:t>
            </a:r>
            <a:r>
              <a:rPr sz="1350" b="0">
                <a:solidFill>
                  <a:srgbClr val="12161C"/>
                </a:solidFill>
                <a:latin typeface="Segoe UI"/>
              </a:rPr>
              <a:t>: cắt từng nhịp quanh đỉnh R rồi gán một nhãn cho mỗi nhát.</a:t>
            </a:r>
          </a:p>
          <a:p>
            <a:pPr algn="l">
              <a:lnSpc>
                <a:spcPct val="134000"/>
              </a:lnSpc>
              <a:spcBef>
                <a:spcPts val="0"/>
              </a:spcBef>
              <a:spcAft>
                <a:spcPts val="900"/>
              </a:spcAft>
            </a:pPr>
            <a:r>
              <a:rPr sz="1350" b="0">
                <a:solidFill>
                  <a:srgbClr val="5C6470"/>
                </a:solidFill>
                <a:latin typeface="Segoe UI"/>
              </a:rPr>
              <a:t>Khoá luận này phân loại ở mức </a:t>
            </a:r>
            <a:r>
              <a:rPr sz="1350" b="1">
                <a:solidFill>
                  <a:srgbClr val="5C6470"/>
                </a:solidFill>
                <a:latin typeface="Segoe UI"/>
              </a:rPr>
              <a:t>đoạn ghi mười giây</a:t>
            </a:r>
            <a:r>
              <a:rPr sz="1350" b="0">
                <a:solidFill>
                  <a:srgbClr val="5C6470"/>
                </a:solidFill>
                <a:latin typeface="Segoe UI"/>
              </a:rPr>
              <a:t>: một nhãn mô tả nhịp điệu chung của cả đoạn. Đây là bài toán khác, khó hơn ở chỗ phải xét quan hệ giữa các nhát chứ không chỉ hình dạng một nhát.</a:t>
            </a:r>
          </a:p>
          <a:p>
            <a:pPr algn="l">
              <a:lnSpc>
                <a:spcPct val="134000"/>
              </a:lnSpc>
              <a:spcBef>
                <a:spcPts val="0"/>
              </a:spcBef>
              <a:spcAft>
                <a:spcPts val="900"/>
              </a:spcAft>
            </a:pPr>
            <a:r>
              <a:rPr sz="1350" b="0">
                <a:solidFill>
                  <a:srgbClr val="5C6470"/>
                </a:solidFill>
                <a:latin typeface="Segoe UI"/>
              </a:rPr>
              <a:t>Bằng chứng là ở cùng bài toán theo đoạn ghi trên tập Chapman, dải kết quả đã công bố là </a:t>
            </a:r>
            <a:r>
              <a:rPr sz="1350" b="1">
                <a:solidFill>
                  <a:srgbClr val="5C6470"/>
                </a:solidFill>
                <a:latin typeface="Segoe UI"/>
              </a:rPr>
              <a:t>92–95%</a:t>
            </a:r>
            <a:r>
              <a:rPr sz="1350" b="0">
                <a:solidFill>
                  <a:srgbClr val="5C6470"/>
                </a:solidFill>
                <a:latin typeface="Segoe UI"/>
              </a:rPr>
              <a:t>: Liu 92,95%, Cheng 93,14%. Khoá luận này 94,27%.</a:t>
            </a:r>
          </a:p>
          <a:p>
            <a:pPr algn="l">
              <a:lnSpc>
                <a:spcPct val="134000"/>
              </a:lnSpc>
              <a:spcBef>
                <a:spcPts val="0"/>
              </a:spcBef>
              <a:spcAft>
                <a:spcPts val="900"/>
              </a:spcAft>
            </a:pPr>
            <a:r>
              <a:rPr sz="1350" b="0">
                <a:solidFill>
                  <a:srgbClr val="5C6470"/>
                </a:solidFill>
                <a:latin typeface="Segoe UI"/>
              </a:rPr>
              <a:t>Em </a:t>
            </a:r>
            <a:r>
              <a:rPr sz="1350" b="1">
                <a:solidFill>
                  <a:srgbClr val="5C6470"/>
                </a:solidFill>
                <a:latin typeface="Segoe UI"/>
              </a:rPr>
              <a:t>không nhận là thắng về độ chính xác</a:t>
            </a:r>
            <a:r>
              <a:rPr sz="1350" b="0">
                <a:solidFill>
                  <a:srgbClr val="5C6470"/>
                </a:solidFill>
                <a:latin typeface="Segoe UI"/>
              </a:rPr>
              <a:t> — chênh lệch với Liu là 1,3 điểm nhưng hai bên khác cách chia dữ liệu và tiền xử lý. Điểm bán được là </a:t>
            </a:r>
            <a:r>
              <a:rPr sz="1350" b="1">
                <a:solidFill>
                  <a:srgbClr val="5C6470"/>
                </a:solidFill>
                <a:latin typeface="Segoe UI"/>
              </a:rPr>
              <a:t>diện tích</a:t>
            </a:r>
            <a:r>
              <a:rPr sz="1350" b="0">
                <a:solidFill>
                  <a:srgbClr val="5C6470"/>
                </a:solidFill>
                <a:latin typeface="Segoe UI"/>
              </a:rPr>
              <a:t>: 5% ALM so với 51%.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27</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“Công suất 536 mW cao gấp tám lần Liu 66 mW. Sao gọi là hiệu quả?”</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Đây là điểm Liu mạnh hơn và em thừa nhận thẳng. Nhưng phải </a:t>
            </a:r>
            <a:r>
              <a:rPr sz="1350" b="1">
                <a:solidFill>
                  <a:srgbClr val="12161C"/>
                </a:solidFill>
                <a:latin typeface="Segoe UI"/>
              </a:rPr>
              <a:t>tách đúng thành phần</a:t>
            </a:r>
            <a:r>
              <a:rPr sz="1350" b="0">
                <a:solidFill>
                  <a:srgbClr val="12161C"/>
                </a:solidFill>
                <a:latin typeface="Segoe UI"/>
              </a:rPr>
              <a:t>: tĩnh </a:t>
            </a:r>
            <a:r>
              <a:rPr sz="1350" b="1">
                <a:solidFill>
                  <a:srgbClr val="12161C"/>
                </a:solidFill>
                <a:latin typeface="Segoe UI"/>
              </a:rPr>
              <a:t>412,12 mW (77%)</a:t>
            </a:r>
            <a:r>
              <a:rPr sz="1350" b="0">
                <a:solidFill>
                  <a:srgbClr val="12161C"/>
                </a:solidFill>
                <a:latin typeface="Segoe UI"/>
              </a:rPr>
              <a:t> thuộc về chip được dùng; động </a:t>
            </a:r>
            <a:r>
              <a:rPr sz="1350" b="1">
                <a:solidFill>
                  <a:srgbClr val="12161C"/>
                </a:solidFill>
                <a:latin typeface="Segoe UI"/>
              </a:rPr>
              <a:t>110,89 mW (23%)</a:t>
            </a:r>
            <a:r>
              <a:rPr sz="1350" b="0">
                <a:solidFill>
                  <a:srgbClr val="12161C"/>
                </a:solidFill>
                <a:latin typeface="Segoe UI"/>
              </a:rPr>
              <a:t> mới thuộc về thiết kế.</a:t>
            </a:r>
          </a:p>
          <a:p>
            <a:pPr algn="l">
              <a:lnSpc>
                <a:spcPct val="134000"/>
              </a:lnSpc>
              <a:spcBef>
                <a:spcPts val="0"/>
              </a:spcBef>
              <a:spcAft>
                <a:spcPts val="900"/>
              </a:spcAft>
            </a:pPr>
            <a:r>
              <a:rPr sz="1350" b="0">
                <a:solidFill>
                  <a:srgbClr val="5C6470"/>
                </a:solidFill>
                <a:latin typeface="Segoe UI"/>
              </a:rPr>
              <a:t>Em dùng chip Cyclone V SoC cỡ lớn, </a:t>
            </a:r>
            <a:r>
              <a:rPr sz="1350" b="1">
                <a:solidFill>
                  <a:srgbClr val="5C6470"/>
                </a:solidFill>
                <a:latin typeface="Segoe UI"/>
              </a:rPr>
              <a:t>có lõi ARM cứng</a:t>
            </a:r>
            <a:r>
              <a:rPr sz="1350" b="0">
                <a:solidFill>
                  <a:srgbClr val="5C6470"/>
                </a:solidFill>
                <a:latin typeface="Segoe UI"/>
              </a:rPr>
              <a:t>, trong khi lõi thiết kế chỉ chiếm 5% dung lượng logic. Phần lớn công suất tĩnh là chi phí của chip, không phải của thiết kế. Liu dùng chip nhỏ hơn cùng họ, không SoC.</a:t>
            </a:r>
          </a:p>
          <a:p>
            <a:pPr algn="l">
              <a:lnSpc>
                <a:spcPct val="134000"/>
              </a:lnSpc>
              <a:spcBef>
                <a:spcPts val="0"/>
              </a:spcBef>
              <a:spcAft>
                <a:spcPts val="900"/>
              </a:spcAft>
            </a:pPr>
            <a:r>
              <a:rPr sz="1350" b="0">
                <a:solidFill>
                  <a:srgbClr val="5C6470"/>
                </a:solidFill>
                <a:latin typeface="Segoe UI"/>
              </a:rPr>
              <a:t>Thêm nữa, Liu chạy ở 50 MHz còn thiết kế này ở 100 MHz — gấp đôi tần số thì phần động cũng khác.</a:t>
            </a:r>
          </a:p>
          <a:p>
            <a:pPr algn="l">
              <a:lnSpc>
                <a:spcPct val="134000"/>
              </a:lnSpc>
              <a:spcBef>
                <a:spcPts val="0"/>
              </a:spcBef>
              <a:spcAft>
                <a:spcPts val="900"/>
              </a:spcAft>
            </a:pPr>
            <a:r>
              <a:rPr sz="1350" b="0">
                <a:solidFill>
                  <a:srgbClr val="5C6470"/>
                </a:solidFill>
                <a:latin typeface="Segoe UI"/>
              </a:rPr>
              <a:t>Và số của em là </a:t>
            </a:r>
            <a:r>
              <a:rPr sz="1350" b="1">
                <a:solidFill>
                  <a:srgbClr val="5C6470"/>
                </a:solidFill>
                <a:latin typeface="Segoe UI"/>
              </a:rPr>
              <a:t>ước lượng độ tin cậy thấp</a:t>
            </a:r>
            <a:r>
              <a:rPr sz="1350" b="0">
                <a:solidFill>
                  <a:srgbClr val="5C6470"/>
                </a:solidFill>
                <a:latin typeface="Segoe UI"/>
              </a:rPr>
              <a:t>, nên em không so pp-với-pp. Hướng khắc phục đã nêu ở phần hạn chế: chuyển sang chip nhỏ hơn và đo dòng thực.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28</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“Cắt tỉa có cấu trúc là kỹ thuật đã có từ lâu. Đóng góp ở đâu?”</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Đúng, và em trích dẫn Han, Li, Molchanov như nền tảng. </a:t>
            </a:r>
            <a:r>
              <a:rPr sz="1350" b="1">
                <a:solidFill>
                  <a:srgbClr val="12161C"/>
                </a:solidFill>
                <a:latin typeface="Segoe UI"/>
              </a:rPr>
              <a:t>Em không nhận đã phát minh cắt tỉa.</a:t>
            </a:r>
          </a:p>
          <a:p>
            <a:pPr algn="l">
              <a:lnSpc>
                <a:spcPct val="134000"/>
              </a:lnSpc>
              <a:spcBef>
                <a:spcPts val="0"/>
              </a:spcBef>
              <a:spcAft>
                <a:spcPts val="900"/>
              </a:spcAft>
            </a:pPr>
            <a:r>
              <a:rPr sz="1350" b="0">
                <a:solidFill>
                  <a:srgbClr val="5C6470"/>
                </a:solidFill>
                <a:latin typeface="Segoe UI"/>
              </a:rPr>
              <a:t>Khác biệt ở </a:t>
            </a:r>
            <a:r>
              <a:rPr sz="1350" b="1">
                <a:solidFill>
                  <a:srgbClr val="5C6470"/>
                </a:solidFill>
                <a:latin typeface="Segoe UI"/>
              </a:rPr>
              <a:t>tiêu chí dừng</a:t>
            </a:r>
            <a:r>
              <a:rPr sz="1350" b="0">
                <a:solidFill>
                  <a:srgbClr val="5C6470"/>
                </a:solidFill>
                <a:latin typeface="Segoe UI"/>
              </a:rPr>
              <a:t>. Các công trình cắt tỉa thường dừng khi độ chính xác bắt đầu giảm quá ngưỡng, hoặc khi đạt ngân sách tham số định trước.</a:t>
            </a:r>
          </a:p>
          <a:p>
            <a:pPr algn="l">
              <a:lnSpc>
                <a:spcPct val="134000"/>
              </a:lnSpc>
              <a:spcBef>
                <a:spcPts val="0"/>
              </a:spcBef>
              <a:spcAft>
                <a:spcPts val="900"/>
              </a:spcAft>
            </a:pPr>
            <a:r>
              <a:rPr sz="1350" b="0">
                <a:solidFill>
                  <a:srgbClr val="5C6470"/>
                </a:solidFill>
                <a:latin typeface="Segoe UI"/>
              </a:rPr>
              <a:t>Ở đây tiêu chí đến từ mạch: số kênh </a:t>
            </a:r>
            <a:r>
              <a:rPr sz="1350" b="1">
                <a:solidFill>
                  <a:srgbClr val="5C6470"/>
                </a:solidFill>
                <a:latin typeface="Segoe UI"/>
              </a:rPr>
              <a:t>bằng số đơn vị tính</a:t>
            </a:r>
            <a:r>
              <a:rPr sz="1350" b="0">
                <a:solidFill>
                  <a:srgbClr val="5C6470"/>
                </a:solidFill>
                <a:latin typeface="Segoe UI"/>
              </a:rPr>
              <a:t> của engine; số kênh là </a:t>
            </a:r>
            <a:r>
              <a:rPr sz="1350" b="1">
                <a:solidFill>
                  <a:srgbClr val="5C6470"/>
                </a:solidFill>
                <a:latin typeface="Segoe UI"/>
              </a:rPr>
              <a:t>luỹ thừa của hai</a:t>
            </a:r>
            <a:r>
              <a:rPr sz="1350" b="0">
                <a:solidFill>
                  <a:srgbClr val="5C6470"/>
                </a:solidFill>
                <a:latin typeface="Segoe UI"/>
              </a:rPr>
              <a:t> để bộ đếm địa chỉ không cần logic dư; và cắt đến khi </a:t>
            </a:r>
            <a:r>
              <a:rPr sz="1350" b="1">
                <a:solidFill>
                  <a:srgbClr val="5C6470"/>
                </a:solidFill>
                <a:latin typeface="Segoe UI"/>
              </a:rPr>
              <a:t>toàn bộ trọng số vừa bộ nhớ trên chip</a:t>
            </a:r>
            <a:r>
              <a:rPr sz="1350" b="0">
                <a:solidFill>
                  <a:srgbClr val="5C6470"/>
                </a:solidFill>
                <a:latin typeface="Segoe UI"/>
              </a:rPr>
              <a:t>.</a:t>
            </a:r>
          </a:p>
          <a:p>
            <a:pPr algn="l">
              <a:lnSpc>
                <a:spcPct val="134000"/>
              </a:lnSpc>
              <a:spcBef>
                <a:spcPts val="0"/>
              </a:spcBef>
              <a:spcAft>
                <a:spcPts val="900"/>
              </a:spcAft>
            </a:pPr>
            <a:r>
              <a:rPr sz="1350" b="0">
                <a:solidFill>
                  <a:srgbClr val="5C6470"/>
                </a:solidFill>
                <a:latin typeface="Segoe UI"/>
              </a:rPr>
              <a:t>Ba điều kiện này không xuất phát từ bài toán phân loại. Chúng xuất phát từ mạch — và đó là điều làm nó thành đồng thiết kế chứ không phải nén mô hình đơn thuần.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29</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“Làm tròn nửa lên là kỹ thuật cơ bản. Có phải phát minh của em không?”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1">
                <a:solidFill>
                  <a:srgbClr val="12161C"/>
                </a:solidFill>
                <a:latin typeface="Segoe UI"/>
              </a:rPr>
              <a:t>Không.</a:t>
            </a:r>
            <a:r>
              <a:rPr sz="1350" b="0">
                <a:solidFill>
                  <a:srgbClr val="12161C"/>
                </a:solidFill>
                <a:latin typeface="Segoe UI"/>
              </a:rPr>
              <a:t> Làm tròn nửa lên là thực hành chuẩn trong số học dấu phẩy tĩnh, có trong mọi giáo trình.</a:t>
            </a:r>
          </a:p>
          <a:p>
            <a:pPr algn="l">
              <a:lnSpc>
                <a:spcPct val="134000"/>
              </a:lnSpc>
              <a:spcBef>
                <a:spcPts val="0"/>
              </a:spcBef>
              <a:spcAft>
                <a:spcPts val="900"/>
              </a:spcAft>
            </a:pPr>
            <a:r>
              <a:rPr sz="1350" b="0">
                <a:solidFill>
                  <a:srgbClr val="5C6470"/>
                </a:solidFill>
                <a:latin typeface="Segoe UI"/>
              </a:rPr>
              <a:t>Điều đáng nói không phải em nghĩ ra nó, mà là </a:t>
            </a:r>
            <a:r>
              <a:rPr sz="1350" b="1">
                <a:solidFill>
                  <a:srgbClr val="5C6470"/>
                </a:solidFill>
                <a:latin typeface="Segoe UI"/>
              </a:rPr>
              <a:t>Liu không dùng nó</a:t>
            </a:r>
            <a:r>
              <a:rPr sz="1350" b="0">
                <a:solidFill>
                  <a:srgbClr val="5C6470"/>
                </a:solidFill>
                <a:latin typeface="Segoe UI"/>
              </a:rPr>
              <a:t> — và không ai đo xem việc bỏ qua đó tốn bao nhiêu.</a:t>
            </a:r>
          </a:p>
          <a:p>
            <a:pPr algn="l">
              <a:lnSpc>
                <a:spcPct val="134000"/>
              </a:lnSpc>
              <a:spcBef>
                <a:spcPts val="0"/>
              </a:spcBef>
              <a:spcAft>
                <a:spcPts val="900"/>
              </a:spcAft>
            </a:pPr>
            <a:r>
              <a:rPr sz="1350" b="0">
                <a:solidFill>
                  <a:srgbClr val="5C6470"/>
                </a:solidFill>
                <a:latin typeface="Segoe UI"/>
              </a:rPr>
              <a:t>Nên phát biểu chính xác của đóng góp là: áp dụng làm tròn nửa lên vào khâu tái tỉ lệ luỹ thừa hai, gộp phép cộng vào hằng số khởi tạo để không tốn thêm phần cứng, và đo được chi phí của lựa chọn thay thế.</a:t>
            </a:r>
          </a:p>
          <a:p>
            <a:pPr algn="l">
              <a:lnSpc>
                <a:spcPct val="134000"/>
              </a:lnSpc>
              <a:spcBef>
                <a:spcPts val="0"/>
              </a:spcBef>
              <a:spcAft>
                <a:spcPts val="900"/>
              </a:spcAft>
            </a:pPr>
            <a:r>
              <a:rPr sz="1350" b="0">
                <a:solidFill>
                  <a:srgbClr val="5C6470"/>
                </a:solidFill>
                <a:latin typeface="Segoe UI"/>
              </a:rPr>
              <a:t>Đó là một đóng góp </a:t>
            </a:r>
            <a:r>
              <a:rPr sz="1350" b="1">
                <a:solidFill>
                  <a:srgbClr val="5C6470"/>
                </a:solidFill>
                <a:latin typeface="Segoe UI"/>
              </a:rPr>
              <a:t>kỹ thuật khiêm tốn nhưng đo được</a:t>
            </a:r>
            <a:r>
              <a:rPr sz="1350" b="0">
                <a:solidFill>
                  <a:srgbClr val="5C6470"/>
                </a:solidFill>
                <a:latin typeface="Segoe UI"/>
              </a:rPr>
              <a:t>, không phải một phát minh. Em trình bày đúng như vậy trong quyển.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30</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“Vì sao ở Conv1 phải dịch tám bit, trong khi trọng số chỉ dịch sáu?”</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a:t>
            </a:r>
            <a:r>
              <a:rPr sz="1350" b="1">
                <a:solidFill>
                  <a:srgbClr val="12161C"/>
                </a:solidFill>
                <a:latin typeface="Segoe UI"/>
              </a:rPr>
              <a:t>thang của một tích là tích của hai thang</a:t>
            </a:r>
            <a:r>
              <a:rPr sz="1350" b="0">
                <a:solidFill>
                  <a:srgbClr val="12161C"/>
                </a:solidFill>
                <a:latin typeface="Segoe UI"/>
              </a:rPr>
              <a:t>, nên số mũ cộng vào nhau.</a:t>
            </a:r>
          </a:p>
          <a:p>
            <a:pPr algn="l">
              <a:lnSpc>
                <a:spcPct val="134000"/>
              </a:lnSpc>
              <a:spcBef>
                <a:spcPts val="0"/>
              </a:spcBef>
              <a:spcAft>
                <a:spcPts val="900"/>
              </a:spcAft>
            </a:pPr>
            <a:r>
              <a:rPr sz="1350" b="0">
                <a:solidFill>
                  <a:srgbClr val="5C6470"/>
                </a:solidFill>
                <a:latin typeface="Segoe UI"/>
              </a:rPr>
              <a:t>Đầu vào điện tâm đồ sau chuẩn hoá được nhân với 2² trước khi chuyển sang số nguyên, nên nó mang thang 2². Trọng số Conv1 mang thang 2⁶. Tích của chúng ở thang </a:t>
            </a:r>
            <a:r>
              <a:rPr sz="1350" b="1">
                <a:solidFill>
                  <a:srgbClr val="5C6470"/>
                </a:solidFill>
                <a:latin typeface="Segoe UI"/>
              </a:rPr>
              <a:t>2⁸</a:t>
            </a:r>
            <a:r>
              <a:rPr sz="1350" b="0">
                <a:solidFill>
                  <a:srgbClr val="5C6470"/>
                </a:solidFill>
                <a:latin typeface="Segoe UI"/>
              </a:rPr>
              <a:t> — vì vậy phải dịch tám bit để đưa về thang đơn vị.</a:t>
            </a:r>
          </a:p>
          <a:p>
            <a:pPr algn="l">
              <a:lnSpc>
                <a:spcPct val="134000"/>
              </a:lnSpc>
              <a:spcBef>
                <a:spcPts val="0"/>
              </a:spcBef>
              <a:spcAft>
                <a:spcPts val="900"/>
              </a:spcAft>
            </a:pPr>
            <a:r>
              <a:rPr sz="1350" b="0">
                <a:solidFill>
                  <a:srgbClr val="5C6470"/>
                </a:solidFill>
                <a:latin typeface="Segoe UI"/>
              </a:rPr>
              <a:t>Kiểm tra thứ nguyên cho cả bốn lớp: Conv1 2+6−8 = 0; Conv2 0+7−7 = 0; Conv3 0+6−6 = 0; Conv4 0+7−7 = 0. Từ Conv2 trở đi, đầu vào là kết quả đã đưa về thang đơn vị của lớp trước nên nb bằng đúng thang trọng số.</a:t>
            </a:r>
          </a:p>
          <a:p>
            <a:pPr algn="l">
              <a:lnSpc>
                <a:spcPct val="134000"/>
              </a:lnSpc>
              <a:spcBef>
                <a:spcPts val="0"/>
              </a:spcBef>
              <a:spcAft>
                <a:spcPts val="900"/>
              </a:spcAft>
            </a:pPr>
            <a:r>
              <a:rPr sz="1350" b="0">
                <a:solidFill>
                  <a:srgbClr val="5C6470"/>
                </a:solidFill>
                <a:latin typeface="Segoe UI"/>
              </a:rPr>
              <a:t>FC là ngoại lệ có chủ ý: nb bằng 0, logits giữ nguyên ở thang 2⁷. Hợp lệ vì argmax chỉ so thứ tự, không cần giá trị đúng thang.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31</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“Gộp bias và hằng làm tròn vào bộ tích luỹ — có nguy cơ tràn số không?”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Không, và có thể chứng minh bằng chặn trên. Bias lớn nhất sau nhân thang ≤ 139; hằng làm tròn lớn nhất khi nb = 8 là ≤ 128; tích luỹ lớn nhất — 8 kênh × 5 nhánh × 127² — khoảng </a:t>
            </a:r>
            <a:r>
              <a:rPr sz="1350" b="1">
                <a:solidFill>
                  <a:srgbClr val="12161C"/>
                </a:solidFill>
                <a:latin typeface="Segoe UI"/>
              </a:rPr>
              <a:t>4,19 triệu</a:t>
            </a:r>
            <a:r>
              <a:rPr sz="1350" b="0">
                <a:solidFill>
                  <a:srgbClr val="12161C"/>
                </a:solidFill>
                <a:latin typeface="Segoe UI"/>
              </a:rPr>
              <a:t>. Sức chứa 32 bit có dấu là khoảng </a:t>
            </a:r>
            <a:r>
              <a:rPr sz="1350" b="1">
                <a:solidFill>
                  <a:srgbClr val="12161C"/>
                </a:solidFill>
                <a:latin typeface="Segoe UI"/>
              </a:rPr>
              <a:t>2,15 tỉ</a:t>
            </a:r>
            <a:r>
              <a:rPr sz="1350" b="0">
                <a:solidFill>
                  <a:srgbClr val="12161C"/>
                </a:solidFill>
                <a:latin typeface="Segoe UI"/>
              </a:rPr>
              <a:t>.</a:t>
            </a:r>
          </a:p>
          <a:p>
            <a:pPr algn="l">
              <a:lnSpc>
                <a:spcPct val="134000"/>
              </a:lnSpc>
              <a:spcBef>
                <a:spcPts val="0"/>
              </a:spcBef>
              <a:spcAft>
                <a:spcPts val="900"/>
              </a:spcAft>
            </a:pPr>
            <a:r>
              <a:rPr sz="1350" b="0">
                <a:solidFill>
                  <a:srgbClr val="5C6470"/>
                </a:solidFill>
                <a:latin typeface="Segoe UI"/>
              </a:rPr>
              <a:t>Biên an toàn khoảng </a:t>
            </a:r>
            <a:r>
              <a:rPr sz="1350" b="1">
                <a:solidFill>
                  <a:srgbClr val="5C6470"/>
                </a:solidFill>
                <a:latin typeface="Segoe UI"/>
              </a:rPr>
              <a:t>năm trăm lần</a:t>
            </a:r>
            <a:r>
              <a:rPr sz="1350" b="0">
                <a:solidFill>
                  <a:srgbClr val="5C6470"/>
                </a:solidFill>
                <a:latin typeface="Segoe UI"/>
              </a:rPr>
              <a:t>.</a:t>
            </a:r>
          </a:p>
          <a:p>
            <a:pPr algn="l">
              <a:lnSpc>
                <a:spcPct val="134000"/>
              </a:lnSpc>
              <a:spcBef>
                <a:spcPts val="0"/>
              </a:spcBef>
              <a:spcAft>
                <a:spcPts val="900"/>
              </a:spcAft>
            </a:pPr>
            <a:r>
              <a:rPr sz="1350" b="0">
                <a:solidFill>
                  <a:srgbClr val="5C6470"/>
                </a:solidFill>
                <a:latin typeface="Segoe UI"/>
              </a:rPr>
              <a:t>Tính hợp lệ của phép gộp dựa trên </a:t>
            </a:r>
            <a:r>
              <a:rPr sz="1350" b="1">
                <a:solidFill>
                  <a:srgbClr val="5C6470"/>
                </a:solidFill>
                <a:latin typeface="Segoe UI"/>
              </a:rPr>
              <a:t>tính kết hợp của phép cộng số nguyên</a:t>
            </a:r>
            <a:r>
              <a:rPr sz="1350" b="0">
                <a:solidFill>
                  <a:srgbClr val="5C6470"/>
                </a:solidFill>
                <a:latin typeface="Segoe UI"/>
              </a:rPr>
              <a:t>: cộng bias vào lúc khởi tạo hay cộng sau khi tích luỹ xong đều cho cùng một tổng, miễn không tràn.</a:t>
            </a:r>
          </a:p>
          <a:p>
            <a:pPr algn="l">
              <a:lnSpc>
                <a:spcPct val="134000"/>
              </a:lnSpc>
              <a:spcBef>
                <a:spcPts val="0"/>
              </a:spcBef>
              <a:spcAft>
                <a:spcPts val="900"/>
              </a:spcAft>
            </a:pPr>
            <a:r>
              <a:rPr sz="1350" b="0">
                <a:solidFill>
                  <a:srgbClr val="5C6470"/>
                </a:solidFill>
                <a:latin typeface="Segoe UI"/>
              </a:rPr>
              <a:t>Mục đích của phép gộp là </a:t>
            </a:r>
            <a:r>
              <a:rPr sz="1350" b="1">
                <a:solidFill>
                  <a:srgbClr val="5C6470"/>
                </a:solidFill>
                <a:latin typeface="Segoe UI"/>
              </a:rPr>
              <a:t>định thời</a:t>
            </a:r>
            <a:r>
              <a:rPr sz="1350" b="0">
                <a:solidFill>
                  <a:srgbClr val="5C6470"/>
                </a:solidFill>
                <a:latin typeface="Segoe UI"/>
              </a:rPr>
              <a:t>: đưa cả hai phép cộng ra khỏi đường tới hạn. Và thay đổi này được xác nhận </a:t>
            </a:r>
            <a:r>
              <a:rPr sz="1350" b="1">
                <a:solidFill>
                  <a:srgbClr val="5C6470"/>
                </a:solidFill>
                <a:latin typeface="Segoe UI"/>
              </a:rPr>
              <a:t>không đổi một bit nào</a:t>
            </a:r>
            <a:r>
              <a:rPr sz="1350" b="0">
                <a:solidFill>
                  <a:srgbClr val="5C6470"/>
                </a:solidFill>
                <a:latin typeface="Segoe UI"/>
              </a:rPr>
              <a:t> ở cả bảy điểm kiểm tra — đúng loại thay đổi mà khớp bit sinh ra để bảo vệ.</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32</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“Vì sao GAP chia lấy phần nguyên thay vì lấy trung bình thực?”</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phần cứng làm việc trên số nguyên, và chia cho bốn ở đây chỉ là </a:t>
            </a:r>
            <a:r>
              <a:rPr sz="1350" b="1">
                <a:solidFill>
                  <a:srgbClr val="12161C"/>
                </a:solidFill>
                <a:latin typeface="Segoe UI"/>
              </a:rPr>
              <a:t>một phép lấy bit</a:t>
            </a:r>
            <a:r>
              <a:rPr sz="1350" b="0">
                <a:solidFill>
                  <a:srgbClr val="12161C"/>
                </a:solidFill>
                <a:latin typeface="Segoe UI"/>
              </a:rPr>
              <a:t> — cắt hai bit thấp — chứ không cần mạch chia.</a:t>
            </a:r>
          </a:p>
          <a:p>
            <a:pPr algn="l">
              <a:lnSpc>
                <a:spcPct val="134000"/>
              </a:lnSpc>
              <a:spcBef>
                <a:spcPts val="0"/>
              </a:spcBef>
              <a:spcAft>
                <a:spcPts val="900"/>
              </a:spcAft>
            </a:pPr>
            <a:r>
              <a:rPr sz="1350" b="0">
                <a:solidFill>
                  <a:srgbClr val="5C6470"/>
                </a:solidFill>
                <a:latin typeface="Segoe UI"/>
              </a:rPr>
              <a:t>Điều quan trọng là </a:t>
            </a:r>
            <a:r>
              <a:rPr sz="1350" b="1">
                <a:solidFill>
                  <a:srgbClr val="5C6470"/>
                </a:solidFill>
                <a:latin typeface="Segoe UI"/>
              </a:rPr>
              <a:t>mô hình tham chiếu trong Python cũng phải làm y hệt</a:t>
            </a:r>
            <a:r>
              <a:rPr sz="1350" b="0">
                <a:solidFill>
                  <a:srgbClr val="5C6470"/>
                </a:solidFill>
                <a:latin typeface="Segoe UI"/>
              </a:rPr>
              <a:t>. Nếu để Python lấy trung bình thực, kết quả sẽ mang phần thập phân 0,25 / 0,5 / 0,75 mà phần cứng không biểu diễn được — và khớp bit sẽ thất bại dù mạch không sai.</a:t>
            </a:r>
          </a:p>
          <a:p>
            <a:pPr algn="l">
              <a:lnSpc>
                <a:spcPct val="134000"/>
              </a:lnSpc>
              <a:spcBef>
                <a:spcPts val="0"/>
              </a:spcBef>
              <a:spcAft>
                <a:spcPts val="900"/>
              </a:spcAft>
            </a:pPr>
            <a:r>
              <a:rPr sz="1350" b="0">
                <a:solidFill>
                  <a:srgbClr val="5C6470"/>
                </a:solidFill>
                <a:latin typeface="Segoe UI"/>
              </a:rPr>
              <a:t>Đây chính là một ví dụ cho thấy khớp bit </a:t>
            </a:r>
            <a:r>
              <a:rPr sz="1350" b="1">
                <a:solidFill>
                  <a:srgbClr val="5C6470"/>
                </a:solidFill>
                <a:latin typeface="Segoe UI"/>
              </a:rPr>
              <a:t>bắt buộc mô hình tham chiếu phải tuân theo trình tự số nguyên của mạch</a:t>
            </a:r>
            <a:r>
              <a:rPr sz="1350" b="0">
                <a:solidFill>
                  <a:srgbClr val="5C6470"/>
                </a:solidFill>
                <a:latin typeface="Segoe UI"/>
              </a:rPr>
              <a:t>, chứ không phải mạch chạy theo mô hình.</a:t>
            </a:r>
          </a:p>
          <a:p>
            <a:pPr algn="l">
              <a:lnSpc>
                <a:spcPct val="134000"/>
              </a:lnSpc>
              <a:spcBef>
                <a:spcPts val="0"/>
              </a:spcBef>
              <a:spcAft>
                <a:spcPts val="900"/>
              </a:spcAft>
            </a:pPr>
            <a:r>
              <a:rPr sz="1350" b="0">
                <a:solidFill>
                  <a:srgbClr val="5C6470"/>
                </a:solidFill>
                <a:latin typeface="Segoe UI"/>
              </a:rPr>
              <a:t>Về mặt số học, mất mát tối đa là 0,75 đơn vị trên một giá trị đầu vào tầng FC. Sau Conv4 đã có ReLU nên mọi giá trị không âm, phép cắt bit tương đương chia lấy phần nguyên.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33</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“Vì sao chỉ Conv4 có ReLU, ba lớp trước thì không?”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tín hiệu điện tâm đồ </a:t>
            </a:r>
            <a:r>
              <a:rPr sz="1350" b="1">
                <a:solidFill>
                  <a:srgbClr val="12161C"/>
                </a:solidFill>
                <a:latin typeface="Segoe UI"/>
              </a:rPr>
              <a:t>mang thông tin ở cả phần âm</a:t>
            </a:r>
            <a:r>
              <a:rPr sz="1350" b="0">
                <a:solidFill>
                  <a:srgbClr val="12161C"/>
                </a:solidFill>
                <a:latin typeface="Segoe UI"/>
              </a:rPr>
              <a:t>. Sóng S và sóng Q là các thành phần âm và có ý nghĩa chẩn đoán.</a:t>
            </a:r>
          </a:p>
          <a:p>
            <a:pPr algn="l">
              <a:lnSpc>
                <a:spcPct val="134000"/>
              </a:lnSpc>
              <a:spcBef>
                <a:spcPts val="0"/>
              </a:spcBef>
              <a:spcAft>
                <a:spcPts val="900"/>
              </a:spcAft>
            </a:pPr>
            <a:r>
              <a:rPr sz="1350" b="0">
                <a:solidFill>
                  <a:srgbClr val="5C6470"/>
                </a:solidFill>
                <a:latin typeface="Segoe UI"/>
              </a:rPr>
              <a:t>Nếu đặt ReLU ngay sau Conv1, mọi đáp ứng âm của bộ lọc bị cắt về không — và ở tầng đầu, đáp ứng âm chính là cách bộ lọc biểu thị các thành phần đi xuống của phức bộ QRS.</a:t>
            </a:r>
          </a:p>
          <a:p>
            <a:pPr algn="l">
              <a:lnSpc>
                <a:spcPct val="134000"/>
              </a:lnSpc>
              <a:spcBef>
                <a:spcPts val="0"/>
              </a:spcBef>
              <a:spcAft>
                <a:spcPts val="900"/>
              </a:spcAft>
            </a:pPr>
            <a:r>
              <a:rPr sz="1350" b="0">
                <a:solidFill>
                  <a:srgbClr val="5C6470"/>
                </a:solidFill>
                <a:latin typeface="Segoe UI"/>
              </a:rPr>
              <a:t>Đến Conv4, đặc trưng đã trừu tượng hơn nhiều và không còn ánh xạ trực tiếp sang hình dạng sóng, nên ReLU ở đó không làm mất thông tin có ý nghĩa lâm sàng.</a:t>
            </a:r>
          </a:p>
          <a:p>
            <a:pPr algn="l">
              <a:lnSpc>
                <a:spcPct val="134000"/>
              </a:lnSpc>
              <a:spcBef>
                <a:spcPts val="0"/>
              </a:spcBef>
              <a:spcAft>
                <a:spcPts val="900"/>
              </a:spcAft>
            </a:pPr>
            <a:r>
              <a:rPr sz="1350" b="0">
                <a:solidFill>
                  <a:srgbClr val="5C6470"/>
                </a:solidFill>
                <a:latin typeface="Segoe UI"/>
              </a:rPr>
              <a:t>Thêm một lợi ích về phía phần cứng: vì chỉ Conv4 có ReLU nên tầng gộp toàn cục sau đó chỉ nhận giá trị không âm, và phép chia cho bốn rút gọn được thành phép cắt bit mà không cần xử lý dấu.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34</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“Chia dữ liệu theo bệnh nhân — làm sao chắc không rò rỉ giữa các tập?”</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Chia được thực hiện </a:t>
            </a:r>
            <a:r>
              <a:rPr sz="1350" b="1">
                <a:solidFill>
                  <a:srgbClr val="12161C"/>
                </a:solidFill>
                <a:latin typeface="Segoe UI"/>
              </a:rPr>
              <a:t>ở mức định danh bệnh nhân</a:t>
            </a:r>
            <a:r>
              <a:rPr sz="1350" b="0">
                <a:solidFill>
                  <a:srgbClr val="12161C"/>
                </a:solidFill>
                <a:latin typeface="Segoe UI"/>
              </a:rPr>
              <a:t>, không ở mức bản ghi. Mỗi bệnh nhân được gán trọn vào một trong ba tập, nên không bản ghi nào của cùng một người xuất hiện ở hai tập khác nhau.</a:t>
            </a:r>
          </a:p>
          <a:p>
            <a:pPr algn="l">
              <a:lnSpc>
                <a:spcPct val="134000"/>
              </a:lnSpc>
              <a:spcBef>
                <a:spcPts val="0"/>
              </a:spcBef>
              <a:spcAft>
                <a:spcPts val="900"/>
              </a:spcAft>
            </a:pPr>
            <a:r>
              <a:rPr sz="1350" b="0">
                <a:solidFill>
                  <a:srgbClr val="5C6470"/>
                </a:solidFill>
                <a:latin typeface="Segoe UI"/>
              </a:rPr>
              <a:t>Cụ thể: huấn luyện 23.198 bản ghi (70%), kiểm định 4.972 (15%), kiểm tra 4.973 (15%) — tổng 33.143.</a:t>
            </a:r>
          </a:p>
          <a:p>
            <a:pPr algn="l">
              <a:lnSpc>
                <a:spcPct val="134000"/>
              </a:lnSpc>
              <a:spcBef>
                <a:spcPts val="0"/>
              </a:spcBef>
              <a:spcAft>
                <a:spcPts val="900"/>
              </a:spcAft>
            </a:pPr>
            <a:r>
              <a:rPr sz="1350" b="0">
                <a:solidFill>
                  <a:srgbClr val="5C6470"/>
                </a:solidFill>
                <a:latin typeface="Segoe UI"/>
              </a:rPr>
              <a:t>Đây là điểm khác biệt đáng kể so với nhiều công trình theo </a:t>
            </a:r>
            <a:r>
              <a:rPr sz="1350" b="1">
                <a:solidFill>
                  <a:srgbClr val="5C6470"/>
                </a:solidFill>
                <a:latin typeface="Segoe UI"/>
              </a:rPr>
              <a:t>nhát bóp</a:t>
            </a:r>
            <a:r>
              <a:rPr sz="1350" b="0">
                <a:solidFill>
                  <a:srgbClr val="5C6470"/>
                </a:solidFill>
                <a:latin typeface="Segoe UI"/>
              </a:rPr>
              <a:t>: nếu chia ngẫu nhiên ở mức nhát bóp thì các nhát của cùng một người rơi vào cả tập huấn luyện lẫn tập kiểm tra — mô hình học được đặc điểm cá nhân chứ không phải đặc điểm bệnh lý.</a:t>
            </a:r>
          </a:p>
          <a:p>
            <a:pPr algn="l">
              <a:lnSpc>
                <a:spcPct val="134000"/>
              </a:lnSpc>
              <a:spcBef>
                <a:spcPts val="0"/>
              </a:spcBef>
              <a:spcAft>
                <a:spcPts val="900"/>
              </a:spcAft>
            </a:pPr>
            <a:r>
              <a:rPr sz="1350" b="0">
                <a:solidFill>
                  <a:srgbClr val="5C6470"/>
                </a:solidFill>
                <a:latin typeface="Segoe UI"/>
              </a:rPr>
              <a:t>Đó là một phần lý do vì sao độ chính xác theo nhát bóp thường cao hơn đáng kể.</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35</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“Vì sao chọn Chapman và Georgia, không dùng MIT-BIH?”</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Vì MIT-BIH phục vụ một </a:t>
            </a:r>
            <a:r>
              <a:rPr sz="1350" b="1">
                <a:solidFill>
                  <a:srgbClr val="12161C"/>
                </a:solidFill>
                <a:latin typeface="Segoe UI"/>
              </a:rPr>
              <a:t>bài toán khác</a:t>
            </a:r>
            <a:r>
              <a:rPr sz="1350" b="0">
                <a:solidFill>
                  <a:srgbClr val="12161C"/>
                </a:solidFill>
                <a:latin typeface="Segoe UI"/>
              </a:rPr>
              <a:t>: gán nhãn cho từng nhát bóp theo hình dạng. Khoá luận này phân loại </a:t>
            </a:r>
            <a:r>
              <a:rPr sz="1350" b="1">
                <a:solidFill>
                  <a:srgbClr val="12161C"/>
                </a:solidFill>
                <a:latin typeface="Segoe UI"/>
              </a:rPr>
              <a:t>nhịp điệu của cả đoạn ghi</a:t>
            </a:r>
            <a:r>
              <a:rPr sz="1350" b="0">
                <a:solidFill>
                  <a:srgbClr val="12161C"/>
                </a:solidFill>
                <a:latin typeface="Segoe UI"/>
              </a:rPr>
              <a:t>, tức phải xét quan hệ giữa các nhát chứ không chỉ hình dạng một nhát.</a:t>
            </a:r>
          </a:p>
          <a:p>
            <a:pPr algn="l">
              <a:lnSpc>
                <a:spcPct val="134000"/>
              </a:lnSpc>
              <a:spcBef>
                <a:spcPts val="0"/>
              </a:spcBef>
              <a:spcAft>
                <a:spcPts val="900"/>
              </a:spcAft>
            </a:pPr>
            <a:r>
              <a:rPr sz="1350" b="0">
                <a:solidFill>
                  <a:srgbClr val="5C6470"/>
                </a:solidFill>
                <a:latin typeface="Segoe UI"/>
              </a:rPr>
              <a:t>MIT-BIH cũng nhỏ: bốn mươi tám bản ghi từ bốn mươi bảy bệnh nhân. Chia theo bệnh nhân trên tập đó để lại tập kiểm tra quá nhỏ để nói về độ tin cậy. Chapman có </a:t>
            </a:r>
            <a:r>
              <a:rPr sz="1350" b="1">
                <a:solidFill>
                  <a:srgbClr val="5C6470"/>
                </a:solidFill>
                <a:latin typeface="Segoe UI"/>
              </a:rPr>
              <a:t>33.143 bản ghi</a:t>
            </a:r>
            <a:r>
              <a:rPr sz="1350" b="0">
                <a:solidFill>
                  <a:srgbClr val="5C6470"/>
                </a:solidFill>
                <a:latin typeface="Segoe UI"/>
              </a:rPr>
              <a:t> với nhãn nhịp ở mức đoạn ghi.</a:t>
            </a:r>
          </a:p>
          <a:p>
            <a:pPr algn="l">
              <a:lnSpc>
                <a:spcPct val="134000"/>
              </a:lnSpc>
              <a:spcBef>
                <a:spcPts val="0"/>
              </a:spcBef>
              <a:spcAft>
                <a:spcPts val="900"/>
              </a:spcAft>
            </a:pPr>
            <a:r>
              <a:rPr sz="1350" b="0">
                <a:solidFill>
                  <a:srgbClr val="5C6470"/>
                </a:solidFill>
                <a:latin typeface="Segoe UI"/>
              </a:rPr>
              <a:t>Georgia là nguồn thứ hai </a:t>
            </a:r>
            <a:r>
              <a:rPr sz="1350" b="1">
                <a:solidFill>
                  <a:srgbClr val="5C6470"/>
                </a:solidFill>
                <a:latin typeface="Segoe UI"/>
              </a:rPr>
              <a:t>cùng định dạng</a:t>
            </a:r>
            <a:r>
              <a:rPr sz="1350" b="0">
                <a:solidFill>
                  <a:srgbClr val="5C6470"/>
                </a:solidFill>
                <a:latin typeface="Segoe UI"/>
              </a:rPr>
              <a:t> — thu ở cơ sở khác, thiết bị khác, dân số bệnh nhân khác, và mô hình </a:t>
            </a:r>
            <a:r>
              <a:rPr sz="1350" b="1">
                <a:solidFill>
                  <a:srgbClr val="5C6470"/>
                </a:solidFill>
                <a:latin typeface="Segoe UI"/>
              </a:rPr>
              <a:t>không được huấn luyện hay tinh chỉnh gì</a:t>
            </a:r>
            <a:r>
              <a:rPr sz="1350" b="0">
                <a:solidFill>
                  <a:srgbClr val="5C6470"/>
                </a:solidFill>
                <a:latin typeface="Segoe UI"/>
              </a:rPr>
              <a:t> trên đó. Em không gọi đây là chuyển giao xa hoàn toàn, vì cả hai đều theo chuẩn PhysioNet mười hai chuyển đạo.</a:t>
            </a:r>
          </a:p>
          <a:p>
            <a:pPr algn="l">
              <a:lnSpc>
                <a:spcPct val="134000"/>
              </a:lnSpc>
              <a:spcBef>
                <a:spcPts val="0"/>
              </a:spcBef>
              <a:spcAft>
                <a:spcPts val="900"/>
              </a:spcAft>
            </a:pPr>
            <a:r>
              <a:rPr sz="1350" b="0">
                <a:solidFill>
                  <a:srgbClr val="5C6470"/>
                </a:solidFill>
                <a:latin typeface="Segoe UI"/>
              </a:rPr>
              <a:t>Điều đáng chú ý không phải con số 93,00%, mà là </a:t>
            </a:r>
            <a:r>
              <a:rPr sz="1350" b="1">
                <a:solidFill>
                  <a:srgbClr val="5C6470"/>
                </a:solidFill>
                <a:latin typeface="Segoe UI"/>
              </a:rPr>
              <a:t>INT8 không thua số thực</a:t>
            </a:r>
            <a:r>
              <a:rPr sz="1350" b="0">
                <a:solidFill>
                  <a:srgbClr val="5C6470"/>
                </a:solidFill>
                <a:latin typeface="Segoe UI"/>
              </a:rPr>
              <a:t> — chênh 0,0009 theo hướng có lợi. Nghĩa là suy giảm đến từ khác biệt phân bố, </a:t>
            </a:r>
            <a:r>
              <a:rPr sz="1350" b="1">
                <a:solidFill>
                  <a:srgbClr val="5C6470"/>
                </a:solidFill>
                <a:latin typeface="Segoe UI"/>
              </a:rPr>
              <a:t>không phải từ lượng tử hoá</a:t>
            </a:r>
            <a:r>
              <a:rPr sz="1350" b="0">
                <a:solidFill>
                  <a:srgbClr val="5C6470"/>
                </a:solidFill>
                <a:latin typeface="Segoe UI"/>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36</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“Mô hình hay nhầm nhịp chậm xoang với nhịp xoang bình thường. Đó là lỗi của mô hình?”</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Đây là </a:t>
            </a:r>
            <a:r>
              <a:rPr sz="1350" b="1">
                <a:solidFill>
                  <a:srgbClr val="12161C"/>
                </a:solidFill>
                <a:latin typeface="Segoe UI"/>
              </a:rPr>
              <a:t>ranh giới lâm sàng</a:t>
            </a:r>
            <a:r>
              <a:rPr sz="1350" b="0">
                <a:solidFill>
                  <a:srgbClr val="12161C"/>
                </a:solidFill>
                <a:latin typeface="Segoe UI"/>
              </a:rPr>
              <a:t> chứ không phải lỗi kiến trúc.</a:t>
            </a:r>
          </a:p>
          <a:p>
            <a:pPr algn="l">
              <a:lnSpc>
                <a:spcPct val="134000"/>
              </a:lnSpc>
              <a:spcBef>
                <a:spcPts val="0"/>
              </a:spcBef>
              <a:spcAft>
                <a:spcPts val="900"/>
              </a:spcAft>
            </a:pPr>
            <a:r>
              <a:rPr sz="1350" b="0">
                <a:solidFill>
                  <a:srgbClr val="5C6470"/>
                </a:solidFill>
                <a:latin typeface="Segoe UI"/>
              </a:rPr>
              <a:t>Nhịp chậm xoang và nhịp xoang bình thường có </a:t>
            </a:r>
            <a:r>
              <a:rPr sz="1350" b="1">
                <a:solidFill>
                  <a:srgbClr val="5C6470"/>
                </a:solidFill>
                <a:latin typeface="Segoe UI"/>
              </a:rPr>
              <a:t>hình thái sóng gần như giống hệt nhau</a:t>
            </a:r>
            <a:r>
              <a:rPr sz="1350" b="0">
                <a:solidFill>
                  <a:srgbClr val="5C6470"/>
                </a:solidFill>
                <a:latin typeface="Segoe UI"/>
              </a:rPr>
              <a:t>. Điều phân biệt chúng là tần số tim, với ngưỡng quy ước sáu mươi nhịp mỗi phút. Một bản ghi ở năm mươi chín và một bản ghi ở sáu mươi mốt nhịp trông gần như không khác gì về hình dạng.</a:t>
            </a:r>
          </a:p>
          <a:p>
            <a:pPr algn="l">
              <a:lnSpc>
                <a:spcPct val="134000"/>
              </a:lnSpc>
              <a:spcBef>
                <a:spcPts val="0"/>
              </a:spcBef>
              <a:spcAft>
                <a:spcPts val="900"/>
              </a:spcAft>
            </a:pPr>
            <a:r>
              <a:rPr sz="1350" b="0">
                <a:solidFill>
                  <a:srgbClr val="5C6470"/>
                </a:solidFill>
                <a:latin typeface="Segoe UI"/>
              </a:rPr>
              <a:t>Bằng chứng cho thấy đây là vấn đề ngưỡng chứ không phải khả năng phân tách: </a:t>
            </a:r>
            <a:r>
              <a:rPr sz="1350" b="1">
                <a:solidFill>
                  <a:srgbClr val="5C6470"/>
                </a:solidFill>
                <a:latin typeface="Segoe UI"/>
              </a:rPr>
              <a:t>diện tích dưới đường ROC đạt 0,9712</a:t>
            </a:r>
            <a:r>
              <a:rPr sz="1350" b="0">
                <a:solidFill>
                  <a:srgbClr val="5C6470"/>
                </a:solidFill>
                <a:latin typeface="Segoe UI"/>
              </a:rPr>
              <a:t> — cao hơn nhiều so với mức mà F1 gợi ý. Mô hình xếp hạng đúng, chỉ là ngưỡng quyết định chưa tối ưu cho tập đích.</a:t>
            </a:r>
          </a:p>
          <a:p>
            <a:pPr algn="l">
              <a:lnSpc>
                <a:spcPct val="134000"/>
              </a:lnSpc>
              <a:spcBef>
                <a:spcPts val="0"/>
              </a:spcBef>
              <a:spcAft>
                <a:spcPts val="900"/>
              </a:spcAft>
            </a:pPr>
            <a:r>
              <a:rPr sz="1350" b="0">
                <a:solidFill>
                  <a:srgbClr val="5C6470"/>
                </a:solidFill>
                <a:latin typeface="Segoe UI"/>
              </a:rPr>
              <a:t>Hướng khắc phục đã nêu ở phần phát triển: hiệu chỉnh lại ngưỡng trên tập đích, hoặc bổ sung đặc trưng tần số tim. Em </a:t>
            </a:r>
            <a:r>
              <a:rPr sz="1350" b="1">
                <a:solidFill>
                  <a:srgbClr val="5C6470"/>
                </a:solidFill>
                <a:latin typeface="Segoe UI"/>
              </a:rPr>
              <a:t>không</a:t>
            </a:r>
            <a:r>
              <a:rPr sz="1350" b="0">
                <a:solidFill>
                  <a:srgbClr val="5C6470"/>
                </a:solidFill>
                <a:latin typeface="Segoe UI"/>
              </a:rPr>
              <a:t> chọn cách sửa nhãn để cải thiện chỉ số.</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37</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“Bảy điểm kiểm tra khớp bit — có đủ nhiều không?”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Bảy điểm là </a:t>
            </a:r>
            <a:r>
              <a:rPr sz="1350" b="1">
                <a:solidFill>
                  <a:srgbClr val="12161C"/>
                </a:solidFill>
                <a:latin typeface="Segoe UI"/>
              </a:rPr>
              <a:t>toàn bộ ranh giới giữa các tầng</a:t>
            </a:r>
            <a:r>
              <a:rPr sz="1350" b="0">
                <a:solidFill>
                  <a:srgbClr val="12161C"/>
                </a:solidFill>
                <a:latin typeface="Segoe UI"/>
              </a:rPr>
              <a:t> của mạng, không phải bảy điểm được chọn tuỳ ý: đầu vào sau khi chuyển sang số nguyên; bốn đầu ra sau mỗi tầng gộp từ Conv1 đến Conv4; đầu ra tầng gộp toàn cục; và bốn giá trị logits trước argmax.</a:t>
            </a:r>
          </a:p>
          <a:p>
            <a:pPr algn="l">
              <a:lnSpc>
                <a:spcPct val="134000"/>
              </a:lnSpc>
              <a:spcBef>
                <a:spcPts val="0"/>
              </a:spcBef>
              <a:spcAft>
                <a:spcPts val="900"/>
              </a:spcAft>
            </a:pPr>
            <a:r>
              <a:rPr sz="1350" b="0">
                <a:solidFill>
                  <a:srgbClr val="5C6470"/>
                </a:solidFill>
                <a:latin typeface="Segoe UI"/>
              </a:rPr>
              <a:t>Không có tầng nào bị bỏ qua. Và mỗi điểm không phải một giá trị mà là </a:t>
            </a:r>
            <a:r>
              <a:rPr sz="1350" b="1">
                <a:solidFill>
                  <a:srgbClr val="5C6470"/>
                </a:solidFill>
                <a:latin typeface="Segoe UI"/>
              </a:rPr>
              <a:t>cả mảng</a:t>
            </a:r>
            <a:r>
              <a:rPr sz="1350" b="0">
                <a:solidFill>
                  <a:srgbClr val="5C6470"/>
                </a:solidFill>
                <a:latin typeface="Segoe UI"/>
              </a:rPr>
              <a:t> — riêng đầu ra Conv1 đã là hai nghìn giá trị.</a:t>
            </a:r>
          </a:p>
          <a:p>
            <a:pPr algn="l">
              <a:lnSpc>
                <a:spcPct val="134000"/>
              </a:lnSpc>
              <a:spcBef>
                <a:spcPts val="0"/>
              </a:spcBef>
              <a:spcAft>
                <a:spcPts val="900"/>
              </a:spcAft>
            </a:pPr>
            <a:r>
              <a:rPr sz="1350" b="0">
                <a:solidFill>
                  <a:srgbClr val="5C6470"/>
                </a:solidFill>
                <a:latin typeface="Segoe UI"/>
              </a:rPr>
              <a:t>Ngoài ra còn hai tầng kiểm chứng phía dưới: </a:t>
            </a:r>
            <a:r>
              <a:rPr sz="1350" b="1">
                <a:solidFill>
                  <a:srgbClr val="5C6470"/>
                </a:solidFill>
                <a:latin typeface="Segoe UI"/>
              </a:rPr>
              <a:t>23 trường hợp mức khối</a:t>
            </a:r>
            <a:r>
              <a:rPr sz="1350" b="0">
                <a:solidFill>
                  <a:srgbClr val="5C6470"/>
                </a:solidFill>
                <a:latin typeface="Segoe UI"/>
              </a:rPr>
              <a:t> kiểm đường ống tính toán, và </a:t>
            </a:r>
            <a:r>
              <a:rPr sz="1350" b="1">
                <a:solidFill>
                  <a:srgbClr val="5C6470"/>
                </a:solidFill>
                <a:latin typeface="Segoe UI"/>
              </a:rPr>
              <a:t>8 trường hợp mức lớp</a:t>
            </a:r>
            <a:r>
              <a:rPr sz="1350" b="0">
                <a:solidFill>
                  <a:srgbClr val="5C6470"/>
                </a:solidFill>
                <a:latin typeface="Segoe UI"/>
              </a:rPr>
              <a:t> kiểm vận hành một lớp đầy đủ.</a:t>
            </a:r>
          </a:p>
          <a:p>
            <a:pPr algn="l">
              <a:lnSpc>
                <a:spcPct val="134000"/>
              </a:lnSpc>
              <a:spcBef>
                <a:spcPts val="0"/>
              </a:spcBef>
              <a:spcAft>
                <a:spcPts val="900"/>
              </a:spcAft>
            </a:pPr>
            <a:r>
              <a:rPr sz="1350" b="0">
                <a:solidFill>
                  <a:srgbClr val="5C6470"/>
                </a:solidFill>
                <a:latin typeface="Segoe UI"/>
              </a:rPr>
              <a:t>Và tầng trên cùng là bằng chứng mạnh nhất: </a:t>
            </a:r>
            <a:r>
              <a:rPr sz="1350" b="1">
                <a:solidFill>
                  <a:srgbClr val="5C6470"/>
                </a:solidFill>
                <a:latin typeface="Segoe UI"/>
              </a:rPr>
              <a:t>toàn bộ 4.973 bản ghi</a:t>
            </a:r>
            <a:r>
              <a:rPr sz="1350" b="0">
                <a:solidFill>
                  <a:srgbClr val="5C6470"/>
                </a:solidFill>
                <a:latin typeface="Segoe UI"/>
              </a:rPr>
              <a:t> chạy trên board cho đúng con số của phần mềm.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38</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“Thiết kế này có chạy được thời gian thực không?”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0">
                <a:solidFill>
                  <a:srgbClr val="12161C"/>
                </a:solidFill>
                <a:latin typeface="Segoe UI"/>
              </a:rPr>
              <a:t>Về </a:t>
            </a:r>
            <a:r>
              <a:rPr sz="1350" b="1">
                <a:solidFill>
                  <a:srgbClr val="12161C"/>
                </a:solidFill>
                <a:latin typeface="Segoe UI"/>
              </a:rPr>
              <a:t>năng lực tính toán</a:t>
            </a:r>
            <a:r>
              <a:rPr sz="1350" b="0">
                <a:solidFill>
                  <a:srgbClr val="12161C"/>
                </a:solidFill>
                <a:latin typeface="Segoe UI"/>
              </a:rPr>
              <a:t> thì dư rất nhiều. Một lần suy luận mất 52,16 µs cho một đoạn tín hiệu mười giây — tức mạch nhanh hơn yêu cầu thời gian thực khoảng </a:t>
            </a:r>
            <a:r>
              <a:rPr sz="1350" b="1">
                <a:solidFill>
                  <a:srgbClr val="12161C"/>
                </a:solidFill>
                <a:latin typeface="Segoe UI"/>
              </a:rPr>
              <a:t>một trăm chín mươi nghìn lần</a:t>
            </a:r>
            <a:r>
              <a:rPr sz="1350" b="0">
                <a:solidFill>
                  <a:srgbClr val="12161C"/>
                </a:solidFill>
                <a:latin typeface="Segoe UI"/>
              </a:rPr>
              <a:t>.</a:t>
            </a:r>
          </a:p>
          <a:p>
            <a:pPr algn="l">
              <a:lnSpc>
                <a:spcPct val="134000"/>
              </a:lnSpc>
              <a:spcBef>
                <a:spcPts val="0"/>
              </a:spcBef>
              <a:spcAft>
                <a:spcPts val="900"/>
              </a:spcAft>
            </a:pPr>
            <a:r>
              <a:rPr sz="1350" b="0">
                <a:solidFill>
                  <a:srgbClr val="5C6470"/>
                </a:solidFill>
                <a:latin typeface="Segoe UI"/>
              </a:rPr>
              <a:t>Độ trễ lại </a:t>
            </a:r>
            <a:r>
              <a:rPr sz="1350" b="1">
                <a:solidFill>
                  <a:srgbClr val="5C6470"/>
                </a:solidFill>
                <a:latin typeface="Segoe UI"/>
              </a:rPr>
              <a:t>tất định</a:t>
            </a:r>
            <a:r>
              <a:rPr sz="1350" b="0">
                <a:solidFill>
                  <a:srgbClr val="5C6470"/>
                </a:solidFill>
                <a:latin typeface="Segoe UI"/>
              </a:rPr>
              <a:t>: đúng 5.216 chu kỳ cho mọi mẫu đầu vào, không phụ thuộc dữ liệu. Đây là đặc tính quan trọng cho thiết bị y tế, vì có thể bảo đảm thời hạn đáp ứng chặt.</a:t>
            </a:r>
          </a:p>
          <a:p>
            <a:pPr algn="l">
              <a:lnSpc>
                <a:spcPct val="134000"/>
              </a:lnSpc>
              <a:spcBef>
                <a:spcPts val="0"/>
              </a:spcBef>
              <a:spcAft>
                <a:spcPts val="900"/>
              </a:spcAft>
            </a:pPr>
            <a:r>
              <a:rPr sz="1350" b="0">
                <a:solidFill>
                  <a:srgbClr val="5C6470"/>
                </a:solidFill>
                <a:latin typeface="Segoe UI"/>
              </a:rPr>
              <a:t>Nhưng em </a:t>
            </a:r>
            <a:r>
              <a:rPr sz="1350" b="1">
                <a:solidFill>
                  <a:srgbClr val="5C6470"/>
                </a:solidFill>
                <a:latin typeface="Segoe UI"/>
              </a:rPr>
              <a:t>không nhận là hệ thống thời gian thực</a:t>
            </a:r>
            <a:r>
              <a:rPr sz="1350" b="0">
                <a:solidFill>
                  <a:srgbClr val="5C6470"/>
                </a:solidFill>
                <a:latin typeface="Segoe UI"/>
              </a:rPr>
              <a:t>, và đã nêu ở phần hạn chế. Lý do nằm ở đường vào dữ liệu: hiện dữ liệu được truyền từ máy tính qua cầu JTAG, và đó là kênh thí nghiệm chậm, không phải kênh triển khai.</a:t>
            </a:r>
          </a:p>
          <a:p>
            <a:pPr algn="l">
              <a:lnSpc>
                <a:spcPct val="134000"/>
              </a:lnSpc>
              <a:spcBef>
                <a:spcPts val="0"/>
              </a:spcBef>
              <a:spcAft>
                <a:spcPts val="900"/>
              </a:spcAft>
            </a:pPr>
            <a:r>
              <a:rPr sz="1350" b="0">
                <a:solidFill>
                  <a:srgbClr val="5C6470"/>
                </a:solidFill>
                <a:latin typeface="Segoe UI"/>
              </a:rPr>
              <a:t>Để thành hệ thống thời gian thực còn thiếu hai phần: ghép với mạch thu tín hiệu, và bổ sung khâu tiền xử lý lọc nhiễu ngay trên phần cứng.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39</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“Số liệu nào là đo, số liệu nào là ước lượng?”</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1">
                <a:solidFill>
                  <a:srgbClr val="12161C"/>
                </a:solidFill>
                <a:latin typeface="Segoe UI"/>
              </a:rPr>
              <a:t>Đo được:</a:t>
            </a:r>
            <a:r>
              <a:rPr sz="1350" b="0">
                <a:solidFill>
                  <a:srgbClr val="12161C"/>
                </a:solidFill>
                <a:latin typeface="Segoe UI"/>
              </a:rPr>
              <a:t> độ chính xác 94,27% cùng F1 và AUC — chạy trên tập kiểm tra; 2.148 ALM, 28 DSP, 20 M10K — báo cáo tổng hợp Quartus; tần số 108,86 MHz và dư 0,814 ns — phân tích định thời; 5.216 chu kỳ tức 52,16 µs — đếm trong mô phỏng; 7/7 khớp bit sai lệch 0 — đối chiếu mô phỏng; 94,27% và 93,00% — chạy toàn tập trên board DE10.</a:t>
            </a:r>
          </a:p>
          <a:p>
            <a:pPr algn="l">
              <a:lnSpc>
                <a:spcPct val="134000"/>
              </a:lnSpc>
              <a:spcBef>
                <a:spcPts val="0"/>
              </a:spcBef>
              <a:spcAft>
                <a:spcPts val="900"/>
              </a:spcAft>
            </a:pPr>
            <a:r>
              <a:rPr sz="1350" b="1">
                <a:solidFill>
                  <a:srgbClr val="5C6470"/>
                </a:solidFill>
                <a:latin typeface="Segoe UI"/>
              </a:rPr>
              <a:t>Ước lượng:</a:t>
            </a:r>
            <a:r>
              <a:rPr sz="1350" b="0">
                <a:solidFill>
                  <a:srgbClr val="5C6470"/>
                </a:solidFill>
                <a:latin typeface="Segoe UI"/>
              </a:rPr>
              <a:t> chỉ một dòng duy nhất — 536,08 mW và 27,96 µJ, từ PowerPlay với độ tin cậy thấp. Em ghi rõ điều đó ở cả phần kết quả lẫn phần hạn chế.</a:t>
            </a:r>
          </a:p>
          <a:p>
            <a:pPr algn="l">
              <a:lnSpc>
                <a:spcPct val="134000"/>
              </a:lnSpc>
              <a:spcBef>
                <a:spcPts val="0"/>
              </a:spcBef>
              <a:spcAft>
                <a:spcPts val="900"/>
              </a:spcAft>
            </a:pPr>
            <a:r>
              <a:rPr sz="1350" b="0">
                <a:solidFill>
                  <a:srgbClr val="5C6470"/>
                </a:solidFill>
                <a:latin typeface="Segoe UI"/>
              </a:rPr>
              <a:t>Lý do độ tin cậy thấp là </a:t>
            </a:r>
            <a:r>
              <a:rPr sz="1350" b="1">
                <a:solidFill>
                  <a:srgbClr val="5C6470"/>
                </a:solidFill>
                <a:latin typeface="Segoe UI"/>
              </a:rPr>
              <a:t>giới hạn cấu trúc</a:t>
            </a:r>
            <a:r>
              <a:rPr sz="1350" b="0">
                <a:solidFill>
                  <a:srgbClr val="5C6470"/>
                </a:solidFill>
                <a:latin typeface="Segoe UI"/>
              </a:rPr>
              <a:t>: tệp mô tả hoạt động chuyển mạch trích từ mô phỏng mức RTL chỉ phủ được phần nhỏ các nút tổ hợp, vì sau khi công cụ gộp bảng tra thì tên nút không còn ánh xạ về tên trong mã nguồn.</a:t>
            </a:r>
          </a:p>
          <a:p>
            <a:pPr algn="l">
              <a:lnSpc>
                <a:spcPct val="134000"/>
              </a:lnSpc>
              <a:spcBef>
                <a:spcPts val="0"/>
              </a:spcBef>
              <a:spcAft>
                <a:spcPts val="900"/>
              </a:spcAft>
            </a:pPr>
            <a:r>
              <a:rPr sz="1350" b="0">
                <a:solidFill>
                  <a:srgbClr val="5C6470"/>
                </a:solidFill>
                <a:latin typeface="Segoe UI"/>
              </a:rPr>
              <a:t>Sáu nhóm còn lại đều truy được về báo cáo công cụ hoặc nhật ký chạy thử.</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777240" y="384048"/>
            <a:ext cx="10637215" cy="274320"/>
          </a:xfrm>
          <a:prstGeom prst="rect">
            <a:avLst/>
          </a:prstGeom>
          <a:noFill/>
        </p:spPr>
        <p:txBody>
          <a:bodyPr wrap="square" lIns="0" rIns="0" tIns="0" bIns="0">
            <a:spAutoFit/>
          </a:bodyPr>
          <a:lstStyle/>
          <a:p>
            <a:pPr algn="l">
              <a:spcBef>
                <a:spcPts val="0"/>
              </a:spcBef>
              <a:spcAft>
                <a:spcPts val="0"/>
              </a:spcAft>
            </a:pPr>
            <a:r>
              <a:rPr sz="1050" b="1">
                <a:solidFill>
                  <a:srgbClr val="858C97"/>
                </a:solidFill>
                <a:latin typeface="Segoe UI"/>
              </a:rPr>
              <a:t>DỰ PHÒNG · 40</a:t>
            </a:r>
          </a:p>
        </p:txBody>
      </p:sp>
      <p:sp>
        <p:nvSpPr>
          <p:cNvPr id="3" name="Rectangle 2"/>
          <p:cNvSpPr/>
          <p:nvPr/>
        </p:nvSpPr>
        <p:spPr>
          <a:xfrm>
            <a:off x="777240" y="914400"/>
            <a:ext cx="31750" cy="4937760"/>
          </a:xfrm>
          <a:prstGeom prst="rect">
            <a:avLst/>
          </a:prstGeom>
          <a:solidFill>
            <a:srgbClr val="5C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14400"/>
            <a:ext cx="10362895" cy="1005840"/>
          </a:xfrm>
          <a:prstGeom prst="rect">
            <a:avLst/>
          </a:prstGeom>
          <a:noFill/>
        </p:spPr>
        <p:txBody>
          <a:bodyPr wrap="square" lIns="0" rIns="0" tIns="0" bIns="0">
            <a:spAutoFit/>
          </a:bodyPr>
          <a:lstStyle/>
          <a:p>
            <a:pPr algn="l">
              <a:lnSpc>
                <a:spcPct val="114000"/>
              </a:lnSpc>
              <a:spcBef>
                <a:spcPts val="0"/>
              </a:spcBef>
              <a:spcAft>
                <a:spcPts val="0"/>
              </a:spcAft>
            </a:pPr>
            <a:r>
              <a:rPr sz="2100" b="0">
                <a:solidFill>
                  <a:srgbClr val="12161C"/>
                </a:solidFill>
                <a:latin typeface="Georgia"/>
              </a:rPr>
              <a:t>“Nếu được làm lại, em sẽ làm khác ở chỗ nào?”</a:t>
            </a:r>
          </a:p>
        </p:txBody>
      </p:sp>
      <p:sp>
        <p:nvSpPr>
          <p:cNvPr id="5" name="TextBox 4"/>
          <p:cNvSpPr txBox="1"/>
          <p:nvPr/>
        </p:nvSpPr>
        <p:spPr>
          <a:xfrm>
            <a:off x="960120" y="1783080"/>
            <a:ext cx="10088575" cy="4206240"/>
          </a:xfrm>
          <a:prstGeom prst="rect">
            <a:avLst/>
          </a:prstGeom>
          <a:noFill/>
        </p:spPr>
        <p:txBody>
          <a:bodyPr wrap="square" lIns="0" rIns="0" tIns="0" bIns="0">
            <a:spAutoFit/>
          </a:bodyPr>
          <a:lstStyle/>
          <a:p>
            <a:pPr algn="l">
              <a:lnSpc>
                <a:spcPct val="134000"/>
              </a:lnSpc>
              <a:spcBef>
                <a:spcPts val="0"/>
              </a:spcBef>
              <a:spcAft>
                <a:spcPts val="900"/>
              </a:spcAft>
            </a:pPr>
            <a:r>
              <a:rPr sz="1350" b="1">
                <a:solidFill>
                  <a:srgbClr val="12161C"/>
                </a:solidFill>
                <a:latin typeface="Segoe UI"/>
              </a:rPr>
              <a:t>Chọn chip nhỏ hơn ngay từ đầu.</a:t>
            </a:r>
            <a:r>
              <a:rPr sz="1350" b="0">
                <a:solidFill>
                  <a:srgbClr val="12161C"/>
                </a:solidFill>
                <a:latin typeface="Segoe UI"/>
              </a:rPr>
              <a:t> Lõi chỉ dùng 5% dung lượng logic của Cyclone V SoC, nên 77% công suất là chi phí của chip. Nếu dùng chip nhỏ hơn cùng thế hệ, chỉ số năng lượng mỗi lần suy luận sẽ phản ánh đúng thiết kế.</a:t>
            </a:r>
          </a:p>
          <a:p>
            <a:pPr algn="l">
              <a:lnSpc>
                <a:spcPct val="134000"/>
              </a:lnSpc>
              <a:spcBef>
                <a:spcPts val="0"/>
              </a:spcBef>
              <a:spcAft>
                <a:spcPts val="900"/>
              </a:spcAft>
            </a:pPr>
            <a:r>
              <a:rPr sz="1350" b="1">
                <a:solidFill>
                  <a:srgbClr val="5C6470"/>
                </a:solidFill>
                <a:latin typeface="Segoe UI"/>
              </a:rPr>
              <a:t>Dựng khâu đo công suất sớm hơn.</a:t>
            </a:r>
            <a:r>
              <a:rPr sz="1350" b="0">
                <a:solidFill>
                  <a:srgbClr val="5C6470"/>
                </a:solidFill>
                <a:latin typeface="Segoe UI"/>
              </a:rPr>
              <a:t> Em để phân tích công suất đến cuối, nên khi phát hiện độ tin cậy thấp thì không còn thời gian dựng mô phỏng mức cổng. Nếu làm lại, em sẽ đưa nó vào cùng lúc với tổng hợp.</a:t>
            </a:r>
          </a:p>
          <a:p>
            <a:pPr algn="l">
              <a:lnSpc>
                <a:spcPct val="134000"/>
              </a:lnSpc>
              <a:spcBef>
                <a:spcPts val="0"/>
              </a:spcBef>
              <a:spcAft>
                <a:spcPts val="900"/>
              </a:spcAft>
            </a:pPr>
            <a:r>
              <a:rPr sz="1350" b="1">
                <a:solidFill>
                  <a:srgbClr val="5C6470"/>
                </a:solidFill>
                <a:latin typeface="Segoe UI"/>
              </a:rPr>
              <a:t>Đưa khớp bit vào sớm hơn nữa.</a:t>
            </a:r>
            <a:r>
              <a:rPr sz="1350" b="0">
                <a:solidFill>
                  <a:srgbClr val="5C6470"/>
                </a:solidFill>
                <a:latin typeface="Segoe UI"/>
              </a:rPr>
              <a:t> Lỗi lệch một chu kỳ được phát hiện muộn, và đã tốn khá nhiều thời gian truy nguyên. Nếu có khung đối chiếu ngay từ tầng đầu tiên thì lỗi đó lộ ra trong ngày.</a:t>
            </a:r>
          </a:p>
          <a:p>
            <a:pPr algn="l">
              <a:lnSpc>
                <a:spcPct val="134000"/>
              </a:lnSpc>
              <a:spcBef>
                <a:spcPts val="0"/>
              </a:spcBef>
              <a:spcAft>
                <a:spcPts val="900"/>
              </a:spcAft>
            </a:pPr>
            <a:r>
              <a:rPr sz="1350" b="0">
                <a:solidFill>
                  <a:srgbClr val="5C6470"/>
                </a:solidFill>
                <a:latin typeface="Segoe UI"/>
              </a:rPr>
              <a:t>Điều em </a:t>
            </a:r>
            <a:r>
              <a:rPr sz="1350" b="1">
                <a:solidFill>
                  <a:srgbClr val="5C6470"/>
                </a:solidFill>
                <a:latin typeface="Segoe UI"/>
              </a:rPr>
              <a:t>giữ nguyên</a:t>
            </a:r>
            <a:r>
              <a:rPr sz="1350" b="0">
                <a:solidFill>
                  <a:srgbClr val="5C6470"/>
                </a:solidFill>
                <a:latin typeface="Segoe UI"/>
              </a:rPr>
              <a:t>: quyết định để ràng buộc phần cứng tham gia vào việc định hình mô hình. Đó là quyết định cho kết quả rõ rệt nhất — 5% dung lượng logic ở mức độ chính xác so được với các thiết kế lớn hơn nhiều lần.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