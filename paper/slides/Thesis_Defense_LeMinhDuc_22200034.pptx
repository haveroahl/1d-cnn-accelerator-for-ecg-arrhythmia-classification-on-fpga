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87" r:id="rId4"/>
    <p:sldId id="296" r:id="rId5"/>
    <p:sldId id="297" r:id="rId6"/>
    <p:sldId id="288" r:id="rId7"/>
    <p:sldId id="304" r:id="rId8"/>
    <p:sldId id="301" r:id="rId9"/>
    <p:sldId id="260" r:id="rId10"/>
    <p:sldId id="291" r:id="rId11"/>
    <p:sldId id="262" r:id="rId12"/>
    <p:sldId id="290" r:id="rId13"/>
    <p:sldId id="263" r:id="rId14"/>
    <p:sldId id="264" r:id="rId15"/>
    <p:sldId id="265" r:id="rId16"/>
    <p:sldId id="305" r:id="rId17"/>
    <p:sldId id="267" r:id="rId18"/>
    <p:sldId id="307" r:id="rId19"/>
    <p:sldId id="269" r:id="rId20"/>
    <p:sldId id="270" r:id="rId21"/>
    <p:sldId id="271" r:id="rId22"/>
    <p:sldId id="272" r:id="rId23"/>
    <p:sldId id="273" r:id="rId24"/>
    <p:sldId id="274" r:id="rId25"/>
    <p:sldId id="275" r:id="rId26"/>
    <p:sldId id="276" r:id="rId27"/>
    <p:sldId id="277" r:id="rId28"/>
    <p:sldId id="308" r:id="rId29"/>
    <p:sldId id="292" r:id="rId30"/>
    <p:sldId id="280" r:id="rId31"/>
    <p:sldId id="293" r:id="rId32"/>
    <p:sldId id="294" r:id="rId33"/>
    <p:sldId id="281" r:id="rId34"/>
    <p:sldId id="282" r:id="rId35"/>
    <p:sldId id="289" r:id="rId36"/>
    <p:sldId id="285" r:id="rId37"/>
    <p:sldId id="284" r:id="rId38"/>
    <p:sldId id="286" r:id="rId39"/>
    <p:sldId id="306" r:id="rId40"/>
    <p:sldId id="259" r:id="rId41"/>
    <p:sldId id="300" r:id="rId42"/>
    <p:sldId id="299" r:id="rId43"/>
    <p:sldId id="261" r:id="rId44"/>
    <p:sldId id="295" r:id="rId45"/>
    <p:sldId id="302" r:id="rId46"/>
    <p:sldId id="303"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F688C6-CB0E-4009-91EB-30CA4DEE4C3F}">
          <p14:sldIdLst>
            <p14:sldId id="256"/>
            <p14:sldId id="257"/>
          </p14:sldIdLst>
        </p14:section>
        <p14:section name="C1" id="{BB6BF009-6740-4AAC-92C6-314E86F8F40C}">
          <p14:sldIdLst>
            <p14:sldId id="287"/>
            <p14:sldId id="296"/>
            <p14:sldId id="297"/>
          </p14:sldIdLst>
        </p14:section>
        <p14:section name="C2" id="{80B55912-D0EE-437E-BF3C-F7AEEADFE121}">
          <p14:sldIdLst>
            <p14:sldId id="288"/>
            <p14:sldId id="304"/>
            <p14:sldId id="301"/>
          </p14:sldIdLst>
        </p14:section>
        <p14:section name="C3" id="{14F70B4C-C6C1-4A14-9DA1-066932531656}">
          <p14:sldIdLst>
            <p14:sldId id="260"/>
            <p14:sldId id="291"/>
            <p14:sldId id="262"/>
            <p14:sldId id="290"/>
            <p14:sldId id="263"/>
            <p14:sldId id="264"/>
            <p14:sldId id="265"/>
            <p14:sldId id="305"/>
            <p14:sldId id="267"/>
            <p14:sldId id="307"/>
            <p14:sldId id="269"/>
            <p14:sldId id="270"/>
            <p14:sldId id="271"/>
            <p14:sldId id="272"/>
            <p14:sldId id="273"/>
            <p14:sldId id="274"/>
          </p14:sldIdLst>
        </p14:section>
        <p14:section name="C4" id="{0F0A2F28-20DE-4287-8EBA-B533F412465D}">
          <p14:sldIdLst>
            <p14:sldId id="275"/>
            <p14:sldId id="276"/>
            <p14:sldId id="277"/>
            <p14:sldId id="308"/>
            <p14:sldId id="292"/>
            <p14:sldId id="280"/>
            <p14:sldId id="293"/>
            <p14:sldId id="294"/>
            <p14:sldId id="281"/>
            <p14:sldId id="282"/>
          </p14:sldIdLst>
        </p14:section>
        <p14:section name="C5" id="{25A2849B-DCF0-4D6E-B321-6AC40C9D6184}">
          <p14:sldIdLst>
            <p14:sldId id="289"/>
            <p14:sldId id="285"/>
            <p14:sldId id="284"/>
            <p14:sldId id="286"/>
            <p14:sldId id="306"/>
            <p14:sldId id="259"/>
            <p14:sldId id="300"/>
            <p14:sldId id="299"/>
            <p14:sldId id="261"/>
            <p14:sldId id="295"/>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5829" autoAdjust="0"/>
  </p:normalViewPr>
  <p:slideViewPr>
    <p:cSldViewPr snapToGrid="0" snapToObjects="1">
      <p:cViewPr varScale="1">
        <p:scale>
          <a:sx n="94" d="100"/>
          <a:sy n="94" d="100"/>
        </p:scale>
        <p:origin x="245"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677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Kính chào quý thầy cô. Em là Lê Minh Đức, MSSV 22200034. Hôm nay em xin trình bày </a:t>
            </a:r>
            <a:r>
              <a:rPr lang="en-US" dirty="0" err="1"/>
              <a:t>khóa</a:t>
            </a:r>
            <a:r>
              <a:rPr lang="en-US" dirty="0"/>
              <a:t> </a:t>
            </a:r>
            <a:r>
              <a:rPr lang="en-US" dirty="0" err="1"/>
              <a:t>luận</a:t>
            </a:r>
            <a:r>
              <a:rPr lang="en-US" dirty="0"/>
              <a:t> </a:t>
            </a:r>
            <a:r>
              <a:rPr lang="en-US" sz="1200" b="1" dirty="0">
                <a:solidFill>
                  <a:srgbClr val="FCF6F5"/>
                </a:solidFill>
                <a:latin typeface="Cambria" pitchFamily="34" charset="0"/>
                <a:ea typeface="Cambria" pitchFamily="34" charset="-122"/>
                <a:cs typeface="Cambria" pitchFamily="34" charset="-120"/>
              </a:rPr>
              <a:t>ĐỒNG THIẾT KẾ THUẬT TOÁN – PHẦN CỨNG CHO BỘ TĂNG TỐC CNN 1 CHIỀU LƯỢNG TỬ HOÁ HIỆU QUẢ NHẰM PHÂN LOẠI NHỊP TIM TRÊN FPGA</a:t>
            </a:r>
            <a:endParaRPr lang="en-US" sz="1200" dirty="0"/>
          </a:p>
          <a:p>
            <a:r>
              <a:rPr lang="en-US" dirty="0"/>
              <a:t>, dưới sự hướng dẫn của thầy Mã Khải Minh.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báo cáo gồm 5 phần. Trọng tâm trình bày hôm nay là phần 2 và phần 3 — tức Chương 3 và Chương 4 của khoá luận.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FC110-9FF6-9E8E-F9C8-5C8DCF584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754D2-8326-533B-28C0-3C56BF4A5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8656F6-E7B2-F3AD-19F6-31879BD256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8D6BF1-85E4-9FAC-063F-BAF0C683B7A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71463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7306D-8C39-51F8-1209-85E817668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3B9859-61D1-9C28-64B1-3D0C186C7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ACA7A-A820-0F3C-8E2D-A13D709689F5}"/>
              </a:ext>
            </a:extLst>
          </p:cNvPr>
          <p:cNvSpPr>
            <a:spLocks noGrp="1"/>
          </p:cNvSpPr>
          <p:nvPr>
            <p:ph type="body" idx="1"/>
          </p:nvPr>
        </p:nvSpPr>
        <p:spPr/>
        <p:txBody>
          <a:bodyPr/>
          <a:lstStyle/>
          <a:p>
            <a:r>
              <a:rPr lang="en-US" dirty="0"/>
              <a:t>Bài toán: đưa một mô hình đã đủ chính xác vào hình thái thiết bị đeo. Hướng giải quyết của khoá luận là đồng thiết kế mô hình và mạch chuyên dụng trên FPGA. Bốn con số ở dưới là kết quả cuối cùng sẽ được chứng minh ở Chương 4.</a:t>
            </a:r>
          </a:p>
        </p:txBody>
      </p:sp>
      <p:sp>
        <p:nvSpPr>
          <p:cNvPr id="4" name="Slide Number Placeholder 3">
            <a:extLst>
              <a:ext uri="{FF2B5EF4-FFF2-40B4-BE49-F238E27FC236}">
                <a16:creationId xmlns:a16="http://schemas.microsoft.com/office/drawing/2014/main" id="{5C45FA00-6DB2-67C7-3B4D-B4643EE45F9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911006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085D-4701-1D72-444C-21C742A8D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913DB-DBC7-0583-DA16-FC35578091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69CD7-D1C9-6CB0-A02A-6CE9B48FFA60}"/>
              </a:ext>
            </a:extLst>
          </p:cNvPr>
          <p:cNvSpPr>
            <a:spLocks noGrp="1"/>
          </p:cNvSpPr>
          <p:nvPr>
            <p:ph type="body" idx="1"/>
          </p:nvPr>
        </p:nvSpPr>
        <p:spPr/>
        <p:txBody>
          <a:bodyPr/>
          <a:lstStyle/>
          <a:p>
            <a:r>
              <a:rPr lang="en-US" dirty="0"/>
              <a:t>Bài toán: đưa một mô hình đã đủ chính xác vào hình thái thiết bị đeo. Hướng giải quyết của khoá luận là đồng thiết kế mô hình và mạch chuyên dụng trên FPGA. Bốn con số ở dưới là kết quả cuối cùng sẽ được chứng minh ở Chương 4.</a:t>
            </a:r>
          </a:p>
        </p:txBody>
      </p:sp>
      <p:sp>
        <p:nvSpPr>
          <p:cNvPr id="4" name="Slide Number Placeholder 3">
            <a:extLst>
              <a:ext uri="{FF2B5EF4-FFF2-40B4-BE49-F238E27FC236}">
                <a16:creationId xmlns:a16="http://schemas.microsoft.com/office/drawing/2014/main" id="{1A5E9F9E-8FE9-7696-41D0-3E2BCE2115A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5024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4D591-9A45-FCB5-12B6-87414966B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2EEF6-9C07-5D57-5BF2-AE0223CC9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E96DCA-E6F0-58A3-3993-49080A8DDC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7F1F34-448E-AE32-48A5-F2DF826489D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400010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61595-B904-7DA4-EF9A-FA2F5D561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0D858-C47F-9251-29E0-787E6D2A6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D9F767-3758-1981-4B85-D2D6CAE9CE21}"/>
              </a:ext>
            </a:extLst>
          </p:cNvPr>
          <p:cNvSpPr>
            <a:spLocks noGrp="1"/>
          </p:cNvSpPr>
          <p:nvPr>
            <p:ph type="body" idx="1"/>
          </p:nvPr>
        </p:nvSpPr>
        <p:spPr/>
        <p:txBody>
          <a:bodyPr/>
          <a:lstStyle/>
          <a:p>
            <a:pPr algn="l">
              <a:lnSpc>
                <a:spcPct val="120000"/>
              </a:lnSpc>
              <a:spcAft>
                <a:spcPts val="400"/>
              </a:spcAft>
            </a:pPr>
            <a:r>
              <a:rPr lang="vi-VN" sz="1200" b="0" dirty="0">
                <a:solidFill>
                  <a:srgbClr val="6E6E78"/>
                </a:solidFill>
                <a:latin typeface="Calibri"/>
              </a:rPr>
              <a:t>Độ chính xác không so thẳng hàng: phân loại theo </a:t>
            </a:r>
            <a:r>
              <a:rPr lang="vi-VN" sz="1200" b="1" dirty="0">
                <a:solidFill>
                  <a:srgbClr val="6E6E78"/>
                </a:solidFill>
                <a:latin typeface="Calibri"/>
              </a:rPr>
              <a:t>nhát bóp</a:t>
            </a:r>
            <a:r>
              <a:rPr lang="vi-VN" sz="1200" b="0" dirty="0">
                <a:solidFill>
                  <a:srgbClr val="6E6E78"/>
                </a:solidFill>
                <a:latin typeface="Calibri"/>
              </a:rPr>
              <a:t> thường 98–99 %, theo </a:t>
            </a:r>
            <a:r>
              <a:rPr lang="vi-VN" sz="1200" b="1" dirty="0">
                <a:solidFill>
                  <a:srgbClr val="6E6E78"/>
                </a:solidFill>
                <a:latin typeface="Calibri"/>
              </a:rPr>
              <a:t>nhóm nhịp</a:t>
            </a:r>
            <a:r>
              <a:rPr lang="vi-VN" sz="1200" b="0" dirty="0">
                <a:solidFill>
                  <a:srgbClr val="6E6E78"/>
                </a:solidFill>
                <a:latin typeface="Calibri"/>
              </a:rPr>
              <a:t> thường 92–95 %.  ·  </a:t>
            </a:r>
            <a:r>
              <a:rPr lang="vi-VN" sz="1200" b="1" dirty="0">
                <a:solidFill>
                  <a:srgbClr val="6E6E78"/>
                </a:solidFill>
                <a:latin typeface="Calibri"/>
              </a:rPr>
              <a:t>Liu là mốc đối chiếu chính</a:t>
            </a:r>
            <a:r>
              <a:rPr lang="vi-VN" sz="1200" b="0" dirty="0">
                <a:solidFill>
                  <a:srgbClr val="6E6E78"/>
                </a:solidFill>
                <a:latin typeface="Calibri"/>
              </a:rPr>
              <a:t> — cùng dòng Cyclone V, cùng tập Chapman, cùng mức nhóm nhịp.</a:t>
            </a:r>
          </a:p>
          <a:p>
            <a:pPr algn="l">
              <a:lnSpc>
                <a:spcPct val="120000"/>
              </a:lnSpc>
              <a:spcAft>
                <a:spcPts val="0"/>
              </a:spcAft>
            </a:pPr>
            <a:r>
              <a:rPr lang="vi-VN" sz="1200" b="0" dirty="0">
                <a:solidFill>
                  <a:srgbClr val="6E6E78"/>
                </a:solidFill>
                <a:latin typeface="Calibri"/>
              </a:rPr>
              <a:t>Đọc theo cột </a:t>
            </a:r>
            <a:r>
              <a:rPr lang="vi-VN" sz="1200" b="1" dirty="0">
                <a:solidFill>
                  <a:srgbClr val="6E6E78"/>
                </a:solidFill>
                <a:latin typeface="Calibri"/>
              </a:rPr>
              <a:t>phần cứng triển khai</a:t>
            </a:r>
            <a:r>
              <a:rPr lang="vi-VN" sz="1200" b="0" dirty="0">
                <a:solidFill>
                  <a:srgbClr val="6E6E78"/>
                </a:solidFill>
                <a:latin typeface="Calibri"/>
              </a:rPr>
              <a:t>: nhóm này có lượng tử hoá và có mạch thật, nhưng thiết kế vẫn chiếm phần lớn tài nguyên chip — Liu 51 % ALM, Ran 47 % LUT — kể cả khi đã dùng số nguyên tám bit.</a:t>
            </a:r>
          </a:p>
        </p:txBody>
      </p:sp>
      <p:sp>
        <p:nvSpPr>
          <p:cNvPr id="4" name="Slide Number Placeholder 3">
            <a:extLst>
              <a:ext uri="{FF2B5EF4-FFF2-40B4-BE49-F238E27FC236}">
                <a16:creationId xmlns:a16="http://schemas.microsoft.com/office/drawing/2014/main" id="{8CFF997F-75E6-C8C5-F974-94C39F91BBA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72474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5039-248D-DEBE-5BF2-B19032468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FBBBD-9BF4-A0E7-7094-80ACCEAD8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CE6A3-E2C3-E2BA-2729-D46EE36E0D56}"/>
              </a:ext>
            </a:extLst>
          </p:cNvPr>
          <p:cNvSpPr>
            <a:spLocks noGrp="1"/>
          </p:cNvSpPr>
          <p:nvPr>
            <p:ph type="body" idx="1"/>
          </p:nvPr>
        </p:nvSpPr>
        <p:spPr/>
        <p:txBody>
          <a:bodyPr/>
          <a:lstStyle/>
          <a:p>
            <a:r>
              <a:rPr lang="en-US" dirty="0"/>
              <a:t>Bốn nền tảng: mạng 1D-CNN, cắt tỉa có cấu trúc, lượng tử hoá luỹ thừa 2, và lựa chọn kiến trúc phần cứng. Quyết định quan trọng nhất là chọn kiến trúc đơn khối chia sẻ theo thời gian — sẽ giải thích kỹ ở Chương 3.</a:t>
            </a:r>
          </a:p>
        </p:txBody>
      </p:sp>
      <p:sp>
        <p:nvSpPr>
          <p:cNvPr id="4" name="Slide Number Placeholder 3">
            <a:extLst>
              <a:ext uri="{FF2B5EF4-FFF2-40B4-BE49-F238E27FC236}">
                <a16:creationId xmlns:a16="http://schemas.microsoft.com/office/drawing/2014/main" id="{832A6A9A-188F-67F6-BD1E-754846D300E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13575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ECA7E-5E9C-C449-2CBA-D25FAA26A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CEBC0-913A-A10C-F1B4-DA7D276987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4A2E4-1431-066F-C3B4-129E65BACA99}"/>
              </a:ext>
            </a:extLst>
          </p:cNvPr>
          <p:cNvSpPr>
            <a:spLocks noGrp="1"/>
          </p:cNvSpPr>
          <p:nvPr>
            <p:ph type="body" idx="1"/>
          </p:nvPr>
        </p:nvSpPr>
        <p:spPr/>
        <p:txBody>
          <a:bodyPr/>
          <a:lstStyle/>
          <a:p>
            <a:r>
              <a:rPr lang="en-US" dirty="0"/>
              <a:t>Toàn bộ quy trình đi một chiều từ mô hình phần mềm xuống mạch. Điểm nối quan trọng là bộ trọng số INT8 đã định dạng sẵn — vừa là đầu ra của giai đoạn phần mềm, vừa là dữ liệu nạp vào ROM của phần cứng.</a:t>
            </a:r>
          </a:p>
        </p:txBody>
      </p:sp>
      <p:sp>
        <p:nvSpPr>
          <p:cNvPr id="4" name="Slide Number Placeholder 3">
            <a:extLst>
              <a:ext uri="{FF2B5EF4-FFF2-40B4-BE49-F238E27FC236}">
                <a16:creationId xmlns:a16="http://schemas.microsoft.com/office/drawing/2014/main" id="{10480DED-854D-E3D7-03B7-7F43147CCFC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81987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Chia dữ liệu theo nguyên tắc độc lập bệnh nhân để tránh rò rỉ thông tin làm độ chính xác bị thổi phồng. Tập Georgia đóng vai trò phép thử tổng quát hoá xa: khác hệ thiết bị, khác cơ sở y tế.</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93EBF-D2A3-7969-FB47-4B9F0D091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DEDCC-8052-8C48-7A51-68C5076EE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6BDD0-E3B5-4E02-BE05-D23079957F34}"/>
              </a:ext>
            </a:extLst>
          </p:cNvPr>
          <p:cNvSpPr>
            <a:spLocks noGrp="1"/>
          </p:cNvSpPr>
          <p:nvPr>
            <p:ph type="body" idx="1"/>
          </p:nvPr>
        </p:nvSpPr>
        <p:spPr/>
        <p:txBody>
          <a:bodyPr/>
          <a:lstStyle/>
          <a:p>
            <a:r>
              <a:rPr lang="en-US" dirty="0"/>
              <a:t>Chia dữ liệu theo nguyên tắc độc lập bệnh nhân để tránh rò rỉ thông tin làm độ chính xác bị thổi phồng. Tập Georgia đóng vai trò phép thử tổng quát hoá xa: khác hệ thiết bị, khác cơ sở y tế.</a:t>
            </a:r>
          </a:p>
        </p:txBody>
      </p:sp>
      <p:sp>
        <p:nvSpPr>
          <p:cNvPr id="4" name="Slide Number Placeholder 3">
            <a:extLst>
              <a:ext uri="{FF2B5EF4-FFF2-40B4-BE49-F238E27FC236}">
                <a16:creationId xmlns:a16="http://schemas.microsoft.com/office/drawing/2014/main" id="{00C9B556-87DC-270E-E9D4-8B2D4235E45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73582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ban đầu có cấu hình kênh 4-8-8-16 với 1.244 tham số. Huấn luyện bằng cross-entropy và Adam, mô hình được chọn theo độ chính xác trên tập kiểm định để tránh học thuộc tập huấn luyện.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bước: tính chuẩn L1 từng bộ lọc, xếp hạng giảm dần, giữ lại số bộ lọc mong muốn. Kết quả giảm gần một nửa tham số mà chỉ mất 0,32 điểm phần trăm độ chính xác.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là đặc tả mà phần cứng phải thực hiện đúng. Số tham số mỗi tầng tính theo công thức kênh vào nhân kênh ra nhân K cộng kênh ra — ví dụ Conv4 là 8 nhân 8 nhân 5 cộng 8 bằng 328.</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EE96A-238E-3101-22BE-E28161183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1E97E-E334-8C42-D94D-432BFB402C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A1F74-6B45-FDBA-6E14-E5C1645E651A}"/>
              </a:ext>
            </a:extLst>
          </p:cNvPr>
          <p:cNvSpPr>
            <a:spLocks noGrp="1"/>
          </p:cNvSpPr>
          <p:nvPr>
            <p:ph type="body" idx="1"/>
          </p:nvPr>
        </p:nvSpPr>
        <p:spPr/>
        <p:txBody>
          <a:bodyPr/>
          <a:lstStyle/>
          <a:p>
            <a:r>
              <a:rPr lang="en-US" dirty="0"/>
              <a:t>Bốn bước của đường ống số học INT8. Điểm mấu chốt là bước 4: với thang luỹ thừa của hai, phép tái tỉ lệ chỉ còn một phép cộng hằng số và một phép dịch phải, hoàn toàn không dùng khối nhân cứng.</a:t>
            </a:r>
          </a:p>
        </p:txBody>
      </p:sp>
      <p:sp>
        <p:nvSpPr>
          <p:cNvPr id="4" name="Slide Number Placeholder 3">
            <a:extLst>
              <a:ext uri="{FF2B5EF4-FFF2-40B4-BE49-F238E27FC236}">
                <a16:creationId xmlns:a16="http://schemas.microsoft.com/office/drawing/2014/main" id="{59EF63CB-E835-0DEC-4BE1-8CDF14669A8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478636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hai đóng góp nhỏ nhưng thiết thực. Về số học: round-half-up chỉ tốn thêm một phép cộng hằng số nhưng loại bỏ sai số lệch một phía. Về định dạng: đóng gói 40 bit  nhu cầu đọc một chu kỳ của phần cứng.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BE6FC-277A-7E46-A1B6-39D8E944E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EF0AA-990D-FE0C-3D45-52BBE4F0B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3B0D09-C689-6335-1B81-3B4857DE61DB}"/>
              </a:ext>
            </a:extLst>
          </p:cNvPr>
          <p:cNvSpPr>
            <a:spLocks noGrp="1"/>
          </p:cNvSpPr>
          <p:nvPr>
            <p:ph type="body" idx="1"/>
          </p:nvPr>
        </p:nvSpPr>
        <p:spPr/>
        <p:txBody>
          <a:bodyPr/>
          <a:lstStyle/>
          <a:p>
            <a:pPr marL="342900" indent="-342900">
              <a:spcAft>
                <a:spcPts val="700"/>
              </a:spcAft>
              <a:buSzPct val="100000"/>
              <a:buChar char="•"/>
            </a:pPr>
            <a:r>
              <a:rPr lang="en-US" dirty="0" err="1"/>
              <a:t>Đây</a:t>
            </a:r>
            <a:r>
              <a:rPr lang="en-US" dirty="0"/>
              <a:t> </a:t>
            </a:r>
            <a:r>
              <a:rPr lang="en-US" dirty="0" err="1"/>
              <a:t>là</a:t>
            </a:r>
            <a:r>
              <a:rPr lang="en-US" dirty="0"/>
              <a:t> </a:t>
            </a:r>
            <a:r>
              <a:rPr lang="en-US" dirty="0" err="1"/>
              <a:t>quyết</a:t>
            </a:r>
            <a:r>
              <a:rPr lang="en-US" dirty="0"/>
              <a:t> </a:t>
            </a:r>
            <a:r>
              <a:rPr lang="en-US" dirty="0" err="1"/>
              <a:t>định</a:t>
            </a:r>
            <a:r>
              <a:rPr lang="en-US" dirty="0"/>
              <a:t> </a:t>
            </a:r>
            <a:r>
              <a:rPr lang="en-US" dirty="0" err="1"/>
              <a:t>kiến</a:t>
            </a:r>
            <a:r>
              <a:rPr lang="en-US" dirty="0"/>
              <a:t> </a:t>
            </a:r>
            <a:r>
              <a:rPr lang="en-US" dirty="0" err="1"/>
              <a:t>trúc</a:t>
            </a:r>
            <a:r>
              <a:rPr lang="en-US" dirty="0"/>
              <a:t> </a:t>
            </a:r>
            <a:r>
              <a:rPr lang="en-US" dirty="0" err="1"/>
              <a:t>quan</a:t>
            </a:r>
            <a:r>
              <a:rPr lang="en-US" dirty="0"/>
              <a:t> </a:t>
            </a:r>
            <a:r>
              <a:rPr lang="en-US" dirty="0" err="1"/>
              <a:t>trọng</a:t>
            </a:r>
            <a:r>
              <a:rPr lang="en-US" dirty="0"/>
              <a:t> </a:t>
            </a:r>
            <a:r>
              <a:rPr lang="en-US" dirty="0" err="1"/>
              <a:t>nhất</a:t>
            </a:r>
            <a:r>
              <a:rPr lang="en-US" dirty="0"/>
              <a:t> </a:t>
            </a:r>
            <a:r>
              <a:rPr lang="en-US" dirty="0" err="1"/>
              <a:t>của</a:t>
            </a:r>
            <a:r>
              <a:rPr lang="en-US" dirty="0"/>
              <a:t> </a:t>
            </a:r>
            <a:r>
              <a:rPr lang="en-US" dirty="0" err="1"/>
              <a:t>khoá</a:t>
            </a:r>
            <a:r>
              <a:rPr lang="en-US" dirty="0"/>
              <a:t> </a:t>
            </a:r>
            <a:r>
              <a:rPr lang="en-US" dirty="0" err="1"/>
              <a:t>luận</a:t>
            </a:r>
            <a:r>
              <a:rPr lang="en-US" dirty="0"/>
              <a:t>. </a:t>
            </a:r>
            <a:r>
              <a:rPr lang="en-US" dirty="0" err="1"/>
              <a:t>Với</a:t>
            </a:r>
            <a:r>
              <a:rPr lang="en-US" dirty="0"/>
              <a:t> </a:t>
            </a:r>
            <a:r>
              <a:rPr lang="en-US" dirty="0" err="1"/>
              <a:t>mô</a:t>
            </a:r>
            <a:r>
              <a:rPr lang="en-US" dirty="0"/>
              <a:t> </a:t>
            </a:r>
            <a:r>
              <a:rPr lang="en-US" dirty="0" err="1"/>
              <a:t>hình</a:t>
            </a:r>
            <a:r>
              <a:rPr lang="en-US" dirty="0"/>
              <a:t> </a:t>
            </a:r>
            <a:r>
              <a:rPr lang="en-US" dirty="0" err="1"/>
              <a:t>chỉ</a:t>
            </a:r>
            <a:r>
              <a:rPr lang="en-US" dirty="0"/>
              <a:t> 640 </a:t>
            </a:r>
            <a:r>
              <a:rPr lang="en-US" dirty="0" err="1"/>
              <a:t>tham</a:t>
            </a:r>
            <a:r>
              <a:rPr lang="en-US" dirty="0"/>
              <a:t> </a:t>
            </a:r>
            <a:r>
              <a:rPr lang="en-US" dirty="0" err="1"/>
              <a:t>số</a:t>
            </a:r>
            <a:r>
              <a:rPr lang="en-US" dirty="0"/>
              <a:t>, </a:t>
            </a:r>
            <a:r>
              <a:rPr lang="en-US" dirty="0" err="1"/>
              <a:t>ánh</a:t>
            </a:r>
            <a:r>
              <a:rPr lang="en-US" dirty="0"/>
              <a:t> </a:t>
            </a:r>
            <a:r>
              <a:rPr lang="en-US" dirty="0" err="1"/>
              <a:t>xạ</a:t>
            </a:r>
            <a:r>
              <a:rPr lang="en-US" dirty="0"/>
              <a:t> </a:t>
            </a:r>
            <a:r>
              <a:rPr lang="en-US" dirty="0" err="1"/>
              <a:t>toàn</a:t>
            </a:r>
            <a:r>
              <a:rPr lang="en-US" dirty="0"/>
              <a:t> </a:t>
            </a:r>
            <a:r>
              <a:rPr lang="en-US" dirty="0" err="1"/>
              <a:t>phần</a:t>
            </a:r>
            <a:r>
              <a:rPr lang="en-US" dirty="0"/>
              <a:t> </a:t>
            </a:r>
            <a:r>
              <a:rPr lang="en-US" dirty="0" err="1"/>
              <a:t>sẽ</a:t>
            </a:r>
            <a:r>
              <a:rPr lang="en-US" dirty="0"/>
              <a:t> </a:t>
            </a:r>
            <a:r>
              <a:rPr lang="en-US" dirty="0" err="1"/>
              <a:t>lãng</a:t>
            </a:r>
            <a:r>
              <a:rPr lang="en-US" dirty="0"/>
              <a:t> </a:t>
            </a:r>
            <a:r>
              <a:rPr lang="en-US" dirty="0" err="1"/>
              <a:t>phí</a:t>
            </a:r>
            <a:r>
              <a:rPr lang="en-US" dirty="0"/>
              <a:t>; chia </a:t>
            </a:r>
            <a:r>
              <a:rPr lang="en-US" dirty="0" err="1"/>
              <a:t>sẻ</a:t>
            </a:r>
            <a:r>
              <a:rPr lang="en-US" dirty="0"/>
              <a:t> </a:t>
            </a:r>
            <a:r>
              <a:rPr lang="en-US" dirty="0" err="1"/>
              <a:t>theo</a:t>
            </a:r>
            <a:r>
              <a:rPr lang="en-US" dirty="0"/>
              <a:t> </a:t>
            </a:r>
            <a:r>
              <a:rPr lang="en-US" dirty="0" err="1"/>
              <a:t>thời</a:t>
            </a:r>
            <a:r>
              <a:rPr lang="en-US" dirty="0"/>
              <a:t> </a:t>
            </a:r>
            <a:r>
              <a:rPr lang="en-US" dirty="0" err="1"/>
              <a:t>gian</a:t>
            </a:r>
            <a:r>
              <a:rPr lang="en-US" dirty="0"/>
              <a:t> </a:t>
            </a:r>
            <a:r>
              <a:rPr lang="en-US" dirty="0" err="1"/>
              <a:t>cho</a:t>
            </a:r>
            <a:r>
              <a:rPr lang="en-US" dirty="0"/>
              <a:t> </a:t>
            </a:r>
            <a:r>
              <a:rPr lang="en-US" dirty="0" err="1"/>
              <a:t>diện</a:t>
            </a:r>
            <a:r>
              <a:rPr lang="en-US" dirty="0"/>
              <a:t> </a:t>
            </a:r>
            <a:r>
              <a:rPr lang="en-US" dirty="0" err="1"/>
              <a:t>tích</a:t>
            </a:r>
            <a:r>
              <a:rPr lang="en-US" dirty="0"/>
              <a:t> </a:t>
            </a:r>
            <a:r>
              <a:rPr lang="en-US" dirty="0" err="1"/>
              <a:t>thấp</a:t>
            </a:r>
            <a:r>
              <a:rPr lang="en-US" dirty="0"/>
              <a:t> </a:t>
            </a:r>
            <a:r>
              <a:rPr lang="en-US" dirty="0" err="1"/>
              <a:t>mà</a:t>
            </a:r>
            <a:r>
              <a:rPr lang="en-US" dirty="0"/>
              <a:t> </a:t>
            </a:r>
            <a:r>
              <a:rPr lang="en-US" dirty="0" err="1"/>
              <a:t>độ</a:t>
            </a:r>
            <a:r>
              <a:rPr lang="en-US" dirty="0"/>
              <a:t> </a:t>
            </a:r>
            <a:r>
              <a:rPr lang="en-US" dirty="0" err="1"/>
              <a:t>trễ</a:t>
            </a:r>
            <a:r>
              <a:rPr lang="en-US" dirty="0"/>
              <a:t> </a:t>
            </a:r>
            <a:r>
              <a:rPr lang="en-US" dirty="0" err="1"/>
              <a:t>vẫn</a:t>
            </a:r>
            <a:r>
              <a:rPr lang="en-US" dirty="0"/>
              <a:t> </a:t>
            </a:r>
            <a:r>
              <a:rPr lang="en-US" dirty="0" err="1"/>
              <a:t>thừa</a:t>
            </a:r>
            <a:r>
              <a:rPr lang="en-US" dirty="0"/>
              <a:t> </a:t>
            </a:r>
            <a:r>
              <a:rPr lang="en-US" dirty="0" err="1"/>
              <a:t>đáp</a:t>
            </a:r>
            <a:r>
              <a:rPr lang="en-US" dirty="0"/>
              <a:t> </a:t>
            </a:r>
            <a:r>
              <a:rPr lang="en-US" dirty="0" err="1"/>
              <a:t>ứng</a:t>
            </a:r>
            <a:r>
              <a:rPr lang="en-US" dirty="0"/>
              <a:t>.</a:t>
            </a:r>
          </a:p>
          <a:p>
            <a:pPr marL="0" indent="0">
              <a:spcAft>
                <a:spcPts val="700"/>
              </a:spcAft>
              <a:buSzPct val="100000"/>
              <a:buNone/>
            </a:pPr>
            <a:br>
              <a:rPr lang="en-US" dirty="0"/>
            </a:br>
            <a:r>
              <a:rPr lang="en-US" dirty="0"/>
              <a:t>         </a:t>
            </a:r>
            <a:r>
              <a:rPr lang="en-US" sz="1200" dirty="0">
                <a:solidFill>
                  <a:srgbClr val="1A1C22"/>
                </a:solidFill>
                <a:latin typeface="Calibri" pitchFamily="34" charset="0"/>
                <a:ea typeface="Calibri" pitchFamily="34" charset="-122"/>
                <a:cs typeface="Calibri" pitchFamily="34" charset="-120"/>
              </a:rPr>
              <a:t>Thay </a:t>
            </a:r>
            <a:r>
              <a:rPr lang="en-US" sz="1200" dirty="0" err="1">
                <a:solidFill>
                  <a:srgbClr val="1A1C22"/>
                </a:solidFill>
                <a:latin typeface="Calibri" pitchFamily="34" charset="0"/>
                <a:ea typeface="Calibri" pitchFamily="34" charset="-122"/>
                <a:cs typeface="Calibri" pitchFamily="34" charset="-120"/>
              </a:rPr>
              <a:t>vì</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trải</a:t>
            </a:r>
            <a:r>
              <a:rPr lang="en-US" sz="1200" dirty="0">
                <a:solidFill>
                  <a:srgbClr val="1A1C22"/>
                </a:solidFill>
                <a:latin typeface="Calibri" pitchFamily="34" charset="0"/>
                <a:ea typeface="Calibri" pitchFamily="34" charset="-122"/>
                <a:cs typeface="Calibri" pitchFamily="34" charset="-120"/>
              </a:rPr>
              <a:t> 4 </a:t>
            </a:r>
            <a:r>
              <a:rPr lang="en-US" sz="1200" dirty="0" err="1">
                <a:solidFill>
                  <a:srgbClr val="1A1C22"/>
                </a:solidFill>
                <a:latin typeface="Calibri" pitchFamily="34" charset="0"/>
                <a:ea typeface="Calibri" pitchFamily="34" charset="-122"/>
                <a:cs typeface="Calibri" pitchFamily="34" charset="-120"/>
              </a:rPr>
              <a:t>tầng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ra</a:t>
            </a:r>
            <a:r>
              <a:rPr lang="en-US" sz="1200" dirty="0">
                <a:solidFill>
                  <a:srgbClr val="1A1C22"/>
                </a:solidFill>
                <a:latin typeface="Calibri" pitchFamily="34" charset="0"/>
                <a:ea typeface="Calibri" pitchFamily="34" charset="-122"/>
                <a:cs typeface="Calibri" pitchFamily="34" charset="-120"/>
              </a:rPr>
              <a:t> 4 </a:t>
            </a:r>
            <a:r>
              <a:rPr lang="en-US" sz="1200" dirty="0" err="1">
                <a:solidFill>
                  <a:srgbClr val="1A1C22"/>
                </a:solidFill>
                <a:latin typeface="Calibri" pitchFamily="34" charset="0"/>
                <a:ea typeface="Calibri" pitchFamily="34" charset="-122"/>
                <a:cs typeface="Calibri" pitchFamily="34" charset="-120"/>
              </a:rPr>
              <a:t>khối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riêng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dùng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một</a:t>
            </a:r>
            <a:r>
              <a:rPr lang="en-US" sz="1200" dirty="0">
                <a:solidFill>
                  <a:srgbClr val="1A1C22"/>
                </a:solidFill>
                <a:latin typeface="Calibri" pitchFamily="34" charset="0"/>
                <a:ea typeface="Calibri" pitchFamily="34" charset="-122"/>
                <a:cs typeface="Calibri" pitchFamily="34" charset="-120"/>
              </a:rPr>
              <a:t> engine </a:t>
            </a:r>
            <a:r>
              <a:rPr lang="en-US" sz="1200" dirty="0" err="1">
                <a:solidFill>
                  <a:srgbClr val="1A1C22"/>
                </a:solidFill>
                <a:latin typeface="Calibri" pitchFamily="34" charset="0"/>
                <a:ea typeface="Calibri" pitchFamily="34" charset="-122"/>
                <a:cs typeface="Calibri" pitchFamily="34" charset="-120"/>
              </a:rPr>
              <a:t>gồm</a:t>
            </a:r>
            <a:r>
              <a:rPr lang="en-US" sz="1200" dirty="0">
                <a:solidFill>
                  <a:srgbClr val="1A1C22"/>
                </a:solidFill>
                <a:latin typeface="Calibri" pitchFamily="34" charset="0"/>
                <a:ea typeface="Calibri" pitchFamily="34" charset="-122"/>
                <a:cs typeface="Calibri" pitchFamily="34" charset="-120"/>
              </a:rPr>
              <a:t> 8 </a:t>
            </a:r>
            <a:r>
              <a:rPr lang="en-US" sz="1200" dirty="0" err="1">
                <a:solidFill>
                  <a:srgbClr val="1A1C22"/>
                </a:solidFill>
                <a:latin typeface="Calibri" pitchFamily="34" charset="0"/>
                <a:ea typeface="Calibri" pitchFamily="34" charset="-122"/>
                <a:cs typeface="Calibri" pitchFamily="34" charset="-120"/>
              </a:rPr>
              <a:t>phần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tử</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xử</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lý</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tái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sử</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dụng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tuần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tự</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cho</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cả</a:t>
            </a:r>
            <a:r>
              <a:rPr lang="en-US" sz="1200" dirty="0">
                <a:solidFill>
                  <a:srgbClr val="1A1C22"/>
                </a:solidFill>
                <a:latin typeface="Calibri" pitchFamily="34" charset="0"/>
                <a:ea typeface="Calibri" pitchFamily="34" charset="-122"/>
                <a:cs typeface="Calibri" pitchFamily="34" charset="-120"/>
              </a:rPr>
              <a:t> 4 </a:t>
            </a:r>
            <a:r>
              <a:rPr lang="en-US" sz="1200" dirty="0" err="1">
                <a:solidFill>
                  <a:srgbClr val="1A1C22"/>
                </a:solidFill>
                <a:latin typeface="Calibri" pitchFamily="34" charset="0"/>
                <a:ea typeface="Calibri" pitchFamily="34" charset="-122"/>
                <a:cs typeface="Calibri" pitchFamily="34" charset="-120"/>
              </a:rPr>
              <a:t>tầng</a:t>
            </a:r>
            <a:r>
              <a:rPr lang="en-US" sz="1200" dirty="0">
                <a:solidFill>
                  <a:srgbClr val="1A1C22"/>
                </a:solidFill>
                <a:latin typeface="Calibri" pitchFamily="34" charset="0"/>
                <a:ea typeface="Calibri" pitchFamily="34" charset="-122"/>
                <a:cs typeface="Calibri" pitchFamily="34" charset="-120"/>
              </a:rPr>
              <a:t>.</a:t>
            </a:r>
            <a:endParaRPr lang="en-US" sz="1200" dirty="0"/>
          </a:p>
          <a:p>
            <a:pPr marL="342900" indent="-342900">
              <a:spcAft>
                <a:spcPts val="700"/>
              </a:spcAft>
              <a:buSzPct val="100000"/>
              <a:buChar char="•"/>
            </a:pPr>
            <a:r>
              <a:rPr lang="en-US" sz="1200" dirty="0" err="1">
                <a:solidFill>
                  <a:srgbClr val="1A1C22"/>
                </a:solidFill>
                <a:latin typeface="Calibri" pitchFamily="34" charset="0"/>
                <a:ea typeface="Calibri" pitchFamily="34" charset="-122"/>
                <a:cs typeface="Calibri" pitchFamily="34" charset="-120"/>
              </a:rPr>
              <a:t>Nếu</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trải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toàn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bộ</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phần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cứng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dành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cho</a:t>
            </a:r>
            <a:r>
              <a:rPr lang="en-US" sz="1200" dirty="0">
                <a:solidFill>
                  <a:srgbClr val="1A1C22"/>
                </a:solidFill>
                <a:latin typeface="Calibri" pitchFamily="34" charset="0"/>
                <a:ea typeface="Calibri" pitchFamily="34" charset="-122"/>
                <a:cs typeface="Calibri" pitchFamily="34" charset="-120"/>
              </a:rPr>
              <a:t> Conv1 (</a:t>
            </a:r>
            <a:r>
              <a:rPr lang="en-US" sz="1200" dirty="0" err="1">
                <a:solidFill>
                  <a:srgbClr val="1A1C22"/>
                </a:solidFill>
                <a:latin typeface="Calibri" pitchFamily="34" charset="0"/>
                <a:ea typeface="Calibri" pitchFamily="34" charset="-122"/>
                <a:cs typeface="Calibri" pitchFamily="34" charset="-120"/>
              </a:rPr>
              <a:t>chỉ</a:t>
            </a:r>
            <a:r>
              <a:rPr lang="en-US" sz="1200" dirty="0">
                <a:solidFill>
                  <a:srgbClr val="1A1C22"/>
                </a:solidFill>
                <a:latin typeface="Calibri" pitchFamily="34" charset="0"/>
                <a:ea typeface="Calibri" pitchFamily="34" charset="-122"/>
                <a:cs typeface="Calibri" pitchFamily="34" charset="-120"/>
              </a:rPr>
              <a:t> 1 </a:t>
            </a:r>
            <a:r>
              <a:rPr lang="en-US" sz="1200" dirty="0" err="1">
                <a:solidFill>
                  <a:srgbClr val="1A1C22"/>
                </a:solidFill>
                <a:latin typeface="Calibri" pitchFamily="34" charset="0"/>
                <a:ea typeface="Calibri" pitchFamily="34" charset="-122"/>
                <a:cs typeface="Calibri" pitchFamily="34" charset="-120"/>
              </a:rPr>
              <a:t>kênh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vào</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sẽ</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nằm</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không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phần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lớn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thời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gian</a:t>
            </a:r>
            <a:r>
              <a:rPr lang="en-US" sz="1200" dirty="0">
                <a:solidFill>
                  <a:srgbClr val="1A1C22"/>
                </a:solidFill>
                <a:latin typeface="Calibri" pitchFamily="34" charset="0"/>
                <a:ea typeface="Calibri" pitchFamily="34" charset="-122"/>
                <a:cs typeface="Calibri" pitchFamily="34" charset="-120"/>
              </a:rPr>
              <a:t>.</a:t>
            </a:r>
            <a:endParaRPr lang="en-US" sz="1200" dirty="0"/>
          </a:p>
          <a:p>
            <a:pPr marL="342900" indent="-342900">
              <a:spcAft>
                <a:spcPts val="700"/>
              </a:spcAft>
              <a:buSzPct val="100000"/>
              <a:buChar char="•"/>
            </a:pPr>
            <a:r>
              <a:rPr lang="en-US" sz="1200" dirty="0">
                <a:solidFill>
                  <a:srgbClr val="1A1C22"/>
                </a:solidFill>
                <a:latin typeface="Calibri" pitchFamily="34" charset="0"/>
                <a:ea typeface="Calibri" pitchFamily="34" charset="-122"/>
                <a:cs typeface="Calibri" pitchFamily="34" charset="-120"/>
              </a:rPr>
              <a:t>Tái </a:t>
            </a:r>
            <a:r>
              <a:rPr lang="en-US" sz="1200" dirty="0" err="1">
                <a:solidFill>
                  <a:srgbClr val="1A1C22"/>
                </a:solidFill>
                <a:latin typeface="Calibri" pitchFamily="34" charset="0"/>
                <a:ea typeface="Calibri" pitchFamily="34" charset="-122"/>
                <a:cs typeface="Calibri" pitchFamily="34" charset="-120"/>
              </a:rPr>
              <a:t>sử</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dụng</a:t>
            </a:r>
            <a:r>
              <a:rPr lang="en-US" sz="1200" dirty="0">
                <a:solidFill>
                  <a:srgbClr val="1A1C22"/>
                </a:solidFill>
                <a:latin typeface="Calibri" pitchFamily="34" charset="0"/>
                <a:ea typeface="Calibri" pitchFamily="34" charset="-122"/>
                <a:cs typeface="Calibri" pitchFamily="34" charset="-120"/>
              </a:rPr>
              <a:t> engine </a:t>
            </a:r>
            <a:r>
              <a:rPr lang="en-US" sz="1200" dirty="0" err="1">
                <a:solidFill>
                  <a:srgbClr val="1A1C22"/>
                </a:solidFill>
                <a:latin typeface="Calibri" pitchFamily="34" charset="0"/>
                <a:ea typeface="Calibri" pitchFamily="34" charset="-122"/>
                <a:cs typeface="Calibri" pitchFamily="34" charset="-120"/>
              </a:rPr>
              <a:t>giữ</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diện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tích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thấp</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mà</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độ</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trễ</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vẫn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đủ</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nhanh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cho</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theo</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dõi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liên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tục</a:t>
            </a:r>
            <a:r>
              <a:rPr lang="en-US" sz="1200" dirty="0">
                <a:solidFill>
                  <a:srgbClr val="1A1C22"/>
                </a:solidFill>
                <a:latin typeface="Calibri" pitchFamily="34" charset="0"/>
                <a:ea typeface="Calibri" pitchFamily="34" charset="-122"/>
                <a:cs typeface="Calibri" pitchFamily="34" charset="-120"/>
              </a:rPr>
              <a:t>.</a:t>
            </a:r>
            <a:endParaRPr lang="en-US" sz="1200" dirty="0"/>
          </a:p>
          <a:p>
            <a:pPr marL="342900" indent="-342900">
              <a:spcAft>
                <a:spcPts val="700"/>
              </a:spcAft>
              <a:buSzPct val="100000"/>
              <a:buChar char="•"/>
            </a:pPr>
            <a:r>
              <a:rPr lang="en-US" sz="1200" dirty="0">
                <a:solidFill>
                  <a:srgbClr val="1A1C22"/>
                </a:solidFill>
                <a:latin typeface="Calibri" pitchFamily="34" charset="0"/>
                <a:ea typeface="Calibri" pitchFamily="34" charset="-122"/>
                <a:cs typeface="Calibri" pitchFamily="34" charset="-120"/>
              </a:rPr>
              <a:t>Song </a:t>
            </a:r>
            <a:r>
              <a:rPr lang="en-US" sz="1200" dirty="0" err="1">
                <a:solidFill>
                  <a:srgbClr val="1A1C22"/>
                </a:solidFill>
                <a:latin typeface="Calibri" pitchFamily="34" charset="0"/>
                <a:ea typeface="Calibri" pitchFamily="34" charset="-122"/>
                <a:cs typeface="Calibri" pitchFamily="34" charset="-120"/>
              </a:rPr>
              <a:t>song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hoá</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theo</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hai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chiều</a:t>
            </a:r>
            <a:r>
              <a:rPr lang="en-US" sz="1200" dirty="0">
                <a:solidFill>
                  <a:srgbClr val="1A1C22"/>
                </a:solidFill>
                <a:latin typeface="Calibri" pitchFamily="34" charset="0"/>
                <a:ea typeface="Calibri" pitchFamily="34" charset="-122"/>
                <a:cs typeface="Calibri" pitchFamily="34" charset="-120"/>
              </a:rPr>
              <a:t>: 8 </a:t>
            </a:r>
            <a:r>
              <a:rPr lang="en-US" sz="1200" dirty="0" err="1">
                <a:solidFill>
                  <a:srgbClr val="1A1C22"/>
                </a:solidFill>
                <a:latin typeface="Calibri" pitchFamily="34" charset="0"/>
                <a:ea typeface="Calibri" pitchFamily="34" charset="-122"/>
                <a:cs typeface="Calibri" pitchFamily="34" charset="-120"/>
              </a:rPr>
              <a:t>kênh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đầu</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ra</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và</a:t>
            </a:r>
            <a:r>
              <a:rPr lang="en-US" sz="1200" dirty="0">
                <a:solidFill>
                  <a:srgbClr val="1A1C22"/>
                </a:solidFill>
                <a:latin typeface="Calibri" pitchFamily="34" charset="0"/>
                <a:ea typeface="Calibri" pitchFamily="34" charset="-122"/>
                <a:cs typeface="Calibri" pitchFamily="34" charset="-120"/>
              </a:rPr>
              <a:t> 5 </a:t>
            </a:r>
            <a:r>
              <a:rPr lang="en-US" sz="1200" dirty="0" err="1">
                <a:solidFill>
                  <a:srgbClr val="1A1C22"/>
                </a:solidFill>
                <a:latin typeface="Calibri" pitchFamily="34" charset="0"/>
                <a:ea typeface="Calibri" pitchFamily="34" charset="-122"/>
                <a:cs typeface="Calibri" pitchFamily="34" charset="-120"/>
              </a:rPr>
              <a:t>trọng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số</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trong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nhân</a:t>
            </a:r>
            <a:r>
              <a:rPr lang="en-US" sz="1200" dirty="0">
                <a:solidFill>
                  <a:srgbClr val="1A1C22"/>
                </a:solidFill>
                <a:latin typeface="Calibri" pitchFamily="34" charset="0"/>
                <a:ea typeface="Calibri" pitchFamily="34" charset="-122"/>
                <a:cs typeface="Calibri" pitchFamily="34" charset="-120"/>
              </a:rPr>
              <a:t>.</a:t>
            </a:r>
            <a:endParaRPr lang="en-US" sz="1200" dirty="0"/>
          </a:p>
          <a:p>
            <a:endParaRPr lang="en-US" dirty="0"/>
          </a:p>
        </p:txBody>
      </p:sp>
      <p:sp>
        <p:nvSpPr>
          <p:cNvPr id="4" name="Slide Number Placeholder 3">
            <a:extLst>
              <a:ext uri="{FF2B5EF4-FFF2-40B4-BE49-F238E27FC236}">
                <a16:creationId xmlns:a16="http://schemas.microsoft.com/office/drawing/2014/main" id="{A8929FD5-54FC-FF5B-6724-D23207DA88BB}"/>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94457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gộp bias và hằng số làm tròn vào số hạng khởi tạo của bộ tích luỹ là khớp bit tuyệt đối với công thức gốc nhờ tính kết hợp của phép cộng, và tiết kiệm được hai bộ cộng ở các tầng </a:t>
            </a:r>
            <a:r>
              <a:rPr lang="en-US" dirty="0" err="1"/>
              <a:t>sau</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err="1">
                <a:solidFill>
                  <a:srgbClr val="990011"/>
                </a:solidFill>
                <a:latin typeface="Calibri" pitchFamily="34" charset="0"/>
                <a:ea typeface="Calibri" pitchFamily="34" charset="-122"/>
                <a:cs typeface="Calibri" pitchFamily="34" charset="-120"/>
              </a:rPr>
              <a:t>Đường</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ống</a:t>
            </a:r>
            <a:r>
              <a:rPr lang="en-US" sz="1200" i="1" dirty="0">
                <a:solidFill>
                  <a:srgbClr val="990011"/>
                </a:solidFill>
                <a:latin typeface="Calibri" pitchFamily="34" charset="0"/>
                <a:ea typeface="Calibri" pitchFamily="34" charset="-122"/>
                <a:cs typeface="Calibri" pitchFamily="34" charset="-120"/>
              </a:rPr>
              <a:t> 10 </a:t>
            </a:r>
            <a:r>
              <a:rPr lang="en-US" sz="1200" i="1" dirty="0" err="1">
                <a:solidFill>
                  <a:srgbClr val="990011"/>
                </a:solidFill>
                <a:latin typeface="Calibri" pitchFamily="34" charset="0"/>
                <a:ea typeface="Calibri" pitchFamily="34" charset="-122"/>
                <a:cs typeface="Calibri" pitchFamily="34" charset="-120"/>
              </a:rPr>
              <a:t>tầng</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mỗi</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tầng</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cách</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nhau</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một</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lớp</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thanh</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ghi</a:t>
            </a:r>
            <a:r>
              <a:rPr lang="en-US" sz="1200" i="1" dirty="0">
                <a:solidFill>
                  <a:srgbClr val="990011"/>
                </a:solidFill>
                <a:latin typeface="Calibri" pitchFamily="34" charset="0"/>
                <a:ea typeface="Calibri" pitchFamily="34" charset="-122"/>
                <a:cs typeface="Calibri" pitchFamily="34" charset="-120"/>
              </a:rPr>
              <a:t> — </a:t>
            </a:r>
            <a:r>
              <a:rPr lang="en-US" sz="1200" i="1" dirty="0" err="1">
                <a:solidFill>
                  <a:srgbClr val="990011"/>
                </a:solidFill>
                <a:latin typeface="Calibri" pitchFamily="34" charset="0"/>
                <a:ea typeface="Calibri" pitchFamily="34" charset="-122"/>
                <a:cs typeface="Calibri" pitchFamily="34" charset="-120"/>
              </a:rPr>
              <a:t>rút</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ngắn</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đoạn</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mạch</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tổ</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hợp</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giữa</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hai</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thanh</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ghi</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liên</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tiếp</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nhờ</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đó</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nâng</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được</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tần</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số</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hoạt</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động</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tối</a:t>
            </a:r>
            <a:r>
              <a:rPr lang="en-US" sz="1200" i="1" dirty="0">
                <a:solidFill>
                  <a:srgbClr val="990011"/>
                </a:solidFill>
                <a:latin typeface="Calibri" pitchFamily="34" charset="0"/>
                <a:ea typeface="Calibri" pitchFamily="34" charset="-122"/>
                <a:cs typeface="Calibri" pitchFamily="34" charset="-120"/>
              </a:rPr>
              <a:t> </a:t>
            </a:r>
            <a:r>
              <a:rPr lang="en-US" sz="1200" i="1" dirty="0" err="1">
                <a:solidFill>
                  <a:srgbClr val="990011"/>
                </a:solidFill>
                <a:latin typeface="Calibri" pitchFamily="34" charset="0"/>
                <a:ea typeface="Calibri" pitchFamily="34" charset="-122"/>
                <a:cs typeface="Calibri" pitchFamily="34" charset="-120"/>
              </a:rPr>
              <a:t>đa</a:t>
            </a:r>
            <a:r>
              <a:rPr lang="en-US" sz="1200" i="1" dirty="0">
                <a:solidFill>
                  <a:srgbClr val="990011"/>
                </a:solidFill>
                <a:latin typeface="Calibri" pitchFamily="34" charset="0"/>
                <a:ea typeface="Calibri" pitchFamily="34" charset="-122"/>
                <a:cs typeface="Calibr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Phụ</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trách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đúng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đầu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ra.</a:t>
            </a:r>
            <a:endParaRPr lang="en-US"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Nhận</a:t>
            </a:r>
            <a:r>
              <a:rPr lang="en-US" dirty="0">
                <a:solidFill>
                  <a:srgbClr val="1A1C22"/>
                </a:solidFill>
                <a:latin typeface="Calibri" pitchFamily="34" charset="0"/>
                <a:ea typeface="Calibri" pitchFamily="34" charset="-122"/>
                <a:cs typeface="Calibri" pitchFamily="34" charset="-120"/>
              </a:rPr>
              <a:t> 5 </a:t>
            </a:r>
            <a:r>
              <a:rPr lang="en-US" dirty="0" err="1">
                <a:solidFill>
                  <a:srgbClr val="1A1C22"/>
                </a:solidFill>
                <a:latin typeface="Calibri" pitchFamily="34" charset="0"/>
                <a:ea typeface="Calibri" pitchFamily="34" charset="-122"/>
                <a:cs typeface="Calibri" pitchFamily="34" charset="-120"/>
              </a:rPr>
              <a:t>mẫu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dữ</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liệu</a:t>
            </a:r>
            <a:r>
              <a:rPr lang="en-US" dirty="0">
                <a:solidFill>
                  <a:srgbClr val="1A1C22"/>
                </a:solidFill>
                <a:latin typeface="Calibri" pitchFamily="34" charset="0"/>
                <a:ea typeface="Calibri" pitchFamily="34" charset="-122"/>
                <a:cs typeface="Calibri" pitchFamily="34" charset="-120"/>
              </a:rPr>
              <a:t> + 5 </a:t>
            </a:r>
            <a:r>
              <a:rPr lang="en-US" dirty="0" err="1">
                <a:solidFill>
                  <a:srgbClr val="1A1C22"/>
                </a:solidFill>
                <a:latin typeface="Calibri" pitchFamily="34" charset="0"/>
                <a:ea typeface="Calibri" pitchFamily="34" charset="-122"/>
                <a:cs typeface="Calibri" pitchFamily="34" charset="-120"/>
              </a:rPr>
              <a:t>trọng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a:t>
            </a:r>
            <a:endParaRPr lang="en-US"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Tích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chập</a:t>
            </a:r>
            <a:r>
              <a:rPr lang="en-US" dirty="0">
                <a:solidFill>
                  <a:srgbClr val="1A1C22"/>
                </a:solidFill>
                <a:latin typeface="Calibri" pitchFamily="34" charset="0"/>
                <a:ea typeface="Calibri" pitchFamily="34" charset="-122"/>
                <a:cs typeface="Calibri" pitchFamily="34" charset="-120"/>
              </a:rPr>
              <a:t> 1D → </a:t>
            </a:r>
            <a:r>
              <a:rPr lang="en-US" dirty="0" err="1">
                <a:solidFill>
                  <a:srgbClr val="1A1C22"/>
                </a:solidFill>
                <a:latin typeface="Calibri" pitchFamily="34" charset="0"/>
                <a:ea typeface="Calibri" pitchFamily="34" charset="-122"/>
                <a:cs typeface="Calibri" pitchFamily="34" charset="-120"/>
              </a:rPr>
              <a:t>tái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tỉ</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lệ</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về</a:t>
            </a:r>
            <a:r>
              <a:rPr lang="en-US" dirty="0">
                <a:solidFill>
                  <a:srgbClr val="1A1C22"/>
                </a:solidFill>
                <a:latin typeface="Calibri" pitchFamily="34" charset="0"/>
                <a:ea typeface="Calibri" pitchFamily="34" charset="-122"/>
                <a:cs typeface="Calibri" pitchFamily="34" charset="-120"/>
              </a:rPr>
              <a:t> INT8 → </a:t>
            </a:r>
            <a:r>
              <a:rPr lang="en-US" dirty="0" err="1">
                <a:solidFill>
                  <a:srgbClr val="1A1C22"/>
                </a:solidFill>
                <a:latin typeface="Calibri" pitchFamily="34" charset="0"/>
                <a:ea typeface="Calibri" pitchFamily="34" charset="-122"/>
                <a:cs typeface="Calibri" pitchFamily="34" charset="-120"/>
              </a:rPr>
              <a:t>gom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cực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sau</a:t>
            </a:r>
            <a:r>
              <a:rPr lang="en-US" dirty="0">
                <a:solidFill>
                  <a:srgbClr val="1A1C22"/>
                </a:solidFill>
                <a:latin typeface="Calibri" pitchFamily="34" charset="0"/>
                <a:ea typeface="Calibri" pitchFamily="34" charset="-122"/>
                <a:cs typeface="Calibri" pitchFamily="34" charset="-120"/>
              </a:rPr>
              <a:t> 5 </a:t>
            </a:r>
            <a:r>
              <a:rPr lang="en-US" dirty="0" err="1">
                <a:solidFill>
                  <a:srgbClr val="1A1C22"/>
                </a:solidFill>
                <a:latin typeface="Calibri" pitchFamily="34" charset="0"/>
                <a:ea typeface="Calibri" pitchFamily="34" charset="-122"/>
                <a:cs typeface="Calibri" pitchFamily="34" charset="-120"/>
              </a:rPr>
              <a:t>mẫu</a:t>
            </a:r>
            <a:endParaRPr lang="en-US" dirty="0">
              <a:solidFill>
                <a:srgbClr val="1A1C22"/>
              </a:solidFill>
              <a:latin typeface="Calibri" pitchFamily="34" charset="0"/>
              <a:ea typeface="Calibri" pitchFamily="34" charset="-122"/>
              <a:cs typeface="Calibri" pitchFamily="34" charset="-120"/>
            </a:endParaRPr>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Gồm</a:t>
            </a:r>
            <a:r>
              <a:rPr lang="en-US" dirty="0">
                <a:solidFill>
                  <a:srgbClr val="1A1C22"/>
                </a:solidFill>
                <a:latin typeface="Calibri" pitchFamily="34" charset="0"/>
                <a:ea typeface="Calibri" pitchFamily="34" charset="-122"/>
                <a:cs typeface="Calibri" pitchFamily="34" charset="-120"/>
              </a:rPr>
              <a:t> 10 </a:t>
            </a:r>
            <a:r>
              <a:rPr lang="en-US" dirty="0" err="1">
                <a:solidFill>
                  <a:srgbClr val="1A1C22"/>
                </a:solidFill>
                <a:latin typeface="Calibri" pitchFamily="34" charset="0"/>
                <a:ea typeface="Calibri" pitchFamily="34" charset="-122"/>
                <a:cs typeface="Calibri" pitchFamily="34" charset="-120"/>
              </a:rPr>
              <a:t>tầng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tầng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tích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luỹ</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mở</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rộng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theo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vào</a:t>
            </a:r>
            <a:r>
              <a:rPr lang="en-US" dirty="0">
                <a:solidFill>
                  <a:srgbClr val="1A1C22"/>
                </a:solidFill>
                <a:latin typeface="Calibri" pitchFamily="34" charset="0"/>
                <a:ea typeface="Calibri" pitchFamily="34" charset="-122"/>
                <a:cs typeface="Calibri" pitchFamily="34" charset="-120"/>
              </a:rPr>
              <a:t>)</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cơ chế đáng chú ý. Chuỗi trễ đồng bộ là chi tiết định thời tinh tế nhất: độ sâu 5 nhịp phải khớp tuyệt đối với độ sâu thực của đường ống, sai một nhịp là mỗi tổng tích chập bị quy sai kênh vào.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giai đoạn phân loại đầu ra chỉ tốn 22 nhịp, rất nhỏ so với 5.216 nhịp của cả lượt suy luận. Ghi chú: nhịp flush là cần thiết vì đường ống FC có độ trễ hai nhịp.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Gộp toàn bộ điều phối vào một FSM duy nhất — kể cả 5 trạng thái con của giai đoạn phân loại đầu ra — giúp toàn bộ định thời nằm tập trung một chỗ, dễ tính tổng số nhịp và dễ kiểm </a:t>
            </a:r>
            <a:r>
              <a:rPr lang="en-US" dirty="0" err="1"/>
              <a:t>chứng</a:t>
            </a:r>
            <a:r>
              <a:rPr lang="en-US" dirty="0"/>
              <a:t>.</a:t>
            </a:r>
            <a:br>
              <a:rPr lang="en-US" dirty="0"/>
            </a:br>
            <a:r>
              <a:rPr lang="en-US" i="0" dirty="0">
                <a:solidFill>
                  <a:srgbClr val="990011"/>
                </a:solidFill>
                <a:latin typeface="Calibri" pitchFamily="34" charset="0"/>
                <a:ea typeface="Calibri" pitchFamily="34" charset="-122"/>
                <a:cs typeface="Calibri" pitchFamily="34" charset="-120"/>
              </a:rPr>
              <a:t>8 </a:t>
            </a:r>
            <a:r>
              <a:rPr lang="en-US" i="0" dirty="0" err="1">
                <a:solidFill>
                  <a:srgbClr val="990011"/>
                </a:solidFill>
                <a:latin typeface="Calibri" pitchFamily="34" charset="0"/>
                <a:ea typeface="Calibri" pitchFamily="34" charset="-122"/>
                <a:cs typeface="Calibri" pitchFamily="34" charset="-120"/>
              </a:rPr>
              <a:t>trạng</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thái</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chính</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mã</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hoá</a:t>
            </a:r>
            <a:r>
              <a:rPr lang="en-US" i="0" dirty="0">
                <a:solidFill>
                  <a:srgbClr val="990011"/>
                </a:solidFill>
                <a:latin typeface="Calibri" pitchFamily="34" charset="0"/>
                <a:ea typeface="Calibri" pitchFamily="34" charset="-122"/>
                <a:cs typeface="Calibri" pitchFamily="34" charset="-120"/>
              </a:rPr>
              <a:t> 3 bit: IDLE · LOAD_INPUT · CONV1 → CONV4 · GAP_FC_S (</a:t>
            </a:r>
            <a:r>
              <a:rPr lang="en-US" i="0" dirty="0" err="1">
                <a:solidFill>
                  <a:srgbClr val="990011"/>
                </a:solidFill>
                <a:latin typeface="Calibri" pitchFamily="34" charset="0"/>
                <a:ea typeface="Calibri" pitchFamily="34" charset="-122"/>
                <a:cs typeface="Calibri" pitchFamily="34" charset="-120"/>
              </a:rPr>
              <a:t>chứa</a:t>
            </a:r>
            <a:r>
              <a:rPr lang="en-US" i="0" dirty="0">
                <a:solidFill>
                  <a:srgbClr val="990011"/>
                </a:solidFill>
                <a:latin typeface="Calibri" pitchFamily="34" charset="0"/>
                <a:ea typeface="Calibri" pitchFamily="34" charset="-122"/>
                <a:cs typeface="Calibri" pitchFamily="34" charset="-120"/>
              </a:rPr>
              <a:t> 5 </a:t>
            </a:r>
            <a:r>
              <a:rPr lang="en-US" i="0" dirty="0" err="1">
                <a:solidFill>
                  <a:srgbClr val="990011"/>
                </a:solidFill>
                <a:latin typeface="Calibri" pitchFamily="34" charset="0"/>
                <a:ea typeface="Calibri" pitchFamily="34" charset="-122"/>
                <a:cs typeface="Calibri" pitchFamily="34" charset="-120"/>
              </a:rPr>
              <a:t>trạng</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thái</a:t>
            </a:r>
            <a:r>
              <a:rPr lang="en-US" i="0" dirty="0">
                <a:solidFill>
                  <a:srgbClr val="990011"/>
                </a:solidFill>
                <a:latin typeface="Calibri" pitchFamily="34" charset="0"/>
                <a:ea typeface="Calibri" pitchFamily="34" charset="-122"/>
                <a:cs typeface="Calibri" pitchFamily="34" charset="-120"/>
              </a:rPr>
              <a:t> con) · DONE_S.  Ở DONE_S, </a:t>
            </a:r>
            <a:r>
              <a:rPr lang="en-US" i="0" dirty="0" err="1">
                <a:solidFill>
                  <a:srgbClr val="990011"/>
                </a:solidFill>
                <a:latin typeface="Calibri" pitchFamily="34" charset="0"/>
                <a:ea typeface="Calibri" pitchFamily="34" charset="-122"/>
                <a:cs typeface="Calibri" pitchFamily="34" charset="-120"/>
              </a:rPr>
              <a:t>bộ</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điều</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khiển</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vẫn</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nhận</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một</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xung</a:t>
            </a:r>
            <a:r>
              <a:rPr lang="en-US" i="0" dirty="0">
                <a:solidFill>
                  <a:srgbClr val="990011"/>
                </a:solidFill>
                <a:latin typeface="Calibri" pitchFamily="34" charset="0"/>
                <a:ea typeface="Calibri" pitchFamily="34" charset="-122"/>
                <a:cs typeface="Calibri" pitchFamily="34" charset="-120"/>
              </a:rPr>
              <a:t> start </a:t>
            </a:r>
            <a:r>
              <a:rPr lang="en-US" i="0" dirty="0" err="1">
                <a:solidFill>
                  <a:srgbClr val="990011"/>
                </a:solidFill>
                <a:latin typeface="Calibri" pitchFamily="34" charset="0"/>
                <a:ea typeface="Calibri" pitchFamily="34" charset="-122"/>
                <a:cs typeface="Calibri" pitchFamily="34" charset="-120"/>
              </a:rPr>
              <a:t>mới</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để</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chạy</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cửa</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sổ</a:t>
            </a:r>
            <a:r>
              <a:rPr lang="en-US" i="0" dirty="0">
                <a:solidFill>
                  <a:srgbClr val="990011"/>
                </a:solidFill>
                <a:latin typeface="Calibri" pitchFamily="34" charset="0"/>
                <a:ea typeface="Calibri" pitchFamily="34" charset="-122"/>
                <a:cs typeface="Calibri" pitchFamily="34" charset="-120"/>
              </a:rPr>
              <a:t> ECG </a:t>
            </a:r>
            <a:r>
              <a:rPr lang="en-US" i="0" dirty="0" err="1">
                <a:solidFill>
                  <a:srgbClr val="990011"/>
                </a:solidFill>
                <a:latin typeface="Calibri" pitchFamily="34" charset="0"/>
                <a:ea typeface="Calibri" pitchFamily="34" charset="-122"/>
                <a:cs typeface="Calibri" pitchFamily="34" charset="-120"/>
              </a:rPr>
              <a:t>tiếp</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theo</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mà</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không</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mất</a:t>
            </a:r>
            <a:r>
              <a:rPr lang="en-US" i="0" dirty="0">
                <a:solidFill>
                  <a:srgbClr val="990011"/>
                </a:solidFill>
                <a:latin typeface="Calibri" pitchFamily="34" charset="0"/>
                <a:ea typeface="Calibri" pitchFamily="34" charset="-122"/>
                <a:cs typeface="Calibri" pitchFamily="34" charset="-120"/>
              </a:rPr>
              <a:t> chu </a:t>
            </a:r>
            <a:r>
              <a:rPr lang="en-US" i="0" dirty="0" err="1">
                <a:solidFill>
                  <a:srgbClr val="990011"/>
                </a:solidFill>
                <a:latin typeface="Calibri" pitchFamily="34" charset="0"/>
                <a:ea typeface="Calibri" pitchFamily="34" charset="-122"/>
                <a:cs typeface="Calibri" pitchFamily="34" charset="-120"/>
              </a:rPr>
              <a:t>kỳ</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khởi</a:t>
            </a:r>
            <a:r>
              <a:rPr lang="en-US" i="0" dirty="0">
                <a:solidFill>
                  <a:srgbClr val="990011"/>
                </a:solidFill>
                <a:latin typeface="Calibri" pitchFamily="34" charset="0"/>
                <a:ea typeface="Calibri" pitchFamily="34" charset="-122"/>
                <a:cs typeface="Calibri" pitchFamily="34" charset="-120"/>
              </a:rPr>
              <a:t> </a:t>
            </a:r>
            <a:r>
              <a:rPr lang="en-US" i="0" dirty="0" err="1">
                <a:solidFill>
                  <a:srgbClr val="990011"/>
                </a:solidFill>
                <a:latin typeface="Calibri" pitchFamily="34" charset="0"/>
                <a:ea typeface="Calibri" pitchFamily="34" charset="-122"/>
                <a:cs typeface="Calibri" pitchFamily="34" charset="-120"/>
              </a:rPr>
              <a:t>tạo</a:t>
            </a:r>
            <a:r>
              <a:rPr lang="en-US" i="0" dirty="0">
                <a:solidFill>
                  <a:srgbClr val="990011"/>
                </a:solidFill>
                <a:latin typeface="Calibri" pitchFamily="34" charset="0"/>
                <a:ea typeface="Calibri" pitchFamily="34" charset="-122"/>
                <a:cs typeface="Calibri" pitchFamily="34" charset="-120"/>
              </a:rPr>
              <a:t>.</a:t>
            </a:r>
            <a:endParaRPr lang="en-US" i="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Ngân sách chu kỳ cho thấy Conv1 và Conv2 chiếm gần 90% thời gian — do chuỗi đầu vào dài. Tính chất độ trễ xác định là ưu điểm quan trọng cho ứng dụng theo dõi thời gian thực.</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Lõi tính toán được thiết kế độc lập với bus. Lớp bao Avalon-MM diễn dịch giao thức bus thành tín hiệu điều khiển riêng của lõi; cầu JTAG-to-Avalon cho phép PC ghi/đọc bus trực tiếp qua cáp USB-Blaster.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khi diễn giải: AUC độc lập với ngưỡng, còn F1 phụ thuộc ngưỡng argmax. Khi AUC cao mà F1 thấp hơn đáng kể thì nguyên nhân nằm ở vị trí biên quyết định, không phải ở khả năng biểu diễn của mô hình.</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cần nhấn mạnh: phiên bản INT8 trong bảng không phải một mô phỏng gần đúng — nó chạy đúng trình tự số nguyên mà mạch thực hiện, nên 94,27% chính là độ chính xác của phần cứng.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5F87C-ABB3-2111-F782-2E8320C387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E5ADF-39FC-6496-CEAB-8CC74A62B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22394-901C-20E4-B720-AE0DDCE2B78F}"/>
              </a:ext>
            </a:extLst>
          </p:cNvPr>
          <p:cNvSpPr>
            <a:spLocks noGrp="1"/>
          </p:cNvSpPr>
          <p:nvPr>
            <p:ph type="body" idx="1"/>
          </p:nvPr>
        </p:nvSpPr>
        <p:spPr/>
        <p:txBody>
          <a:bodyPr/>
          <a:lstStyle/>
          <a:p>
            <a:r>
              <a:rPr lang="en-US" dirty="0"/>
              <a:t>Ma trận nhầm lẫn cho thấy nhầm lẫn tập trung ở nhóm nhịp xoang, đúng như kỳ vọng vì ranh giới giữa nhịp nhanh xoang và nhịp xoang bình thường chủ yếu là ngưỡng tần số.</a:t>
            </a:r>
          </a:p>
        </p:txBody>
      </p:sp>
      <p:sp>
        <p:nvSpPr>
          <p:cNvPr id="4" name="Slide Number Placeholder 3">
            <a:extLst>
              <a:ext uri="{FF2B5EF4-FFF2-40B4-BE49-F238E27FC236}">
                <a16:creationId xmlns:a16="http://schemas.microsoft.com/office/drawing/2014/main" id="{937D03B4-EA2D-1643-325D-315A21A4FBB3}"/>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2433221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67014-19C7-C6A1-F689-AF0B17C9D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A55AA-9C5B-65B6-B754-BDE81E1E89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4DEB5-7600-036C-53B2-325D8653A7DF}"/>
              </a:ext>
            </a:extLst>
          </p:cNvPr>
          <p:cNvSpPr>
            <a:spLocks noGrp="1"/>
          </p:cNvSpPr>
          <p:nvPr>
            <p:ph type="body" idx="1"/>
          </p:nvPr>
        </p:nvSpPr>
        <p:spPr/>
        <p:txBody>
          <a:bodyPr/>
          <a:lstStyle/>
          <a:p>
            <a:r>
              <a:rPr lang="en-US" dirty="0"/>
              <a:t>Tập Georgia thu bằng hệ thiết bị khác tại cơ sở y tế khác, hoàn toàn không tham gia huấn luyện. Giữ được 93% là kết quả tốt cho một phép chuyển giao xa. Phân tích khoảng cách AUC–F1 cũng gợi ra hướng cải thiện: hiệu chỉnh lại ngưỡng trên tập đích.</a:t>
            </a:r>
          </a:p>
        </p:txBody>
      </p:sp>
      <p:sp>
        <p:nvSpPr>
          <p:cNvPr id="4" name="Slide Number Placeholder 3">
            <a:extLst>
              <a:ext uri="{FF2B5EF4-FFF2-40B4-BE49-F238E27FC236}">
                <a16:creationId xmlns:a16="http://schemas.microsoft.com/office/drawing/2014/main" id="{32B4F94D-92E6-05EC-D949-2F86D624BD8B}"/>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8387421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tầng kiểm chứng, tổng cộng 38 trường hợp kiểm tra. Đáng chú ý TC02a: với bias 128 và nb 8, kết quả đúng phải là 1 do làm tròn nửa lên, trong khi cắt bỏ phần thập phân sẽ cho 0 — đúng điểm cải tiến đã trình bày ở Chương 3.</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30AC9-87B7-ECF1-961D-8FCB3F2D1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28D83-3484-5E5D-8B4F-1AF0234DC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DCB4C1-8553-EC93-9EC7-C93C904184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 tầng kiểm chứng, tổng cộng 38 trường hợp kiểm tra. Đáng chú ý TC02a: với bias 128 và nb 8, kết quả đúng phải là 1 do làm tròn nửa lên, trong khi cắt bỏ phần thập phân sẽ cho 0 — đúng điểm cải tiến đã trình bày ở Chương 3.</a:t>
            </a:r>
            <a:br>
              <a:rPr lang="en-US" dirty="0"/>
            </a:br>
            <a:r>
              <a:rPr lang="en-US" sz="1200" b="1" dirty="0" err="1">
                <a:solidFill>
                  <a:srgbClr val="990011"/>
                </a:solidFill>
                <a:latin typeface="Calibri" pitchFamily="34" charset="0"/>
                <a:ea typeface="Calibri" pitchFamily="34" charset="-122"/>
                <a:cs typeface="Calibri" pitchFamily="34" charset="-120"/>
              </a:rPr>
              <a:t>Vì</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sao</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đòi</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khớp</a:t>
            </a:r>
            <a:r>
              <a:rPr lang="en-US" sz="1200" b="1" dirty="0">
                <a:solidFill>
                  <a:srgbClr val="990011"/>
                </a:solidFill>
                <a:latin typeface="Calibri" pitchFamily="34" charset="0"/>
                <a:ea typeface="Calibri" pitchFamily="34" charset="-122"/>
                <a:cs typeface="Calibri" pitchFamily="34" charset="-120"/>
              </a:rPr>
              <a:t> bit </a:t>
            </a:r>
            <a:r>
              <a:rPr lang="en-US" sz="1200" b="1" dirty="0" err="1">
                <a:solidFill>
                  <a:srgbClr val="990011"/>
                </a:solidFill>
                <a:latin typeface="Calibri" pitchFamily="34" charset="0"/>
                <a:ea typeface="Calibri" pitchFamily="34" charset="-122"/>
                <a:cs typeface="Calibri" pitchFamily="34" charset="-120"/>
              </a:rPr>
              <a:t>chứ</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không</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chỉ</a:t>
            </a:r>
            <a:r>
              <a:rPr lang="en-US" sz="1200" b="1" dirty="0">
                <a:solidFill>
                  <a:srgbClr val="990011"/>
                </a:solidFill>
                <a:latin typeface="Calibri" pitchFamily="34" charset="0"/>
                <a:ea typeface="Calibri" pitchFamily="34" charset="-122"/>
                <a:cs typeface="Calibri" pitchFamily="34" charset="-120"/>
              </a:rPr>
              <a:t> so </a:t>
            </a:r>
            <a:r>
              <a:rPr lang="en-US" sz="1200" b="1" dirty="0" err="1">
                <a:solidFill>
                  <a:srgbClr val="990011"/>
                </a:solidFill>
                <a:latin typeface="Calibri" pitchFamily="34" charset="0"/>
                <a:ea typeface="Calibri" pitchFamily="34" charset="-122"/>
                <a:cs typeface="Calibri" pitchFamily="34" charset="-120"/>
              </a:rPr>
              <a:t>độ</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chính</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xác</a:t>
            </a:r>
            <a:r>
              <a:rPr lang="en-US" sz="1200" b="1" dirty="0">
                <a:solidFill>
                  <a:srgbClr val="990011"/>
                </a:solidFill>
                <a:latin typeface="Calibri" pitchFamily="34" charset="0"/>
                <a:ea typeface="Calibri" pitchFamily="34" charset="-122"/>
                <a:cs typeface="Calibri" pitchFamily="34" charset="-120"/>
              </a:rPr>
              <a:t>?  </a:t>
            </a:r>
            <a:r>
              <a:rPr lang="en-US" sz="1200" dirty="0">
                <a:solidFill>
                  <a:srgbClr val="1A1C22"/>
                </a:solidFill>
                <a:latin typeface="Calibri" pitchFamily="34" charset="0"/>
                <a:ea typeface="Calibri" pitchFamily="34" charset="-122"/>
                <a:cs typeface="Calibri" pitchFamily="34" charset="-120"/>
              </a:rPr>
              <a:t>So </a:t>
            </a:r>
            <a:r>
              <a:rPr lang="en-US" sz="1200" dirty="0" err="1">
                <a:solidFill>
                  <a:srgbClr val="1A1C22"/>
                </a:solidFill>
                <a:latin typeface="Calibri" pitchFamily="34" charset="0"/>
                <a:ea typeface="Calibri" pitchFamily="34" charset="-122"/>
                <a:cs typeface="Calibri" pitchFamily="34" charset="-120"/>
              </a:rPr>
              <a:t>sánh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độ</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chính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xác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thống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kê</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có</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thể</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che</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giấu</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hai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sai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số</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triệt</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tiêu</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lẫn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nhau</a:t>
            </a:r>
            <a:r>
              <a:rPr lang="en-US" sz="1200" dirty="0">
                <a:solidFill>
                  <a:srgbClr val="1A1C22"/>
                </a:solidFill>
                <a:latin typeface="Calibri" pitchFamily="34" charset="0"/>
                <a:ea typeface="Calibri" pitchFamily="34" charset="-122"/>
                <a:cs typeface="Calibri" pitchFamily="34" charset="-120"/>
              </a:rPr>
              <a:t>. Sai </a:t>
            </a:r>
            <a:r>
              <a:rPr lang="en-US" sz="1200" dirty="0" err="1">
                <a:solidFill>
                  <a:srgbClr val="1A1C22"/>
                </a:solidFill>
                <a:latin typeface="Calibri" pitchFamily="34" charset="0"/>
                <a:ea typeface="Calibri" pitchFamily="34" charset="-122"/>
                <a:cs typeface="Calibri" pitchFamily="34" charset="-120"/>
              </a:rPr>
              <a:t>lệch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bằng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đúng</a:t>
            </a:r>
            <a:r>
              <a:rPr lang="en-US" sz="1200" dirty="0">
                <a:solidFill>
                  <a:srgbClr val="1A1C22"/>
                </a:solidFill>
                <a:latin typeface="Calibri" pitchFamily="34" charset="0"/>
                <a:ea typeface="Calibri" pitchFamily="34" charset="-122"/>
                <a:cs typeface="Calibri" pitchFamily="34" charset="-120"/>
              </a:rPr>
              <a:t> 0 ở </a:t>
            </a:r>
            <a:r>
              <a:rPr lang="en-US" sz="1200" dirty="0" err="1">
                <a:solidFill>
                  <a:srgbClr val="1A1C22"/>
                </a:solidFill>
                <a:latin typeface="Calibri" pitchFamily="34" charset="0"/>
                <a:ea typeface="Calibri" pitchFamily="34" charset="-122"/>
                <a:cs typeface="Calibri" pitchFamily="34" charset="-120"/>
              </a:rPr>
              <a:t>mọi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tầng</a:t>
            </a:r>
            <a:r>
              <a:rPr lang="en-US" sz="1200" dirty="0">
                <a:solidFill>
                  <a:srgbClr val="1A1C22"/>
                </a:solidFill>
                <a:latin typeface="Calibri" pitchFamily="34" charset="0"/>
                <a:ea typeface="Calibri" pitchFamily="34" charset="-122"/>
                <a:cs typeface="Calibri" pitchFamily="34" charset="-120"/>
              </a:rPr>
              <a:t> — </a:t>
            </a:r>
            <a:r>
              <a:rPr lang="en-US" sz="1200" dirty="0" err="1">
                <a:solidFill>
                  <a:srgbClr val="1A1C22"/>
                </a:solidFill>
                <a:latin typeface="Calibri" pitchFamily="34" charset="0"/>
                <a:ea typeface="Calibri" pitchFamily="34" charset="-122"/>
                <a:cs typeface="Calibri" pitchFamily="34" charset="-120"/>
              </a:rPr>
              <a:t>chứ</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không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chỉ</a:t>
            </a:r>
            <a:r>
              <a:rPr lang="en-US" sz="1200" dirty="0">
                <a:solidFill>
                  <a:srgbClr val="1A1C22"/>
                </a:solidFill>
                <a:latin typeface="Calibri" pitchFamily="34" charset="0"/>
                <a:ea typeface="Calibri" pitchFamily="34" charset="-122"/>
                <a:cs typeface="Calibri" pitchFamily="34" charset="-120"/>
              </a:rPr>
              <a:t> ở </a:t>
            </a:r>
            <a:r>
              <a:rPr lang="en-US" sz="1200" dirty="0" err="1">
                <a:solidFill>
                  <a:srgbClr val="1A1C22"/>
                </a:solidFill>
                <a:latin typeface="Calibri" pitchFamily="34" charset="0"/>
                <a:ea typeface="Calibri" pitchFamily="34" charset="-122"/>
                <a:cs typeface="Calibri" pitchFamily="34" charset="-120"/>
              </a:rPr>
              <a:t>đầu</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ra</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cuối</a:t>
            </a:r>
            <a:r>
              <a:rPr lang="en-US" sz="1200" dirty="0">
                <a:solidFill>
                  <a:srgbClr val="1A1C22"/>
                </a:solidFill>
                <a:latin typeface="Calibri" pitchFamily="34" charset="0"/>
                <a:ea typeface="Calibri" pitchFamily="34" charset="-122"/>
                <a:cs typeface="Calibri" pitchFamily="34" charset="-120"/>
              </a:rPr>
              <a:t> — </a:t>
            </a:r>
            <a:r>
              <a:rPr lang="en-US" sz="1200" dirty="0" err="1">
                <a:solidFill>
                  <a:srgbClr val="1A1C22"/>
                </a:solidFill>
                <a:latin typeface="Calibri" pitchFamily="34" charset="0"/>
                <a:ea typeface="Calibri" pitchFamily="34" charset="-122"/>
                <a:cs typeface="Calibri" pitchFamily="34" charset="-120"/>
              </a:rPr>
              <a:t>mới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khẳng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định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được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mạch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thực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chính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xác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đặc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tả</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lượng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tử</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hoá</a:t>
            </a:r>
            <a:r>
              <a:rPr lang="en-US" sz="1200" dirty="0">
                <a:solidFill>
                  <a:srgbClr val="1A1C22"/>
                </a:solidFill>
                <a:latin typeface="Calibri" pitchFamily="34" charset="0"/>
                <a:ea typeface="Calibri" pitchFamily="34" charset="-122"/>
                <a:cs typeface="Calibri" pitchFamily="34" charset="-120"/>
              </a:rPr>
              <a:t>.</a:t>
            </a:r>
            <a:endParaRPr lang="en-US" sz="1200" dirty="0"/>
          </a:p>
          <a:p>
            <a:endParaRPr lang="en-US" dirty="0"/>
          </a:p>
        </p:txBody>
      </p:sp>
      <p:sp>
        <p:nvSpPr>
          <p:cNvPr id="4" name="Slide Number Placeholder 3">
            <a:extLst>
              <a:ext uri="{FF2B5EF4-FFF2-40B4-BE49-F238E27FC236}">
                <a16:creationId xmlns:a16="http://schemas.microsoft.com/office/drawing/2014/main" id="{1FD13780-F5C5-AABA-24EF-1052303E062E}"/>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5467627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D5FE1-C569-BD0D-3EA8-2AAC29852C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00BAF-1FD1-81E4-BDD0-B89C4CF29A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4BA8B-9F31-C118-2B95-410F4B55FC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 tầng kiểm chứng, tổng cộng 38 trường hợp kiểm tra. Đáng chú ý TC02a: với bias 128 và nb 8, kết quả đúng phải là 1 do làm tròn nửa lên, trong khi cắt bỏ phần thập phân sẽ cho 0 — đúng điểm cải tiến đã trình bày ở Chương 3.</a:t>
            </a:r>
            <a:br>
              <a:rPr lang="en-US" dirty="0"/>
            </a:br>
            <a:r>
              <a:rPr lang="en-US" sz="1200" b="1" dirty="0" err="1">
                <a:solidFill>
                  <a:srgbClr val="990011"/>
                </a:solidFill>
                <a:latin typeface="Calibri" pitchFamily="34" charset="0"/>
                <a:ea typeface="Calibri" pitchFamily="34" charset="-122"/>
                <a:cs typeface="Calibri" pitchFamily="34" charset="-120"/>
              </a:rPr>
              <a:t>Vì</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sao</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đòi</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khớp</a:t>
            </a:r>
            <a:r>
              <a:rPr lang="en-US" sz="1200" b="1" dirty="0">
                <a:solidFill>
                  <a:srgbClr val="990011"/>
                </a:solidFill>
                <a:latin typeface="Calibri" pitchFamily="34" charset="0"/>
                <a:ea typeface="Calibri" pitchFamily="34" charset="-122"/>
                <a:cs typeface="Calibri" pitchFamily="34" charset="-120"/>
              </a:rPr>
              <a:t> bit </a:t>
            </a:r>
            <a:r>
              <a:rPr lang="en-US" sz="1200" b="1" dirty="0" err="1">
                <a:solidFill>
                  <a:srgbClr val="990011"/>
                </a:solidFill>
                <a:latin typeface="Calibri" pitchFamily="34" charset="0"/>
                <a:ea typeface="Calibri" pitchFamily="34" charset="-122"/>
                <a:cs typeface="Calibri" pitchFamily="34" charset="-120"/>
              </a:rPr>
              <a:t>chứ</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không</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chỉ</a:t>
            </a:r>
            <a:r>
              <a:rPr lang="en-US" sz="1200" b="1" dirty="0">
                <a:solidFill>
                  <a:srgbClr val="990011"/>
                </a:solidFill>
                <a:latin typeface="Calibri" pitchFamily="34" charset="0"/>
                <a:ea typeface="Calibri" pitchFamily="34" charset="-122"/>
                <a:cs typeface="Calibri" pitchFamily="34" charset="-120"/>
              </a:rPr>
              <a:t> so </a:t>
            </a:r>
            <a:r>
              <a:rPr lang="en-US" sz="1200" b="1" dirty="0" err="1">
                <a:solidFill>
                  <a:srgbClr val="990011"/>
                </a:solidFill>
                <a:latin typeface="Calibri" pitchFamily="34" charset="0"/>
                <a:ea typeface="Calibri" pitchFamily="34" charset="-122"/>
                <a:cs typeface="Calibri" pitchFamily="34" charset="-120"/>
              </a:rPr>
              <a:t>độ</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chính</a:t>
            </a:r>
            <a:r>
              <a:rPr lang="en-US" sz="1200" b="1" dirty="0">
                <a:solidFill>
                  <a:srgbClr val="990011"/>
                </a:solidFill>
                <a:latin typeface="Calibri" pitchFamily="34" charset="0"/>
                <a:ea typeface="Calibri" pitchFamily="34" charset="-122"/>
                <a:cs typeface="Calibri" pitchFamily="34" charset="-120"/>
              </a:rPr>
              <a:t> </a:t>
            </a:r>
            <a:r>
              <a:rPr lang="en-US" sz="1200" b="1" dirty="0" err="1">
                <a:solidFill>
                  <a:srgbClr val="990011"/>
                </a:solidFill>
                <a:latin typeface="Calibri" pitchFamily="34" charset="0"/>
                <a:ea typeface="Calibri" pitchFamily="34" charset="-122"/>
                <a:cs typeface="Calibri" pitchFamily="34" charset="-120"/>
              </a:rPr>
              <a:t>xác</a:t>
            </a:r>
            <a:r>
              <a:rPr lang="en-US" sz="1200" b="1" dirty="0">
                <a:solidFill>
                  <a:srgbClr val="990011"/>
                </a:solidFill>
                <a:latin typeface="Calibri" pitchFamily="34" charset="0"/>
                <a:ea typeface="Calibri" pitchFamily="34" charset="-122"/>
                <a:cs typeface="Calibri" pitchFamily="34" charset="-120"/>
              </a:rPr>
              <a:t>?  </a:t>
            </a:r>
            <a:r>
              <a:rPr lang="en-US" sz="1200" dirty="0">
                <a:solidFill>
                  <a:srgbClr val="1A1C22"/>
                </a:solidFill>
                <a:latin typeface="Calibri" pitchFamily="34" charset="0"/>
                <a:ea typeface="Calibri" pitchFamily="34" charset="-122"/>
                <a:cs typeface="Calibri" pitchFamily="34" charset="-120"/>
              </a:rPr>
              <a:t>So </a:t>
            </a:r>
            <a:r>
              <a:rPr lang="en-US" sz="1200" dirty="0" err="1">
                <a:solidFill>
                  <a:srgbClr val="1A1C22"/>
                </a:solidFill>
                <a:latin typeface="Calibri" pitchFamily="34" charset="0"/>
                <a:ea typeface="Calibri" pitchFamily="34" charset="-122"/>
                <a:cs typeface="Calibri" pitchFamily="34" charset="-120"/>
              </a:rPr>
              <a:t>sánh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độ</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chính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xác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thống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kê</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có</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thể</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che</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giấu</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hai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sai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số</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triệt</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tiêu</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lẫn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nhau</a:t>
            </a:r>
            <a:r>
              <a:rPr lang="en-US" sz="1200" dirty="0">
                <a:solidFill>
                  <a:srgbClr val="1A1C22"/>
                </a:solidFill>
                <a:latin typeface="Calibri" pitchFamily="34" charset="0"/>
                <a:ea typeface="Calibri" pitchFamily="34" charset="-122"/>
                <a:cs typeface="Calibri" pitchFamily="34" charset="-120"/>
              </a:rPr>
              <a:t>. Sai </a:t>
            </a:r>
            <a:r>
              <a:rPr lang="en-US" sz="1200" dirty="0" err="1">
                <a:solidFill>
                  <a:srgbClr val="1A1C22"/>
                </a:solidFill>
                <a:latin typeface="Calibri" pitchFamily="34" charset="0"/>
                <a:ea typeface="Calibri" pitchFamily="34" charset="-122"/>
                <a:cs typeface="Calibri" pitchFamily="34" charset="-120"/>
              </a:rPr>
              <a:t>lệch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bằng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đúng</a:t>
            </a:r>
            <a:r>
              <a:rPr lang="en-US" sz="1200" dirty="0">
                <a:solidFill>
                  <a:srgbClr val="1A1C22"/>
                </a:solidFill>
                <a:latin typeface="Calibri" pitchFamily="34" charset="0"/>
                <a:ea typeface="Calibri" pitchFamily="34" charset="-122"/>
                <a:cs typeface="Calibri" pitchFamily="34" charset="-120"/>
              </a:rPr>
              <a:t> 0 ở </a:t>
            </a:r>
            <a:r>
              <a:rPr lang="en-US" sz="1200" dirty="0" err="1">
                <a:solidFill>
                  <a:srgbClr val="1A1C22"/>
                </a:solidFill>
                <a:latin typeface="Calibri" pitchFamily="34" charset="0"/>
                <a:ea typeface="Calibri" pitchFamily="34" charset="-122"/>
                <a:cs typeface="Calibri" pitchFamily="34" charset="-120"/>
              </a:rPr>
              <a:t>mọi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tầng</a:t>
            </a:r>
            <a:r>
              <a:rPr lang="en-US" sz="1200" dirty="0">
                <a:solidFill>
                  <a:srgbClr val="1A1C22"/>
                </a:solidFill>
                <a:latin typeface="Calibri" pitchFamily="34" charset="0"/>
                <a:ea typeface="Calibri" pitchFamily="34" charset="-122"/>
                <a:cs typeface="Calibri" pitchFamily="34" charset="-120"/>
              </a:rPr>
              <a:t> — </a:t>
            </a:r>
            <a:r>
              <a:rPr lang="en-US" sz="1200" dirty="0" err="1">
                <a:solidFill>
                  <a:srgbClr val="1A1C22"/>
                </a:solidFill>
                <a:latin typeface="Calibri" pitchFamily="34" charset="0"/>
                <a:ea typeface="Calibri" pitchFamily="34" charset="-122"/>
                <a:cs typeface="Calibri" pitchFamily="34" charset="-120"/>
              </a:rPr>
              <a:t>chứ</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không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chỉ</a:t>
            </a:r>
            <a:r>
              <a:rPr lang="en-US" sz="1200" dirty="0">
                <a:solidFill>
                  <a:srgbClr val="1A1C22"/>
                </a:solidFill>
                <a:latin typeface="Calibri" pitchFamily="34" charset="0"/>
                <a:ea typeface="Calibri" pitchFamily="34" charset="-122"/>
                <a:cs typeface="Calibri" pitchFamily="34" charset="-120"/>
              </a:rPr>
              <a:t> ở </a:t>
            </a:r>
            <a:r>
              <a:rPr lang="en-US" sz="1200" dirty="0" err="1">
                <a:solidFill>
                  <a:srgbClr val="1A1C22"/>
                </a:solidFill>
                <a:latin typeface="Calibri" pitchFamily="34" charset="0"/>
                <a:ea typeface="Calibri" pitchFamily="34" charset="-122"/>
                <a:cs typeface="Calibri" pitchFamily="34" charset="-120"/>
              </a:rPr>
              <a:t>đầu</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ra</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cuối</a:t>
            </a:r>
            <a:r>
              <a:rPr lang="en-US" sz="1200" dirty="0">
                <a:solidFill>
                  <a:srgbClr val="1A1C22"/>
                </a:solidFill>
                <a:latin typeface="Calibri" pitchFamily="34" charset="0"/>
                <a:ea typeface="Calibri" pitchFamily="34" charset="-122"/>
                <a:cs typeface="Calibri" pitchFamily="34" charset="-120"/>
              </a:rPr>
              <a:t> — </a:t>
            </a:r>
            <a:r>
              <a:rPr lang="en-US" sz="1200" dirty="0" err="1">
                <a:solidFill>
                  <a:srgbClr val="1A1C22"/>
                </a:solidFill>
                <a:latin typeface="Calibri" pitchFamily="34" charset="0"/>
                <a:ea typeface="Calibri" pitchFamily="34" charset="-122"/>
                <a:cs typeface="Calibri" pitchFamily="34" charset="-120"/>
              </a:rPr>
              <a:t>mới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khẳng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định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được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mạch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thực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chính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xác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đặc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tả</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lượng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tử</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hoá</a:t>
            </a:r>
            <a:r>
              <a:rPr lang="en-US" sz="1200" dirty="0">
                <a:solidFill>
                  <a:srgbClr val="1A1C22"/>
                </a:solidFill>
                <a:latin typeface="Calibri" pitchFamily="34" charset="0"/>
                <a:ea typeface="Calibri" pitchFamily="34" charset="-122"/>
                <a:cs typeface="Calibri" pitchFamily="34" charset="-120"/>
              </a:rPr>
              <a:t>.</a:t>
            </a:r>
            <a:endParaRPr lang="en-US" sz="1200" dirty="0"/>
          </a:p>
          <a:p>
            <a:endParaRPr lang="en-US" dirty="0"/>
          </a:p>
        </p:txBody>
      </p:sp>
      <p:sp>
        <p:nvSpPr>
          <p:cNvPr id="4" name="Slide Number Placeholder 3">
            <a:extLst>
              <a:ext uri="{FF2B5EF4-FFF2-40B4-BE49-F238E27FC236}">
                <a16:creationId xmlns:a16="http://schemas.microsoft.com/office/drawing/2014/main" id="{57995359-ED2E-A26B-133F-A4CBC72664F9}"/>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847526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bằng chứng cuối cùng: con số 94,27% và 93,00% không phải kết quả mô phỏng mà là kết quả đo trên mạch thật, chạy hết toàn bộ tập kiểm tra chứ không phải vài mẫu đại </a:t>
            </a:r>
            <a:r>
              <a:rPr lang="en-US" dirty="0" err="1"/>
              <a:t>diện</a:t>
            </a:r>
            <a:r>
              <a:rPr lang="en-US" dirty="0"/>
              <a:t>.</a:t>
            </a:r>
          </a:p>
          <a:p>
            <a:r>
              <a:rPr lang="en-US" dirty="0" err="1">
                <a:solidFill>
                  <a:srgbClr val="1A1C22"/>
                </a:solidFill>
                <a:latin typeface="Calibri" pitchFamily="34" charset="0"/>
                <a:ea typeface="Calibri" pitchFamily="34" charset="-122"/>
                <a:cs typeface="Calibri" pitchFamily="34" charset="-120"/>
              </a:rPr>
              <a:t>Nhận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xét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chính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xác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trên</a:t>
            </a:r>
            <a:r>
              <a:rPr lang="en-US" dirty="0">
                <a:solidFill>
                  <a:srgbClr val="1A1C22"/>
                </a:solidFill>
                <a:latin typeface="Calibri" pitchFamily="34" charset="0"/>
                <a:ea typeface="Calibri" pitchFamily="34" charset="-122"/>
                <a:cs typeface="Calibri" pitchFamily="34" charset="-120"/>
              </a:rPr>
              <a:t> board </a:t>
            </a:r>
            <a:r>
              <a:rPr lang="en-US" dirty="0" err="1">
                <a:solidFill>
                  <a:srgbClr val="1A1C22"/>
                </a:solidFill>
                <a:latin typeface="Calibri" pitchFamily="34" charset="0"/>
                <a:ea typeface="Calibri" pitchFamily="34" charset="-122"/>
                <a:cs typeface="Calibri" pitchFamily="34" charset="-120"/>
              </a:rPr>
              <a:t>trùng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khớp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tuyệt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đối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với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mô</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phỏng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phần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mềm</a:t>
            </a:r>
            <a:r>
              <a:rPr lang="en-US" dirty="0">
                <a:solidFill>
                  <a:srgbClr val="1A1C22"/>
                </a:solidFill>
                <a:latin typeface="Calibri" pitchFamily="34" charset="0"/>
                <a:ea typeface="Calibri" pitchFamily="34" charset="-122"/>
                <a:cs typeface="Calibri" pitchFamily="34" charset="-120"/>
              </a:rPr>
              <a:t> ở </a:t>
            </a:r>
            <a:r>
              <a:rPr lang="en-US" dirty="0" err="1">
                <a:solidFill>
                  <a:srgbClr val="1A1C22"/>
                </a:solidFill>
                <a:latin typeface="Calibri" pitchFamily="34" charset="0"/>
                <a:ea typeface="Calibri" pitchFamily="34" charset="-122"/>
                <a:cs typeface="Calibri" pitchFamily="34" charset="-120"/>
              </a:rPr>
              <a:t>cả</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hai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tập.Xác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nhận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toàn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chuỗi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mô</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hình</a:t>
            </a:r>
            <a:r>
              <a:rPr lang="en-US" dirty="0">
                <a:solidFill>
                  <a:srgbClr val="1A1C22"/>
                </a:solidFill>
                <a:latin typeface="Calibri" pitchFamily="34" charset="0"/>
                <a:ea typeface="Calibri" pitchFamily="34" charset="-122"/>
                <a:cs typeface="Calibri" pitchFamily="34" charset="-120"/>
              </a:rPr>
              <a:t> INT8 → RTL → </a:t>
            </a:r>
            <a:r>
              <a:rPr lang="en-US" dirty="0" err="1">
                <a:solidFill>
                  <a:srgbClr val="1A1C22"/>
                </a:solidFill>
                <a:latin typeface="Calibri" pitchFamily="34" charset="0"/>
                <a:ea typeface="Calibri" pitchFamily="34" charset="-122"/>
                <a:cs typeface="Calibri" pitchFamily="34" charset="-120"/>
              </a:rPr>
              <a:t>tổng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hợp</a:t>
            </a:r>
            <a:r>
              <a:rPr lang="en-US" dirty="0">
                <a:solidFill>
                  <a:srgbClr val="1A1C22"/>
                </a:solidFill>
                <a:latin typeface="Calibri" pitchFamily="34" charset="0"/>
                <a:ea typeface="Calibri" pitchFamily="34" charset="-122"/>
                <a:cs typeface="Calibri" pitchFamily="34" charset="-120"/>
              </a:rPr>
              <a:t> → bitstream </a:t>
            </a:r>
            <a:r>
              <a:rPr lang="en-US" dirty="0" err="1">
                <a:solidFill>
                  <a:srgbClr val="1A1C22"/>
                </a:solidFill>
                <a:latin typeface="Calibri" pitchFamily="34" charset="0"/>
                <a:ea typeface="Calibri" pitchFamily="34" charset="-122"/>
                <a:cs typeface="Calibri" pitchFamily="34" charset="-120"/>
              </a:rPr>
              <a:t>không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làm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sai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lệch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bất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kỳ</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phép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tính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nào</a:t>
            </a:r>
            <a:r>
              <a:rPr lang="en-US" dirty="0">
                <a:solidFill>
                  <a:srgbClr val="1A1C22"/>
                </a:solidFill>
                <a:latin typeface="Calibri" pitchFamily="34" charset="0"/>
                <a:ea typeface="Calibri" pitchFamily="34" charset="-122"/>
                <a:cs typeface="Calibri" pitchFamily="34" charset="-120"/>
              </a:rPr>
              <a:t>.</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ưu thế lớn nhất của thiết kế và sẽ được so sánh trực tiếp với công trình của Liu ở slide sau: chỉ 5% ALM so với 51% trên cùng họ board.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166B7-DCE5-51F1-F42E-7BBC05EB3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10F42-EEAA-249C-E555-3F25364B86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5F5D7-D0B4-0DD4-FFFA-615D7FC77C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3369BF-9714-A4FD-BD77-29121B9102C5}"/>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1442564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chung: với lớp bài toán phân loại tín hiệu sinh học có mô hình nhỏ, việc đồng thiết kế mô hình và phần cứng ngay từ đầu cho phép giữ toàn bộ tính toán trên chip và đạt độ trễ cũng như mức năng lượng phù hợp thiết bị đeo, mà độ chính xác vẫn tương đương mô hình dấu chấm động ban đầu.</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Ưu thế rõ nhất nằm ở diện tích. Chênh lệch này đến từ lựa chọn kiến trúc: khoá luận dùng 8 đơn vị xử lý gấp theo kênh và tái sử dụng qua các lớp, còn Liu ánh xạ toàn bộ mạng lên phần cứng để đổi diện tích lấy độ </a:t>
            </a:r>
            <a:r>
              <a:rPr lang="en-US" dirty="0" err="1"/>
              <a:t>trễ</a:t>
            </a:r>
            <a:r>
              <a:rPr lang="en-US" dirty="0"/>
              <a:t>.</a:t>
            </a:r>
            <a:br>
              <a:rPr lang="en-US" dirty="0"/>
            </a:br>
            <a:r>
              <a:rPr lang="en-US" sz="1200" dirty="0" err="1">
                <a:solidFill>
                  <a:srgbClr val="1A1C22"/>
                </a:solidFill>
                <a:latin typeface="Calibri" pitchFamily="34" charset="0"/>
                <a:ea typeface="Calibri" pitchFamily="34" charset="-122"/>
                <a:cs typeface="Calibri" pitchFamily="34" charset="-120"/>
              </a:rPr>
              <a:t>tập</a:t>
            </a:r>
            <a:r>
              <a:rPr lang="en-US" sz="1200" dirty="0">
                <a:solidFill>
                  <a:srgbClr val="1A1C22"/>
                </a:solidFill>
                <a:latin typeface="Calibri" pitchFamily="34" charset="0"/>
                <a:ea typeface="Calibri" pitchFamily="34" charset="-122"/>
                <a:cs typeface="Calibri" pitchFamily="34" charset="-120"/>
              </a:rPr>
              <a:t> Chapman 4 </a:t>
            </a:r>
            <a:r>
              <a:rPr lang="en-US" sz="1200" dirty="0" err="1">
                <a:solidFill>
                  <a:srgbClr val="1A1C22"/>
                </a:solidFill>
                <a:latin typeface="Calibri" pitchFamily="34" charset="0"/>
                <a:ea typeface="Calibri" pitchFamily="34" charset="-122"/>
                <a:cs typeface="Calibri" pitchFamily="34" charset="-120"/>
              </a:rPr>
              <a:t>nhóm</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nhịp</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chung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mức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phân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loại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theo</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bản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ghi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chung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dòng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thiết</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bị</a:t>
            </a:r>
            <a:r>
              <a:rPr lang="en-US" sz="1200" dirty="0">
                <a:solidFill>
                  <a:srgbClr val="1A1C22"/>
                </a:solidFill>
                <a:latin typeface="Calibri" pitchFamily="34" charset="0"/>
                <a:ea typeface="Calibri" pitchFamily="34" charset="-122"/>
                <a:cs typeface="Calibri" pitchFamily="34" charset="-120"/>
              </a:rPr>
              <a:t> Cyclone V. </a:t>
            </a:r>
            <a:r>
              <a:rPr lang="en-US" sz="1200" dirty="0" err="1">
                <a:solidFill>
                  <a:srgbClr val="1A1C22"/>
                </a:solidFill>
                <a:latin typeface="Calibri" pitchFamily="34" charset="0"/>
                <a:ea typeface="Calibri" pitchFamily="34" charset="-122"/>
                <a:cs typeface="Calibri" pitchFamily="34" charset="-120"/>
              </a:rPr>
              <a:t>Thiết</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kế</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của</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khoá</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luận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cao</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hơn</a:t>
            </a:r>
            <a:r>
              <a:rPr lang="en-US" sz="1200" dirty="0">
                <a:solidFill>
                  <a:srgbClr val="1A1C22"/>
                </a:solidFill>
                <a:latin typeface="Calibri" pitchFamily="34" charset="0"/>
                <a:ea typeface="Calibri" pitchFamily="34" charset="-122"/>
                <a:cs typeface="Calibri" pitchFamily="34" charset="-120"/>
              </a:rPr>
              <a:t> 1,3 </a:t>
            </a:r>
            <a:r>
              <a:rPr lang="en-US" sz="1200" dirty="0" err="1">
                <a:solidFill>
                  <a:srgbClr val="1A1C22"/>
                </a:solidFill>
                <a:latin typeface="Calibri" pitchFamily="34" charset="0"/>
                <a:ea typeface="Calibri" pitchFamily="34" charset="-122"/>
                <a:cs typeface="Calibri" pitchFamily="34" charset="-120"/>
              </a:rPr>
              <a:t>điểm</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phần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trăm</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độ</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chính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xác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độ</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trễ</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thấp</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hơn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trong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khi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chỉ</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chiếm</a:t>
            </a:r>
            <a:r>
              <a:rPr lang="en-US" sz="1200" dirty="0">
                <a:solidFill>
                  <a:srgbClr val="1A1C22"/>
                </a:solidFill>
                <a:latin typeface="Calibri" pitchFamily="34" charset="0"/>
                <a:ea typeface="Calibri" pitchFamily="34" charset="-122"/>
                <a:cs typeface="Calibri" pitchFamily="34" charset="-120"/>
              </a:rPr>
              <a:t> 5 % ALM </a:t>
            </a:r>
            <a:r>
              <a:rPr lang="en-US" sz="1200" dirty="0" err="1">
                <a:solidFill>
                  <a:srgbClr val="1A1C22"/>
                </a:solidFill>
                <a:latin typeface="Calibri" pitchFamily="34" charset="0"/>
                <a:ea typeface="Calibri" pitchFamily="34" charset="-122"/>
                <a:cs typeface="Calibri" pitchFamily="34" charset="-120"/>
              </a:rPr>
              <a:t>và</a:t>
            </a:r>
            <a:r>
              <a:rPr lang="en-US" sz="1200" dirty="0">
                <a:solidFill>
                  <a:srgbClr val="1A1C22"/>
                </a:solidFill>
                <a:latin typeface="Calibri" pitchFamily="34" charset="0"/>
                <a:ea typeface="Calibri" pitchFamily="34" charset="-122"/>
                <a:cs typeface="Calibri" pitchFamily="34" charset="-120"/>
              </a:rPr>
              <a:t> 3 % </a:t>
            </a:r>
            <a:r>
              <a:rPr lang="en-US" sz="1200" dirty="0" err="1">
                <a:solidFill>
                  <a:srgbClr val="1A1C22"/>
                </a:solidFill>
                <a:latin typeface="Calibri" pitchFamily="34" charset="0"/>
                <a:ea typeface="Calibri" pitchFamily="34" charset="-122"/>
                <a:cs typeface="Calibri" pitchFamily="34" charset="-120"/>
              </a:rPr>
              <a:t>thanh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ghi</a:t>
            </a:r>
            <a:r>
              <a:rPr lang="en-US" sz="1200" dirty="0">
                <a:solidFill>
                  <a:srgbClr val="1A1C22"/>
                </a:solidFill>
                <a:latin typeface="Calibri" pitchFamily="34" charset="0"/>
                <a:ea typeface="Calibri" pitchFamily="34" charset="-122"/>
                <a:cs typeface="Calibri" pitchFamily="34" charset="-120"/>
              </a:rPr>
              <a:t> so </a:t>
            </a:r>
            <a:r>
              <a:rPr lang="en-US" sz="1200" dirty="0" err="1">
                <a:solidFill>
                  <a:srgbClr val="1A1C22"/>
                </a:solidFill>
                <a:latin typeface="Calibri" pitchFamily="34" charset="0"/>
                <a:ea typeface="Calibri" pitchFamily="34" charset="-122"/>
                <a:cs typeface="Calibri" pitchFamily="34" charset="-120"/>
              </a:rPr>
              <a:t>với</a:t>
            </a:r>
            <a:r>
              <a:rPr lang="en-US" sz="1200" dirty="0">
                <a:solidFill>
                  <a:srgbClr val="1A1C22"/>
                </a:solidFill>
                <a:latin typeface="Calibri" pitchFamily="34" charset="0"/>
                <a:ea typeface="Calibri" pitchFamily="34" charset="-122"/>
                <a:cs typeface="Calibri" pitchFamily="34" charset="-120"/>
              </a:rPr>
              <a:t> 51 % </a:t>
            </a:r>
            <a:r>
              <a:rPr lang="en-US" sz="1200" dirty="0" err="1">
                <a:solidFill>
                  <a:srgbClr val="1A1C22"/>
                </a:solidFill>
                <a:latin typeface="Calibri" pitchFamily="34" charset="0"/>
                <a:ea typeface="Calibri" pitchFamily="34" charset="-122"/>
                <a:cs typeface="Calibri" pitchFamily="34" charset="-120"/>
              </a:rPr>
              <a:t>và</a:t>
            </a:r>
            <a:r>
              <a:rPr lang="en-US" sz="1200" dirty="0">
                <a:solidFill>
                  <a:srgbClr val="1A1C22"/>
                </a:solidFill>
                <a:latin typeface="Calibri" pitchFamily="34" charset="0"/>
                <a:ea typeface="Calibri" pitchFamily="34" charset="-122"/>
                <a:cs typeface="Calibri" pitchFamily="34" charset="-120"/>
              </a:rPr>
              <a:t> 86 %.</a:t>
            </a:r>
            <a:endParaRPr lang="en-US" sz="1200" dirty="0"/>
          </a:p>
          <a:p>
            <a:pPr marL="0" indent="0">
              <a:buNone/>
            </a:pPr>
            <a:r>
              <a:rPr lang="en-US" sz="1200" b="1" dirty="0">
                <a:solidFill>
                  <a:srgbClr val="2F3C7E"/>
                </a:solidFill>
                <a:latin typeface="Calibri" pitchFamily="34" charset="0"/>
                <a:ea typeface="Calibri" pitchFamily="34" charset="-122"/>
                <a:cs typeface="Calibri" pitchFamily="34" charset="-120"/>
              </a:rPr>
              <a:t>Lưu ý: </a:t>
            </a:r>
            <a:r>
              <a:rPr lang="en-US" sz="1200" dirty="0">
                <a:solidFill>
                  <a:srgbClr val="1A1C22"/>
                </a:solidFill>
                <a:latin typeface="Calibri" pitchFamily="34" charset="0"/>
                <a:ea typeface="Calibri" pitchFamily="34" charset="-122"/>
                <a:cs typeface="Calibri" pitchFamily="34" charset="-120"/>
              </a:rPr>
              <a:t>Pham </a:t>
            </a:r>
            <a:r>
              <a:rPr lang="en-US" sz="1200" dirty="0" err="1">
                <a:solidFill>
                  <a:srgbClr val="1A1C22"/>
                </a:solidFill>
                <a:latin typeface="Calibri" pitchFamily="34" charset="0"/>
                <a:ea typeface="Calibri" pitchFamily="34" charset="-122"/>
                <a:cs typeface="Calibri" pitchFamily="34" charset="-120"/>
              </a:rPr>
              <a:t>và</a:t>
            </a:r>
            <a:r>
              <a:rPr lang="en-US" sz="1200" dirty="0">
                <a:solidFill>
                  <a:srgbClr val="1A1C22"/>
                </a:solidFill>
                <a:latin typeface="Calibri" pitchFamily="34" charset="0"/>
                <a:ea typeface="Calibri" pitchFamily="34" charset="-122"/>
                <a:cs typeface="Calibri" pitchFamily="34" charset="-120"/>
              </a:rPr>
              <a:t> Tran </a:t>
            </a:r>
            <a:r>
              <a:rPr lang="en-US" sz="1200" dirty="0" err="1">
                <a:solidFill>
                  <a:srgbClr val="1A1C22"/>
                </a:solidFill>
                <a:latin typeface="Calibri" pitchFamily="34" charset="0"/>
                <a:ea typeface="Calibri" pitchFamily="34" charset="-122"/>
                <a:cs typeface="Calibri" pitchFamily="34" charset="-120"/>
              </a:rPr>
              <a:t>phân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loại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theo</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từng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nhịp</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đập</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trên</a:t>
            </a:r>
            <a:r>
              <a:rPr lang="en-US" sz="1200" dirty="0">
                <a:solidFill>
                  <a:srgbClr val="1A1C22"/>
                </a:solidFill>
                <a:latin typeface="Calibri" pitchFamily="34" charset="0"/>
                <a:ea typeface="Calibri" pitchFamily="34" charset="-122"/>
                <a:cs typeface="Calibri" pitchFamily="34" charset="-120"/>
              </a:rPr>
              <a:t> MIT-BIH — </a:t>
            </a:r>
            <a:r>
              <a:rPr lang="en-US" sz="1200" dirty="0" err="1">
                <a:solidFill>
                  <a:srgbClr val="1A1C22"/>
                </a:solidFill>
                <a:latin typeface="Calibri" pitchFamily="34" charset="0"/>
                <a:ea typeface="Calibri" pitchFamily="34" charset="-122"/>
                <a:cs typeface="Calibri" pitchFamily="34" charset="-120"/>
              </a:rPr>
              <a:t>khác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đơn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vị</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phân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loại</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nên</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cột</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độ</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chính</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xác</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không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đặt</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ngang</a:t>
            </a:r>
            <a:r>
              <a:rPr lang="en-US" sz="1200" dirty="0">
                <a:solidFill>
                  <a:srgbClr val="1A1C22"/>
                </a:solidFill>
                <a:latin typeface="Calibri" pitchFamily="34" charset="0"/>
                <a:ea typeface="Calibri" pitchFamily="34" charset="-122"/>
                <a:cs typeface="Calibri" pitchFamily="34" charset="-120"/>
              </a:rPr>
              <a:t> </a:t>
            </a:r>
            <a:r>
              <a:rPr lang="en-US" sz="1200" dirty="0" err="1">
                <a:solidFill>
                  <a:srgbClr val="1A1C22"/>
                </a:solidFill>
                <a:latin typeface="Calibri" pitchFamily="34" charset="0"/>
                <a:ea typeface="Calibri" pitchFamily="34" charset="-122"/>
                <a:cs typeface="Calibri" pitchFamily="34" charset="-120"/>
              </a:rPr>
              <a:t>hàng</a:t>
            </a:r>
            <a:r>
              <a:rPr lang="en-US" sz="1200" dirty="0">
                <a:solidFill>
                  <a:srgbClr val="1A1C22"/>
                </a:solidFill>
                <a:latin typeface="Calibri" pitchFamily="34" charset="0"/>
                <a:ea typeface="Calibri" pitchFamily="34" charset="-122"/>
                <a:cs typeface="Calibri" pitchFamily="34" charset="-120"/>
              </a:rPr>
              <a:t>.</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kết thúc phần trình bày. Em xin chân thành cảm ơn quý thầy cô đã lắng nghe và rất mong nhận được các ý kiến đóng góp.</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20000"/>
              </a:lnSpc>
              <a:spcAft>
                <a:spcPts val="400"/>
              </a:spcAft>
            </a:pPr>
            <a:r>
              <a:rPr lang="vi-VN" sz="1200" b="0" dirty="0">
                <a:solidFill>
                  <a:srgbClr val="6E6E78"/>
                </a:solidFill>
                <a:latin typeface="Calibri"/>
              </a:rPr>
              <a:t>Độ chính xác không so thẳng hàng: phân loại theo </a:t>
            </a:r>
            <a:r>
              <a:rPr lang="vi-VN" sz="1200" b="1" dirty="0">
                <a:solidFill>
                  <a:srgbClr val="6E6E78"/>
                </a:solidFill>
                <a:latin typeface="Calibri"/>
              </a:rPr>
              <a:t>nhát bóp</a:t>
            </a:r>
            <a:r>
              <a:rPr lang="vi-VN" sz="1200" b="0" dirty="0">
                <a:solidFill>
                  <a:srgbClr val="6E6E78"/>
                </a:solidFill>
                <a:latin typeface="Calibri"/>
              </a:rPr>
              <a:t> thường 98–99 %, theo </a:t>
            </a:r>
            <a:r>
              <a:rPr lang="vi-VN" sz="1200" b="1" dirty="0">
                <a:solidFill>
                  <a:srgbClr val="6E6E78"/>
                </a:solidFill>
                <a:latin typeface="Calibri"/>
              </a:rPr>
              <a:t>nhóm nhịp</a:t>
            </a:r>
            <a:r>
              <a:rPr lang="vi-VN" sz="1200" b="0" dirty="0">
                <a:solidFill>
                  <a:srgbClr val="6E6E78"/>
                </a:solidFill>
                <a:latin typeface="Calibri"/>
              </a:rPr>
              <a:t> thường 92–95 %.  ·  </a:t>
            </a:r>
            <a:r>
              <a:rPr lang="vi-VN" sz="1200" b="1" dirty="0">
                <a:solidFill>
                  <a:srgbClr val="6E6E78"/>
                </a:solidFill>
                <a:latin typeface="Calibri"/>
              </a:rPr>
              <a:t>Liu là mốc đối chiếu chính</a:t>
            </a:r>
            <a:r>
              <a:rPr lang="vi-VN" sz="1200" b="0" dirty="0">
                <a:solidFill>
                  <a:srgbClr val="6E6E78"/>
                </a:solidFill>
                <a:latin typeface="Calibri"/>
              </a:rPr>
              <a:t> — cùng dòng Cyclone V, cùng tập Chapman, cùng mức nhóm nhịp.</a:t>
            </a:r>
          </a:p>
          <a:p>
            <a:pPr algn="l">
              <a:lnSpc>
                <a:spcPct val="120000"/>
              </a:lnSpc>
              <a:spcAft>
                <a:spcPts val="0"/>
              </a:spcAft>
            </a:pPr>
            <a:r>
              <a:rPr lang="vi-VN" sz="1200" b="0" dirty="0">
                <a:solidFill>
                  <a:srgbClr val="6E6E78"/>
                </a:solidFill>
                <a:latin typeface="Calibri"/>
              </a:rPr>
              <a:t>Đọc theo cột </a:t>
            </a:r>
            <a:r>
              <a:rPr lang="vi-VN" sz="1200" b="1" dirty="0">
                <a:solidFill>
                  <a:srgbClr val="6E6E78"/>
                </a:solidFill>
                <a:latin typeface="Calibri"/>
              </a:rPr>
              <a:t>phần cứng triển khai</a:t>
            </a:r>
            <a:r>
              <a:rPr lang="vi-VN" sz="1200" b="0" dirty="0">
                <a:solidFill>
                  <a:srgbClr val="6E6E78"/>
                </a:solidFill>
                <a:latin typeface="Calibri"/>
              </a:rPr>
              <a:t>: nhóm này có lượng tử hoá và có mạch thật, nhưng thiết kế vẫn chiếm phần lớn tài nguyên chip — Liu 51 % ALM, Ran 47 % LUT — kể cả khi đã dùng số nguyên tám bit.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8029689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FD840-5EE7-4376-80A6-59232E988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FEA30-FDDD-A09C-8B16-B4FD8C0AD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EF161-4FC4-4367-1D89-F117169EDE17}"/>
              </a:ext>
            </a:extLst>
          </p:cNvPr>
          <p:cNvSpPr>
            <a:spLocks noGrp="1"/>
          </p:cNvSpPr>
          <p:nvPr>
            <p:ph type="body" idx="1"/>
          </p:nvPr>
        </p:nvSpPr>
        <p:spPr/>
        <p:txBody>
          <a:bodyPr/>
          <a:lstStyle/>
          <a:p>
            <a:r>
              <a:rPr lang="en-US" dirty="0"/>
              <a:t>Bốn nền tảng: mạng 1D-CNN, cắt tỉa có cấu trúc, lượng tử hoá luỹ thừa 2, và lựa chọn kiến trúc phần cứng. Quyết định quan trọng nhất là chọn kiến trúc đơn khối chia sẻ theo thời gian — sẽ giải thích kỹ ở Chương 3.</a:t>
            </a:r>
          </a:p>
        </p:txBody>
      </p:sp>
      <p:sp>
        <p:nvSpPr>
          <p:cNvPr id="4" name="Slide Number Placeholder 3">
            <a:extLst>
              <a:ext uri="{FF2B5EF4-FFF2-40B4-BE49-F238E27FC236}">
                <a16:creationId xmlns:a16="http://schemas.microsoft.com/office/drawing/2014/main" id="{2395FCED-9C96-3556-8834-B244807991E4}"/>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3265321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0CABB-4B5C-7654-6D47-0AF3FE40F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5B506D-D1D7-830F-978A-3A273D0C4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BD612-91AD-2EB2-FFAE-420FC2B45D5D}"/>
              </a:ext>
            </a:extLst>
          </p:cNvPr>
          <p:cNvSpPr>
            <a:spLocks noGrp="1"/>
          </p:cNvSpPr>
          <p:nvPr>
            <p:ph type="body" idx="1"/>
          </p:nvPr>
        </p:nvSpPr>
        <p:spPr/>
        <p:txBody>
          <a:bodyPr/>
          <a:lstStyle/>
          <a:p>
            <a:r>
              <a:rPr lang="en-US" dirty="0"/>
              <a:t>Bốn nền tảng: mạng 1D-CNN, cắt tỉa có cấu trúc, lượng tử hoá luỹ thừa 2, và lựa chọn kiến trúc phần cứng. Quyết định quan trọng nhất là chọn kiến trúc đơn khối chia sẻ theo thời gian — sẽ giải thích kỹ ở Chương 3.</a:t>
            </a:r>
          </a:p>
        </p:txBody>
      </p:sp>
      <p:sp>
        <p:nvSpPr>
          <p:cNvPr id="4" name="Slide Number Placeholder 3">
            <a:extLst>
              <a:ext uri="{FF2B5EF4-FFF2-40B4-BE49-F238E27FC236}">
                <a16:creationId xmlns:a16="http://schemas.microsoft.com/office/drawing/2014/main" id="{2D322A3A-4B6E-2CE5-7AA1-3EDC27E6B5FC}"/>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20635556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quy trình đi một chiều từ mô hình phần mềm xuống mạch. Điểm nối quan trọng là bộ trọng số INT8 đã định dạng sẵn — vừa là đầu ra của giai đoạn phần mềm, vừa là dữ liệu nạp vào ROM của phần cứng.</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B21B1-9DCE-D7A2-3E52-5D0347EA9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23D03-A4B6-8655-2B2D-CBACFF030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7B43B-ED61-209F-B4E0-E03AC1C313E0}"/>
              </a:ext>
            </a:extLst>
          </p:cNvPr>
          <p:cNvSpPr>
            <a:spLocks noGrp="1"/>
          </p:cNvSpPr>
          <p:nvPr>
            <p:ph type="body" idx="1"/>
          </p:nvPr>
        </p:nvSpPr>
        <p:spPr/>
        <p:txBody>
          <a:bodyPr/>
          <a:lstStyle/>
          <a:p>
            <a:r>
              <a:rPr lang="en-US" dirty="0"/>
              <a:t>Ba cơ chế đáng chú ý. Chuỗi trễ đồng bộ là chi tiết định thời tinh tế nhất: độ sâu 5 nhịp phải khớp tuyệt đối với độ sâu thực của đường ống, sai một nhịp là mỗi tổng tích chập bị quy sai kênh vào.</a:t>
            </a:r>
          </a:p>
        </p:txBody>
      </p:sp>
      <p:sp>
        <p:nvSpPr>
          <p:cNvPr id="4" name="Slide Number Placeholder 3">
            <a:extLst>
              <a:ext uri="{FF2B5EF4-FFF2-40B4-BE49-F238E27FC236}">
                <a16:creationId xmlns:a16="http://schemas.microsoft.com/office/drawing/2014/main" id="{E57ADDD6-5D68-365A-9513-557FA798B03D}"/>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232294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6.png"/><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340"/>
        </a:solidFill>
        <a:effectLst/>
      </p:bgPr>
    </p:bg>
    <p:spTree>
      <p:nvGrpSpPr>
        <p:cNvPr id="1" name=""/>
        <p:cNvGrpSpPr/>
        <p:nvPr/>
      </p:nvGrpSpPr>
      <p:grpSpPr>
        <a:xfrm>
          <a:off x="0" y="0"/>
          <a:ext cx="0" cy="0"/>
          <a:chOff x="0" y="0"/>
          <a:chExt cx="0" cy="0"/>
        </a:xfrm>
      </p:grpSpPr>
      <p:pic>
        <p:nvPicPr>
          <p:cNvPr id="2" name="Image 0" descr="img/ecg_light.png"/>
          <p:cNvPicPr>
            <a:picLocks noChangeAspect="1"/>
          </p:cNvPicPr>
          <p:nvPr/>
        </p:nvPicPr>
        <p:blipFill>
          <a:blip r:embed="rId3">
            <a:alphaModFix amt="60000"/>
          </a:blip>
          <a:stretch>
            <a:fillRect/>
          </a:stretch>
        </p:blipFill>
        <p:spPr>
          <a:xfrm>
            <a:off x="1424783" y="5473070"/>
            <a:ext cx="9339385" cy="1401258"/>
          </a:xfrm>
          <a:prstGeom prst="rect">
            <a:avLst/>
          </a:prstGeom>
        </p:spPr>
      </p:pic>
      <p:sp>
        <p:nvSpPr>
          <p:cNvPr id="3" name="Text 0"/>
          <p:cNvSpPr/>
          <p:nvPr/>
        </p:nvSpPr>
        <p:spPr>
          <a:xfrm>
            <a:off x="566928" y="475488"/>
            <a:ext cx="11055096" cy="237744"/>
          </a:xfrm>
          <a:prstGeom prst="rect">
            <a:avLst/>
          </a:prstGeom>
          <a:noFill/>
          <a:ln/>
        </p:spPr>
        <p:txBody>
          <a:bodyPr wrap="square" lIns="0" tIns="0" rIns="0" bIns="0" rtlCol="0" anchor="ctr"/>
          <a:lstStyle/>
          <a:p>
            <a:pPr marL="0" indent="0">
              <a:buNone/>
            </a:pPr>
            <a:r>
              <a:rPr lang="en-US" sz="2000" kern="0" spc="100" dirty="0">
                <a:solidFill>
                  <a:srgbClr val="AAB0C8"/>
                </a:solidFill>
                <a:latin typeface="Calibri" pitchFamily="34" charset="0"/>
                <a:ea typeface="Calibri" pitchFamily="34" charset="-122"/>
                <a:cs typeface="Calibri" pitchFamily="34" charset="-120"/>
              </a:rPr>
              <a:t>ĐẠI HỌC QUỐC GIA TP. HỒ CHÍ MINH   ·   TRƯỜNG ĐẠI HỌC KHOA HỌC TỰ NHIÊN</a:t>
            </a:r>
            <a:endParaRPr lang="en-US" sz="2000" dirty="0"/>
          </a:p>
        </p:txBody>
      </p:sp>
      <p:sp>
        <p:nvSpPr>
          <p:cNvPr id="4" name="Text 1"/>
          <p:cNvSpPr/>
          <p:nvPr/>
        </p:nvSpPr>
        <p:spPr>
          <a:xfrm>
            <a:off x="566928" y="827532"/>
            <a:ext cx="11055096" cy="237744"/>
          </a:xfrm>
          <a:prstGeom prst="rect">
            <a:avLst/>
          </a:prstGeom>
          <a:noFill/>
          <a:ln/>
        </p:spPr>
        <p:txBody>
          <a:bodyPr wrap="square" lIns="0" tIns="0" rIns="0" bIns="0" rtlCol="0" anchor="ctr"/>
          <a:lstStyle/>
          <a:p>
            <a:pPr marL="0" indent="0">
              <a:buNone/>
            </a:pPr>
            <a:r>
              <a:rPr lang="en-US" sz="2000" kern="0" spc="100" dirty="0">
                <a:solidFill>
                  <a:srgbClr val="AAB0C8"/>
                </a:solidFill>
                <a:latin typeface="Calibri" pitchFamily="34" charset="0"/>
                <a:ea typeface="Calibri" pitchFamily="34" charset="-122"/>
                <a:cs typeface="Calibri" pitchFamily="34" charset="-120"/>
              </a:rPr>
              <a:t>KHOA ĐIỆN TỬ – VIỄN THÔNG   ·   BỘ MÔN ĐIỆN TỬ</a:t>
            </a:r>
            <a:endParaRPr lang="en-US" sz="2000" dirty="0"/>
          </a:p>
        </p:txBody>
      </p:sp>
      <p:sp>
        <p:nvSpPr>
          <p:cNvPr id="5" name="Text 2"/>
          <p:cNvSpPr/>
          <p:nvPr/>
        </p:nvSpPr>
        <p:spPr>
          <a:xfrm>
            <a:off x="566928" y="1417320"/>
            <a:ext cx="11055096" cy="274320"/>
          </a:xfrm>
          <a:prstGeom prst="rect">
            <a:avLst/>
          </a:prstGeom>
          <a:noFill/>
          <a:ln/>
        </p:spPr>
        <p:txBody>
          <a:bodyPr wrap="square" lIns="0" tIns="0" rIns="0" bIns="0" rtlCol="0" anchor="ctr"/>
          <a:lstStyle/>
          <a:p>
            <a:pPr marL="0" indent="0">
              <a:buNone/>
            </a:pPr>
            <a:r>
              <a:rPr lang="en-US" sz="3000" b="1" kern="0" spc="300" dirty="0">
                <a:solidFill>
                  <a:srgbClr val="E23D4D"/>
                </a:solidFill>
                <a:latin typeface="Calibri" pitchFamily="34" charset="0"/>
                <a:ea typeface="Calibri" pitchFamily="34" charset="-122"/>
                <a:cs typeface="Calibri" pitchFamily="34" charset="-120"/>
              </a:rPr>
              <a:t>KHÓA LUẬN TỐT NGHIỆP CỬ NHÂN</a:t>
            </a:r>
            <a:endParaRPr lang="en-US" sz="3000" dirty="0"/>
          </a:p>
        </p:txBody>
      </p:sp>
      <p:sp>
        <p:nvSpPr>
          <p:cNvPr id="6" name="Text 3"/>
          <p:cNvSpPr/>
          <p:nvPr/>
        </p:nvSpPr>
        <p:spPr>
          <a:xfrm>
            <a:off x="566927" y="2043684"/>
            <a:ext cx="11224019" cy="1737360"/>
          </a:xfrm>
          <a:prstGeom prst="rect">
            <a:avLst/>
          </a:prstGeom>
          <a:noFill/>
          <a:ln/>
        </p:spPr>
        <p:txBody>
          <a:bodyPr wrap="square" lIns="0" tIns="0" rIns="0" bIns="0" rtlCol="0" anchor="t"/>
          <a:lstStyle/>
          <a:p>
            <a:pPr marL="0" indent="0">
              <a:lnSpc>
                <a:spcPct val="106000"/>
              </a:lnSpc>
              <a:buNone/>
            </a:pPr>
            <a:r>
              <a:rPr lang="en-US" sz="3000" b="1" dirty="0">
                <a:solidFill>
                  <a:srgbClr val="FCF6F5"/>
                </a:solidFill>
                <a:latin typeface="Cambria" pitchFamily="34" charset="0"/>
                <a:ea typeface="Cambria" pitchFamily="34" charset="-122"/>
                <a:cs typeface="Cambria" pitchFamily="34" charset="-120"/>
              </a:rPr>
              <a:t>ĐỒNG THIẾT KẾ THUẬT TOÁN – PHẦN CỨNG CHO BỘ TĂNG TỐC CNN 1 CHIỀU LƯỢNG TỬ HOÁ HIỆU QUẢ NHẰM PHÂN LOẠI NHỊP TIM TRÊN FPGA</a:t>
            </a:r>
            <a:endParaRPr lang="en-US" sz="3000" dirty="0"/>
          </a:p>
        </p:txBody>
      </p:sp>
      <p:sp>
        <p:nvSpPr>
          <p:cNvPr id="7" name="Text 4"/>
          <p:cNvSpPr/>
          <p:nvPr/>
        </p:nvSpPr>
        <p:spPr>
          <a:xfrm>
            <a:off x="566927" y="3584448"/>
            <a:ext cx="10796641" cy="548640"/>
          </a:xfrm>
          <a:prstGeom prst="rect">
            <a:avLst/>
          </a:prstGeom>
          <a:noFill/>
          <a:ln/>
        </p:spPr>
        <p:txBody>
          <a:bodyPr wrap="square" lIns="0" tIns="0" rIns="0" bIns="0" rtlCol="0" anchor="ctr"/>
          <a:lstStyle/>
          <a:p>
            <a:pPr marL="0" indent="0">
              <a:buNone/>
            </a:pPr>
            <a:r>
              <a:rPr lang="en-US" sz="1600" i="1" dirty="0">
                <a:solidFill>
                  <a:srgbClr val="9AA1BC"/>
                </a:solidFill>
                <a:latin typeface="Calibri" pitchFamily="34" charset="0"/>
                <a:ea typeface="Calibri" pitchFamily="34" charset="-122"/>
                <a:cs typeface="Calibri" pitchFamily="34" charset="-120"/>
              </a:rPr>
              <a:t>Algorithm-hardware co-design of a hardware-efficient quantized 1D CNN accelerator for ECG arrhythmia classification on FPGA </a:t>
            </a:r>
            <a:endParaRPr lang="en-US" sz="1600" dirty="0"/>
          </a:p>
        </p:txBody>
      </p:sp>
      <p:sp>
        <p:nvSpPr>
          <p:cNvPr id="8" name="Shape 5"/>
          <p:cNvSpPr/>
          <p:nvPr/>
        </p:nvSpPr>
        <p:spPr>
          <a:xfrm>
            <a:off x="566928" y="4315968"/>
            <a:ext cx="5120640" cy="960120"/>
          </a:xfrm>
          <a:prstGeom prst="roundRect">
            <a:avLst>
              <a:gd name="adj" fmla="val 8571"/>
            </a:avLst>
          </a:prstGeom>
          <a:solidFill>
            <a:srgbClr val="232B4E"/>
          </a:solidFill>
          <a:ln w="12700">
            <a:solidFill>
              <a:srgbClr val="232B4E"/>
            </a:solidFill>
            <a:prstDash val="solid"/>
          </a:ln>
        </p:spPr>
        <p:txBody>
          <a:bodyPr/>
          <a:lstStyle/>
          <a:p>
            <a:endParaRPr/>
          </a:p>
        </p:txBody>
      </p:sp>
      <p:sp>
        <p:nvSpPr>
          <p:cNvPr id="9" name="Text 6"/>
          <p:cNvSpPr/>
          <p:nvPr/>
        </p:nvSpPr>
        <p:spPr>
          <a:xfrm>
            <a:off x="822960" y="4407408"/>
            <a:ext cx="4663440" cy="777240"/>
          </a:xfrm>
          <a:prstGeom prst="rect">
            <a:avLst/>
          </a:prstGeom>
          <a:noFill/>
          <a:ln/>
        </p:spPr>
        <p:txBody>
          <a:bodyPr wrap="square" lIns="0" tIns="0" rIns="0" bIns="0" rtlCol="0" anchor="ctr"/>
          <a:lstStyle/>
          <a:p>
            <a:pPr marL="0" indent="0">
              <a:buNone/>
            </a:pPr>
            <a:r>
              <a:rPr lang="en-US" sz="2000" dirty="0">
                <a:solidFill>
                  <a:srgbClr val="9AA1BC"/>
                </a:solidFill>
                <a:latin typeface="Calibri" pitchFamily="34" charset="0"/>
                <a:ea typeface="Calibri" pitchFamily="34" charset="-122"/>
                <a:cs typeface="Calibri" pitchFamily="34" charset="-120"/>
              </a:rPr>
              <a:t>Sinh viên thực hiện  </a:t>
            </a:r>
            <a:r>
              <a:rPr lang="en-US" sz="2000" b="1" dirty="0">
                <a:solidFill>
                  <a:srgbClr val="FCF6F5"/>
                </a:solidFill>
                <a:latin typeface="Calibri" pitchFamily="34" charset="0"/>
                <a:ea typeface="Calibri" pitchFamily="34" charset="-122"/>
                <a:cs typeface="Calibri" pitchFamily="34" charset="-120"/>
              </a:rPr>
              <a:t>LÊ MINH ĐỨC</a:t>
            </a:r>
            <a:endParaRPr lang="en-US" sz="2000" dirty="0"/>
          </a:p>
          <a:p>
            <a:pPr marL="0" indent="0">
              <a:buNone/>
            </a:pPr>
            <a:r>
              <a:rPr lang="en-US" sz="2000" dirty="0">
                <a:solidFill>
                  <a:srgbClr val="9AA1BC"/>
                </a:solidFill>
                <a:latin typeface="Calibri" pitchFamily="34" charset="0"/>
                <a:ea typeface="Calibri" pitchFamily="34" charset="-122"/>
                <a:cs typeface="Calibri" pitchFamily="34" charset="-120"/>
              </a:rPr>
              <a:t>MSSV  22200034</a:t>
            </a:r>
            <a:endParaRPr lang="en-US" sz="2000" dirty="0"/>
          </a:p>
        </p:txBody>
      </p:sp>
      <p:sp>
        <p:nvSpPr>
          <p:cNvPr id="10" name="Shape 7"/>
          <p:cNvSpPr/>
          <p:nvPr/>
        </p:nvSpPr>
        <p:spPr>
          <a:xfrm>
            <a:off x="5870448" y="4315968"/>
            <a:ext cx="5120640" cy="960120"/>
          </a:xfrm>
          <a:prstGeom prst="roundRect">
            <a:avLst>
              <a:gd name="adj" fmla="val 8571"/>
            </a:avLst>
          </a:prstGeom>
          <a:solidFill>
            <a:srgbClr val="232B4E"/>
          </a:solidFill>
          <a:ln w="12700">
            <a:solidFill>
              <a:srgbClr val="232B4E"/>
            </a:solidFill>
            <a:prstDash val="solid"/>
          </a:ln>
        </p:spPr>
        <p:txBody>
          <a:bodyPr/>
          <a:lstStyle/>
          <a:p>
            <a:endParaRPr/>
          </a:p>
        </p:txBody>
      </p:sp>
      <p:sp>
        <p:nvSpPr>
          <p:cNvPr id="11" name="Text 8"/>
          <p:cNvSpPr/>
          <p:nvPr/>
        </p:nvSpPr>
        <p:spPr>
          <a:xfrm>
            <a:off x="6126480" y="4407408"/>
            <a:ext cx="4663440" cy="777240"/>
          </a:xfrm>
          <a:prstGeom prst="rect">
            <a:avLst/>
          </a:prstGeom>
          <a:noFill/>
          <a:ln/>
        </p:spPr>
        <p:txBody>
          <a:bodyPr wrap="square" lIns="0" tIns="0" rIns="0" bIns="0" rtlCol="0" anchor="ctr"/>
          <a:lstStyle/>
          <a:p>
            <a:pPr marL="0" indent="0">
              <a:buNone/>
            </a:pPr>
            <a:r>
              <a:rPr lang="en-US" sz="2000" dirty="0">
                <a:solidFill>
                  <a:srgbClr val="9AA1BC"/>
                </a:solidFill>
                <a:latin typeface="Calibri" pitchFamily="34" charset="0"/>
                <a:ea typeface="Calibri" pitchFamily="34" charset="-122"/>
                <a:cs typeface="Calibri" pitchFamily="34" charset="-120"/>
              </a:rPr>
              <a:t>Giảng viên hướng dẫn  </a:t>
            </a:r>
            <a:r>
              <a:rPr lang="en-US" sz="2000" b="1" dirty="0">
                <a:solidFill>
                  <a:srgbClr val="FCF6F5"/>
                </a:solidFill>
                <a:latin typeface="Calibri" pitchFamily="34" charset="0"/>
                <a:ea typeface="Calibri" pitchFamily="34" charset="-122"/>
                <a:cs typeface="Calibri" pitchFamily="34" charset="-120"/>
              </a:rPr>
              <a:t>ThS. MÃ KHẢI MINH</a:t>
            </a:r>
            <a:endParaRPr lang="en-US" sz="2000" dirty="0"/>
          </a:p>
        </p:txBody>
      </p:sp>
      <p:pic>
        <p:nvPicPr>
          <p:cNvPr id="14" name="Picture 13" descr="Biểu trưng kỷ niệm 30 năm Trường Đại học Khoa học tự nhiên, ĐHQG-HCM -  Trường Đại Học Khoa Học Tự Nhiên">
            <a:extLst>
              <a:ext uri="{FF2B5EF4-FFF2-40B4-BE49-F238E27FC236}">
                <a16:creationId xmlns:a16="http://schemas.microsoft.com/office/drawing/2014/main" id="{5612CFBB-EC2D-A8F9-38CA-BB59A7EA5EF0}"/>
              </a:ext>
            </a:extLst>
          </p:cNvPr>
          <p:cNvPicPr>
            <a:picLocks noChangeAspect="1"/>
          </p:cNvPicPr>
          <p:nvPr/>
        </p:nvPicPr>
        <p:blipFill>
          <a:blip r:embed="rId4"/>
          <a:stretch>
            <a:fillRect/>
          </a:stretch>
        </p:blipFill>
        <p:spPr>
          <a:xfrm>
            <a:off x="10610325" y="325305"/>
            <a:ext cx="1258402" cy="12584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0" name="Shape 18"/>
          <p:cNvSpPr/>
          <p:nvPr/>
        </p:nvSpPr>
        <p:spPr>
          <a:xfrm>
            <a:off x="566928" y="3349422"/>
            <a:ext cx="11055096" cy="859536"/>
          </a:xfrm>
          <a:prstGeom prst="roundRect">
            <a:avLst>
              <a:gd name="adj" fmla="val 9574"/>
            </a:avLst>
          </a:prstGeom>
          <a:solidFill>
            <a:srgbClr val="FAFAFB"/>
          </a:solidFill>
          <a:ln w="12700">
            <a:solidFill>
              <a:schemeClr val="tx1"/>
            </a:solidFill>
            <a:prstDash val="solid"/>
          </a:ln>
        </p:spPr>
        <p:txBody>
          <a:bodyPr/>
          <a:lstStyle/>
          <a:p>
            <a:endParaRPr lang="en-US" dirty="0"/>
          </a:p>
        </p:txBody>
      </p:sp>
      <p:sp>
        <p:nvSpPr>
          <p:cNvPr id="21" name="Shape 19"/>
          <p:cNvSpPr/>
          <p:nvPr/>
        </p:nvSpPr>
        <p:spPr>
          <a:xfrm>
            <a:off x="822960" y="3557016"/>
            <a:ext cx="420624" cy="420624"/>
          </a:xfrm>
          <a:prstGeom prst="ellipse">
            <a:avLst/>
          </a:prstGeom>
          <a:solidFill>
            <a:srgbClr val="2F3C7E"/>
          </a:solidFill>
          <a:ln w="12700">
            <a:solidFill>
              <a:srgbClr val="2F3C7E"/>
            </a:solidFill>
            <a:prstDash val="solid"/>
          </a:ln>
        </p:spPr>
        <p:txBody>
          <a:bodyPr/>
          <a:lstStyle/>
          <a:p>
            <a:endParaRPr/>
          </a:p>
        </p:txBody>
      </p:sp>
      <p:sp>
        <p:nvSpPr>
          <p:cNvPr id="31" name="Shape 8">
            <a:extLst>
              <a:ext uri="{FF2B5EF4-FFF2-40B4-BE49-F238E27FC236}">
                <a16:creationId xmlns:a16="http://schemas.microsoft.com/office/drawing/2014/main" id="{167F0079-D5FA-A9BA-4B96-6F779F936191}"/>
              </a:ext>
            </a:extLst>
          </p:cNvPr>
          <p:cNvSpPr/>
          <p:nvPr/>
        </p:nvSpPr>
        <p:spPr>
          <a:xfrm>
            <a:off x="566928" y="4297680"/>
            <a:ext cx="11055096" cy="859536"/>
          </a:xfrm>
          <a:prstGeom prst="roundRect">
            <a:avLst>
              <a:gd name="adj" fmla="val 9574"/>
            </a:avLst>
          </a:prstGeom>
          <a:solidFill>
            <a:srgbClr val="F7EFEF"/>
          </a:solidFill>
          <a:ln w="12700">
            <a:solidFill>
              <a:srgbClr val="F7EFEF"/>
            </a:solidFill>
            <a:prstDash val="solid"/>
          </a:ln>
        </p:spPr>
        <p:txBody>
          <a:bodyPr/>
          <a:lstStyle/>
          <a:p>
            <a:endParaRPr lang="en-US" b="1" dirty="0"/>
          </a:p>
        </p:txBody>
      </p:sp>
      <p:sp>
        <p:nvSpPr>
          <p:cNvPr id="2" name="Text 0"/>
          <p:cNvSpPr/>
          <p:nvPr/>
        </p:nvSpPr>
        <p:spPr>
          <a:xfrm>
            <a:off x="566928" y="274320"/>
            <a:ext cx="11055096" cy="676656"/>
          </a:xfrm>
          <a:prstGeom prst="rect">
            <a:avLst/>
          </a:prstGeom>
          <a:noFill/>
          <a:ln/>
        </p:spPr>
        <p:txBody>
          <a:bodyPr wrap="square" lIns="0" tIns="0" rIns="0" bIns="0" rtlCol="0" anchor="ctr"/>
          <a:lstStyle/>
          <a:p>
            <a:pPr marL="0" indent="0">
              <a:buNone/>
            </a:pPr>
            <a:r>
              <a:rPr lang="en-US" sz="3000" b="1" kern="0" spc="200" dirty="0">
                <a:solidFill>
                  <a:srgbClr val="990011"/>
                </a:solidFill>
                <a:latin typeface="Calibri" pitchFamily="34" charset="0"/>
                <a:ea typeface="Calibri" pitchFamily="34" charset="-122"/>
                <a:cs typeface="Calibri" pitchFamily="34" charset="-120"/>
              </a:rPr>
              <a:t>NỘI DUNG TRÌNH BÀY</a:t>
            </a:r>
            <a:endParaRPr lang="en-US" sz="3000" dirty="0"/>
          </a:p>
        </p:txBody>
      </p:sp>
      <p:sp>
        <p:nvSpPr>
          <p:cNvPr id="5" name="Shape 3"/>
          <p:cNvSpPr/>
          <p:nvPr/>
        </p:nvSpPr>
        <p:spPr>
          <a:xfrm>
            <a:off x="566928" y="1389888"/>
            <a:ext cx="11055096" cy="859536"/>
          </a:xfrm>
          <a:prstGeom prst="roundRect">
            <a:avLst>
              <a:gd name="adj" fmla="val 9574"/>
            </a:avLst>
          </a:prstGeom>
          <a:solidFill>
            <a:srgbClr val="FAFAFB"/>
          </a:solidFill>
          <a:ln w="12700">
            <a:solidFill>
              <a:schemeClr val="tx1">
                <a:lumMod val="50000"/>
                <a:lumOff val="50000"/>
              </a:schemeClr>
            </a:solidFill>
            <a:prstDash val="solid"/>
          </a:ln>
        </p:spPr>
        <p:txBody>
          <a:bodyPr/>
          <a:lstStyle/>
          <a:p>
            <a:endParaRPr lang="en-US" dirty="0"/>
          </a:p>
        </p:txBody>
      </p:sp>
      <p:sp>
        <p:nvSpPr>
          <p:cNvPr id="6" name="Shape 4"/>
          <p:cNvSpPr/>
          <p:nvPr/>
        </p:nvSpPr>
        <p:spPr>
          <a:xfrm>
            <a:off x="822960" y="1609344"/>
            <a:ext cx="420624" cy="420624"/>
          </a:xfrm>
          <a:prstGeom prst="ellipse">
            <a:avLst/>
          </a:prstGeom>
          <a:solidFill>
            <a:srgbClr val="2F3C7E"/>
          </a:solidFill>
          <a:ln w="12700">
            <a:solidFill>
              <a:srgbClr val="2F3C7E"/>
            </a:solidFill>
            <a:prstDash val="solid"/>
          </a:ln>
        </p:spPr>
      </p:sp>
      <p:sp>
        <p:nvSpPr>
          <p:cNvPr id="7" name="Text 5"/>
          <p:cNvSpPr/>
          <p:nvPr/>
        </p:nvSpPr>
        <p:spPr>
          <a:xfrm>
            <a:off x="822960" y="160934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8" name="Text 6"/>
          <p:cNvSpPr/>
          <p:nvPr/>
        </p:nvSpPr>
        <p:spPr>
          <a:xfrm>
            <a:off x="1435608" y="1627055"/>
            <a:ext cx="8229600" cy="347472"/>
          </a:xfrm>
          <a:prstGeom prst="rect">
            <a:avLst/>
          </a:prstGeom>
          <a:noFill/>
          <a:ln/>
        </p:spPr>
        <p:txBody>
          <a:bodyPr wrap="square" lIns="0" tIns="0" rIns="0" bIns="0" rtlCol="0" anchor="ctr"/>
          <a:lstStyle/>
          <a:p>
            <a:pPr marL="0" indent="0">
              <a:buNone/>
            </a:pPr>
            <a:r>
              <a:rPr lang="en-US" sz="3200" b="1" dirty="0">
                <a:solidFill>
                  <a:srgbClr val="C00000"/>
                </a:solidFill>
                <a:latin typeface="Calibri" pitchFamily="34" charset="0"/>
                <a:ea typeface="Calibri" pitchFamily="34" charset="-122"/>
                <a:cs typeface="Calibri" pitchFamily="34" charset="-120"/>
              </a:rPr>
              <a:t>ĐỘNG LỰC NGHIÊN CỨU &amp; VẤN ĐỀ ĐẶT RA</a:t>
            </a:r>
            <a:endParaRPr lang="en-US" sz="3200" dirty="0">
              <a:solidFill>
                <a:srgbClr val="C00000"/>
              </a:solidFill>
            </a:endParaRPr>
          </a:p>
        </p:txBody>
      </p:sp>
      <p:sp>
        <p:nvSpPr>
          <p:cNvPr id="10" name="Shape 8"/>
          <p:cNvSpPr/>
          <p:nvPr/>
        </p:nvSpPr>
        <p:spPr>
          <a:xfrm>
            <a:off x="566928" y="2359152"/>
            <a:ext cx="11055096" cy="859536"/>
          </a:xfrm>
          <a:prstGeom prst="roundRect">
            <a:avLst>
              <a:gd name="adj" fmla="val 9574"/>
            </a:avLst>
          </a:prstGeom>
          <a:solidFill>
            <a:srgbClr val="F7EFEF"/>
          </a:solidFill>
          <a:ln w="12700">
            <a:solidFill>
              <a:srgbClr val="F7EFEF"/>
            </a:solidFill>
            <a:prstDash val="solid"/>
          </a:ln>
        </p:spPr>
        <p:txBody>
          <a:bodyPr/>
          <a:lstStyle/>
          <a:p>
            <a:endParaRPr lang="en-US" dirty="0"/>
          </a:p>
        </p:txBody>
      </p:sp>
      <p:sp>
        <p:nvSpPr>
          <p:cNvPr id="11" name="Shape 9"/>
          <p:cNvSpPr/>
          <p:nvPr/>
        </p:nvSpPr>
        <p:spPr>
          <a:xfrm>
            <a:off x="822960" y="2578608"/>
            <a:ext cx="420624" cy="420624"/>
          </a:xfrm>
          <a:prstGeom prst="ellipse">
            <a:avLst/>
          </a:prstGeom>
          <a:solidFill>
            <a:srgbClr val="990011"/>
          </a:solidFill>
          <a:ln w="12700">
            <a:solidFill>
              <a:srgbClr val="990011"/>
            </a:solidFill>
            <a:prstDash val="solid"/>
          </a:ln>
        </p:spPr>
      </p:sp>
      <p:sp>
        <p:nvSpPr>
          <p:cNvPr id="12" name="Text 10"/>
          <p:cNvSpPr/>
          <p:nvPr/>
        </p:nvSpPr>
        <p:spPr>
          <a:xfrm>
            <a:off x="822960" y="257860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3" name="Text 11"/>
          <p:cNvSpPr/>
          <p:nvPr/>
        </p:nvSpPr>
        <p:spPr>
          <a:xfrm>
            <a:off x="1435608" y="2602827"/>
            <a:ext cx="8229600" cy="347472"/>
          </a:xfrm>
          <a:prstGeom prst="rect">
            <a:avLst/>
          </a:prstGeom>
          <a:noFill/>
          <a:ln/>
        </p:spPr>
        <p:txBody>
          <a:bodyPr wrap="square" lIns="0" tIns="0" rIns="0" bIns="0" rtlCol="0" anchor="ctr"/>
          <a:lstStyle/>
          <a:p>
            <a:pPr marL="0" indent="0">
              <a:buNone/>
            </a:pPr>
            <a:r>
              <a:rPr lang="en-US" sz="3000" b="1" dirty="0"/>
              <a:t>ĐÓNG GÓP ĐỀ TÀI</a:t>
            </a:r>
          </a:p>
        </p:txBody>
      </p:sp>
      <p:sp>
        <p:nvSpPr>
          <p:cNvPr id="16" name="Shape 14"/>
          <p:cNvSpPr/>
          <p:nvPr/>
        </p:nvSpPr>
        <p:spPr>
          <a:xfrm>
            <a:off x="822960" y="4542261"/>
            <a:ext cx="420624" cy="420624"/>
          </a:xfrm>
          <a:prstGeom prst="ellipse">
            <a:avLst/>
          </a:prstGeom>
          <a:solidFill>
            <a:srgbClr val="990011"/>
          </a:solidFill>
          <a:ln w="12700">
            <a:solidFill>
              <a:srgbClr val="990011"/>
            </a:solidFill>
            <a:prstDash val="solid"/>
          </a:ln>
        </p:spPr>
      </p:sp>
      <p:sp>
        <p:nvSpPr>
          <p:cNvPr id="17" name="Text 15"/>
          <p:cNvSpPr/>
          <p:nvPr/>
        </p:nvSpPr>
        <p:spPr>
          <a:xfrm>
            <a:off x="822960" y="354787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8" name="Text 16"/>
          <p:cNvSpPr/>
          <p:nvPr/>
        </p:nvSpPr>
        <p:spPr>
          <a:xfrm>
            <a:off x="1435608" y="3584448"/>
            <a:ext cx="8229600" cy="347472"/>
          </a:xfrm>
          <a:prstGeom prst="rect">
            <a:avLst/>
          </a:prstGeom>
          <a:noFill/>
          <a:ln/>
        </p:spPr>
        <p:txBody>
          <a:bodyPr wrap="square" lIns="0" tIns="0" rIns="0" bIns="0" rtlCol="0" anchor="ctr"/>
          <a:lstStyle/>
          <a:p>
            <a:pPr marL="0" indent="0">
              <a:buNone/>
            </a:pPr>
            <a:r>
              <a:rPr lang="en-US" sz="3000" b="1" dirty="0">
                <a:solidFill>
                  <a:srgbClr val="990011"/>
                </a:solidFill>
                <a:latin typeface="Calibri" pitchFamily="34" charset="0"/>
                <a:ea typeface="Calibri" pitchFamily="34" charset="-122"/>
                <a:cs typeface="Calibri" pitchFamily="34" charset="-120"/>
              </a:rPr>
              <a:t>HỆ THỐNG ĐỀ XUẤT</a:t>
            </a:r>
            <a:endParaRPr lang="en-US" sz="3000" dirty="0"/>
          </a:p>
        </p:txBody>
      </p:sp>
      <p:sp>
        <p:nvSpPr>
          <p:cNvPr id="22" name="Text 20"/>
          <p:cNvSpPr/>
          <p:nvPr/>
        </p:nvSpPr>
        <p:spPr>
          <a:xfrm>
            <a:off x="822960" y="451713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3" name="Text 21"/>
          <p:cNvSpPr/>
          <p:nvPr/>
        </p:nvSpPr>
        <p:spPr>
          <a:xfrm>
            <a:off x="1435608" y="4555689"/>
            <a:ext cx="8229600" cy="347472"/>
          </a:xfrm>
          <a:prstGeom prst="rect">
            <a:avLst/>
          </a:prstGeom>
          <a:noFill/>
          <a:ln/>
        </p:spPr>
        <p:txBody>
          <a:bodyPr wrap="square" lIns="0" tIns="0" rIns="0" bIns="0" rtlCol="0" anchor="ctr"/>
          <a:lstStyle/>
          <a:p>
            <a:pPr marL="0" indent="0">
              <a:buNone/>
            </a:pPr>
            <a:r>
              <a:rPr lang="en-US" sz="3000" b="1" dirty="0">
                <a:solidFill>
                  <a:srgbClr val="1A1C22"/>
                </a:solidFill>
                <a:latin typeface="Calibri" pitchFamily="34" charset="0"/>
                <a:ea typeface="Calibri" pitchFamily="34" charset="-122"/>
                <a:cs typeface="Calibri" pitchFamily="34" charset="-120"/>
              </a:rPr>
              <a:t>KẾT QUẢ THỰC NGHIỆM</a:t>
            </a:r>
            <a:endParaRPr lang="en-US" sz="3000" dirty="0"/>
          </a:p>
        </p:txBody>
      </p:sp>
      <p:sp>
        <p:nvSpPr>
          <p:cNvPr id="25" name="Shape 23"/>
          <p:cNvSpPr/>
          <p:nvPr/>
        </p:nvSpPr>
        <p:spPr>
          <a:xfrm>
            <a:off x="566928" y="5266944"/>
            <a:ext cx="11055096" cy="859536"/>
          </a:xfrm>
          <a:prstGeom prst="roundRect">
            <a:avLst>
              <a:gd name="adj" fmla="val 9574"/>
            </a:avLst>
          </a:prstGeom>
          <a:solidFill>
            <a:srgbClr val="FAFAFB"/>
          </a:solidFill>
          <a:ln w="12700">
            <a:solidFill>
              <a:schemeClr val="tx1"/>
            </a:solidFill>
            <a:prstDash val="solid"/>
          </a:ln>
        </p:spPr>
      </p:sp>
      <p:sp>
        <p:nvSpPr>
          <p:cNvPr id="26" name="Shape 24"/>
          <p:cNvSpPr/>
          <p:nvPr/>
        </p:nvSpPr>
        <p:spPr>
          <a:xfrm>
            <a:off x="822960" y="5486400"/>
            <a:ext cx="420624" cy="420624"/>
          </a:xfrm>
          <a:prstGeom prst="ellipse">
            <a:avLst/>
          </a:prstGeom>
          <a:solidFill>
            <a:srgbClr val="2F3C7E"/>
          </a:solidFill>
          <a:ln w="12700">
            <a:solidFill>
              <a:srgbClr val="2F3C7E"/>
            </a:solidFill>
            <a:prstDash val="solid"/>
          </a:ln>
        </p:spPr>
      </p:sp>
      <p:sp>
        <p:nvSpPr>
          <p:cNvPr id="27" name="Text 25"/>
          <p:cNvSpPr/>
          <p:nvPr/>
        </p:nvSpPr>
        <p:spPr>
          <a:xfrm>
            <a:off x="822960" y="54864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8" name="Text 26"/>
          <p:cNvSpPr/>
          <p:nvPr/>
        </p:nvSpPr>
        <p:spPr>
          <a:xfrm>
            <a:off x="1435608" y="5522976"/>
            <a:ext cx="8229600" cy="347472"/>
          </a:xfrm>
          <a:prstGeom prst="rect">
            <a:avLst/>
          </a:prstGeom>
          <a:noFill/>
          <a:ln/>
        </p:spPr>
        <p:txBody>
          <a:bodyPr wrap="square" lIns="0" tIns="0" rIns="0" bIns="0" rtlCol="0" anchor="ctr"/>
          <a:lstStyle/>
          <a:p>
            <a:pPr marL="0" indent="0">
              <a:buNone/>
            </a:pPr>
            <a:r>
              <a:rPr lang="en-US" sz="3000" b="1" dirty="0">
                <a:solidFill>
                  <a:srgbClr val="C00000"/>
                </a:solidFill>
                <a:latin typeface="Calibri" pitchFamily="34" charset="0"/>
                <a:ea typeface="Calibri" pitchFamily="34" charset="-122"/>
                <a:cs typeface="Calibri" pitchFamily="34" charset="-120"/>
              </a:rPr>
              <a:t>KẾT LUẬN VÀ HƯỚNG PHÁT TRIỂN</a:t>
            </a:r>
            <a:endParaRPr lang="en-US" sz="3000"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2340"/>
        </a:solidFill>
        <a:effectLst/>
      </p:bgPr>
    </p:bg>
    <p:spTree>
      <p:nvGrpSpPr>
        <p:cNvPr id="1" name="">
          <a:extLst>
            <a:ext uri="{FF2B5EF4-FFF2-40B4-BE49-F238E27FC236}">
              <a16:creationId xmlns:a16="http://schemas.microsoft.com/office/drawing/2014/main" id="{B3605517-C0DF-CA38-2D1F-1A709BCDBF6E}"/>
            </a:ext>
          </a:extLst>
        </p:cNvPr>
        <p:cNvGrpSpPr/>
        <p:nvPr/>
      </p:nvGrpSpPr>
      <p:grpSpPr>
        <a:xfrm>
          <a:off x="0" y="0"/>
          <a:ext cx="0" cy="0"/>
          <a:chOff x="0" y="0"/>
          <a:chExt cx="0" cy="0"/>
        </a:xfrm>
      </p:grpSpPr>
      <p:pic>
        <p:nvPicPr>
          <p:cNvPr id="2" name="Image 0" descr="img/ecg_light.png">
            <a:extLst>
              <a:ext uri="{FF2B5EF4-FFF2-40B4-BE49-F238E27FC236}">
                <a16:creationId xmlns:a16="http://schemas.microsoft.com/office/drawing/2014/main" id="{444942C5-70C8-F588-F001-6FB1BF4D27E4}"/>
              </a:ext>
            </a:extLst>
          </p:cNvPr>
          <p:cNvPicPr>
            <a:picLocks noChangeAspect="1"/>
          </p:cNvPicPr>
          <p:nvPr/>
        </p:nvPicPr>
        <p:blipFill>
          <a:blip r:embed="rId3">
            <a:alphaModFix amt="55000"/>
          </a:blip>
          <a:stretch>
            <a:fillRect/>
          </a:stretch>
        </p:blipFill>
        <p:spPr>
          <a:xfrm>
            <a:off x="0" y="5074920"/>
            <a:ext cx="12188952" cy="1600200"/>
          </a:xfrm>
          <a:prstGeom prst="rect">
            <a:avLst/>
          </a:prstGeom>
        </p:spPr>
      </p:pic>
      <p:sp>
        <p:nvSpPr>
          <p:cNvPr id="3" name="Text 0">
            <a:extLst>
              <a:ext uri="{FF2B5EF4-FFF2-40B4-BE49-F238E27FC236}">
                <a16:creationId xmlns:a16="http://schemas.microsoft.com/office/drawing/2014/main" id="{5D3C00ED-75E2-74E2-9934-41AD27201FED}"/>
              </a:ext>
            </a:extLst>
          </p:cNvPr>
          <p:cNvSpPr/>
          <p:nvPr/>
        </p:nvSpPr>
        <p:spPr>
          <a:xfrm>
            <a:off x="566928" y="1051560"/>
            <a:ext cx="2926080" cy="1737360"/>
          </a:xfrm>
          <a:prstGeom prst="rect">
            <a:avLst/>
          </a:prstGeom>
          <a:noFill/>
          <a:ln/>
        </p:spPr>
        <p:txBody>
          <a:bodyPr wrap="square" lIns="0" tIns="0" rIns="0" bIns="0" rtlCol="0" anchor="ctr"/>
          <a:lstStyle/>
          <a:p>
            <a:pPr marL="0" indent="0">
              <a:buNone/>
            </a:pPr>
            <a:r>
              <a:rPr lang="en-US" sz="10800" b="1" dirty="0">
                <a:solidFill>
                  <a:srgbClr val="E23D4D"/>
                </a:solidFill>
                <a:latin typeface="Cambria" pitchFamily="34" charset="0"/>
                <a:ea typeface="Cambria" pitchFamily="34" charset="-122"/>
                <a:cs typeface="Cambria" pitchFamily="34" charset="-120"/>
              </a:rPr>
              <a:t>01</a:t>
            </a:r>
            <a:endParaRPr lang="en-US" sz="10800" dirty="0"/>
          </a:p>
        </p:txBody>
      </p:sp>
      <p:sp>
        <p:nvSpPr>
          <p:cNvPr id="4" name="Text 1">
            <a:extLst>
              <a:ext uri="{FF2B5EF4-FFF2-40B4-BE49-F238E27FC236}">
                <a16:creationId xmlns:a16="http://schemas.microsoft.com/office/drawing/2014/main" id="{AAB581E1-8B80-97DF-9A30-51091D09C20C}"/>
              </a:ext>
            </a:extLst>
          </p:cNvPr>
          <p:cNvSpPr/>
          <p:nvPr/>
        </p:nvSpPr>
        <p:spPr>
          <a:xfrm>
            <a:off x="566928" y="2788920"/>
            <a:ext cx="8778240" cy="914400"/>
          </a:xfrm>
          <a:prstGeom prst="rect">
            <a:avLst/>
          </a:prstGeom>
          <a:noFill/>
          <a:ln/>
        </p:spPr>
        <p:txBody>
          <a:bodyPr wrap="square" lIns="0" tIns="0" rIns="0" bIns="0" rtlCol="0" anchor="ctr"/>
          <a:lstStyle/>
          <a:p>
            <a:r>
              <a:rPr lang="en-US" sz="3600" b="1" dirty="0">
                <a:solidFill>
                  <a:schemeClr val="bg1"/>
                </a:solidFill>
                <a:latin typeface="Cambria" panose="02040503050406030204" pitchFamily="18" charset="0"/>
                <a:ea typeface="Cambria" panose="02040503050406030204" pitchFamily="18" charset="0"/>
                <a:cs typeface="Calibri" pitchFamily="34" charset="-120"/>
              </a:rPr>
              <a:t>ĐỘNG LỰC NGHIÊN CỨU &amp; VẤN ĐỀ ĐẶT RA</a:t>
            </a:r>
            <a:endParaRPr lang="en-US" sz="3600"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98215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D8609-F63F-9F47-4D93-ECBD7BBB5987}"/>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6124C597-B0DA-25A1-BBAD-67CE5537B5AA}"/>
              </a:ext>
            </a:extLst>
          </p:cNvPr>
          <p:cNvSpPr/>
          <p:nvPr/>
        </p:nvSpPr>
        <p:spPr>
          <a:xfrm>
            <a:off x="993648" y="1645920"/>
            <a:ext cx="10357104" cy="3607003"/>
          </a:xfrm>
          <a:prstGeom prst="roundRect">
            <a:avLst>
              <a:gd name="adj" fmla="val 2535"/>
            </a:avLst>
          </a:prstGeom>
          <a:solidFill>
            <a:srgbClr val="F7EFEF"/>
          </a:solidFill>
          <a:ln w="12700">
            <a:solidFill>
              <a:srgbClr val="F7EFEF"/>
            </a:solidFill>
            <a:prstDash val="solid"/>
          </a:ln>
        </p:spPr>
        <p:txBody>
          <a:bodyPr/>
          <a:lstStyle/>
          <a:p>
            <a:pPr algn="just">
              <a:spcAft>
                <a:spcPts val="1800"/>
              </a:spcAft>
            </a:pPr>
            <a:r>
              <a:rPr lang="en-US" sz="2400" b="1" dirty="0" err="1">
                <a:solidFill>
                  <a:srgbClr val="990011"/>
                </a:solidFill>
                <a:latin typeface="Calibri" pitchFamily="34" charset="0"/>
                <a:ea typeface="Calibri" pitchFamily="34" charset="-122"/>
                <a:cs typeface="Calibri" pitchFamily="34" charset="-120"/>
              </a:rPr>
              <a:t>Động</a:t>
            </a:r>
            <a:r>
              <a:rPr lang="en-US" sz="2400" b="1" dirty="0">
                <a:solidFill>
                  <a:srgbClr val="990011"/>
                </a:solidFill>
                <a:latin typeface="Calibri" pitchFamily="34" charset="0"/>
                <a:ea typeface="Calibri" pitchFamily="34" charset="-122"/>
                <a:cs typeface="Calibri" pitchFamily="34" charset="-120"/>
              </a:rPr>
              <a:t> </a:t>
            </a:r>
            <a:r>
              <a:rPr lang="en-US" sz="2400" b="1" dirty="0" err="1">
                <a:solidFill>
                  <a:srgbClr val="990011"/>
                </a:solidFill>
                <a:latin typeface="Calibri" pitchFamily="34" charset="0"/>
                <a:ea typeface="Calibri" pitchFamily="34" charset="-122"/>
                <a:cs typeface="Calibri" pitchFamily="34" charset="-120"/>
              </a:rPr>
              <a:t>lực</a:t>
            </a:r>
            <a:r>
              <a:rPr lang="en-US" sz="2400" b="1" dirty="0">
                <a:solidFill>
                  <a:srgbClr val="990011"/>
                </a:solidFill>
                <a:latin typeface="Calibri" pitchFamily="34" charset="0"/>
                <a:ea typeface="Calibri" pitchFamily="34" charset="-122"/>
                <a:cs typeface="Calibri" pitchFamily="34" charset="-120"/>
              </a:rPr>
              <a:t> </a:t>
            </a:r>
            <a:r>
              <a:rPr lang="en-US" sz="2400" b="1" dirty="0" err="1">
                <a:solidFill>
                  <a:srgbClr val="990011"/>
                </a:solidFill>
                <a:latin typeface="Calibri" pitchFamily="34" charset="0"/>
                <a:ea typeface="Calibri" pitchFamily="34" charset="-122"/>
                <a:cs typeface="Calibri" pitchFamily="34" charset="-120"/>
              </a:rPr>
              <a:t>nghiên</a:t>
            </a:r>
            <a:r>
              <a:rPr lang="en-US" sz="2400" b="1" dirty="0">
                <a:solidFill>
                  <a:srgbClr val="990011"/>
                </a:solidFill>
                <a:latin typeface="Calibri" pitchFamily="34" charset="0"/>
                <a:ea typeface="Calibri" pitchFamily="34" charset="-122"/>
                <a:cs typeface="Calibri" pitchFamily="34" charset="-120"/>
              </a:rPr>
              <a:t> </a:t>
            </a:r>
            <a:r>
              <a:rPr lang="en-US" sz="2400" b="1" dirty="0" err="1">
                <a:solidFill>
                  <a:srgbClr val="990011"/>
                </a:solidFill>
                <a:latin typeface="Calibri" pitchFamily="34" charset="0"/>
                <a:ea typeface="Calibri" pitchFamily="34" charset="-122"/>
                <a:cs typeface="Calibri" pitchFamily="34" charset="-120"/>
              </a:rPr>
              <a:t>cứu</a:t>
            </a:r>
            <a:endParaRPr lang="en-US" sz="2400" dirty="0"/>
          </a:p>
          <a:p>
            <a:pPr marL="342900" indent="-342900" algn="just">
              <a:spcAft>
                <a:spcPts val="700"/>
              </a:spcAft>
              <a:buSzPct val="100000"/>
              <a:buChar char="•"/>
            </a:pPr>
            <a:r>
              <a:rPr lang="en-US" sz="2400" b="1" dirty="0" err="1">
                <a:solidFill>
                  <a:srgbClr val="1A1C22"/>
                </a:solidFill>
                <a:latin typeface="Calibri" pitchFamily="34" charset="0"/>
                <a:ea typeface="Calibri" pitchFamily="34" charset="-122"/>
                <a:cs typeface="Calibri" pitchFamily="34" charset="-120"/>
              </a:rPr>
              <a:t>Rối</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loạn</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nhịp</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tim</a:t>
            </a:r>
            <a:r>
              <a:rPr lang="en-US" sz="2400" b="1"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là</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nguyên</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nhân</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hàng</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đầu</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gây</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đột</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tử</a:t>
            </a:r>
            <a:r>
              <a:rPr lang="en-US" sz="2400" dirty="0">
                <a:solidFill>
                  <a:srgbClr val="1A1C22"/>
                </a:solidFill>
                <a:latin typeface="Calibri" pitchFamily="34" charset="0"/>
                <a:ea typeface="Calibri" pitchFamily="34" charset="-122"/>
                <a:cs typeface="Calibri" pitchFamily="34" charset="-120"/>
              </a:rPr>
              <a:t> do </a:t>
            </a:r>
            <a:r>
              <a:rPr lang="en-US" sz="2400" dirty="0" err="1">
                <a:solidFill>
                  <a:srgbClr val="1A1C22"/>
                </a:solidFill>
                <a:latin typeface="Calibri" pitchFamily="34" charset="0"/>
                <a:ea typeface="Calibri" pitchFamily="34" charset="-122"/>
                <a:cs typeface="Calibri" pitchFamily="34" charset="-120"/>
              </a:rPr>
              <a:t>tim</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nhiều</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dạng</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có</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tính</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kịch</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phát</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nên</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dễ</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bị</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bỏ</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sót</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khi</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đo</a:t>
            </a:r>
            <a:r>
              <a:rPr lang="en-US" sz="2400" dirty="0">
                <a:solidFill>
                  <a:srgbClr val="1A1C22"/>
                </a:solidFill>
                <a:latin typeface="Calibri" pitchFamily="34" charset="0"/>
                <a:ea typeface="Calibri" pitchFamily="34" charset="-122"/>
                <a:cs typeface="Calibri" pitchFamily="34" charset="-120"/>
              </a:rPr>
              <a:t> ECG </a:t>
            </a:r>
            <a:r>
              <a:rPr lang="en-US" sz="2400" dirty="0" err="1">
                <a:solidFill>
                  <a:srgbClr val="1A1C22"/>
                </a:solidFill>
                <a:latin typeface="Calibri" pitchFamily="34" charset="0"/>
                <a:ea typeface="Calibri" pitchFamily="34" charset="-122"/>
                <a:cs typeface="Calibri" pitchFamily="34" charset="-120"/>
              </a:rPr>
              <a:t>một</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lần</a:t>
            </a:r>
            <a:r>
              <a:rPr lang="en-US" sz="2400" dirty="0">
                <a:solidFill>
                  <a:srgbClr val="1A1C22"/>
                </a:solidFill>
                <a:latin typeface="Calibri" pitchFamily="34" charset="0"/>
                <a:ea typeface="Calibri" pitchFamily="34" charset="-122"/>
                <a:cs typeface="Calibri" pitchFamily="34" charset="-120"/>
              </a:rPr>
              <a:t>.</a:t>
            </a:r>
            <a:endParaRPr lang="en-US" sz="2400" dirty="0"/>
          </a:p>
          <a:p>
            <a:pPr marL="342900" indent="-342900" algn="just">
              <a:spcAft>
                <a:spcPts val="700"/>
              </a:spcAft>
              <a:buSzPct val="100000"/>
              <a:buChar char="•"/>
            </a:pPr>
            <a:r>
              <a:rPr lang="en-US" sz="2400" b="1" dirty="0" err="1">
                <a:solidFill>
                  <a:srgbClr val="1A1C22"/>
                </a:solidFill>
                <a:latin typeface="Calibri" pitchFamily="34" charset="0"/>
                <a:ea typeface="Calibri" pitchFamily="34" charset="-122"/>
                <a:cs typeface="Calibri" pitchFamily="34" charset="-120"/>
              </a:rPr>
              <a:t>Phân</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tích</a:t>
            </a:r>
            <a:r>
              <a:rPr lang="en-US" sz="2400" b="1" dirty="0">
                <a:solidFill>
                  <a:srgbClr val="1A1C22"/>
                </a:solidFill>
                <a:latin typeface="Calibri" pitchFamily="34" charset="0"/>
                <a:ea typeface="Calibri" pitchFamily="34" charset="-122"/>
                <a:cs typeface="Calibri" pitchFamily="34" charset="-120"/>
              </a:rPr>
              <a:t> ECG </a:t>
            </a:r>
            <a:r>
              <a:rPr lang="en-US" sz="2400" b="1" dirty="0" err="1">
                <a:solidFill>
                  <a:srgbClr val="1A1C22"/>
                </a:solidFill>
                <a:latin typeface="Calibri" pitchFamily="34" charset="0"/>
                <a:ea typeface="Calibri" pitchFamily="34" charset="-122"/>
                <a:cs typeface="Calibri" pitchFamily="34" charset="-120"/>
              </a:rPr>
              <a:t>thủ</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công</a:t>
            </a:r>
            <a:r>
              <a:rPr lang="en-US" sz="2400" b="1"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tốn</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nguồn</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lực</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chuyên</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môn</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không</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đáp</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ứng</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giám</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sát</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liên</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tục</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dài</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ngày</a:t>
            </a:r>
            <a:r>
              <a:rPr lang="en-US" sz="2400" dirty="0">
                <a:solidFill>
                  <a:srgbClr val="1A1C22"/>
                </a:solidFill>
                <a:latin typeface="Calibri" pitchFamily="34" charset="0"/>
                <a:ea typeface="Calibri" pitchFamily="34" charset="-122"/>
                <a:cs typeface="Calibri" pitchFamily="34" charset="-120"/>
              </a:rPr>
              <a:t>.</a:t>
            </a:r>
            <a:endParaRPr lang="en-US" sz="2400" dirty="0"/>
          </a:p>
          <a:p>
            <a:pPr marL="342900" indent="-342900" algn="just">
              <a:spcAft>
                <a:spcPts val="700"/>
              </a:spcAft>
              <a:buSzPct val="100000"/>
              <a:buChar char="•"/>
            </a:pPr>
            <a:r>
              <a:rPr lang="en-US" sz="2400" b="1" dirty="0" err="1">
                <a:solidFill>
                  <a:srgbClr val="1A1C22"/>
                </a:solidFill>
                <a:latin typeface="Calibri" pitchFamily="34" charset="0"/>
                <a:ea typeface="Calibri" pitchFamily="34" charset="-122"/>
                <a:cs typeface="Calibri" pitchFamily="34" charset="-120"/>
              </a:rPr>
              <a:t>Mô</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hình</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học</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sâu</a:t>
            </a:r>
            <a:r>
              <a:rPr lang="en-US" sz="2400" b="1"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cho</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độ</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chính</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xác</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cao</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nhưng</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thường</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quá</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lớn</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có</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hàng</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triệu</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phép</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tính</a:t>
            </a:r>
            <a:r>
              <a:rPr lang="en-US" sz="2400" dirty="0">
                <a:solidFill>
                  <a:srgbClr val="1A1C22"/>
                </a:solidFill>
                <a:latin typeface="Calibri" pitchFamily="34" charset="0"/>
                <a:ea typeface="Calibri" pitchFamily="34" charset="-122"/>
                <a:cs typeface="Calibri" pitchFamily="34" charset="-120"/>
              </a:rPr>
              <a:t>: </a:t>
            </a:r>
            <a:r>
              <a:rPr lang="en-US" sz="2400" b="1" dirty="0">
                <a:solidFill>
                  <a:srgbClr val="1A1C22"/>
                </a:solidFill>
                <a:latin typeface="Calibri" pitchFamily="34" charset="0"/>
                <a:ea typeface="Calibri" pitchFamily="34" charset="-122"/>
                <a:cs typeface="Calibri" pitchFamily="34" charset="-120"/>
              </a:rPr>
              <a:t>vi </a:t>
            </a:r>
            <a:r>
              <a:rPr lang="en-US" sz="2400" b="1" dirty="0" err="1">
                <a:solidFill>
                  <a:srgbClr val="1A1C22"/>
                </a:solidFill>
                <a:latin typeface="Calibri" pitchFamily="34" charset="0"/>
                <a:ea typeface="Calibri" pitchFamily="34" charset="-122"/>
                <a:cs typeface="Calibri" pitchFamily="34" charset="-120"/>
              </a:rPr>
              <a:t>điều</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khiển</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thiếu</a:t>
            </a:r>
            <a:r>
              <a:rPr lang="en-US" sz="2400" b="1"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thông</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lượng</a:t>
            </a:r>
            <a:r>
              <a:rPr lang="en-US" sz="2400" b="1" dirty="0">
                <a:solidFill>
                  <a:srgbClr val="1A1C22"/>
                </a:solidFill>
                <a:latin typeface="Calibri" pitchFamily="34" charset="0"/>
                <a:ea typeface="Calibri" pitchFamily="34" charset="-122"/>
                <a:cs typeface="Calibri" pitchFamily="34" charset="-120"/>
              </a:rPr>
              <a:t>, GPU </a:t>
            </a:r>
            <a:r>
              <a:rPr lang="en-US" sz="2400" b="1" dirty="0" err="1">
                <a:solidFill>
                  <a:srgbClr val="1A1C22"/>
                </a:solidFill>
                <a:latin typeface="Calibri" pitchFamily="34" charset="0"/>
                <a:ea typeface="Calibri" pitchFamily="34" charset="-122"/>
                <a:cs typeface="Calibri" pitchFamily="34" charset="-120"/>
              </a:rPr>
              <a:t>vượt</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ràng</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buộc</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công</a:t>
            </a:r>
            <a:r>
              <a:rPr lang="en-US" sz="2400" b="1" dirty="0">
                <a:solidFill>
                  <a:srgbClr val="1A1C22"/>
                </a:solidFill>
                <a:latin typeface="Calibri" pitchFamily="34" charset="0"/>
                <a:ea typeface="Calibri" pitchFamily="34" charset="-122"/>
                <a:cs typeface="Calibri" pitchFamily="34" charset="-120"/>
              </a:rPr>
              <a:t> </a:t>
            </a:r>
            <a:r>
              <a:rPr lang="en-US" sz="2400" b="1" dirty="0" err="1">
                <a:solidFill>
                  <a:srgbClr val="1A1C22"/>
                </a:solidFill>
                <a:latin typeface="Calibri" pitchFamily="34" charset="0"/>
                <a:ea typeface="Calibri" pitchFamily="34" charset="-122"/>
                <a:cs typeface="Calibri" pitchFamily="34" charset="-120"/>
              </a:rPr>
              <a:t>suất</a:t>
            </a:r>
            <a:r>
              <a:rPr lang="en-US" sz="2400" b="1"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của</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thiết</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bị</a:t>
            </a:r>
            <a:r>
              <a:rPr lang="en-US" sz="2400" dirty="0">
                <a:solidFill>
                  <a:srgbClr val="1A1C22"/>
                </a:solidFill>
                <a:latin typeface="Calibri" pitchFamily="34" charset="0"/>
                <a:ea typeface="Calibri" pitchFamily="34" charset="-122"/>
                <a:cs typeface="Calibri" pitchFamily="34" charset="-120"/>
              </a:rPr>
              <a:t> </a:t>
            </a:r>
            <a:r>
              <a:rPr lang="en-US" sz="2400" dirty="0" err="1">
                <a:solidFill>
                  <a:srgbClr val="1A1C22"/>
                </a:solidFill>
                <a:latin typeface="Calibri" pitchFamily="34" charset="0"/>
                <a:ea typeface="Calibri" pitchFamily="34" charset="-122"/>
                <a:cs typeface="Calibri" pitchFamily="34" charset="-120"/>
              </a:rPr>
              <a:t>đeo</a:t>
            </a:r>
            <a:r>
              <a:rPr lang="en-US" sz="2400" dirty="0">
                <a:solidFill>
                  <a:srgbClr val="1A1C22"/>
                </a:solidFill>
                <a:latin typeface="Calibri" pitchFamily="34" charset="0"/>
                <a:ea typeface="Calibri" pitchFamily="34" charset="-122"/>
                <a:cs typeface="Calibri" pitchFamily="34" charset="-120"/>
              </a:rPr>
              <a:t>.</a:t>
            </a:r>
            <a:endParaRPr lang="en-US" sz="2400" dirty="0"/>
          </a:p>
        </p:txBody>
      </p:sp>
      <p:sp>
        <p:nvSpPr>
          <p:cNvPr id="6" name="Text 4">
            <a:extLst>
              <a:ext uri="{FF2B5EF4-FFF2-40B4-BE49-F238E27FC236}">
                <a16:creationId xmlns:a16="http://schemas.microsoft.com/office/drawing/2014/main" id="{2028EA36-0285-590C-44BB-B6BEBFAB80DC}"/>
              </a:ext>
            </a:extLst>
          </p:cNvPr>
          <p:cNvSpPr/>
          <p:nvPr/>
        </p:nvSpPr>
        <p:spPr>
          <a:xfrm>
            <a:off x="841248" y="1481328"/>
            <a:ext cx="4754880" cy="292608"/>
          </a:xfrm>
          <a:prstGeom prst="rect">
            <a:avLst/>
          </a:prstGeom>
          <a:noFill/>
          <a:ln/>
        </p:spPr>
        <p:txBody>
          <a:bodyPr wrap="square" lIns="0" tIns="0" rIns="0" bIns="0" rtlCol="0" anchor="ctr"/>
          <a:lstStyle/>
          <a:p>
            <a:pPr marL="0" indent="0">
              <a:buNone/>
            </a:pPr>
            <a:endParaRPr lang="en-US" sz="1400" dirty="0"/>
          </a:p>
        </p:txBody>
      </p:sp>
      <p:sp>
        <p:nvSpPr>
          <p:cNvPr id="7" name="Text 5">
            <a:extLst>
              <a:ext uri="{FF2B5EF4-FFF2-40B4-BE49-F238E27FC236}">
                <a16:creationId xmlns:a16="http://schemas.microsoft.com/office/drawing/2014/main" id="{CDE54308-4E26-CC4D-0D85-0A1218D3619F}"/>
              </a:ext>
            </a:extLst>
          </p:cNvPr>
          <p:cNvSpPr/>
          <p:nvPr/>
        </p:nvSpPr>
        <p:spPr>
          <a:xfrm>
            <a:off x="841248" y="1847088"/>
            <a:ext cx="5431536" cy="2606040"/>
          </a:xfrm>
          <a:prstGeom prst="rect">
            <a:avLst/>
          </a:prstGeom>
          <a:noFill/>
          <a:ln/>
        </p:spPr>
        <p:txBody>
          <a:bodyPr wrap="square" lIns="0" tIns="0" rIns="0" bIns="0" rtlCol="0" anchor="t"/>
          <a:lstStyle/>
          <a:p>
            <a:pPr marL="342900" indent="-342900">
              <a:spcAft>
                <a:spcPts val="700"/>
              </a:spcAft>
              <a:buSzPct val="100000"/>
              <a:buChar char="•"/>
            </a:pPr>
            <a:endParaRPr lang="en-US" sz="2000" dirty="0"/>
          </a:p>
        </p:txBody>
      </p:sp>
      <p:sp>
        <p:nvSpPr>
          <p:cNvPr id="39" name="Text 0">
            <a:extLst>
              <a:ext uri="{FF2B5EF4-FFF2-40B4-BE49-F238E27FC236}">
                <a16:creationId xmlns:a16="http://schemas.microsoft.com/office/drawing/2014/main" id="{EB8A0292-B251-3B24-3810-6163AD5F2586}"/>
              </a:ext>
            </a:extLst>
          </p:cNvPr>
          <p:cNvSpPr/>
          <p:nvPr/>
        </p:nvSpPr>
        <p:spPr>
          <a:xfrm>
            <a:off x="719328" y="4267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1 · ĐỘNG LỰC NGHIÊN CỨU VÀ VẤN ĐỀ ĐẶT RA</a:t>
            </a:r>
            <a:endParaRPr lang="en-US" sz="2000" dirty="0"/>
          </a:p>
        </p:txBody>
      </p:sp>
    </p:spTree>
    <p:extLst>
      <p:ext uri="{BB962C8B-B14F-4D97-AF65-F5344CB8AC3E}">
        <p14:creationId xmlns:p14="http://schemas.microsoft.com/office/powerpoint/2010/main" val="3884727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FDC73-732A-8FC5-D1D5-0A7A2D525AE5}"/>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428729B1-49D1-0607-0CF4-2B877ABF10DE}"/>
              </a:ext>
            </a:extLst>
          </p:cNvPr>
          <p:cNvSpPr/>
          <p:nvPr/>
        </p:nvSpPr>
        <p:spPr>
          <a:xfrm>
            <a:off x="709422" y="1165056"/>
            <a:ext cx="10933176" cy="2263300"/>
          </a:xfrm>
          <a:prstGeom prst="roundRect">
            <a:avLst>
              <a:gd name="adj" fmla="val 2535"/>
            </a:avLst>
          </a:prstGeom>
          <a:solidFill>
            <a:srgbClr val="F7EFEF"/>
          </a:solidFill>
          <a:ln w="12700">
            <a:solidFill>
              <a:srgbClr val="F7EFEF"/>
            </a:solidFill>
            <a:prstDash val="solid"/>
          </a:ln>
        </p:spPr>
        <p:txBody>
          <a:bodyPr/>
          <a:lstStyle/>
          <a:p>
            <a:pPr algn="just">
              <a:spcBef>
                <a:spcPts val="600"/>
              </a:spcBef>
            </a:pPr>
            <a:r>
              <a:rPr lang="en-US" sz="2000" b="1" dirty="0" err="1">
                <a:solidFill>
                  <a:srgbClr val="990011"/>
                </a:solidFill>
                <a:latin typeface="Calibri" pitchFamily="34" charset="0"/>
                <a:ea typeface="Calibri" pitchFamily="34" charset="-122"/>
                <a:cs typeface="Calibri" pitchFamily="34" charset="-120"/>
              </a:rPr>
              <a:t>Vấn</a:t>
            </a:r>
            <a:r>
              <a:rPr lang="en-US" sz="2000" b="1" dirty="0">
                <a:solidFill>
                  <a:srgbClr val="990011"/>
                </a:solidFill>
                <a:latin typeface="Calibri" pitchFamily="34" charset="0"/>
                <a:ea typeface="Calibri" pitchFamily="34" charset="-122"/>
                <a:cs typeface="Calibri" pitchFamily="34" charset="-120"/>
              </a:rPr>
              <a:t> </a:t>
            </a:r>
            <a:r>
              <a:rPr lang="en-US" sz="2000" b="1" dirty="0" err="1">
                <a:solidFill>
                  <a:srgbClr val="990011"/>
                </a:solidFill>
                <a:latin typeface="Calibri" pitchFamily="34" charset="0"/>
                <a:ea typeface="Calibri" pitchFamily="34" charset="-122"/>
                <a:cs typeface="Calibri" pitchFamily="34" charset="-120"/>
              </a:rPr>
              <a:t>đề</a:t>
            </a:r>
            <a:r>
              <a:rPr lang="en-US" sz="2000" b="1" dirty="0">
                <a:solidFill>
                  <a:srgbClr val="990011"/>
                </a:solidFill>
                <a:latin typeface="Calibri" pitchFamily="34" charset="0"/>
                <a:ea typeface="Calibri" pitchFamily="34" charset="-122"/>
                <a:cs typeface="Calibri" pitchFamily="34" charset="-120"/>
              </a:rPr>
              <a:t> </a:t>
            </a:r>
            <a:r>
              <a:rPr lang="en-US" sz="2000" b="1" dirty="0" err="1">
                <a:solidFill>
                  <a:srgbClr val="990011"/>
                </a:solidFill>
                <a:latin typeface="Calibri" pitchFamily="34" charset="0"/>
                <a:ea typeface="Calibri" pitchFamily="34" charset="-122"/>
                <a:cs typeface="Calibri" pitchFamily="34" charset="-120"/>
              </a:rPr>
              <a:t>đặt</a:t>
            </a:r>
            <a:r>
              <a:rPr lang="en-US" sz="2000" b="1" dirty="0">
                <a:solidFill>
                  <a:srgbClr val="990011"/>
                </a:solidFill>
                <a:latin typeface="Calibri" pitchFamily="34" charset="0"/>
                <a:ea typeface="Calibri" pitchFamily="34" charset="-122"/>
                <a:cs typeface="Calibri" pitchFamily="34" charset="-120"/>
              </a:rPr>
              <a:t> </a:t>
            </a:r>
            <a:r>
              <a:rPr lang="en-US" sz="2000" b="1" dirty="0" err="1">
                <a:solidFill>
                  <a:srgbClr val="990011"/>
                </a:solidFill>
                <a:latin typeface="Calibri" pitchFamily="34" charset="0"/>
                <a:ea typeface="Calibri" pitchFamily="34" charset="-122"/>
                <a:cs typeface="Calibri" pitchFamily="34" charset="-120"/>
              </a:rPr>
              <a:t>ra</a:t>
            </a:r>
            <a:endParaRPr lang="en-US" sz="2000" dirty="0"/>
          </a:p>
          <a:p>
            <a:pPr algn="just">
              <a:spcBef>
                <a:spcPts val="600"/>
              </a:spcBef>
            </a:pPr>
            <a:r>
              <a:rPr lang="en-US" sz="2000" dirty="0"/>
              <a:t> - </a:t>
            </a:r>
            <a:r>
              <a:rPr lang="en-US" sz="2000" b="1" dirty="0"/>
              <a:t>Các </a:t>
            </a:r>
            <a:r>
              <a:rPr lang="en-US" sz="2000" b="1" dirty="0" err="1"/>
              <a:t>mô</a:t>
            </a:r>
            <a:r>
              <a:rPr lang="en-US" sz="2000" b="1" dirty="0"/>
              <a:t> </a:t>
            </a:r>
            <a:r>
              <a:rPr lang="en-US" sz="2000" b="1" dirty="0" err="1"/>
              <a:t>hình</a:t>
            </a:r>
            <a:r>
              <a:rPr lang="en-US" sz="2000" b="1" dirty="0"/>
              <a:t> </a:t>
            </a:r>
            <a:r>
              <a:rPr lang="en-US" sz="2000" b="1" dirty="0" err="1"/>
              <a:t>có</a:t>
            </a:r>
            <a:r>
              <a:rPr lang="en-US" sz="2000" b="1" dirty="0"/>
              <a:t> </a:t>
            </a:r>
            <a:r>
              <a:rPr lang="en-US" sz="2000" b="1" dirty="0" err="1"/>
              <a:t>độ</a:t>
            </a:r>
            <a:r>
              <a:rPr lang="en-US" sz="2000" b="1" dirty="0"/>
              <a:t> </a:t>
            </a:r>
            <a:r>
              <a:rPr lang="en-US" sz="2000" b="1" dirty="0" err="1"/>
              <a:t>chính</a:t>
            </a:r>
            <a:r>
              <a:rPr lang="en-US" sz="2000" b="1" dirty="0"/>
              <a:t> </a:t>
            </a:r>
            <a:r>
              <a:rPr lang="en-US" sz="2000" b="1" dirty="0" err="1"/>
              <a:t>xác</a:t>
            </a:r>
            <a:r>
              <a:rPr lang="en-US" sz="2000" b="1" dirty="0"/>
              <a:t> </a:t>
            </a:r>
            <a:r>
              <a:rPr lang="en-US" sz="2000" b="1" dirty="0" err="1"/>
              <a:t>cao</a:t>
            </a:r>
            <a:r>
              <a:rPr lang="en-US" sz="2000" b="1" dirty="0"/>
              <a:t> </a:t>
            </a:r>
            <a:r>
              <a:rPr lang="en-US" sz="2000" dirty="0" err="1"/>
              <a:t>thường</a:t>
            </a:r>
            <a:r>
              <a:rPr lang="en-US" sz="2000" dirty="0"/>
              <a:t> </a:t>
            </a:r>
            <a:r>
              <a:rPr lang="en-US" sz="2000" dirty="0" err="1"/>
              <a:t>có</a:t>
            </a:r>
            <a:r>
              <a:rPr lang="en-US" sz="2000" dirty="0"/>
              <a:t> </a:t>
            </a:r>
            <a:r>
              <a:rPr lang="en-US" sz="2000" dirty="0" err="1"/>
              <a:t>thuật</a:t>
            </a:r>
            <a:r>
              <a:rPr lang="en-US" sz="2000" dirty="0"/>
              <a:t> </a:t>
            </a:r>
            <a:r>
              <a:rPr lang="en-US" sz="2000" dirty="0" err="1"/>
              <a:t>toán</a:t>
            </a:r>
            <a:r>
              <a:rPr lang="en-US" sz="2000" dirty="0"/>
              <a:t> </a:t>
            </a:r>
            <a:r>
              <a:rPr lang="en-US" sz="2000" dirty="0" err="1"/>
              <a:t>phức</a:t>
            </a:r>
            <a:r>
              <a:rPr lang="en-US" sz="2000" dirty="0"/>
              <a:t> </a:t>
            </a:r>
            <a:r>
              <a:rPr lang="en-US" sz="2000" dirty="0" err="1"/>
              <a:t>tạp</a:t>
            </a:r>
            <a:r>
              <a:rPr lang="en-US" sz="2000" dirty="0"/>
              <a:t>, </a:t>
            </a:r>
            <a:r>
              <a:rPr lang="en-US" sz="2000" b="1" dirty="0" err="1"/>
              <a:t>đòi</a:t>
            </a:r>
            <a:r>
              <a:rPr lang="en-US" sz="2000" b="1" dirty="0"/>
              <a:t> </a:t>
            </a:r>
            <a:r>
              <a:rPr lang="en-US" sz="2000" b="1" dirty="0" err="1"/>
              <a:t>hỏi</a:t>
            </a:r>
            <a:r>
              <a:rPr lang="en-US" sz="2000" b="1" dirty="0"/>
              <a:t> </a:t>
            </a:r>
            <a:r>
              <a:rPr lang="en-US" sz="2000" b="1" dirty="0" err="1"/>
              <a:t>tài</a:t>
            </a:r>
            <a:r>
              <a:rPr lang="en-US" sz="2000" b="1" dirty="0"/>
              <a:t> </a:t>
            </a:r>
            <a:r>
              <a:rPr lang="en-US" sz="2000" b="1" dirty="0" err="1"/>
              <a:t>nguyên</a:t>
            </a:r>
            <a:r>
              <a:rPr lang="en-US" sz="2000" b="1" dirty="0"/>
              <a:t> </a:t>
            </a:r>
            <a:r>
              <a:rPr lang="en-US" sz="2000" b="1" dirty="0" err="1"/>
              <a:t>tính</a:t>
            </a:r>
            <a:r>
              <a:rPr lang="en-US" sz="2000" b="1" dirty="0"/>
              <a:t> </a:t>
            </a:r>
            <a:r>
              <a:rPr lang="en-US" sz="2000" b="1" dirty="0" err="1"/>
              <a:t>toán</a:t>
            </a:r>
            <a:r>
              <a:rPr lang="en-US" sz="2000" b="1" dirty="0"/>
              <a:t> </a:t>
            </a:r>
            <a:r>
              <a:rPr lang="en-US" sz="2000" dirty="0" err="1"/>
              <a:t>rất</a:t>
            </a:r>
            <a:r>
              <a:rPr lang="en-US" sz="2000" dirty="0"/>
              <a:t> </a:t>
            </a:r>
            <a:r>
              <a:rPr lang="en-US" sz="2000" dirty="0" err="1"/>
              <a:t>lớn</a:t>
            </a:r>
            <a:endParaRPr lang="en-US" sz="2000" dirty="0"/>
          </a:p>
          <a:p>
            <a:pPr algn="just">
              <a:spcBef>
                <a:spcPts val="600"/>
              </a:spcBef>
            </a:pPr>
            <a:r>
              <a:rPr lang="en-US" sz="2000" dirty="0"/>
              <a:t> - </a:t>
            </a:r>
            <a:r>
              <a:rPr lang="en-US" sz="2000" b="1" dirty="0"/>
              <a:t>Các </a:t>
            </a:r>
            <a:r>
              <a:rPr lang="en-US" sz="2000" b="1" dirty="0" err="1"/>
              <a:t>phần</a:t>
            </a:r>
            <a:r>
              <a:rPr lang="en-US" sz="2000" b="1" dirty="0"/>
              <a:t> </a:t>
            </a:r>
            <a:r>
              <a:rPr lang="en-US" sz="2000" b="1" dirty="0" err="1"/>
              <a:t>cứng</a:t>
            </a:r>
            <a:r>
              <a:rPr lang="en-US" sz="2000" b="1" dirty="0"/>
              <a:t> </a:t>
            </a:r>
            <a:r>
              <a:rPr lang="en-US" sz="2000" b="1" dirty="0" err="1"/>
              <a:t>tăng</a:t>
            </a:r>
            <a:r>
              <a:rPr lang="en-US" sz="2000" b="1" dirty="0"/>
              <a:t> </a:t>
            </a:r>
            <a:r>
              <a:rPr lang="en-US" sz="2000" b="1" dirty="0" err="1"/>
              <a:t>tốc</a:t>
            </a:r>
            <a:r>
              <a:rPr lang="en-US" sz="2000" b="1" dirty="0"/>
              <a:t> </a:t>
            </a:r>
            <a:r>
              <a:rPr lang="en-US" sz="2000" dirty="0" err="1"/>
              <a:t>thì</a:t>
            </a:r>
            <a:r>
              <a:rPr lang="en-US" sz="2000" dirty="0"/>
              <a:t> </a:t>
            </a:r>
            <a:r>
              <a:rPr lang="en-US" sz="2000" dirty="0" err="1"/>
              <a:t>dựng</a:t>
            </a:r>
            <a:r>
              <a:rPr lang="en-US" sz="2000" dirty="0"/>
              <a:t> </a:t>
            </a:r>
            <a:r>
              <a:rPr lang="en-US" sz="2000" dirty="0" err="1"/>
              <a:t>theo</a:t>
            </a:r>
            <a:r>
              <a:rPr lang="en-US" sz="2000" dirty="0"/>
              <a:t> </a:t>
            </a:r>
            <a:r>
              <a:rPr lang="en-US" sz="2000" dirty="0" err="1"/>
              <a:t>mô</a:t>
            </a:r>
            <a:r>
              <a:rPr lang="en-US" sz="2000" dirty="0"/>
              <a:t> </a:t>
            </a:r>
            <a:r>
              <a:rPr lang="en-US" sz="2000" dirty="0" err="1"/>
              <a:t>hình</a:t>
            </a:r>
            <a:r>
              <a:rPr lang="en-US" sz="2000" dirty="0"/>
              <a:t> </a:t>
            </a:r>
            <a:r>
              <a:rPr lang="en-US" sz="2000" dirty="0" err="1"/>
              <a:t>đã</a:t>
            </a:r>
            <a:r>
              <a:rPr lang="en-US" sz="2000" dirty="0"/>
              <a:t> </a:t>
            </a:r>
            <a:r>
              <a:rPr lang="en-US" sz="2000" dirty="0" err="1"/>
              <a:t>chốt</a:t>
            </a:r>
            <a:r>
              <a:rPr lang="en-US" sz="2000" dirty="0"/>
              <a:t>, </a:t>
            </a:r>
            <a:r>
              <a:rPr lang="en-US" sz="2000" b="1" dirty="0" err="1"/>
              <a:t>dễ</a:t>
            </a:r>
            <a:r>
              <a:rPr lang="en-US" sz="2000" b="1" dirty="0"/>
              <a:t> </a:t>
            </a:r>
            <a:r>
              <a:rPr lang="en-US" sz="2000" b="1" dirty="0" err="1"/>
              <a:t>tăng</a:t>
            </a:r>
            <a:r>
              <a:rPr lang="en-US" sz="2000" b="1" dirty="0"/>
              <a:t> chi </a:t>
            </a:r>
            <a:r>
              <a:rPr lang="en-US" sz="2000" b="1" dirty="0" err="1"/>
              <a:t>phí</a:t>
            </a:r>
            <a:r>
              <a:rPr lang="en-US" sz="2000" b="1" dirty="0"/>
              <a:t> </a:t>
            </a:r>
            <a:r>
              <a:rPr lang="en-US" sz="2000" b="1" dirty="0" err="1"/>
              <a:t>tính</a:t>
            </a:r>
            <a:r>
              <a:rPr lang="en-US" sz="2000" b="1" dirty="0"/>
              <a:t> </a:t>
            </a:r>
            <a:r>
              <a:rPr lang="en-US" sz="2000" b="1" dirty="0" err="1"/>
              <a:t>toán</a:t>
            </a:r>
            <a:r>
              <a:rPr lang="en-US" sz="2000" b="1" dirty="0"/>
              <a:t> </a:t>
            </a:r>
            <a:r>
              <a:rPr lang="en-US" sz="2000" dirty="0" err="1"/>
              <a:t>nếu</a:t>
            </a:r>
            <a:r>
              <a:rPr lang="en-US" sz="2000" dirty="0"/>
              <a:t> </a:t>
            </a:r>
            <a:r>
              <a:rPr lang="en-US" sz="2000" dirty="0" err="1"/>
              <a:t>gặp</a:t>
            </a:r>
            <a:r>
              <a:rPr lang="en-US" sz="2000" dirty="0"/>
              <a:t> </a:t>
            </a:r>
            <a:r>
              <a:rPr lang="en-US" sz="2000" dirty="0" err="1"/>
              <a:t>các</a:t>
            </a:r>
            <a:r>
              <a:rPr lang="en-US" sz="2000" dirty="0"/>
              <a:t> </a:t>
            </a:r>
            <a:r>
              <a:rPr lang="en-US" sz="2000" dirty="0" err="1"/>
              <a:t>phép</a:t>
            </a:r>
            <a:r>
              <a:rPr lang="en-US" sz="2000" dirty="0"/>
              <a:t> </a:t>
            </a:r>
            <a:r>
              <a:rPr lang="en-US" sz="2000" dirty="0" err="1"/>
              <a:t>toán</a:t>
            </a:r>
            <a:r>
              <a:rPr lang="en-US" sz="2000" dirty="0"/>
              <a:t> </a:t>
            </a:r>
            <a:r>
              <a:rPr lang="en-US" sz="2000" dirty="0" err="1"/>
              <a:t>khó</a:t>
            </a:r>
            <a:r>
              <a:rPr lang="en-US" sz="2000" dirty="0"/>
              <a:t> </a:t>
            </a:r>
            <a:r>
              <a:rPr lang="en-US" sz="2000" dirty="0" err="1"/>
              <a:t>triển</a:t>
            </a:r>
            <a:r>
              <a:rPr lang="en-US" sz="2000" dirty="0"/>
              <a:t> </a:t>
            </a:r>
            <a:r>
              <a:rPr lang="en-US" sz="2000" dirty="0" err="1"/>
              <a:t>khai</a:t>
            </a:r>
            <a:endParaRPr lang="en-US" sz="2000" dirty="0"/>
          </a:p>
          <a:p>
            <a:pPr algn="just">
              <a:spcBef>
                <a:spcPts val="600"/>
              </a:spcBef>
            </a:pPr>
            <a:r>
              <a:rPr lang="en-US" sz="2000" dirty="0"/>
              <a:t> - </a:t>
            </a:r>
            <a:r>
              <a:rPr lang="en-US" sz="2000" b="1" dirty="0" err="1"/>
              <a:t>Lượng</a:t>
            </a:r>
            <a:r>
              <a:rPr lang="en-US" sz="2000" b="1" dirty="0"/>
              <a:t> </a:t>
            </a:r>
            <a:r>
              <a:rPr lang="en-US" sz="2000" b="1" dirty="0" err="1"/>
              <a:t>tử</a:t>
            </a:r>
            <a:r>
              <a:rPr lang="en-US" sz="2000" b="1" dirty="0"/>
              <a:t> </a:t>
            </a:r>
            <a:r>
              <a:rPr lang="en-US" sz="2000" b="1" dirty="0" err="1"/>
              <a:t>hoá</a:t>
            </a:r>
            <a:r>
              <a:rPr lang="en-US" sz="2000" b="1" dirty="0"/>
              <a:t> </a:t>
            </a:r>
            <a:r>
              <a:rPr lang="en-US" sz="2000" b="1" dirty="0" err="1"/>
              <a:t>làm</a:t>
            </a:r>
            <a:r>
              <a:rPr lang="en-US" sz="2000" b="1" dirty="0"/>
              <a:t> </a:t>
            </a:r>
            <a:r>
              <a:rPr lang="en-US" sz="2000" b="1" dirty="0" err="1"/>
              <a:t>giảm</a:t>
            </a:r>
            <a:r>
              <a:rPr lang="en-US" sz="2000" b="1" dirty="0"/>
              <a:t> </a:t>
            </a:r>
            <a:r>
              <a:rPr lang="en-US" sz="2000" b="1" dirty="0" err="1"/>
              <a:t>độ</a:t>
            </a:r>
            <a:r>
              <a:rPr lang="en-US" sz="2000" b="1" dirty="0"/>
              <a:t> </a:t>
            </a:r>
            <a:r>
              <a:rPr lang="en-US" sz="2000" b="1" dirty="0" err="1"/>
              <a:t>chính</a:t>
            </a:r>
            <a:r>
              <a:rPr lang="en-US" sz="2000" b="1" dirty="0"/>
              <a:t> </a:t>
            </a:r>
            <a:r>
              <a:rPr lang="en-US" sz="2000" b="1" dirty="0" err="1"/>
              <a:t>xác</a:t>
            </a:r>
            <a:r>
              <a:rPr lang="en-US" sz="2000" b="1" dirty="0"/>
              <a:t> </a:t>
            </a:r>
            <a:r>
              <a:rPr lang="en-US" sz="2000" b="1" dirty="0" err="1"/>
              <a:t>mô</a:t>
            </a:r>
            <a:r>
              <a:rPr lang="en-US" sz="2000" b="1" dirty="0"/>
              <a:t> </a:t>
            </a:r>
            <a:r>
              <a:rPr lang="en-US" sz="2000" b="1" dirty="0" err="1"/>
              <a:t>hình</a:t>
            </a:r>
            <a:r>
              <a:rPr lang="en-US" sz="2000" b="1" dirty="0"/>
              <a:t> </a:t>
            </a:r>
            <a:r>
              <a:rPr lang="en-US" sz="2000" dirty="0" err="1"/>
              <a:t>đánh</a:t>
            </a:r>
            <a:r>
              <a:rPr lang="en-US" sz="2000" dirty="0"/>
              <a:t> </a:t>
            </a:r>
            <a:r>
              <a:rPr lang="en-US" sz="2000" dirty="0" err="1"/>
              <a:t>đổi</a:t>
            </a:r>
            <a:r>
              <a:rPr lang="en-US" sz="2000" dirty="0"/>
              <a:t> </a:t>
            </a:r>
            <a:r>
              <a:rPr lang="en-US" sz="2000" dirty="0" err="1"/>
              <a:t>khả</a:t>
            </a:r>
            <a:r>
              <a:rPr lang="en-US" sz="2000" dirty="0"/>
              <a:t> </a:t>
            </a:r>
            <a:r>
              <a:rPr lang="en-US" sz="2000" dirty="0" err="1"/>
              <a:t>năng</a:t>
            </a:r>
            <a:r>
              <a:rPr lang="en-US" sz="2000" dirty="0"/>
              <a:t> </a:t>
            </a:r>
            <a:r>
              <a:rPr lang="en-US" sz="2000" dirty="0" err="1"/>
              <a:t>tăng</a:t>
            </a:r>
            <a:r>
              <a:rPr lang="en-US" sz="2000" dirty="0"/>
              <a:t> </a:t>
            </a:r>
            <a:r>
              <a:rPr lang="en-US" sz="2000" dirty="0" err="1"/>
              <a:t>tốc</a:t>
            </a:r>
            <a:r>
              <a:rPr lang="en-US" sz="2000" dirty="0"/>
              <a:t> </a:t>
            </a:r>
            <a:r>
              <a:rPr lang="en-US" sz="2000" dirty="0" err="1"/>
              <a:t>của</a:t>
            </a:r>
            <a:r>
              <a:rPr lang="en-US" sz="2000" dirty="0"/>
              <a:t> </a:t>
            </a:r>
            <a:r>
              <a:rPr lang="en-US" sz="2000" dirty="0" err="1"/>
              <a:t>bộ</a:t>
            </a:r>
            <a:r>
              <a:rPr lang="en-US" sz="2000" dirty="0"/>
              <a:t> </a:t>
            </a:r>
            <a:r>
              <a:rPr lang="en-US" sz="2000" dirty="0" err="1"/>
              <a:t>tính</a:t>
            </a:r>
            <a:r>
              <a:rPr lang="en-US" sz="2000" dirty="0"/>
              <a:t> </a:t>
            </a:r>
            <a:r>
              <a:rPr lang="en-US" sz="2000" dirty="0" err="1"/>
              <a:t>toán</a:t>
            </a:r>
            <a:r>
              <a:rPr lang="en-US" sz="2000" dirty="0"/>
              <a:t> , </a:t>
            </a:r>
            <a:r>
              <a:rPr lang="en-US" sz="2000" dirty="0" err="1"/>
              <a:t>có</a:t>
            </a:r>
            <a:r>
              <a:rPr lang="en-US" sz="2000" dirty="0"/>
              <a:t> </a:t>
            </a:r>
            <a:r>
              <a:rPr lang="en-US" sz="2000" dirty="0" err="1"/>
              <a:t>thể</a:t>
            </a:r>
            <a:r>
              <a:rPr lang="en-US" sz="2000" dirty="0"/>
              <a:t> </a:t>
            </a:r>
            <a:r>
              <a:rPr lang="en-US" sz="2000" dirty="0" err="1"/>
              <a:t>gây</a:t>
            </a:r>
            <a:r>
              <a:rPr lang="en-US" sz="2000" dirty="0"/>
              <a:t> </a:t>
            </a:r>
            <a:r>
              <a:rPr lang="en-US" sz="2000" dirty="0" err="1"/>
              <a:t>sai</a:t>
            </a:r>
            <a:r>
              <a:rPr lang="en-US" sz="2000" dirty="0"/>
              <a:t> </a:t>
            </a:r>
            <a:r>
              <a:rPr lang="en-US" sz="2000" dirty="0" err="1"/>
              <a:t>số</a:t>
            </a:r>
            <a:r>
              <a:rPr lang="en-US" sz="2000" dirty="0"/>
              <a:t> </a:t>
            </a:r>
            <a:r>
              <a:rPr lang="en-US" sz="2000" dirty="0" err="1"/>
              <a:t>tích</a:t>
            </a:r>
            <a:r>
              <a:rPr lang="en-US" sz="2000" dirty="0"/>
              <a:t> </a:t>
            </a:r>
            <a:r>
              <a:rPr lang="en-US" sz="2000" dirty="0" err="1"/>
              <a:t>luỹ</a:t>
            </a:r>
            <a:r>
              <a:rPr lang="en-US" sz="2000" dirty="0"/>
              <a:t> </a:t>
            </a:r>
            <a:r>
              <a:rPr lang="en-US" sz="2000" dirty="0" err="1"/>
              <a:t>nếu</a:t>
            </a:r>
            <a:r>
              <a:rPr lang="en-US" sz="2000" dirty="0"/>
              <a:t> </a:t>
            </a:r>
            <a:r>
              <a:rPr lang="en-US" sz="2000" dirty="0" err="1"/>
              <a:t>mô</a:t>
            </a:r>
            <a:r>
              <a:rPr lang="en-US" sz="2000" dirty="0"/>
              <a:t> </a:t>
            </a:r>
            <a:r>
              <a:rPr lang="en-US" sz="2000" dirty="0" err="1"/>
              <a:t>hình</a:t>
            </a:r>
            <a:r>
              <a:rPr lang="en-US" sz="2000" dirty="0"/>
              <a:t> </a:t>
            </a:r>
            <a:r>
              <a:rPr lang="en-US" sz="2000" dirty="0" err="1"/>
              <a:t>có</a:t>
            </a:r>
            <a:r>
              <a:rPr lang="en-US" sz="2000" dirty="0"/>
              <a:t> </a:t>
            </a:r>
            <a:r>
              <a:rPr lang="en-US" sz="2000" dirty="0" err="1"/>
              <a:t>nhiều</a:t>
            </a:r>
            <a:r>
              <a:rPr lang="en-US" sz="2000" dirty="0"/>
              <a:t> </a:t>
            </a:r>
            <a:r>
              <a:rPr lang="en-US" sz="2000" dirty="0" err="1"/>
              <a:t>lớp</a:t>
            </a:r>
            <a:r>
              <a:rPr lang="en-US" sz="2000" dirty="0"/>
              <a:t> </a:t>
            </a:r>
            <a:r>
              <a:rPr lang="en-US" sz="2000" dirty="0" err="1"/>
              <a:t>dẫn</a:t>
            </a:r>
            <a:r>
              <a:rPr lang="en-US" sz="2000" dirty="0"/>
              <a:t> </a:t>
            </a:r>
            <a:r>
              <a:rPr lang="en-US" sz="2000" dirty="0" err="1"/>
              <a:t>sai</a:t>
            </a:r>
            <a:r>
              <a:rPr lang="en-US" sz="2000" dirty="0"/>
              <a:t> </a:t>
            </a:r>
            <a:r>
              <a:rPr lang="en-US" sz="2000" dirty="0" err="1"/>
              <a:t>sót</a:t>
            </a:r>
            <a:r>
              <a:rPr lang="en-US" sz="2000" dirty="0"/>
              <a:t> </a:t>
            </a:r>
            <a:r>
              <a:rPr lang="en-US" sz="2000" dirty="0" err="1"/>
              <a:t>trong</a:t>
            </a:r>
            <a:r>
              <a:rPr lang="en-US" sz="2000" dirty="0"/>
              <a:t> </a:t>
            </a:r>
            <a:r>
              <a:rPr lang="en-US" sz="2000" dirty="0" err="1"/>
              <a:t>đánh</a:t>
            </a:r>
            <a:r>
              <a:rPr lang="en-US" sz="2000" dirty="0"/>
              <a:t> </a:t>
            </a:r>
            <a:r>
              <a:rPr lang="en-US" sz="2000" dirty="0" err="1"/>
              <a:t>giá</a:t>
            </a:r>
            <a:r>
              <a:rPr lang="en-US" sz="2000" dirty="0"/>
              <a:t> </a:t>
            </a:r>
            <a:r>
              <a:rPr lang="en-US" sz="2000" dirty="0" err="1"/>
              <a:t>kết</a:t>
            </a:r>
            <a:r>
              <a:rPr lang="en-US" sz="2000" dirty="0"/>
              <a:t> </a:t>
            </a:r>
            <a:r>
              <a:rPr lang="en-US" sz="2000" dirty="0" err="1"/>
              <a:t>quả</a:t>
            </a:r>
            <a:r>
              <a:rPr lang="en-US" sz="2000" dirty="0"/>
              <a:t>.</a:t>
            </a:r>
          </a:p>
        </p:txBody>
      </p:sp>
      <p:sp>
        <p:nvSpPr>
          <p:cNvPr id="6" name="Text 4">
            <a:extLst>
              <a:ext uri="{FF2B5EF4-FFF2-40B4-BE49-F238E27FC236}">
                <a16:creationId xmlns:a16="http://schemas.microsoft.com/office/drawing/2014/main" id="{91755506-8981-05B2-E29E-217C86B31837}"/>
              </a:ext>
            </a:extLst>
          </p:cNvPr>
          <p:cNvSpPr/>
          <p:nvPr/>
        </p:nvSpPr>
        <p:spPr>
          <a:xfrm>
            <a:off x="841248" y="1481328"/>
            <a:ext cx="4754880" cy="292608"/>
          </a:xfrm>
          <a:prstGeom prst="rect">
            <a:avLst/>
          </a:prstGeom>
          <a:noFill/>
          <a:ln/>
        </p:spPr>
        <p:txBody>
          <a:bodyPr wrap="square" lIns="0" tIns="0" rIns="0" bIns="0" rtlCol="0" anchor="ctr"/>
          <a:lstStyle/>
          <a:p>
            <a:pPr marL="0" indent="0">
              <a:buNone/>
            </a:pPr>
            <a:endParaRPr lang="en-US" sz="1400" dirty="0"/>
          </a:p>
        </p:txBody>
      </p:sp>
      <p:sp>
        <p:nvSpPr>
          <p:cNvPr id="39" name="Text 0">
            <a:extLst>
              <a:ext uri="{FF2B5EF4-FFF2-40B4-BE49-F238E27FC236}">
                <a16:creationId xmlns:a16="http://schemas.microsoft.com/office/drawing/2014/main" id="{09000784-E21F-41D9-17DC-F18BC5F4B1F3}"/>
              </a:ext>
            </a:extLst>
          </p:cNvPr>
          <p:cNvSpPr/>
          <p:nvPr/>
        </p:nvSpPr>
        <p:spPr>
          <a:xfrm>
            <a:off x="719328" y="4267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1 · ĐỘNG LỰC NGHIÊN CỨU VÀ VẤN ĐỀ ĐẶT RA</a:t>
            </a:r>
            <a:endParaRPr lang="en-US" sz="2000" dirty="0"/>
          </a:p>
        </p:txBody>
      </p:sp>
      <p:pic>
        <p:nvPicPr>
          <p:cNvPr id="12" name="Picture 11">
            <a:extLst>
              <a:ext uri="{FF2B5EF4-FFF2-40B4-BE49-F238E27FC236}">
                <a16:creationId xmlns:a16="http://schemas.microsoft.com/office/drawing/2014/main" id="{6B760AA0-AF63-E73A-9B3C-D5555739B7A4}"/>
              </a:ext>
            </a:extLst>
          </p:cNvPr>
          <p:cNvPicPr>
            <a:picLocks noChangeAspect="1"/>
          </p:cNvPicPr>
          <p:nvPr/>
        </p:nvPicPr>
        <p:blipFill>
          <a:blip r:embed="rId3"/>
          <a:stretch>
            <a:fillRect/>
          </a:stretch>
        </p:blipFill>
        <p:spPr>
          <a:xfrm>
            <a:off x="938022" y="4062336"/>
            <a:ext cx="5862828" cy="2263300"/>
          </a:xfrm>
          <a:prstGeom prst="rect">
            <a:avLst/>
          </a:prstGeom>
        </p:spPr>
      </p:pic>
      <p:pic>
        <p:nvPicPr>
          <p:cNvPr id="14" name="Picture 13">
            <a:extLst>
              <a:ext uri="{FF2B5EF4-FFF2-40B4-BE49-F238E27FC236}">
                <a16:creationId xmlns:a16="http://schemas.microsoft.com/office/drawing/2014/main" id="{E3D70475-C79C-869F-D7E0-8E27A455F2A9}"/>
              </a:ext>
            </a:extLst>
          </p:cNvPr>
          <p:cNvPicPr>
            <a:picLocks noChangeAspect="1"/>
          </p:cNvPicPr>
          <p:nvPr/>
        </p:nvPicPr>
        <p:blipFill>
          <a:blip r:embed="rId4"/>
          <a:stretch>
            <a:fillRect/>
          </a:stretch>
        </p:blipFill>
        <p:spPr>
          <a:xfrm>
            <a:off x="7838900" y="3995642"/>
            <a:ext cx="3199214" cy="2329994"/>
          </a:xfrm>
          <a:prstGeom prst="rect">
            <a:avLst/>
          </a:prstGeom>
        </p:spPr>
      </p:pic>
    </p:spTree>
    <p:extLst>
      <p:ext uri="{BB962C8B-B14F-4D97-AF65-F5344CB8AC3E}">
        <p14:creationId xmlns:p14="http://schemas.microsoft.com/office/powerpoint/2010/main" val="4170879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2340"/>
        </a:solidFill>
        <a:effectLst/>
      </p:bgPr>
    </p:bg>
    <p:spTree>
      <p:nvGrpSpPr>
        <p:cNvPr id="1" name="">
          <a:extLst>
            <a:ext uri="{FF2B5EF4-FFF2-40B4-BE49-F238E27FC236}">
              <a16:creationId xmlns:a16="http://schemas.microsoft.com/office/drawing/2014/main" id="{AACE1288-B1DD-ADB2-E2B1-CC757613FCDD}"/>
            </a:ext>
          </a:extLst>
        </p:cNvPr>
        <p:cNvGrpSpPr/>
        <p:nvPr/>
      </p:nvGrpSpPr>
      <p:grpSpPr>
        <a:xfrm>
          <a:off x="0" y="0"/>
          <a:ext cx="0" cy="0"/>
          <a:chOff x="0" y="0"/>
          <a:chExt cx="0" cy="0"/>
        </a:xfrm>
      </p:grpSpPr>
      <p:pic>
        <p:nvPicPr>
          <p:cNvPr id="2" name="Image 0" descr="img/ecg_light.png">
            <a:extLst>
              <a:ext uri="{FF2B5EF4-FFF2-40B4-BE49-F238E27FC236}">
                <a16:creationId xmlns:a16="http://schemas.microsoft.com/office/drawing/2014/main" id="{D99EEDB2-AC47-21CA-ED51-4650D50C2F9C}"/>
              </a:ext>
            </a:extLst>
          </p:cNvPr>
          <p:cNvPicPr>
            <a:picLocks noChangeAspect="1"/>
          </p:cNvPicPr>
          <p:nvPr/>
        </p:nvPicPr>
        <p:blipFill>
          <a:blip r:embed="rId3">
            <a:alphaModFix amt="55000"/>
          </a:blip>
          <a:stretch>
            <a:fillRect/>
          </a:stretch>
        </p:blipFill>
        <p:spPr>
          <a:xfrm>
            <a:off x="0" y="5074920"/>
            <a:ext cx="12188952" cy="1600200"/>
          </a:xfrm>
          <a:prstGeom prst="rect">
            <a:avLst/>
          </a:prstGeom>
        </p:spPr>
      </p:pic>
      <p:sp>
        <p:nvSpPr>
          <p:cNvPr id="3" name="Text 0">
            <a:extLst>
              <a:ext uri="{FF2B5EF4-FFF2-40B4-BE49-F238E27FC236}">
                <a16:creationId xmlns:a16="http://schemas.microsoft.com/office/drawing/2014/main" id="{654BD61E-47AB-70A0-9D58-C843407ECE67}"/>
              </a:ext>
            </a:extLst>
          </p:cNvPr>
          <p:cNvSpPr/>
          <p:nvPr/>
        </p:nvSpPr>
        <p:spPr>
          <a:xfrm>
            <a:off x="566928" y="1051560"/>
            <a:ext cx="2926080" cy="1737360"/>
          </a:xfrm>
          <a:prstGeom prst="rect">
            <a:avLst/>
          </a:prstGeom>
          <a:noFill/>
          <a:ln/>
        </p:spPr>
        <p:txBody>
          <a:bodyPr wrap="square" lIns="0" tIns="0" rIns="0" bIns="0" rtlCol="0" anchor="ctr"/>
          <a:lstStyle/>
          <a:p>
            <a:pPr marL="0" indent="0">
              <a:buNone/>
            </a:pPr>
            <a:r>
              <a:rPr lang="en-US" sz="10800" b="1" dirty="0">
                <a:solidFill>
                  <a:srgbClr val="E23D4D"/>
                </a:solidFill>
                <a:latin typeface="Cambria" pitchFamily="34" charset="0"/>
                <a:ea typeface="Cambria" pitchFamily="34" charset="-122"/>
                <a:cs typeface="Cambria" pitchFamily="34" charset="-120"/>
              </a:rPr>
              <a:t>02</a:t>
            </a:r>
            <a:endParaRPr lang="en-US" sz="10800" dirty="0"/>
          </a:p>
        </p:txBody>
      </p:sp>
      <p:sp>
        <p:nvSpPr>
          <p:cNvPr id="4" name="Text 1">
            <a:extLst>
              <a:ext uri="{FF2B5EF4-FFF2-40B4-BE49-F238E27FC236}">
                <a16:creationId xmlns:a16="http://schemas.microsoft.com/office/drawing/2014/main" id="{80A98FE8-641B-2452-ED5D-ADEAB6E1C602}"/>
              </a:ext>
            </a:extLst>
          </p:cNvPr>
          <p:cNvSpPr/>
          <p:nvPr/>
        </p:nvSpPr>
        <p:spPr>
          <a:xfrm>
            <a:off x="566927" y="2788920"/>
            <a:ext cx="11485029" cy="914400"/>
          </a:xfrm>
          <a:prstGeom prst="rect">
            <a:avLst/>
          </a:prstGeom>
          <a:noFill/>
          <a:ln/>
        </p:spPr>
        <p:txBody>
          <a:bodyPr wrap="square" lIns="0" tIns="0" rIns="0" bIns="0" rtlCol="0" anchor="ctr"/>
          <a:lstStyle/>
          <a:p>
            <a:r>
              <a:rPr lang="en-US" sz="3600" b="1" dirty="0">
                <a:solidFill>
                  <a:schemeClr val="bg1"/>
                </a:solidFill>
                <a:latin typeface="Cambria" panose="02040503050406030204" pitchFamily="18" charset="0"/>
                <a:ea typeface="Cambria" panose="02040503050406030204" pitchFamily="18" charset="0"/>
              </a:rPr>
              <a:t>ĐÓNG GÓP ĐỀ TÀI</a:t>
            </a:r>
          </a:p>
        </p:txBody>
      </p:sp>
    </p:spTree>
    <p:extLst>
      <p:ext uri="{BB962C8B-B14F-4D97-AF65-F5344CB8AC3E}">
        <p14:creationId xmlns:p14="http://schemas.microsoft.com/office/powerpoint/2010/main" val="3029585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F78B5F-E400-FC2C-F8DF-0E7648626419}"/>
            </a:ext>
          </a:extLst>
        </p:cNvPr>
        <p:cNvGrpSpPr/>
        <p:nvPr/>
      </p:nvGrpSpPr>
      <p:grpSpPr>
        <a:xfrm>
          <a:off x="0" y="0"/>
          <a:ext cx="0" cy="0"/>
          <a:chOff x="0" y="0"/>
          <a:chExt cx="0" cy="0"/>
        </a:xfrm>
      </p:grpSpPr>
      <p:sp>
        <p:nvSpPr>
          <p:cNvPr id="26" name="Text 0">
            <a:extLst>
              <a:ext uri="{FF2B5EF4-FFF2-40B4-BE49-F238E27FC236}">
                <a16:creationId xmlns:a16="http://schemas.microsoft.com/office/drawing/2014/main" id="{39372F66-1C84-5FE5-585E-078DF5EB3410}"/>
              </a:ext>
            </a:extLst>
          </p:cNvPr>
          <p:cNvSpPr/>
          <p:nvPr/>
        </p:nvSpPr>
        <p:spPr>
          <a:xfrm>
            <a:off x="719328" y="4267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2 · ĐÓNG GÓP ĐỀ TÀI</a:t>
            </a:r>
            <a:endParaRPr lang="en-US" sz="2000" dirty="0"/>
          </a:p>
        </p:txBody>
      </p:sp>
      <p:sp>
        <p:nvSpPr>
          <p:cNvPr id="27" name="TextBox 26"/>
          <p:cNvSpPr txBox="1"/>
          <p:nvPr/>
        </p:nvSpPr>
        <p:spPr>
          <a:xfrm>
            <a:off x="630936" y="758615"/>
            <a:ext cx="11055096" cy="384721"/>
          </a:xfrm>
          <a:prstGeom prst="rect">
            <a:avLst/>
          </a:prstGeom>
          <a:noFill/>
        </p:spPr>
        <p:txBody>
          <a:bodyPr wrap="square" lIns="0" tIns="0" rIns="0" bIns="0" anchor="t">
            <a:spAutoFit/>
          </a:bodyPr>
          <a:lstStyle/>
          <a:p>
            <a:r>
              <a:rPr lang="en-US" sz="2500" b="1" dirty="0" err="1">
                <a:solidFill>
                  <a:srgbClr val="1A1C22"/>
                </a:solidFill>
                <a:latin typeface="Cambria"/>
              </a:rPr>
              <a:t>Khoảng</a:t>
            </a:r>
            <a:r>
              <a:rPr lang="en-US" sz="2500" b="1" dirty="0">
                <a:solidFill>
                  <a:srgbClr val="1A1C22"/>
                </a:solidFill>
                <a:latin typeface="Cambria"/>
              </a:rPr>
              <a:t> </a:t>
            </a:r>
            <a:r>
              <a:rPr lang="en-US" sz="2500" b="1" dirty="0" err="1">
                <a:solidFill>
                  <a:srgbClr val="1A1C22"/>
                </a:solidFill>
                <a:latin typeface="Cambria"/>
              </a:rPr>
              <a:t>trống</a:t>
            </a:r>
            <a:r>
              <a:rPr lang="en-US" sz="2500" b="1" dirty="0">
                <a:solidFill>
                  <a:srgbClr val="1A1C22"/>
                </a:solidFill>
                <a:latin typeface="Cambria"/>
              </a:rPr>
              <a:t> </a:t>
            </a:r>
            <a:r>
              <a:rPr lang="en-US" sz="2500" b="1" dirty="0" err="1">
                <a:solidFill>
                  <a:srgbClr val="1A1C22"/>
                </a:solidFill>
                <a:latin typeface="Cambria"/>
              </a:rPr>
              <a:t>trong</a:t>
            </a:r>
            <a:r>
              <a:rPr lang="en-US" sz="2500" b="1" dirty="0">
                <a:solidFill>
                  <a:srgbClr val="1A1C22"/>
                </a:solidFill>
                <a:latin typeface="Cambria"/>
              </a:rPr>
              <a:t> </a:t>
            </a:r>
            <a:r>
              <a:rPr lang="en-US" sz="2500" b="1" dirty="0" err="1">
                <a:solidFill>
                  <a:srgbClr val="1A1C22"/>
                </a:solidFill>
                <a:latin typeface="Cambria"/>
              </a:rPr>
              <a:t>nghiên</a:t>
            </a:r>
            <a:r>
              <a:rPr lang="en-US" sz="2500" b="1" dirty="0">
                <a:solidFill>
                  <a:srgbClr val="1A1C22"/>
                </a:solidFill>
                <a:latin typeface="Cambria"/>
              </a:rPr>
              <a:t> </a:t>
            </a:r>
            <a:r>
              <a:rPr lang="en-US" sz="2500" b="1" dirty="0" err="1">
                <a:solidFill>
                  <a:srgbClr val="1A1C22"/>
                </a:solidFill>
                <a:latin typeface="Cambria"/>
              </a:rPr>
              <a:t>cứu</a:t>
            </a:r>
            <a:endParaRPr sz="2500" b="1" dirty="0">
              <a:solidFill>
                <a:srgbClr val="1A1C22"/>
              </a:solidFill>
              <a:latin typeface="Cambria"/>
            </a:endParaRPr>
          </a:p>
        </p:txBody>
      </p:sp>
      <p:graphicFrame>
        <p:nvGraphicFramePr>
          <p:cNvPr id="29" name="Table 28"/>
          <p:cNvGraphicFramePr>
            <a:graphicFrameLocks noGrp="1"/>
          </p:cNvGraphicFramePr>
          <p:nvPr>
            <p:extLst>
              <p:ext uri="{D42A27DB-BD31-4B8C-83A1-F6EECF244321}">
                <p14:modId xmlns:p14="http://schemas.microsoft.com/office/powerpoint/2010/main" val="720356187"/>
              </p:ext>
            </p:extLst>
          </p:nvPr>
        </p:nvGraphicFramePr>
        <p:xfrm>
          <a:off x="868217" y="1473201"/>
          <a:ext cx="10261784" cy="3320470"/>
        </p:xfrm>
        <a:graphic>
          <a:graphicData uri="http://schemas.openxmlformats.org/drawingml/2006/table">
            <a:tbl>
              <a:tblPr firstRow="1">
                <a:tableStyleId>{5C22544A-7EE6-4342-B048-85BDC9FD1C3A}</a:tableStyleId>
              </a:tblPr>
              <a:tblGrid>
                <a:gridCol w="2567710">
                  <a:extLst>
                    <a:ext uri="{9D8B030D-6E8A-4147-A177-3AD203B41FA5}">
                      <a16:colId xmlns:a16="http://schemas.microsoft.com/office/drawing/2014/main" val="20000"/>
                    </a:ext>
                  </a:extLst>
                </a:gridCol>
                <a:gridCol w="2161309">
                  <a:extLst>
                    <a:ext uri="{9D8B030D-6E8A-4147-A177-3AD203B41FA5}">
                      <a16:colId xmlns:a16="http://schemas.microsoft.com/office/drawing/2014/main" val="20001"/>
                    </a:ext>
                  </a:extLst>
                </a:gridCol>
                <a:gridCol w="1366982">
                  <a:extLst>
                    <a:ext uri="{9D8B030D-6E8A-4147-A177-3AD203B41FA5}">
                      <a16:colId xmlns:a16="http://schemas.microsoft.com/office/drawing/2014/main" val="20003"/>
                    </a:ext>
                  </a:extLst>
                </a:gridCol>
                <a:gridCol w="1760090">
                  <a:extLst>
                    <a:ext uri="{9D8B030D-6E8A-4147-A177-3AD203B41FA5}">
                      <a16:colId xmlns:a16="http://schemas.microsoft.com/office/drawing/2014/main" val="20004"/>
                    </a:ext>
                  </a:extLst>
                </a:gridCol>
                <a:gridCol w="1165257">
                  <a:extLst>
                    <a:ext uri="{9D8B030D-6E8A-4147-A177-3AD203B41FA5}">
                      <a16:colId xmlns:a16="http://schemas.microsoft.com/office/drawing/2014/main" val="20005"/>
                    </a:ext>
                  </a:extLst>
                </a:gridCol>
                <a:gridCol w="1240436">
                  <a:extLst>
                    <a:ext uri="{9D8B030D-6E8A-4147-A177-3AD203B41FA5}">
                      <a16:colId xmlns:a16="http://schemas.microsoft.com/office/drawing/2014/main" val="20006"/>
                    </a:ext>
                  </a:extLst>
                </a:gridCol>
              </a:tblGrid>
              <a:tr h="728741">
                <a:tc>
                  <a:txBody>
                    <a:bodyPr/>
                    <a:lstStyle/>
                    <a:p>
                      <a:pPr algn="ctr"/>
                      <a:r>
                        <a:rPr sz="1800" b="1" dirty="0">
                          <a:solidFill>
                            <a:srgbClr val="FFFFFF"/>
                          </a:solidFill>
                          <a:latin typeface="Calibri"/>
                        </a:rPr>
                        <a:t>Công </a:t>
                      </a:r>
                      <a:r>
                        <a:rPr sz="1800" b="1" dirty="0" err="1">
                          <a:solidFill>
                            <a:srgbClr val="FFFFFF"/>
                          </a:solidFill>
                          <a:latin typeface="Calibri"/>
                        </a:rPr>
                        <a:t>trình</a:t>
                      </a:r>
                      <a:endParaRPr sz="1800" b="1" dirty="0">
                        <a:solidFill>
                          <a:srgbClr val="FFFFFF"/>
                        </a:solidFill>
                        <a:latin typeface="Calibri"/>
                      </a:endParaRPr>
                    </a:p>
                  </a:txBody>
                  <a:tcPr marL="54864" marR="36576" marT="9144" marB="9144" anchor="ctr">
                    <a:solidFill>
                      <a:srgbClr val="2F3C7E"/>
                    </a:solidFill>
                  </a:tcPr>
                </a:tc>
                <a:tc>
                  <a:txBody>
                    <a:bodyPr/>
                    <a:lstStyle/>
                    <a:p>
                      <a:pPr algn="ctr"/>
                      <a:r>
                        <a:rPr sz="1800" b="1" dirty="0" err="1">
                          <a:solidFill>
                            <a:srgbClr val="FFFFFF"/>
                          </a:solidFill>
                          <a:latin typeface="Calibri"/>
                        </a:rPr>
                        <a:t>Nền</a:t>
                      </a:r>
                      <a:r>
                        <a:rPr sz="1800" b="1" dirty="0">
                          <a:solidFill>
                            <a:srgbClr val="FFFFFF"/>
                          </a:solidFill>
                          <a:latin typeface="Calibri"/>
                        </a:rPr>
                        <a:t> </a:t>
                      </a:r>
                      <a:r>
                        <a:rPr sz="1800" b="1" dirty="0" err="1">
                          <a:solidFill>
                            <a:srgbClr val="FFFFFF"/>
                          </a:solidFill>
                          <a:latin typeface="Calibri"/>
                        </a:rPr>
                        <a:t>tảng</a:t>
                      </a:r>
                      <a:endParaRPr sz="1800" b="1" dirty="0">
                        <a:solidFill>
                          <a:srgbClr val="FFFFFF"/>
                        </a:solidFill>
                        <a:latin typeface="Calibri"/>
                      </a:endParaRPr>
                    </a:p>
                  </a:txBody>
                  <a:tcPr marL="54864" marR="36576" marT="9144" marB="9144" anchor="ctr">
                    <a:solidFill>
                      <a:srgbClr val="2F3C7E"/>
                    </a:solidFill>
                  </a:tcPr>
                </a:tc>
                <a:tc>
                  <a:txBody>
                    <a:bodyPr/>
                    <a:lstStyle/>
                    <a:p>
                      <a:pPr algn="ctr"/>
                      <a:r>
                        <a:rPr sz="1800" b="1">
                          <a:solidFill>
                            <a:srgbClr val="FFFFFF"/>
                          </a:solidFill>
                          <a:latin typeface="Calibri"/>
                        </a:rPr>
                        <a:t>Chạy trên</a:t>
                      </a:r>
                    </a:p>
                    <a:p>
                      <a:pPr algn="ctr"/>
                      <a:r>
                        <a:rPr sz="1800" b="1">
                          <a:solidFill>
                            <a:srgbClr val="FFFFFF"/>
                          </a:solidFill>
                          <a:latin typeface="Calibri"/>
                        </a:rPr>
                        <a:t>phần cứng</a:t>
                      </a:r>
                    </a:p>
                  </a:txBody>
                  <a:tcPr marL="54864" marR="36576" marT="9144" marB="9144" anchor="ctr">
                    <a:solidFill>
                      <a:srgbClr val="2F3C7E"/>
                    </a:solidFill>
                  </a:tcPr>
                </a:tc>
                <a:tc>
                  <a:txBody>
                    <a:bodyPr/>
                    <a:lstStyle/>
                    <a:p>
                      <a:pPr algn="ctr"/>
                      <a:r>
                        <a:rPr sz="1800" b="1" dirty="0" err="1">
                          <a:solidFill>
                            <a:srgbClr val="FFFFFF"/>
                          </a:solidFill>
                          <a:latin typeface="Calibri"/>
                        </a:rPr>
                        <a:t>năng</a:t>
                      </a:r>
                      <a:r>
                        <a:rPr sz="1800" b="1" dirty="0">
                          <a:solidFill>
                            <a:srgbClr val="FFFFFF"/>
                          </a:solidFill>
                          <a:latin typeface="Calibri"/>
                        </a:rPr>
                        <a:t> </a:t>
                      </a:r>
                      <a:r>
                        <a:rPr sz="1800" b="1" dirty="0" err="1">
                          <a:solidFill>
                            <a:srgbClr val="FFFFFF"/>
                          </a:solidFill>
                          <a:latin typeface="Calibri"/>
                        </a:rPr>
                        <a:t>lượng</a:t>
                      </a:r>
                      <a:r>
                        <a:rPr sz="1800" b="1" dirty="0">
                          <a:solidFill>
                            <a:srgbClr val="FFFFFF"/>
                          </a:solidFill>
                          <a:latin typeface="Calibri"/>
                        </a:rPr>
                        <a:t> /</a:t>
                      </a:r>
                    </a:p>
                    <a:p>
                      <a:pPr algn="ctr"/>
                      <a:r>
                        <a:rPr sz="1800" b="1" dirty="0" err="1">
                          <a:solidFill>
                            <a:srgbClr val="FFFFFF"/>
                          </a:solidFill>
                          <a:latin typeface="Calibri"/>
                        </a:rPr>
                        <a:t>tài</a:t>
                      </a:r>
                      <a:r>
                        <a:rPr sz="1800" b="1" dirty="0">
                          <a:solidFill>
                            <a:srgbClr val="FFFFFF"/>
                          </a:solidFill>
                          <a:latin typeface="Calibri"/>
                        </a:rPr>
                        <a:t> </a:t>
                      </a:r>
                      <a:r>
                        <a:rPr sz="1800" b="1" dirty="0" err="1">
                          <a:solidFill>
                            <a:srgbClr val="FFFFFF"/>
                          </a:solidFill>
                          <a:latin typeface="Calibri"/>
                        </a:rPr>
                        <a:t>nguyên</a:t>
                      </a:r>
                      <a:endParaRPr sz="1800" b="1" dirty="0">
                        <a:solidFill>
                          <a:srgbClr val="FFFFFF"/>
                        </a:solidFill>
                        <a:latin typeface="Calibri"/>
                      </a:endParaRPr>
                    </a:p>
                  </a:txBody>
                  <a:tcPr marL="54864" marR="36576" marT="9144" marB="9144" anchor="ctr">
                    <a:solidFill>
                      <a:srgbClr val="2F3C7E"/>
                    </a:solidFill>
                  </a:tcPr>
                </a:tc>
                <a:tc>
                  <a:txBody>
                    <a:bodyPr/>
                    <a:lstStyle/>
                    <a:p>
                      <a:pPr algn="ctr"/>
                      <a:r>
                        <a:rPr sz="1800" b="1">
                          <a:solidFill>
                            <a:srgbClr val="FFFFFF"/>
                          </a:solidFill>
                          <a:latin typeface="Calibri"/>
                        </a:rPr>
                        <a:t>Kiểm tập</a:t>
                      </a:r>
                    </a:p>
                    <a:p>
                      <a:pPr algn="ctr"/>
                      <a:r>
                        <a:rPr sz="1800" b="1">
                          <a:solidFill>
                            <a:srgbClr val="FFFFFF"/>
                          </a:solidFill>
                          <a:latin typeface="Calibri"/>
                        </a:rPr>
                        <a:t>độc lập</a:t>
                      </a:r>
                    </a:p>
                  </a:txBody>
                  <a:tcPr marL="54864" marR="36576" marT="9144" marB="9144" anchor="ctr">
                    <a:solidFill>
                      <a:srgbClr val="2F3C7E"/>
                    </a:solidFill>
                  </a:tcPr>
                </a:tc>
                <a:tc>
                  <a:txBody>
                    <a:bodyPr/>
                    <a:lstStyle/>
                    <a:p>
                      <a:pPr algn="ctr"/>
                      <a:r>
                        <a:rPr lang="en-US" sz="1800" b="1" dirty="0" err="1">
                          <a:solidFill>
                            <a:srgbClr val="FFFFFF"/>
                          </a:solidFill>
                          <a:latin typeface="Calibri"/>
                        </a:rPr>
                        <a:t>Kiểm</a:t>
                      </a:r>
                      <a:r>
                        <a:rPr lang="en-US" sz="1800" b="1" dirty="0">
                          <a:solidFill>
                            <a:srgbClr val="FFFFFF"/>
                          </a:solidFill>
                          <a:latin typeface="Calibri"/>
                        </a:rPr>
                        <a:t> </a:t>
                      </a:r>
                      <a:r>
                        <a:rPr lang="en-US" sz="1800" b="1" dirty="0" err="1">
                          <a:solidFill>
                            <a:srgbClr val="FFFFFF"/>
                          </a:solidFill>
                          <a:latin typeface="Calibri"/>
                        </a:rPr>
                        <a:t>thử</a:t>
                      </a:r>
                      <a:endParaRPr sz="1800" b="1" dirty="0">
                        <a:solidFill>
                          <a:srgbClr val="FFFFFF"/>
                        </a:solidFill>
                        <a:latin typeface="Calibri"/>
                      </a:endParaRPr>
                    </a:p>
                    <a:p>
                      <a:pPr algn="ctr"/>
                      <a:r>
                        <a:rPr sz="1800" b="1" dirty="0" err="1">
                          <a:solidFill>
                            <a:srgbClr val="FFFFFF"/>
                          </a:solidFill>
                          <a:latin typeface="Calibri"/>
                        </a:rPr>
                        <a:t>với</a:t>
                      </a:r>
                      <a:r>
                        <a:rPr sz="1800" b="1" dirty="0">
                          <a:solidFill>
                            <a:srgbClr val="FFFFFF"/>
                          </a:solidFill>
                          <a:latin typeface="Calibri"/>
                        </a:rPr>
                        <a:t> </a:t>
                      </a:r>
                      <a:r>
                        <a:rPr lang="en-US" sz="1800" b="1" dirty="0" err="1">
                          <a:solidFill>
                            <a:srgbClr val="FFFFFF"/>
                          </a:solidFill>
                          <a:latin typeface="Calibri"/>
                        </a:rPr>
                        <a:t>mô</a:t>
                      </a:r>
                      <a:r>
                        <a:rPr lang="en-US" sz="1800" b="1" dirty="0">
                          <a:solidFill>
                            <a:srgbClr val="FFFFFF"/>
                          </a:solidFill>
                          <a:latin typeface="Calibri"/>
                        </a:rPr>
                        <a:t> </a:t>
                      </a:r>
                      <a:r>
                        <a:rPr lang="en-US" sz="1800" b="1" dirty="0" err="1">
                          <a:solidFill>
                            <a:srgbClr val="FFFFFF"/>
                          </a:solidFill>
                          <a:latin typeface="Calibri"/>
                        </a:rPr>
                        <a:t>hình</a:t>
                      </a:r>
                      <a:r>
                        <a:rPr lang="en-US" sz="1800" b="1" dirty="0">
                          <a:solidFill>
                            <a:srgbClr val="FFFFFF"/>
                          </a:solidFill>
                          <a:latin typeface="Calibri"/>
                        </a:rPr>
                        <a:t> </a:t>
                      </a:r>
                      <a:endParaRPr sz="1800" b="1" dirty="0">
                        <a:solidFill>
                          <a:srgbClr val="FFFFFF"/>
                        </a:solidFill>
                        <a:latin typeface="Calibri"/>
                      </a:endParaRPr>
                    </a:p>
                  </a:txBody>
                  <a:tcPr marL="54864" marR="36576" marT="9144" marB="9144" anchor="ctr">
                    <a:solidFill>
                      <a:srgbClr val="2F3C7E"/>
                    </a:solidFill>
                  </a:tcPr>
                </a:tc>
                <a:extLst>
                  <a:ext uri="{0D108BD9-81ED-4DB2-BD59-A6C34878D82A}">
                    <a16:rowId xmlns:a16="http://schemas.microsoft.com/office/drawing/2014/main" val="10000"/>
                  </a:ext>
                </a:extLst>
              </a:tr>
              <a:tr h="370247">
                <a:tc>
                  <a:txBody>
                    <a:bodyPr/>
                    <a:lstStyle/>
                    <a:p>
                      <a:pPr algn="l"/>
                      <a:r>
                        <a:rPr sz="1800" b="0" dirty="0">
                          <a:solidFill>
                            <a:srgbClr val="1A1C22"/>
                          </a:solidFill>
                          <a:latin typeface="Calibri"/>
                        </a:rPr>
                        <a:t>Liu (2023)</a:t>
                      </a:r>
                    </a:p>
                  </a:txBody>
                  <a:tcPr marL="54864" marR="36576" marT="0" marB="0" anchor="ctr">
                    <a:solidFill>
                      <a:srgbClr val="F4F5F9"/>
                    </a:solidFill>
                  </a:tcPr>
                </a:tc>
                <a:tc>
                  <a:txBody>
                    <a:bodyPr/>
                    <a:lstStyle/>
                    <a:p>
                      <a:pPr algn="l"/>
                      <a:r>
                        <a:rPr sz="1800" b="0" dirty="0">
                          <a:solidFill>
                            <a:srgbClr val="6E6E78"/>
                          </a:solidFill>
                          <a:latin typeface="Calibri"/>
                        </a:rPr>
                        <a:t>Cyclone V</a:t>
                      </a:r>
                    </a:p>
                  </a:txBody>
                  <a:tcPr marL="54864" marR="36576" marT="0" marB="0" anchor="ctr">
                    <a:solidFill>
                      <a:srgbClr val="F4F5F9"/>
                    </a:solidFill>
                  </a:tcPr>
                </a:tc>
                <a:tc>
                  <a:txBody>
                    <a:bodyPr/>
                    <a:lstStyle/>
                    <a:p>
                      <a:pPr algn="ctr"/>
                      <a:r>
                        <a:rPr sz="1800" b="1" dirty="0">
                          <a:solidFill>
                            <a:srgbClr val="2F3C7E"/>
                          </a:solidFill>
                          <a:latin typeface="Calibri"/>
                        </a:rPr>
                        <a:t>✓</a:t>
                      </a:r>
                    </a:p>
                  </a:txBody>
                  <a:tcPr marL="54864" marR="36576" marT="0" marB="0" anchor="ctr">
                    <a:solidFill>
                      <a:srgbClr val="F4F5F9"/>
                    </a:solidFill>
                  </a:tcPr>
                </a:tc>
                <a:tc>
                  <a:txBody>
                    <a:bodyPr/>
                    <a:lstStyle/>
                    <a:p>
                      <a:pPr algn="ctr"/>
                      <a:r>
                        <a:rPr sz="1800" b="1" dirty="0">
                          <a:solidFill>
                            <a:srgbClr val="2F3C7E"/>
                          </a:solidFill>
                          <a:latin typeface="Calibri"/>
                        </a:rPr>
                        <a:t>✓</a:t>
                      </a:r>
                    </a:p>
                  </a:txBody>
                  <a:tcPr marL="54864" marR="36576" marT="0" marB="0" anchor="ctr">
                    <a:solidFill>
                      <a:srgbClr val="F4F5F9"/>
                    </a:solidFill>
                  </a:tcPr>
                </a:tc>
                <a:tc>
                  <a:txBody>
                    <a:bodyPr/>
                    <a:lstStyle/>
                    <a:p>
                      <a:pPr algn="ctr"/>
                      <a:r>
                        <a:rPr sz="1800" b="1">
                          <a:solidFill>
                            <a:srgbClr val="B0B4C0"/>
                          </a:solidFill>
                          <a:latin typeface="Calibri"/>
                        </a:rPr>
                        <a:t>✗</a:t>
                      </a:r>
                    </a:p>
                  </a:txBody>
                  <a:tcPr marL="54864" marR="36576" marT="0" marB="0" anchor="ctr">
                    <a:solidFill>
                      <a:srgbClr val="F4F5F9"/>
                    </a:solidFill>
                  </a:tcPr>
                </a:tc>
                <a:tc>
                  <a:txBody>
                    <a:bodyPr/>
                    <a:lstStyle/>
                    <a:p>
                      <a:pPr algn="ctr"/>
                      <a:r>
                        <a:rPr sz="1800" b="1" dirty="0">
                          <a:solidFill>
                            <a:srgbClr val="B0B4C0"/>
                          </a:solidFill>
                          <a:latin typeface="Calibri"/>
                        </a:rPr>
                        <a:t>✗</a:t>
                      </a:r>
                    </a:p>
                  </a:txBody>
                  <a:tcPr marL="54864" marR="36576" marT="0" marB="0" anchor="ctr">
                    <a:solidFill>
                      <a:srgbClr val="F4F5F9"/>
                    </a:solidFill>
                  </a:tcPr>
                </a:tc>
                <a:extLst>
                  <a:ext uri="{0D108BD9-81ED-4DB2-BD59-A6C34878D82A}">
                    <a16:rowId xmlns:a16="http://schemas.microsoft.com/office/drawing/2014/main" val="10007"/>
                  </a:ext>
                </a:extLst>
              </a:tr>
              <a:tr h="370247">
                <a:tc>
                  <a:txBody>
                    <a:bodyPr/>
                    <a:lstStyle/>
                    <a:p>
                      <a:pPr algn="l"/>
                      <a:r>
                        <a:rPr sz="1800" b="0" dirty="0">
                          <a:solidFill>
                            <a:srgbClr val="1A1C22"/>
                          </a:solidFill>
                          <a:latin typeface="Calibri"/>
                        </a:rPr>
                        <a:t>Pham (2025) — MINA</a:t>
                      </a:r>
                    </a:p>
                  </a:txBody>
                  <a:tcPr marL="54864" marR="36576" marT="0" marB="0" anchor="ctr">
                    <a:solidFill>
                      <a:srgbClr val="FFFFFF"/>
                    </a:solidFill>
                  </a:tcPr>
                </a:tc>
                <a:tc>
                  <a:txBody>
                    <a:bodyPr/>
                    <a:lstStyle/>
                    <a:p>
                      <a:pPr algn="l"/>
                      <a:r>
                        <a:rPr sz="1800" b="0" dirty="0">
                          <a:solidFill>
                            <a:srgbClr val="6E6E78"/>
                          </a:solidFill>
                          <a:latin typeface="Calibri"/>
                        </a:rPr>
                        <a:t>Zynq </a:t>
                      </a:r>
                      <a:r>
                        <a:rPr sz="1800" b="0" dirty="0" err="1">
                          <a:solidFill>
                            <a:srgbClr val="6E6E78"/>
                          </a:solidFill>
                          <a:latin typeface="Calibri"/>
                        </a:rPr>
                        <a:t>UltraScale</a:t>
                      </a:r>
                      <a:r>
                        <a:rPr sz="1800" b="0" dirty="0">
                          <a:solidFill>
                            <a:srgbClr val="6E6E78"/>
                          </a:solidFill>
                          <a:latin typeface="Calibri"/>
                        </a:rPr>
                        <a:t>+</a:t>
                      </a:r>
                    </a:p>
                  </a:txBody>
                  <a:tcPr marL="54864" marR="36576" marT="0" marB="0" anchor="ctr">
                    <a:solidFill>
                      <a:srgbClr val="FFFFFF"/>
                    </a:solidFill>
                  </a:tcPr>
                </a:tc>
                <a:tc>
                  <a:txBody>
                    <a:bodyPr/>
                    <a:lstStyle/>
                    <a:p>
                      <a:pPr algn="ctr"/>
                      <a:r>
                        <a:rPr sz="1800" b="1" dirty="0">
                          <a:solidFill>
                            <a:srgbClr val="2F3C7E"/>
                          </a:solidFill>
                          <a:latin typeface="Calibri"/>
                        </a:rPr>
                        <a:t>✓</a:t>
                      </a:r>
                    </a:p>
                  </a:txBody>
                  <a:tcPr marL="54864" marR="36576" marT="0" marB="0" anchor="ctr">
                    <a:solidFill>
                      <a:srgbClr val="FFFFFF"/>
                    </a:solidFill>
                  </a:tcPr>
                </a:tc>
                <a:tc>
                  <a:txBody>
                    <a:bodyPr/>
                    <a:lstStyle/>
                    <a:p>
                      <a:pPr algn="ctr"/>
                      <a:r>
                        <a:rPr sz="1800" b="1" dirty="0">
                          <a:solidFill>
                            <a:srgbClr val="2F3C7E"/>
                          </a:solidFill>
                          <a:latin typeface="Calibri"/>
                        </a:rPr>
                        <a:t>✓</a:t>
                      </a:r>
                    </a:p>
                  </a:txBody>
                  <a:tcPr marL="54864" marR="36576" marT="0" marB="0" anchor="ctr">
                    <a:solidFill>
                      <a:srgbClr val="FFFFFF"/>
                    </a:solidFill>
                  </a:tcPr>
                </a:tc>
                <a:tc>
                  <a:txBody>
                    <a:bodyPr/>
                    <a:lstStyle/>
                    <a:p>
                      <a:pPr algn="ctr"/>
                      <a:r>
                        <a:rPr sz="1800" b="1">
                          <a:solidFill>
                            <a:srgbClr val="B0B4C0"/>
                          </a:solidFill>
                          <a:latin typeface="Calibri"/>
                        </a:rPr>
                        <a:t>✗</a:t>
                      </a:r>
                    </a:p>
                  </a:txBody>
                  <a:tcPr marL="54864" marR="36576" marT="0" marB="0" anchor="ctr">
                    <a:solidFill>
                      <a:srgbClr val="FFFFFF"/>
                    </a:solidFill>
                  </a:tcPr>
                </a:tc>
                <a:tc>
                  <a:txBody>
                    <a:bodyPr/>
                    <a:lstStyle/>
                    <a:p>
                      <a:pPr algn="ctr"/>
                      <a:r>
                        <a:rPr lang="en-US" sz="1800" b="1" dirty="0">
                          <a:solidFill>
                            <a:srgbClr val="1B7A3D"/>
                          </a:solidFill>
                          <a:latin typeface="+mn-lt"/>
                        </a:rPr>
                        <a:t>✓</a:t>
                      </a:r>
                    </a:p>
                  </a:txBody>
                  <a:tcPr marL="54864" marR="36576" marT="0" marB="0" anchor="ctr">
                    <a:solidFill>
                      <a:srgbClr val="FFFFFF"/>
                    </a:solidFill>
                  </a:tcPr>
                </a:tc>
                <a:extLst>
                  <a:ext uri="{0D108BD9-81ED-4DB2-BD59-A6C34878D82A}">
                    <a16:rowId xmlns:a16="http://schemas.microsoft.com/office/drawing/2014/main" val="10008"/>
                  </a:ext>
                </a:extLst>
              </a:tr>
              <a:tr h="370247">
                <a:tc>
                  <a:txBody>
                    <a:bodyPr/>
                    <a:lstStyle/>
                    <a:p>
                      <a:pPr algn="l"/>
                      <a:r>
                        <a:rPr sz="1800" b="0">
                          <a:solidFill>
                            <a:srgbClr val="1A1C22"/>
                          </a:solidFill>
                          <a:latin typeface="Calibri"/>
                        </a:rPr>
                        <a:t>Tran (2026) — ECG-LDC</a:t>
                      </a:r>
                    </a:p>
                  </a:txBody>
                  <a:tcPr marL="54864" marR="36576" marT="0" marB="0" anchor="ctr">
                    <a:solidFill>
                      <a:srgbClr val="F4F5F9"/>
                    </a:solidFill>
                  </a:tcPr>
                </a:tc>
                <a:tc>
                  <a:txBody>
                    <a:bodyPr/>
                    <a:lstStyle/>
                    <a:p>
                      <a:pPr algn="l"/>
                      <a:r>
                        <a:rPr sz="1800" b="0">
                          <a:solidFill>
                            <a:srgbClr val="6E6E78"/>
                          </a:solidFill>
                          <a:latin typeface="Calibri"/>
                        </a:rPr>
                        <a:t>Pynq-Z2</a:t>
                      </a:r>
                    </a:p>
                  </a:txBody>
                  <a:tcPr marL="54864" marR="36576" marT="0" marB="0" anchor="ctr">
                    <a:solidFill>
                      <a:srgbClr val="F4F5F9"/>
                    </a:solidFill>
                  </a:tcPr>
                </a:tc>
                <a:tc>
                  <a:txBody>
                    <a:bodyPr/>
                    <a:lstStyle/>
                    <a:p>
                      <a:pPr algn="ctr"/>
                      <a:r>
                        <a:rPr sz="1800" b="1" dirty="0">
                          <a:solidFill>
                            <a:srgbClr val="2F3C7E"/>
                          </a:solidFill>
                          <a:latin typeface="Calibri"/>
                        </a:rPr>
                        <a:t>✓</a:t>
                      </a:r>
                    </a:p>
                  </a:txBody>
                  <a:tcPr marL="54864" marR="36576" marT="0" marB="0" anchor="ctr">
                    <a:solidFill>
                      <a:srgbClr val="F4F5F9"/>
                    </a:solidFill>
                  </a:tcPr>
                </a:tc>
                <a:tc>
                  <a:txBody>
                    <a:bodyPr/>
                    <a:lstStyle/>
                    <a:p>
                      <a:pPr algn="ctr"/>
                      <a:r>
                        <a:rPr sz="1800" b="1" dirty="0">
                          <a:solidFill>
                            <a:srgbClr val="2F3C7E"/>
                          </a:solidFill>
                          <a:latin typeface="Calibri"/>
                        </a:rPr>
                        <a:t>✓</a:t>
                      </a:r>
                    </a:p>
                  </a:txBody>
                  <a:tcPr marL="54864" marR="36576" marT="0" marB="0" anchor="ctr">
                    <a:solidFill>
                      <a:srgbClr val="F4F5F9"/>
                    </a:solidFill>
                  </a:tcPr>
                </a:tc>
                <a:tc>
                  <a:txBody>
                    <a:bodyPr/>
                    <a:lstStyle/>
                    <a:p>
                      <a:pPr algn="ctr"/>
                      <a:r>
                        <a:rPr sz="1800" b="1">
                          <a:solidFill>
                            <a:srgbClr val="B0B4C0"/>
                          </a:solidFill>
                          <a:latin typeface="Calibri"/>
                        </a:rPr>
                        <a:t>✗</a:t>
                      </a:r>
                    </a:p>
                  </a:txBody>
                  <a:tcPr marL="54864" marR="36576" marT="0" marB="0" anchor="ctr">
                    <a:solidFill>
                      <a:srgbClr val="F4F5F9"/>
                    </a:solidFill>
                  </a:tcPr>
                </a:tc>
                <a:tc>
                  <a:txBody>
                    <a:bodyPr/>
                    <a:lstStyle/>
                    <a:p>
                      <a:pPr algn="ctr"/>
                      <a:r>
                        <a:rPr lang="en-US" sz="1800" b="1" dirty="0">
                          <a:solidFill>
                            <a:srgbClr val="1B7A3D"/>
                          </a:solidFill>
                          <a:latin typeface="+mn-lt"/>
                        </a:rPr>
                        <a:t>✓</a:t>
                      </a:r>
                    </a:p>
                  </a:txBody>
                  <a:tcPr marL="54864" marR="36576" marT="0" marB="0" anchor="ctr">
                    <a:solidFill>
                      <a:srgbClr val="F4F5F9"/>
                    </a:solidFill>
                  </a:tcPr>
                </a:tc>
                <a:extLst>
                  <a:ext uri="{0D108BD9-81ED-4DB2-BD59-A6C34878D82A}">
                    <a16:rowId xmlns:a16="http://schemas.microsoft.com/office/drawing/2014/main" val="10009"/>
                  </a:ext>
                </a:extLst>
              </a:tr>
              <a:tr h="370247">
                <a:tc>
                  <a:txBody>
                    <a:bodyPr/>
                    <a:lstStyle/>
                    <a:p>
                      <a:pPr algn="l"/>
                      <a:r>
                        <a:rPr sz="1800" b="0">
                          <a:solidFill>
                            <a:srgbClr val="1A1C22"/>
                          </a:solidFill>
                          <a:latin typeface="Calibri"/>
                        </a:rPr>
                        <a:t>Rawal (2023)</a:t>
                      </a:r>
                    </a:p>
                  </a:txBody>
                  <a:tcPr marL="54864" marR="36576" marT="0" marB="0" anchor="ctr">
                    <a:solidFill>
                      <a:srgbClr val="FFFFFF"/>
                    </a:solidFill>
                  </a:tcPr>
                </a:tc>
                <a:tc>
                  <a:txBody>
                    <a:bodyPr/>
                    <a:lstStyle/>
                    <a:p>
                      <a:pPr algn="l"/>
                      <a:r>
                        <a:rPr sz="1800" b="0" dirty="0">
                          <a:solidFill>
                            <a:srgbClr val="6E6E78"/>
                          </a:solidFill>
                          <a:latin typeface="Calibri"/>
                        </a:rPr>
                        <a:t>Zynq </a:t>
                      </a:r>
                      <a:r>
                        <a:rPr sz="1800" b="0" dirty="0" err="1">
                          <a:solidFill>
                            <a:srgbClr val="6E6E78"/>
                          </a:solidFill>
                          <a:latin typeface="Calibri"/>
                        </a:rPr>
                        <a:t>UltraScale</a:t>
                      </a:r>
                      <a:endParaRPr sz="1800" b="0" dirty="0">
                        <a:solidFill>
                          <a:srgbClr val="6E6E78"/>
                        </a:solidFill>
                        <a:latin typeface="Calibri"/>
                      </a:endParaRPr>
                    </a:p>
                  </a:txBody>
                  <a:tcPr marL="54864" marR="36576" marT="0" marB="0" anchor="ctr">
                    <a:solidFill>
                      <a:srgbClr val="FFFFFF"/>
                    </a:solidFill>
                  </a:tcPr>
                </a:tc>
                <a:tc>
                  <a:txBody>
                    <a:bodyPr/>
                    <a:lstStyle/>
                    <a:p>
                      <a:pPr algn="ctr"/>
                      <a:r>
                        <a:rPr sz="1800" b="1" dirty="0">
                          <a:solidFill>
                            <a:srgbClr val="2F3C7E"/>
                          </a:solidFill>
                          <a:latin typeface="Calibri"/>
                        </a:rPr>
                        <a:t>✓</a:t>
                      </a:r>
                    </a:p>
                  </a:txBody>
                  <a:tcPr marL="54864" marR="36576" marT="0" marB="0" anchor="ctr">
                    <a:solidFill>
                      <a:srgbClr val="FFFFFF"/>
                    </a:solidFill>
                  </a:tcPr>
                </a:tc>
                <a:tc>
                  <a:txBody>
                    <a:bodyPr/>
                    <a:lstStyle/>
                    <a:p>
                      <a:pPr algn="ctr"/>
                      <a:r>
                        <a:rPr sz="1800" b="1" dirty="0">
                          <a:solidFill>
                            <a:srgbClr val="2F3C7E"/>
                          </a:solidFill>
                          <a:latin typeface="Calibri"/>
                        </a:rPr>
                        <a:t>✓</a:t>
                      </a:r>
                    </a:p>
                  </a:txBody>
                  <a:tcPr marL="54864" marR="36576" marT="0" marB="0" anchor="ctr">
                    <a:solidFill>
                      <a:srgbClr val="FFFFFF"/>
                    </a:solidFill>
                  </a:tcPr>
                </a:tc>
                <a:tc>
                  <a:txBody>
                    <a:bodyPr/>
                    <a:lstStyle/>
                    <a:p>
                      <a:pPr algn="ctr"/>
                      <a:r>
                        <a:rPr sz="1800" b="1">
                          <a:solidFill>
                            <a:srgbClr val="B0B4C0"/>
                          </a:solidFill>
                          <a:latin typeface="Calibri"/>
                        </a:rPr>
                        <a:t>✗</a:t>
                      </a:r>
                    </a:p>
                  </a:txBody>
                  <a:tcPr marL="54864" marR="36576" marT="0" marB="0" anchor="ctr">
                    <a:solidFill>
                      <a:srgbClr val="FFFFFF"/>
                    </a:solidFill>
                  </a:tcPr>
                </a:tc>
                <a:tc>
                  <a:txBody>
                    <a:bodyPr/>
                    <a:lstStyle/>
                    <a:p>
                      <a:pPr algn="ctr"/>
                      <a:r>
                        <a:rPr sz="1800" b="1" dirty="0">
                          <a:solidFill>
                            <a:srgbClr val="B0B4C0"/>
                          </a:solidFill>
                          <a:latin typeface="Calibri"/>
                        </a:rPr>
                        <a:t>✗</a:t>
                      </a:r>
                    </a:p>
                  </a:txBody>
                  <a:tcPr marL="54864" marR="36576" marT="0" marB="0" anchor="ctr">
                    <a:solidFill>
                      <a:srgbClr val="FFFFFF"/>
                    </a:solidFill>
                  </a:tcPr>
                </a:tc>
                <a:extLst>
                  <a:ext uri="{0D108BD9-81ED-4DB2-BD59-A6C34878D82A}">
                    <a16:rowId xmlns:a16="http://schemas.microsoft.com/office/drawing/2014/main" val="10010"/>
                  </a:ext>
                </a:extLst>
              </a:tr>
              <a:tr h="370247">
                <a:tc>
                  <a:txBody>
                    <a:bodyPr/>
                    <a:lstStyle/>
                    <a:p>
                      <a:pPr algn="l"/>
                      <a:r>
                        <a:rPr sz="1800" b="0" dirty="0">
                          <a:solidFill>
                            <a:srgbClr val="1A1C22"/>
                          </a:solidFill>
                          <a:latin typeface="Calibri"/>
                        </a:rPr>
                        <a:t>Wess (2017)</a:t>
                      </a:r>
                    </a:p>
                  </a:txBody>
                  <a:tcPr marL="54864" marR="36576" marT="0" marB="0" anchor="ctr">
                    <a:solidFill>
                      <a:srgbClr val="F4F5F9"/>
                    </a:solidFill>
                  </a:tcPr>
                </a:tc>
                <a:tc>
                  <a:txBody>
                    <a:bodyPr/>
                    <a:lstStyle/>
                    <a:p>
                      <a:pPr algn="l"/>
                      <a:r>
                        <a:rPr sz="1800" b="0" dirty="0">
                          <a:solidFill>
                            <a:srgbClr val="6E6E78"/>
                          </a:solidFill>
                          <a:latin typeface="Calibri"/>
                        </a:rPr>
                        <a:t>Zynq-7020</a:t>
                      </a:r>
                    </a:p>
                  </a:txBody>
                  <a:tcPr marL="54864" marR="36576" marT="0" marB="0" anchor="ctr">
                    <a:solidFill>
                      <a:srgbClr val="F4F5F9"/>
                    </a:solidFill>
                  </a:tcPr>
                </a:tc>
                <a:tc>
                  <a:txBody>
                    <a:bodyPr/>
                    <a:lstStyle/>
                    <a:p>
                      <a:pPr algn="ctr"/>
                      <a:r>
                        <a:rPr sz="1800" b="1" dirty="0">
                          <a:solidFill>
                            <a:srgbClr val="2F3C7E"/>
                          </a:solidFill>
                          <a:latin typeface="Calibri"/>
                        </a:rPr>
                        <a:t>✓</a:t>
                      </a:r>
                    </a:p>
                  </a:txBody>
                  <a:tcPr marL="54864" marR="36576" marT="0" marB="0" anchor="ctr">
                    <a:solidFill>
                      <a:srgbClr val="F4F5F9"/>
                    </a:solidFill>
                  </a:tcPr>
                </a:tc>
                <a:tc>
                  <a:txBody>
                    <a:bodyPr/>
                    <a:lstStyle/>
                    <a:p>
                      <a:pPr algn="ctr"/>
                      <a:r>
                        <a:rPr sz="1800" b="1" dirty="0">
                          <a:solidFill>
                            <a:srgbClr val="2F3C7E"/>
                          </a:solidFill>
                          <a:latin typeface="Calibri"/>
                        </a:rPr>
                        <a:t>✓</a:t>
                      </a:r>
                    </a:p>
                  </a:txBody>
                  <a:tcPr marL="54864" marR="36576" marT="0" marB="0" anchor="ctr">
                    <a:solidFill>
                      <a:srgbClr val="F4F5F9"/>
                    </a:solidFill>
                  </a:tcPr>
                </a:tc>
                <a:tc>
                  <a:txBody>
                    <a:bodyPr/>
                    <a:lstStyle/>
                    <a:p>
                      <a:pPr algn="ctr"/>
                      <a:r>
                        <a:rPr sz="1800" b="1" dirty="0">
                          <a:solidFill>
                            <a:srgbClr val="B0B4C0"/>
                          </a:solidFill>
                          <a:latin typeface="Calibri"/>
                        </a:rPr>
                        <a:t>✗</a:t>
                      </a:r>
                    </a:p>
                  </a:txBody>
                  <a:tcPr marL="54864" marR="36576" marT="0" marB="0" anchor="ctr">
                    <a:solidFill>
                      <a:srgbClr val="F4F5F9"/>
                    </a:solidFill>
                  </a:tcPr>
                </a:tc>
                <a:tc>
                  <a:txBody>
                    <a:bodyPr/>
                    <a:lstStyle/>
                    <a:p>
                      <a:pPr algn="ctr"/>
                      <a:r>
                        <a:rPr sz="1800" b="1">
                          <a:solidFill>
                            <a:srgbClr val="B0B4C0"/>
                          </a:solidFill>
                          <a:latin typeface="Calibri"/>
                        </a:rPr>
                        <a:t>✗</a:t>
                      </a:r>
                    </a:p>
                  </a:txBody>
                  <a:tcPr marL="54864" marR="36576" marT="0" marB="0" anchor="ctr">
                    <a:solidFill>
                      <a:srgbClr val="F4F5F9"/>
                    </a:solidFill>
                  </a:tcPr>
                </a:tc>
                <a:extLst>
                  <a:ext uri="{0D108BD9-81ED-4DB2-BD59-A6C34878D82A}">
                    <a16:rowId xmlns:a16="http://schemas.microsoft.com/office/drawing/2014/main" val="10011"/>
                  </a:ext>
                </a:extLst>
              </a:tr>
              <a:tr h="370247">
                <a:tc>
                  <a:txBody>
                    <a:bodyPr/>
                    <a:lstStyle/>
                    <a:p>
                      <a:pPr algn="l"/>
                      <a:r>
                        <a:rPr sz="1800" b="0">
                          <a:solidFill>
                            <a:srgbClr val="1A1C22"/>
                          </a:solidFill>
                          <a:latin typeface="Calibri"/>
                        </a:rPr>
                        <a:t>Srivastava (2022)</a:t>
                      </a:r>
                    </a:p>
                  </a:txBody>
                  <a:tcPr marL="54864" marR="36576" marT="0" marB="0" anchor="ctr">
                    <a:solidFill>
                      <a:srgbClr val="FFFFFF"/>
                    </a:solidFill>
                  </a:tcPr>
                </a:tc>
                <a:tc>
                  <a:txBody>
                    <a:bodyPr/>
                    <a:lstStyle/>
                    <a:p>
                      <a:pPr algn="l"/>
                      <a:r>
                        <a:rPr sz="1800" b="0" dirty="0">
                          <a:solidFill>
                            <a:srgbClr val="6E6E78"/>
                          </a:solidFill>
                          <a:latin typeface="Calibri"/>
                        </a:rPr>
                        <a:t>Artix-7</a:t>
                      </a:r>
                    </a:p>
                  </a:txBody>
                  <a:tcPr marL="54864" marR="36576" marT="0" marB="0" anchor="ctr">
                    <a:solidFill>
                      <a:srgbClr val="FFFFFF"/>
                    </a:solidFill>
                  </a:tcPr>
                </a:tc>
                <a:tc>
                  <a:txBody>
                    <a:bodyPr/>
                    <a:lstStyle/>
                    <a:p>
                      <a:pPr algn="ctr"/>
                      <a:r>
                        <a:rPr sz="1800" b="1" dirty="0">
                          <a:solidFill>
                            <a:srgbClr val="2F3C7E"/>
                          </a:solidFill>
                          <a:latin typeface="Calibri"/>
                        </a:rPr>
                        <a:t>✓</a:t>
                      </a:r>
                    </a:p>
                  </a:txBody>
                  <a:tcPr marL="54864" marR="36576" marT="0" marB="0" anchor="ctr">
                    <a:solidFill>
                      <a:srgbClr val="FFFFFF"/>
                    </a:solidFill>
                  </a:tcPr>
                </a:tc>
                <a:tc>
                  <a:txBody>
                    <a:bodyPr/>
                    <a:lstStyle/>
                    <a:p>
                      <a:pPr algn="ctr"/>
                      <a:r>
                        <a:rPr sz="1800" b="1" dirty="0">
                          <a:solidFill>
                            <a:srgbClr val="2F3C7E"/>
                          </a:solidFill>
                          <a:latin typeface="Calibri"/>
                        </a:rPr>
                        <a:t>✓</a:t>
                      </a:r>
                    </a:p>
                  </a:txBody>
                  <a:tcPr marL="54864" marR="36576" marT="0" marB="0" anchor="ctr">
                    <a:solidFill>
                      <a:srgbClr val="FFFFFF"/>
                    </a:solidFill>
                  </a:tcPr>
                </a:tc>
                <a:tc>
                  <a:txBody>
                    <a:bodyPr/>
                    <a:lstStyle/>
                    <a:p>
                      <a:pPr algn="ctr"/>
                      <a:r>
                        <a:rPr sz="1800" b="1" dirty="0">
                          <a:solidFill>
                            <a:srgbClr val="B0B4C0"/>
                          </a:solidFill>
                          <a:latin typeface="Calibri"/>
                        </a:rPr>
                        <a:t>✗</a:t>
                      </a:r>
                    </a:p>
                  </a:txBody>
                  <a:tcPr marL="54864" marR="36576" marT="0" marB="0" anchor="ctr">
                    <a:solidFill>
                      <a:srgbClr val="FFFFFF"/>
                    </a:solidFill>
                  </a:tcPr>
                </a:tc>
                <a:tc>
                  <a:txBody>
                    <a:bodyPr/>
                    <a:lstStyle/>
                    <a:p>
                      <a:pPr algn="ctr"/>
                      <a:r>
                        <a:rPr sz="1800" b="1" dirty="0">
                          <a:solidFill>
                            <a:srgbClr val="B0B4C0"/>
                          </a:solidFill>
                          <a:latin typeface="Calibri"/>
                        </a:rPr>
                        <a:t>✗</a:t>
                      </a:r>
                    </a:p>
                  </a:txBody>
                  <a:tcPr marL="54864" marR="36576" marT="0" marB="0" anchor="ctr">
                    <a:solidFill>
                      <a:srgbClr val="FFFFFF"/>
                    </a:solidFill>
                  </a:tcPr>
                </a:tc>
                <a:extLst>
                  <a:ext uri="{0D108BD9-81ED-4DB2-BD59-A6C34878D82A}">
                    <a16:rowId xmlns:a16="http://schemas.microsoft.com/office/drawing/2014/main" val="10012"/>
                  </a:ext>
                </a:extLst>
              </a:tr>
              <a:tr h="370247">
                <a:tc>
                  <a:txBody>
                    <a:bodyPr/>
                    <a:lstStyle/>
                    <a:p>
                      <a:pPr algn="l"/>
                      <a:r>
                        <a:rPr sz="1800" b="1">
                          <a:solidFill>
                            <a:srgbClr val="990011"/>
                          </a:solidFill>
                          <a:latin typeface="Calibri"/>
                        </a:rPr>
                        <a:t>Đề tài này</a:t>
                      </a:r>
                    </a:p>
                  </a:txBody>
                  <a:tcPr marL="54864" marR="36576" marT="0" marB="0" anchor="ctr">
                    <a:solidFill>
                      <a:srgbClr val="FDECEE"/>
                    </a:solidFill>
                  </a:tcPr>
                </a:tc>
                <a:tc>
                  <a:txBody>
                    <a:bodyPr/>
                    <a:lstStyle/>
                    <a:p>
                      <a:pPr algn="l"/>
                      <a:r>
                        <a:rPr sz="1800" b="1" dirty="0">
                          <a:solidFill>
                            <a:srgbClr val="990011"/>
                          </a:solidFill>
                          <a:latin typeface="Calibri"/>
                        </a:rPr>
                        <a:t>Cyclone V</a:t>
                      </a:r>
                    </a:p>
                  </a:txBody>
                  <a:tcPr marL="54864" marR="36576" marT="0" marB="0" anchor="ctr">
                    <a:solidFill>
                      <a:srgbClr val="FDECEE"/>
                    </a:solidFill>
                  </a:tcPr>
                </a:tc>
                <a:tc>
                  <a:txBody>
                    <a:bodyPr/>
                    <a:lstStyle/>
                    <a:p>
                      <a:pPr algn="ctr"/>
                      <a:r>
                        <a:rPr sz="1800" b="1" dirty="0">
                          <a:solidFill>
                            <a:srgbClr val="1B7A3D"/>
                          </a:solidFill>
                          <a:latin typeface="Calibri"/>
                        </a:rPr>
                        <a:t>✓</a:t>
                      </a:r>
                    </a:p>
                  </a:txBody>
                  <a:tcPr marL="54864" marR="36576" marT="0" marB="0" anchor="ctr">
                    <a:solidFill>
                      <a:srgbClr val="FDECEE"/>
                    </a:solidFill>
                  </a:tcPr>
                </a:tc>
                <a:tc>
                  <a:txBody>
                    <a:bodyPr/>
                    <a:lstStyle/>
                    <a:p>
                      <a:pPr algn="ctr"/>
                      <a:r>
                        <a:rPr sz="1800" b="1" dirty="0">
                          <a:solidFill>
                            <a:srgbClr val="1B7A3D"/>
                          </a:solidFill>
                          <a:latin typeface="Calibri"/>
                        </a:rPr>
                        <a:t>✓</a:t>
                      </a:r>
                    </a:p>
                  </a:txBody>
                  <a:tcPr marL="54864" marR="36576" marT="0" marB="0" anchor="ctr">
                    <a:solidFill>
                      <a:srgbClr val="FDECEE"/>
                    </a:solidFill>
                  </a:tcPr>
                </a:tc>
                <a:tc>
                  <a:txBody>
                    <a:bodyPr/>
                    <a:lstStyle/>
                    <a:p>
                      <a:pPr algn="ctr"/>
                      <a:r>
                        <a:rPr sz="1800" b="1" dirty="0">
                          <a:solidFill>
                            <a:srgbClr val="1B7A3D"/>
                          </a:solidFill>
                          <a:latin typeface="Calibri"/>
                        </a:rPr>
                        <a:t>✓</a:t>
                      </a:r>
                    </a:p>
                  </a:txBody>
                  <a:tcPr marL="54864" marR="36576" marT="0" marB="0" anchor="ctr">
                    <a:solidFill>
                      <a:srgbClr val="FDECEE"/>
                    </a:solidFill>
                  </a:tcPr>
                </a:tc>
                <a:tc>
                  <a:txBody>
                    <a:bodyPr/>
                    <a:lstStyle/>
                    <a:p>
                      <a:pPr algn="ctr"/>
                      <a:r>
                        <a:rPr sz="1800" b="1" dirty="0">
                          <a:solidFill>
                            <a:srgbClr val="1B7A3D"/>
                          </a:solidFill>
                          <a:latin typeface="Calibri"/>
                        </a:rPr>
                        <a:t>✓</a:t>
                      </a:r>
                    </a:p>
                  </a:txBody>
                  <a:tcPr marL="54864" marR="36576" marT="0" marB="0" anchor="ctr">
                    <a:solidFill>
                      <a:srgbClr val="FDECEE"/>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02318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452CD-FDA9-E486-1161-A62FF9DA7385}"/>
            </a:ext>
          </a:extLst>
        </p:cNvPr>
        <p:cNvGrpSpPr/>
        <p:nvPr/>
      </p:nvGrpSpPr>
      <p:grpSpPr>
        <a:xfrm>
          <a:off x="0" y="0"/>
          <a:ext cx="0" cy="0"/>
          <a:chOff x="0" y="0"/>
          <a:chExt cx="0" cy="0"/>
        </a:xfrm>
      </p:grpSpPr>
      <p:sp>
        <p:nvSpPr>
          <p:cNvPr id="26" name="Text 0">
            <a:extLst>
              <a:ext uri="{FF2B5EF4-FFF2-40B4-BE49-F238E27FC236}">
                <a16:creationId xmlns:a16="http://schemas.microsoft.com/office/drawing/2014/main" id="{196EC688-C2D2-C869-B8A3-194D748A4EC2}"/>
              </a:ext>
            </a:extLst>
          </p:cNvPr>
          <p:cNvSpPr/>
          <p:nvPr/>
        </p:nvSpPr>
        <p:spPr>
          <a:xfrm>
            <a:off x="719328" y="4267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2 · ĐÓNG GÓP ĐỀ TÀI</a:t>
            </a:r>
            <a:endParaRPr lang="en-US" sz="2000" dirty="0"/>
          </a:p>
        </p:txBody>
      </p:sp>
      <p:sp>
        <p:nvSpPr>
          <p:cNvPr id="36" name="Rectangle 35">
            <a:extLst>
              <a:ext uri="{FF2B5EF4-FFF2-40B4-BE49-F238E27FC236}">
                <a16:creationId xmlns:a16="http://schemas.microsoft.com/office/drawing/2014/main" id="{1C9F674E-5873-0482-1079-E5964D2BE8DC}"/>
              </a:ext>
            </a:extLst>
          </p:cNvPr>
          <p:cNvSpPr/>
          <p:nvPr/>
        </p:nvSpPr>
        <p:spPr>
          <a:xfrm>
            <a:off x="719328" y="1042705"/>
            <a:ext cx="9939436" cy="814959"/>
          </a:xfrm>
          <a:prstGeom prst="rect">
            <a:avLst/>
          </a:prstGeom>
          <a:solidFill>
            <a:srgbClr val="F2F1ED"/>
          </a:solidFill>
          <a:ln w="9525">
            <a:solidFill>
              <a:srgbClr val="DC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n-US" b="1" dirty="0">
                <a:solidFill>
                  <a:srgbClr val="FF0000"/>
                </a:solidFill>
              </a:rPr>
              <a:t>1</a:t>
            </a:r>
            <a:r>
              <a:rPr lang="en-US" b="1" dirty="0">
                <a:solidFill>
                  <a:schemeClr val="tx1"/>
                </a:solidFill>
              </a:rPr>
              <a:t>. </a:t>
            </a:r>
            <a:r>
              <a:rPr lang="en-US" b="1" dirty="0" err="1">
                <a:solidFill>
                  <a:schemeClr val="tx1"/>
                </a:solidFill>
              </a:rPr>
              <a:t>Đề</a:t>
            </a:r>
            <a:r>
              <a:rPr lang="en-US" b="1" dirty="0">
                <a:solidFill>
                  <a:schemeClr val="tx1"/>
                </a:solidFill>
              </a:rPr>
              <a:t> </a:t>
            </a:r>
            <a:r>
              <a:rPr lang="en-US" b="1" dirty="0" err="1">
                <a:solidFill>
                  <a:schemeClr val="tx1"/>
                </a:solidFill>
              </a:rPr>
              <a:t>xuất</a:t>
            </a:r>
            <a:r>
              <a:rPr lang="en-US" b="1" dirty="0">
                <a:solidFill>
                  <a:schemeClr val="tx1"/>
                </a:solidFill>
              </a:rPr>
              <a:t> </a:t>
            </a:r>
            <a:r>
              <a:rPr lang="en-US" b="1" dirty="0" err="1">
                <a:solidFill>
                  <a:schemeClr val="tx1"/>
                </a:solidFill>
              </a:rPr>
              <a:t>mô</a:t>
            </a:r>
            <a:r>
              <a:rPr lang="en-US" b="1" dirty="0">
                <a:solidFill>
                  <a:schemeClr val="tx1"/>
                </a:solidFill>
              </a:rPr>
              <a:t> </a:t>
            </a:r>
            <a:r>
              <a:rPr lang="en-US" b="1" dirty="0" err="1">
                <a:solidFill>
                  <a:schemeClr val="tx1"/>
                </a:solidFill>
              </a:rPr>
              <a:t>hình</a:t>
            </a:r>
            <a:r>
              <a:rPr lang="en-US" b="1" dirty="0">
                <a:solidFill>
                  <a:schemeClr val="tx1"/>
                </a:solidFill>
              </a:rPr>
              <a:t> CNN </a:t>
            </a:r>
            <a:r>
              <a:rPr lang="en-US" b="1" dirty="0" err="1">
                <a:solidFill>
                  <a:schemeClr val="tx1"/>
                </a:solidFill>
              </a:rPr>
              <a:t>dựa</a:t>
            </a:r>
            <a:r>
              <a:rPr lang="en-US" b="1" dirty="0">
                <a:solidFill>
                  <a:schemeClr val="tx1"/>
                </a:solidFill>
              </a:rPr>
              <a:t> </a:t>
            </a:r>
            <a:r>
              <a:rPr lang="en-US" b="1" dirty="0" err="1">
                <a:solidFill>
                  <a:schemeClr val="tx1"/>
                </a:solidFill>
              </a:rPr>
              <a:t>trên</a:t>
            </a:r>
            <a:r>
              <a:rPr lang="en-US" b="1" dirty="0">
                <a:solidFill>
                  <a:schemeClr val="tx1"/>
                </a:solidFill>
              </a:rPr>
              <a:t> </a:t>
            </a:r>
            <a:r>
              <a:rPr lang="en-US" b="1" dirty="0" err="1">
                <a:solidFill>
                  <a:schemeClr val="tx1"/>
                </a:solidFill>
              </a:rPr>
              <a:t>thiết</a:t>
            </a:r>
            <a:r>
              <a:rPr lang="en-US" b="1" dirty="0">
                <a:solidFill>
                  <a:schemeClr val="tx1"/>
                </a:solidFill>
              </a:rPr>
              <a:t> </a:t>
            </a:r>
            <a:r>
              <a:rPr lang="en-US" b="1" dirty="0" err="1">
                <a:solidFill>
                  <a:schemeClr val="tx1"/>
                </a:solidFill>
              </a:rPr>
              <a:t>kế</a:t>
            </a:r>
            <a:r>
              <a:rPr lang="en-US" b="1" dirty="0">
                <a:solidFill>
                  <a:schemeClr val="tx1"/>
                </a:solidFill>
              </a:rPr>
              <a:t> </a:t>
            </a:r>
            <a:r>
              <a:rPr lang="en-US" b="1" dirty="0" err="1">
                <a:solidFill>
                  <a:schemeClr val="tx1"/>
                </a:solidFill>
              </a:rPr>
              <a:t>đồng</a:t>
            </a:r>
            <a:r>
              <a:rPr lang="en-US" b="1" dirty="0">
                <a:solidFill>
                  <a:schemeClr val="tx1"/>
                </a:solidFill>
              </a:rPr>
              <a:t> </a:t>
            </a:r>
            <a:r>
              <a:rPr lang="en-US" b="1" dirty="0" err="1">
                <a:solidFill>
                  <a:schemeClr val="tx1"/>
                </a:solidFill>
              </a:rPr>
              <a:t>thời</a:t>
            </a:r>
            <a:r>
              <a:rPr lang="en-US" b="1" dirty="0">
                <a:solidFill>
                  <a:schemeClr val="tx1"/>
                </a:solidFill>
              </a:rPr>
              <a:t> </a:t>
            </a:r>
            <a:r>
              <a:rPr lang="en-US" b="1" dirty="0" err="1">
                <a:solidFill>
                  <a:schemeClr val="tx1"/>
                </a:solidFill>
              </a:rPr>
              <a:t>để</a:t>
            </a:r>
            <a:r>
              <a:rPr lang="en-US" b="1" dirty="0">
                <a:solidFill>
                  <a:schemeClr val="tx1"/>
                </a:solidFill>
              </a:rPr>
              <a:t> </a:t>
            </a:r>
            <a:r>
              <a:rPr lang="en-US" b="1" dirty="0" err="1">
                <a:solidFill>
                  <a:schemeClr val="tx1"/>
                </a:solidFill>
              </a:rPr>
              <a:t>tối</a:t>
            </a:r>
            <a:r>
              <a:rPr lang="en-US" b="1" dirty="0">
                <a:solidFill>
                  <a:schemeClr val="tx1"/>
                </a:solidFill>
              </a:rPr>
              <a:t> </a:t>
            </a:r>
            <a:r>
              <a:rPr lang="en-US" b="1" dirty="0" err="1">
                <a:solidFill>
                  <a:schemeClr val="tx1"/>
                </a:solidFill>
              </a:rPr>
              <a:t>ưu</a:t>
            </a:r>
            <a:r>
              <a:rPr lang="en-US" b="1" dirty="0">
                <a:solidFill>
                  <a:schemeClr val="tx1"/>
                </a:solidFill>
              </a:rPr>
              <a:t> </a:t>
            </a:r>
            <a:r>
              <a:rPr lang="en-US" b="1" dirty="0" err="1">
                <a:solidFill>
                  <a:schemeClr val="tx1"/>
                </a:solidFill>
              </a:rPr>
              <a:t>phần</a:t>
            </a:r>
            <a:r>
              <a:rPr lang="en-US" b="1" dirty="0">
                <a:solidFill>
                  <a:schemeClr val="tx1"/>
                </a:solidFill>
              </a:rPr>
              <a:t> </a:t>
            </a:r>
            <a:r>
              <a:rPr lang="en-US" b="1" dirty="0" err="1">
                <a:solidFill>
                  <a:schemeClr val="tx1"/>
                </a:solidFill>
              </a:rPr>
              <a:t>cứng</a:t>
            </a:r>
            <a:r>
              <a:rPr lang="en-US" b="1" dirty="0">
                <a:solidFill>
                  <a:schemeClr val="tx1"/>
                </a:solidFill>
              </a:rPr>
              <a:t> </a:t>
            </a:r>
            <a:r>
              <a:rPr lang="en-US" b="1" dirty="0" err="1">
                <a:solidFill>
                  <a:schemeClr val="tx1"/>
                </a:solidFill>
              </a:rPr>
              <a:t>tính</a:t>
            </a:r>
            <a:r>
              <a:rPr lang="en-US" b="1" dirty="0">
                <a:solidFill>
                  <a:schemeClr val="tx1"/>
                </a:solidFill>
              </a:rPr>
              <a:t> </a:t>
            </a:r>
            <a:r>
              <a:rPr lang="en-US" b="1" dirty="0" err="1">
                <a:solidFill>
                  <a:schemeClr val="tx1"/>
                </a:solidFill>
              </a:rPr>
              <a:t>toán</a:t>
            </a:r>
            <a:r>
              <a:rPr lang="en-US" b="1" dirty="0">
                <a:solidFill>
                  <a:schemeClr val="tx1"/>
                </a:solidFill>
              </a:rPr>
              <a:t> </a:t>
            </a:r>
            <a:r>
              <a:rPr lang="en-US" b="1" dirty="0" err="1">
                <a:solidFill>
                  <a:schemeClr val="tx1"/>
                </a:solidFill>
              </a:rPr>
              <a:t>và</a:t>
            </a:r>
            <a:r>
              <a:rPr lang="en-US" b="1" dirty="0">
                <a:solidFill>
                  <a:schemeClr val="tx1"/>
                </a:solidFill>
              </a:rPr>
              <a:t> </a:t>
            </a:r>
            <a:r>
              <a:rPr lang="en-US" b="1" dirty="0" err="1">
                <a:solidFill>
                  <a:schemeClr val="tx1"/>
                </a:solidFill>
              </a:rPr>
              <a:t>đảm</a:t>
            </a:r>
            <a:r>
              <a:rPr lang="en-US" b="1" dirty="0">
                <a:solidFill>
                  <a:schemeClr val="tx1"/>
                </a:solidFill>
              </a:rPr>
              <a:t> </a:t>
            </a:r>
            <a:r>
              <a:rPr lang="en-US" b="1" dirty="0" err="1">
                <a:solidFill>
                  <a:schemeClr val="tx1"/>
                </a:solidFill>
              </a:rPr>
              <a:t>bảo</a:t>
            </a:r>
            <a:r>
              <a:rPr lang="en-US" b="1" dirty="0">
                <a:solidFill>
                  <a:schemeClr val="tx1"/>
                </a:solidFill>
              </a:rPr>
              <a:t> </a:t>
            </a:r>
            <a:r>
              <a:rPr lang="en-US" b="1" dirty="0" err="1">
                <a:solidFill>
                  <a:schemeClr val="tx1"/>
                </a:solidFill>
              </a:rPr>
              <a:t>độ</a:t>
            </a:r>
            <a:r>
              <a:rPr lang="en-US" b="1" dirty="0">
                <a:solidFill>
                  <a:schemeClr val="tx1"/>
                </a:solidFill>
              </a:rPr>
              <a:t> </a:t>
            </a:r>
            <a:r>
              <a:rPr lang="en-US" b="1" dirty="0" err="1">
                <a:solidFill>
                  <a:schemeClr val="tx1"/>
                </a:solidFill>
              </a:rPr>
              <a:t>chính</a:t>
            </a:r>
            <a:r>
              <a:rPr lang="en-US" b="1" dirty="0">
                <a:solidFill>
                  <a:schemeClr val="tx1"/>
                </a:solidFill>
              </a:rPr>
              <a:t> </a:t>
            </a:r>
            <a:r>
              <a:rPr lang="en-US" b="1" dirty="0" err="1">
                <a:solidFill>
                  <a:schemeClr val="tx1"/>
                </a:solidFill>
              </a:rPr>
              <a:t>xác</a:t>
            </a:r>
            <a:r>
              <a:rPr lang="en-US" b="1" dirty="0">
                <a:solidFill>
                  <a:schemeClr val="tx1"/>
                </a:solidFill>
              </a:rPr>
              <a:t> </a:t>
            </a:r>
            <a:r>
              <a:rPr lang="en-US" b="1" dirty="0" err="1">
                <a:solidFill>
                  <a:schemeClr val="tx1"/>
                </a:solidFill>
              </a:rPr>
              <a:t>ổn</a:t>
            </a:r>
            <a:r>
              <a:rPr lang="en-US" b="1" dirty="0">
                <a:solidFill>
                  <a:schemeClr val="tx1"/>
                </a:solidFill>
              </a:rPr>
              <a:t> </a:t>
            </a:r>
            <a:r>
              <a:rPr lang="en-US" b="1" dirty="0" err="1">
                <a:solidFill>
                  <a:schemeClr val="tx1"/>
                </a:solidFill>
              </a:rPr>
              <a:t>định</a:t>
            </a:r>
            <a:r>
              <a:rPr lang="en-US" b="1" dirty="0">
                <a:solidFill>
                  <a:schemeClr val="tx1"/>
                </a:solidFill>
              </a:rPr>
              <a:t> </a:t>
            </a:r>
            <a:r>
              <a:rPr lang="en-US" b="1" dirty="0" err="1">
                <a:solidFill>
                  <a:schemeClr val="tx1"/>
                </a:solidFill>
              </a:rPr>
              <a:t>thực</a:t>
            </a:r>
            <a:r>
              <a:rPr lang="en-US" b="1" dirty="0">
                <a:solidFill>
                  <a:schemeClr val="tx1"/>
                </a:solidFill>
              </a:rPr>
              <a:t> </a:t>
            </a:r>
            <a:r>
              <a:rPr lang="en-US" b="1" dirty="0" err="1">
                <a:solidFill>
                  <a:schemeClr val="tx1"/>
                </a:solidFill>
              </a:rPr>
              <a:t>hiện</a:t>
            </a:r>
            <a:r>
              <a:rPr lang="en-US" b="1" dirty="0">
                <a:solidFill>
                  <a:schemeClr val="tx1"/>
                </a:solidFill>
              </a:rPr>
              <a:t> </a:t>
            </a:r>
            <a:r>
              <a:rPr lang="en-US" b="1" dirty="0" err="1">
                <a:solidFill>
                  <a:schemeClr val="tx1"/>
                </a:solidFill>
              </a:rPr>
              <a:t>phân</a:t>
            </a:r>
            <a:r>
              <a:rPr lang="en-US" b="1" dirty="0">
                <a:solidFill>
                  <a:schemeClr val="tx1"/>
                </a:solidFill>
              </a:rPr>
              <a:t> </a:t>
            </a:r>
            <a:r>
              <a:rPr lang="en-US" b="1" dirty="0" err="1">
                <a:solidFill>
                  <a:schemeClr val="tx1"/>
                </a:solidFill>
              </a:rPr>
              <a:t>loại</a:t>
            </a:r>
            <a:r>
              <a:rPr lang="en-US" b="1" dirty="0">
                <a:solidFill>
                  <a:schemeClr val="tx1"/>
                </a:solidFill>
              </a:rPr>
              <a:t> 4 </a:t>
            </a:r>
            <a:r>
              <a:rPr lang="en-US" b="1" dirty="0" err="1">
                <a:solidFill>
                  <a:schemeClr val="tx1"/>
                </a:solidFill>
              </a:rPr>
              <a:t>nhãn</a:t>
            </a:r>
            <a:r>
              <a:rPr lang="en-US" b="1" dirty="0">
                <a:solidFill>
                  <a:schemeClr val="tx1"/>
                </a:solidFill>
              </a:rPr>
              <a:t> </a:t>
            </a:r>
            <a:r>
              <a:rPr lang="en-US" b="1" dirty="0" err="1">
                <a:solidFill>
                  <a:schemeClr val="tx1"/>
                </a:solidFill>
              </a:rPr>
              <a:t>rối</a:t>
            </a:r>
            <a:r>
              <a:rPr lang="en-US" b="1" dirty="0">
                <a:solidFill>
                  <a:schemeClr val="tx1"/>
                </a:solidFill>
              </a:rPr>
              <a:t> </a:t>
            </a:r>
            <a:r>
              <a:rPr lang="en-US" b="1" dirty="0" err="1">
                <a:solidFill>
                  <a:schemeClr val="tx1"/>
                </a:solidFill>
              </a:rPr>
              <a:t>loạn</a:t>
            </a:r>
            <a:r>
              <a:rPr lang="en-US" b="1" dirty="0">
                <a:solidFill>
                  <a:schemeClr val="tx1"/>
                </a:solidFill>
              </a:rPr>
              <a:t> </a:t>
            </a:r>
            <a:r>
              <a:rPr lang="en-US" b="1" dirty="0" err="1">
                <a:solidFill>
                  <a:schemeClr val="tx1"/>
                </a:solidFill>
              </a:rPr>
              <a:t>nhịp</a:t>
            </a:r>
            <a:r>
              <a:rPr lang="en-US" b="1" dirty="0">
                <a:solidFill>
                  <a:schemeClr val="tx1"/>
                </a:solidFill>
              </a:rPr>
              <a:t> </a:t>
            </a:r>
            <a:r>
              <a:rPr lang="en-US" b="1" dirty="0" err="1">
                <a:solidFill>
                  <a:schemeClr val="tx1"/>
                </a:solidFill>
              </a:rPr>
              <a:t>tim</a:t>
            </a:r>
            <a:r>
              <a:rPr lang="en-US" b="1" dirty="0">
                <a:solidFill>
                  <a:schemeClr val="tx1"/>
                </a:solidFill>
              </a:rPr>
              <a:t> </a:t>
            </a:r>
            <a:r>
              <a:rPr lang="en-US" b="1" dirty="0" err="1">
                <a:solidFill>
                  <a:schemeClr val="tx1"/>
                </a:solidFill>
              </a:rPr>
              <a:t>từ</a:t>
            </a:r>
            <a:r>
              <a:rPr lang="en-US" b="1" dirty="0">
                <a:solidFill>
                  <a:schemeClr val="tx1"/>
                </a:solidFill>
              </a:rPr>
              <a:t> ECG </a:t>
            </a:r>
            <a:r>
              <a:rPr lang="en-US" b="1" dirty="0" err="1">
                <a:solidFill>
                  <a:schemeClr val="tx1"/>
                </a:solidFill>
              </a:rPr>
              <a:t>với</a:t>
            </a:r>
            <a:r>
              <a:rPr lang="en-US" b="1" dirty="0">
                <a:solidFill>
                  <a:schemeClr val="tx1"/>
                </a:solidFill>
              </a:rPr>
              <a:t> </a:t>
            </a:r>
            <a:r>
              <a:rPr lang="en-US" b="1" dirty="0" err="1">
                <a:solidFill>
                  <a:schemeClr val="tx1"/>
                </a:solidFill>
              </a:rPr>
              <a:t>độ</a:t>
            </a:r>
            <a:r>
              <a:rPr lang="en-US" b="1" dirty="0">
                <a:solidFill>
                  <a:schemeClr val="tx1"/>
                </a:solidFill>
              </a:rPr>
              <a:t> </a:t>
            </a:r>
            <a:r>
              <a:rPr lang="en-US" b="1" dirty="0" err="1">
                <a:solidFill>
                  <a:schemeClr val="tx1"/>
                </a:solidFill>
              </a:rPr>
              <a:t>chính</a:t>
            </a:r>
            <a:r>
              <a:rPr lang="en-US" b="1" dirty="0">
                <a:solidFill>
                  <a:schemeClr val="tx1"/>
                </a:solidFill>
              </a:rPr>
              <a:t> </a:t>
            </a:r>
            <a:r>
              <a:rPr lang="en-US" b="1" dirty="0" err="1">
                <a:solidFill>
                  <a:schemeClr val="tx1"/>
                </a:solidFill>
              </a:rPr>
              <a:t>xác</a:t>
            </a:r>
            <a:r>
              <a:rPr lang="en-US" b="1" dirty="0">
                <a:solidFill>
                  <a:schemeClr val="tx1"/>
                </a:solidFill>
              </a:rPr>
              <a:t> &gt; 90%</a:t>
            </a:r>
            <a:endParaRPr b="1" dirty="0">
              <a:solidFill>
                <a:schemeClr val="tx1"/>
              </a:solidFill>
            </a:endParaRPr>
          </a:p>
        </p:txBody>
      </p:sp>
      <p:sp>
        <p:nvSpPr>
          <p:cNvPr id="39" name="Rectangle 38">
            <a:extLst>
              <a:ext uri="{FF2B5EF4-FFF2-40B4-BE49-F238E27FC236}">
                <a16:creationId xmlns:a16="http://schemas.microsoft.com/office/drawing/2014/main" id="{D21917E5-9B12-33D1-103C-CA99452A5A9B}"/>
              </a:ext>
            </a:extLst>
          </p:cNvPr>
          <p:cNvSpPr/>
          <p:nvPr/>
        </p:nvSpPr>
        <p:spPr>
          <a:xfrm>
            <a:off x="719328" y="2008892"/>
            <a:ext cx="9939436" cy="664874"/>
          </a:xfrm>
          <a:prstGeom prst="rect">
            <a:avLst/>
          </a:prstGeom>
          <a:solidFill>
            <a:srgbClr val="F2F1ED"/>
          </a:solidFill>
          <a:ln w="9525">
            <a:solidFill>
              <a:srgbClr val="DC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n-US" b="1" dirty="0">
                <a:solidFill>
                  <a:srgbClr val="FF0000"/>
                </a:solidFill>
              </a:rPr>
              <a:t>2</a:t>
            </a:r>
            <a:r>
              <a:rPr lang="en-US" b="1" dirty="0">
                <a:solidFill>
                  <a:schemeClr val="tx1"/>
                </a:solidFill>
              </a:rPr>
              <a:t>. </a:t>
            </a:r>
            <a:r>
              <a:rPr lang="en-US" b="1" dirty="0" err="1">
                <a:solidFill>
                  <a:schemeClr val="tx1"/>
                </a:solidFill>
              </a:rPr>
              <a:t>Áp</a:t>
            </a:r>
            <a:r>
              <a:rPr lang="en-US" b="1" dirty="0">
                <a:solidFill>
                  <a:schemeClr val="tx1"/>
                </a:solidFill>
              </a:rPr>
              <a:t> </a:t>
            </a:r>
            <a:r>
              <a:rPr lang="en-US" b="1" dirty="0" err="1">
                <a:solidFill>
                  <a:schemeClr val="tx1"/>
                </a:solidFill>
              </a:rPr>
              <a:t>dụng</a:t>
            </a:r>
            <a:r>
              <a:rPr lang="en-US" b="1" dirty="0">
                <a:solidFill>
                  <a:schemeClr val="tx1"/>
                </a:solidFill>
              </a:rPr>
              <a:t> </a:t>
            </a:r>
            <a:r>
              <a:rPr lang="en-US" b="1" dirty="0" err="1">
                <a:solidFill>
                  <a:schemeClr val="tx1"/>
                </a:solidFill>
              </a:rPr>
              <a:t>phương</a:t>
            </a:r>
            <a:r>
              <a:rPr lang="en-US" b="1" dirty="0">
                <a:solidFill>
                  <a:schemeClr val="tx1"/>
                </a:solidFill>
              </a:rPr>
              <a:t> </a:t>
            </a:r>
            <a:r>
              <a:rPr lang="en-US" b="1" dirty="0" err="1">
                <a:solidFill>
                  <a:schemeClr val="tx1"/>
                </a:solidFill>
              </a:rPr>
              <a:t>pháp</a:t>
            </a:r>
            <a:r>
              <a:rPr lang="en-US" b="1" dirty="0">
                <a:solidFill>
                  <a:schemeClr val="tx1"/>
                </a:solidFill>
              </a:rPr>
              <a:t> </a:t>
            </a:r>
            <a:r>
              <a:rPr lang="en-US" b="1" dirty="0" err="1">
                <a:solidFill>
                  <a:schemeClr val="tx1"/>
                </a:solidFill>
              </a:rPr>
              <a:t>cắt</a:t>
            </a:r>
            <a:r>
              <a:rPr lang="en-US" b="1" dirty="0">
                <a:solidFill>
                  <a:schemeClr val="tx1"/>
                </a:solidFill>
              </a:rPr>
              <a:t> </a:t>
            </a:r>
            <a:r>
              <a:rPr lang="en-US" b="1" dirty="0" err="1">
                <a:solidFill>
                  <a:schemeClr val="tx1"/>
                </a:solidFill>
              </a:rPr>
              <a:t>tỉa</a:t>
            </a:r>
            <a:r>
              <a:rPr lang="en-US" b="1" dirty="0">
                <a:solidFill>
                  <a:schemeClr val="tx1"/>
                </a:solidFill>
              </a:rPr>
              <a:t> </a:t>
            </a:r>
            <a:r>
              <a:rPr lang="en-US" b="1" dirty="0" err="1">
                <a:solidFill>
                  <a:schemeClr val="tx1"/>
                </a:solidFill>
              </a:rPr>
              <a:t>cấu</a:t>
            </a:r>
            <a:r>
              <a:rPr lang="en-US" b="1" dirty="0">
                <a:solidFill>
                  <a:schemeClr val="tx1"/>
                </a:solidFill>
              </a:rPr>
              <a:t> </a:t>
            </a:r>
            <a:r>
              <a:rPr lang="en-US" b="1" dirty="0" err="1">
                <a:solidFill>
                  <a:schemeClr val="tx1"/>
                </a:solidFill>
              </a:rPr>
              <a:t>trúc</a:t>
            </a:r>
            <a:r>
              <a:rPr lang="en-US" b="1" dirty="0">
                <a:solidFill>
                  <a:schemeClr val="tx1"/>
                </a:solidFill>
              </a:rPr>
              <a:t>, </a:t>
            </a:r>
            <a:r>
              <a:rPr lang="en-US" b="1" dirty="0" err="1">
                <a:solidFill>
                  <a:schemeClr val="tx1"/>
                </a:solidFill>
              </a:rPr>
              <a:t>lượng</a:t>
            </a:r>
            <a:r>
              <a:rPr lang="en-US" b="1" dirty="0">
                <a:solidFill>
                  <a:schemeClr val="tx1"/>
                </a:solidFill>
              </a:rPr>
              <a:t> </a:t>
            </a:r>
            <a:r>
              <a:rPr lang="en-US" b="1" dirty="0" err="1">
                <a:solidFill>
                  <a:schemeClr val="tx1"/>
                </a:solidFill>
              </a:rPr>
              <a:t>tử</a:t>
            </a:r>
            <a:r>
              <a:rPr lang="en-US" b="1" dirty="0">
                <a:solidFill>
                  <a:schemeClr val="tx1"/>
                </a:solidFill>
              </a:rPr>
              <a:t> </a:t>
            </a:r>
            <a:r>
              <a:rPr lang="en-US" b="1" dirty="0" err="1">
                <a:solidFill>
                  <a:schemeClr val="tx1"/>
                </a:solidFill>
              </a:rPr>
              <a:t>hoá</a:t>
            </a:r>
            <a:r>
              <a:rPr lang="en-US" b="1" dirty="0">
                <a:solidFill>
                  <a:schemeClr val="tx1"/>
                </a:solidFill>
              </a:rPr>
              <a:t> </a:t>
            </a:r>
            <a:r>
              <a:rPr lang="en-US" b="1" dirty="0" err="1">
                <a:solidFill>
                  <a:schemeClr val="tx1"/>
                </a:solidFill>
              </a:rPr>
              <a:t>hiệu</a:t>
            </a:r>
            <a:r>
              <a:rPr lang="en-US" b="1" dirty="0">
                <a:solidFill>
                  <a:schemeClr val="tx1"/>
                </a:solidFill>
              </a:rPr>
              <a:t> </a:t>
            </a:r>
            <a:r>
              <a:rPr lang="en-US" b="1" dirty="0" err="1">
                <a:solidFill>
                  <a:schemeClr val="tx1"/>
                </a:solidFill>
              </a:rPr>
              <a:t>quả</a:t>
            </a:r>
            <a:r>
              <a:rPr lang="en-US" b="1" dirty="0">
                <a:solidFill>
                  <a:schemeClr val="tx1"/>
                </a:solidFill>
              </a:rPr>
              <a:t> </a:t>
            </a:r>
            <a:r>
              <a:rPr lang="en-US" b="1" dirty="0" err="1">
                <a:solidFill>
                  <a:schemeClr val="tx1"/>
                </a:solidFill>
              </a:rPr>
              <a:t>nhằm</a:t>
            </a:r>
            <a:r>
              <a:rPr lang="en-US" b="1" dirty="0">
                <a:solidFill>
                  <a:schemeClr val="tx1"/>
                </a:solidFill>
              </a:rPr>
              <a:t> </a:t>
            </a:r>
            <a:r>
              <a:rPr lang="en-US" b="1" dirty="0" err="1">
                <a:solidFill>
                  <a:schemeClr val="tx1"/>
                </a:solidFill>
              </a:rPr>
              <a:t>tối</a:t>
            </a:r>
            <a:r>
              <a:rPr lang="en-US" b="1" dirty="0">
                <a:solidFill>
                  <a:schemeClr val="tx1"/>
                </a:solidFill>
              </a:rPr>
              <a:t> </a:t>
            </a:r>
            <a:r>
              <a:rPr lang="en-US" b="1" dirty="0" err="1">
                <a:solidFill>
                  <a:schemeClr val="tx1"/>
                </a:solidFill>
              </a:rPr>
              <a:t>ưu</a:t>
            </a:r>
            <a:r>
              <a:rPr lang="en-US" b="1" dirty="0">
                <a:solidFill>
                  <a:schemeClr val="tx1"/>
                </a:solidFill>
              </a:rPr>
              <a:t> </a:t>
            </a:r>
            <a:r>
              <a:rPr lang="en-US" b="1" dirty="0" err="1">
                <a:solidFill>
                  <a:schemeClr val="tx1"/>
                </a:solidFill>
              </a:rPr>
              <a:t>độ</a:t>
            </a:r>
            <a:r>
              <a:rPr lang="en-US" b="1" dirty="0">
                <a:solidFill>
                  <a:schemeClr val="tx1"/>
                </a:solidFill>
              </a:rPr>
              <a:t> </a:t>
            </a:r>
            <a:r>
              <a:rPr lang="en-US" b="1" dirty="0" err="1">
                <a:solidFill>
                  <a:schemeClr val="tx1"/>
                </a:solidFill>
              </a:rPr>
              <a:t>chính</a:t>
            </a:r>
            <a:r>
              <a:rPr lang="en-US" b="1" dirty="0">
                <a:solidFill>
                  <a:schemeClr val="tx1"/>
                </a:solidFill>
              </a:rPr>
              <a:t> </a:t>
            </a:r>
            <a:r>
              <a:rPr lang="en-US" b="1" dirty="0" err="1">
                <a:solidFill>
                  <a:schemeClr val="tx1"/>
                </a:solidFill>
              </a:rPr>
              <a:t>xác</a:t>
            </a:r>
            <a:r>
              <a:rPr lang="en-US" b="1" dirty="0">
                <a:solidFill>
                  <a:schemeClr val="tx1"/>
                </a:solidFill>
              </a:rPr>
              <a:t> </a:t>
            </a:r>
            <a:r>
              <a:rPr lang="en-US" b="1" dirty="0" err="1">
                <a:solidFill>
                  <a:schemeClr val="tx1"/>
                </a:solidFill>
              </a:rPr>
              <a:t>của</a:t>
            </a:r>
            <a:r>
              <a:rPr lang="en-US" b="1" dirty="0">
                <a:solidFill>
                  <a:schemeClr val="tx1"/>
                </a:solidFill>
              </a:rPr>
              <a:t> </a:t>
            </a:r>
            <a:r>
              <a:rPr lang="en-US" b="1" dirty="0" err="1">
                <a:solidFill>
                  <a:schemeClr val="tx1"/>
                </a:solidFill>
              </a:rPr>
              <a:t>mô</a:t>
            </a:r>
            <a:r>
              <a:rPr lang="en-US" b="1" dirty="0">
                <a:solidFill>
                  <a:schemeClr val="tx1"/>
                </a:solidFill>
              </a:rPr>
              <a:t> </a:t>
            </a:r>
            <a:r>
              <a:rPr lang="en-US" b="1" dirty="0" err="1">
                <a:solidFill>
                  <a:schemeClr val="tx1"/>
                </a:solidFill>
              </a:rPr>
              <a:t>hình</a:t>
            </a:r>
            <a:r>
              <a:rPr lang="en-US" b="1" dirty="0">
                <a:solidFill>
                  <a:schemeClr val="tx1"/>
                </a:solidFill>
              </a:rPr>
              <a:t>, </a:t>
            </a:r>
            <a:r>
              <a:rPr lang="en-US" b="1" dirty="0" err="1">
                <a:solidFill>
                  <a:schemeClr val="tx1"/>
                </a:solidFill>
              </a:rPr>
              <a:t>giảm</a:t>
            </a:r>
            <a:r>
              <a:rPr lang="en-US" b="1" dirty="0">
                <a:solidFill>
                  <a:schemeClr val="tx1"/>
                </a:solidFill>
              </a:rPr>
              <a:t> </a:t>
            </a:r>
            <a:r>
              <a:rPr lang="en-US" b="1" dirty="0" err="1">
                <a:solidFill>
                  <a:schemeClr val="tx1"/>
                </a:solidFill>
              </a:rPr>
              <a:t>sai</a:t>
            </a:r>
            <a:r>
              <a:rPr lang="en-US" b="1" dirty="0">
                <a:solidFill>
                  <a:schemeClr val="tx1"/>
                </a:solidFill>
              </a:rPr>
              <a:t> </a:t>
            </a:r>
            <a:r>
              <a:rPr lang="en-US" b="1" dirty="0" err="1">
                <a:solidFill>
                  <a:schemeClr val="tx1"/>
                </a:solidFill>
              </a:rPr>
              <a:t>lệch</a:t>
            </a:r>
            <a:r>
              <a:rPr lang="en-US" b="1" dirty="0">
                <a:solidFill>
                  <a:schemeClr val="tx1"/>
                </a:solidFill>
              </a:rPr>
              <a:t> </a:t>
            </a:r>
            <a:r>
              <a:rPr lang="en-US" b="1" dirty="0" err="1">
                <a:solidFill>
                  <a:schemeClr val="tx1"/>
                </a:solidFill>
              </a:rPr>
              <a:t>độ</a:t>
            </a:r>
            <a:r>
              <a:rPr lang="en-US" b="1" dirty="0">
                <a:solidFill>
                  <a:schemeClr val="tx1"/>
                </a:solidFill>
              </a:rPr>
              <a:t> </a:t>
            </a:r>
            <a:r>
              <a:rPr lang="en-US" b="1" dirty="0" err="1">
                <a:solidFill>
                  <a:schemeClr val="tx1"/>
                </a:solidFill>
              </a:rPr>
              <a:t>chính</a:t>
            </a:r>
            <a:r>
              <a:rPr lang="en-US" b="1" dirty="0">
                <a:solidFill>
                  <a:schemeClr val="tx1"/>
                </a:solidFill>
              </a:rPr>
              <a:t> </a:t>
            </a:r>
            <a:r>
              <a:rPr lang="en-US" b="1" dirty="0" err="1">
                <a:solidFill>
                  <a:schemeClr val="tx1"/>
                </a:solidFill>
              </a:rPr>
              <a:t>xác</a:t>
            </a:r>
            <a:r>
              <a:rPr lang="en-US" b="1" dirty="0">
                <a:solidFill>
                  <a:schemeClr val="tx1"/>
                </a:solidFill>
              </a:rPr>
              <a:t> &lt;2% </a:t>
            </a:r>
            <a:endParaRPr b="1" dirty="0">
              <a:solidFill>
                <a:schemeClr val="tx1"/>
              </a:solidFill>
            </a:endParaRPr>
          </a:p>
        </p:txBody>
      </p:sp>
      <p:sp>
        <p:nvSpPr>
          <p:cNvPr id="42" name="Rectangle 41">
            <a:extLst>
              <a:ext uri="{FF2B5EF4-FFF2-40B4-BE49-F238E27FC236}">
                <a16:creationId xmlns:a16="http://schemas.microsoft.com/office/drawing/2014/main" id="{DB549464-094A-3FA4-D0B4-9E69FDDB4E50}"/>
              </a:ext>
            </a:extLst>
          </p:cNvPr>
          <p:cNvSpPr/>
          <p:nvPr/>
        </p:nvSpPr>
        <p:spPr>
          <a:xfrm>
            <a:off x="719328" y="2838358"/>
            <a:ext cx="9939436" cy="874483"/>
          </a:xfrm>
          <a:prstGeom prst="rect">
            <a:avLst/>
          </a:prstGeom>
          <a:solidFill>
            <a:srgbClr val="F2F1ED"/>
          </a:solidFill>
          <a:ln w="9525">
            <a:solidFill>
              <a:srgbClr val="DC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n-US" b="1" dirty="0">
                <a:solidFill>
                  <a:srgbClr val="FF0000"/>
                </a:solidFill>
              </a:rPr>
              <a:t>3</a:t>
            </a:r>
            <a:r>
              <a:rPr lang="en-US" b="1" dirty="0">
                <a:solidFill>
                  <a:schemeClr val="tx1"/>
                </a:solidFill>
              </a:rPr>
              <a:t>. </a:t>
            </a:r>
            <a:r>
              <a:rPr lang="en-US" b="1" dirty="0" err="1">
                <a:solidFill>
                  <a:schemeClr val="tx1"/>
                </a:solidFill>
              </a:rPr>
              <a:t>Kiểm</a:t>
            </a:r>
            <a:r>
              <a:rPr lang="en-US" b="1" dirty="0">
                <a:solidFill>
                  <a:schemeClr val="tx1"/>
                </a:solidFill>
              </a:rPr>
              <a:t> </a:t>
            </a:r>
            <a:r>
              <a:rPr lang="en-US" b="1" dirty="0" err="1">
                <a:solidFill>
                  <a:schemeClr val="tx1"/>
                </a:solidFill>
              </a:rPr>
              <a:t>chứng</a:t>
            </a:r>
            <a:r>
              <a:rPr lang="en-US" b="1" dirty="0">
                <a:solidFill>
                  <a:schemeClr val="tx1"/>
                </a:solidFill>
              </a:rPr>
              <a:t> </a:t>
            </a:r>
            <a:r>
              <a:rPr lang="en-US" b="1" dirty="0" err="1">
                <a:solidFill>
                  <a:schemeClr val="tx1"/>
                </a:solidFill>
              </a:rPr>
              <a:t>chính</a:t>
            </a:r>
            <a:r>
              <a:rPr lang="en-US" b="1" dirty="0">
                <a:solidFill>
                  <a:schemeClr val="tx1"/>
                </a:solidFill>
              </a:rPr>
              <a:t> </a:t>
            </a:r>
            <a:r>
              <a:rPr lang="en-US" b="1" dirty="0" err="1">
                <a:solidFill>
                  <a:schemeClr val="tx1"/>
                </a:solidFill>
              </a:rPr>
              <a:t>xác</a:t>
            </a:r>
            <a:r>
              <a:rPr lang="en-US" b="1" dirty="0">
                <a:solidFill>
                  <a:schemeClr val="tx1"/>
                </a:solidFill>
              </a:rPr>
              <a:t> bit </a:t>
            </a:r>
            <a:r>
              <a:rPr lang="en-US" b="1" dirty="0" err="1">
                <a:solidFill>
                  <a:schemeClr val="tx1"/>
                </a:solidFill>
              </a:rPr>
              <a:t>bằng</a:t>
            </a:r>
            <a:r>
              <a:rPr lang="en-US" b="1" dirty="0">
                <a:solidFill>
                  <a:schemeClr val="tx1"/>
                </a:solidFill>
              </a:rPr>
              <a:t> </a:t>
            </a:r>
            <a:r>
              <a:rPr lang="en-US" b="1" dirty="0" err="1">
                <a:solidFill>
                  <a:schemeClr val="tx1"/>
                </a:solidFill>
              </a:rPr>
              <a:t>cách</a:t>
            </a:r>
            <a:r>
              <a:rPr lang="en-US" b="1" dirty="0">
                <a:solidFill>
                  <a:schemeClr val="tx1"/>
                </a:solidFill>
              </a:rPr>
              <a:t> </a:t>
            </a:r>
            <a:r>
              <a:rPr lang="en-US" b="1" dirty="0" err="1">
                <a:solidFill>
                  <a:schemeClr val="tx1"/>
                </a:solidFill>
              </a:rPr>
              <a:t>đối</a:t>
            </a:r>
            <a:r>
              <a:rPr lang="en-US" b="1" dirty="0">
                <a:solidFill>
                  <a:schemeClr val="tx1"/>
                </a:solidFill>
              </a:rPr>
              <a:t> </a:t>
            </a:r>
            <a:r>
              <a:rPr lang="en-US" b="1" dirty="0" err="1">
                <a:solidFill>
                  <a:schemeClr val="tx1"/>
                </a:solidFill>
              </a:rPr>
              <a:t>chiếu</a:t>
            </a:r>
            <a:r>
              <a:rPr lang="en-US" b="1" dirty="0">
                <a:solidFill>
                  <a:schemeClr val="tx1"/>
                </a:solidFill>
              </a:rPr>
              <a:t> </a:t>
            </a:r>
            <a:r>
              <a:rPr lang="en-US" b="1" dirty="0" err="1">
                <a:solidFill>
                  <a:schemeClr val="tx1"/>
                </a:solidFill>
              </a:rPr>
              <a:t>mọi</a:t>
            </a:r>
            <a:r>
              <a:rPr lang="en-US" b="1" dirty="0">
                <a:solidFill>
                  <a:schemeClr val="tx1"/>
                </a:solidFill>
              </a:rPr>
              <a:t> </a:t>
            </a:r>
            <a:r>
              <a:rPr lang="en-US" b="1" dirty="0" err="1">
                <a:solidFill>
                  <a:schemeClr val="tx1"/>
                </a:solidFill>
              </a:rPr>
              <a:t>giá</a:t>
            </a:r>
            <a:r>
              <a:rPr lang="en-US" b="1" dirty="0">
                <a:solidFill>
                  <a:schemeClr val="tx1"/>
                </a:solidFill>
              </a:rPr>
              <a:t> </a:t>
            </a:r>
            <a:r>
              <a:rPr lang="en-US" b="1" dirty="0" err="1">
                <a:solidFill>
                  <a:schemeClr val="tx1"/>
                </a:solidFill>
              </a:rPr>
              <a:t>trị</a:t>
            </a:r>
            <a:r>
              <a:rPr lang="en-US" b="1" dirty="0">
                <a:solidFill>
                  <a:schemeClr val="tx1"/>
                </a:solidFill>
              </a:rPr>
              <a:t> </a:t>
            </a:r>
            <a:r>
              <a:rPr lang="en-US" b="1" dirty="0" err="1">
                <a:solidFill>
                  <a:schemeClr val="tx1"/>
                </a:solidFill>
              </a:rPr>
              <a:t>trung</a:t>
            </a:r>
            <a:r>
              <a:rPr lang="en-US" b="1" dirty="0">
                <a:solidFill>
                  <a:schemeClr val="tx1"/>
                </a:solidFill>
              </a:rPr>
              <a:t> </a:t>
            </a:r>
            <a:r>
              <a:rPr lang="en-US" b="1" dirty="0" err="1">
                <a:solidFill>
                  <a:schemeClr val="tx1"/>
                </a:solidFill>
              </a:rPr>
              <a:t>gian</a:t>
            </a:r>
            <a:r>
              <a:rPr lang="en-US" b="1" dirty="0">
                <a:solidFill>
                  <a:schemeClr val="tx1"/>
                </a:solidFill>
              </a:rPr>
              <a:t> </a:t>
            </a:r>
            <a:r>
              <a:rPr lang="en-US" b="1" dirty="0" err="1">
                <a:solidFill>
                  <a:schemeClr val="tx1"/>
                </a:solidFill>
              </a:rPr>
              <a:t>tại</a:t>
            </a:r>
            <a:r>
              <a:rPr lang="en-US" b="1" dirty="0">
                <a:solidFill>
                  <a:schemeClr val="tx1"/>
                </a:solidFill>
              </a:rPr>
              <a:t> </a:t>
            </a:r>
            <a:r>
              <a:rPr lang="en-US" b="1" dirty="0" err="1">
                <a:solidFill>
                  <a:schemeClr val="tx1"/>
                </a:solidFill>
              </a:rPr>
              <a:t>mọi</a:t>
            </a:r>
            <a:r>
              <a:rPr lang="en-US" b="1" dirty="0">
                <a:solidFill>
                  <a:schemeClr val="tx1"/>
                </a:solidFill>
              </a:rPr>
              <a:t> </a:t>
            </a:r>
            <a:r>
              <a:rPr lang="en-US" b="1" dirty="0" err="1">
                <a:solidFill>
                  <a:schemeClr val="tx1"/>
                </a:solidFill>
              </a:rPr>
              <a:t>ranh</a:t>
            </a:r>
            <a:r>
              <a:rPr lang="en-US" b="1" dirty="0">
                <a:solidFill>
                  <a:schemeClr val="tx1"/>
                </a:solidFill>
              </a:rPr>
              <a:t> </a:t>
            </a:r>
            <a:r>
              <a:rPr lang="en-US" b="1" dirty="0" err="1">
                <a:solidFill>
                  <a:schemeClr val="tx1"/>
                </a:solidFill>
              </a:rPr>
              <a:t>giới</a:t>
            </a:r>
            <a:r>
              <a:rPr lang="en-US" b="1" dirty="0">
                <a:solidFill>
                  <a:schemeClr val="tx1"/>
                </a:solidFill>
              </a:rPr>
              <a:t> </a:t>
            </a:r>
            <a:r>
              <a:rPr lang="en-US" b="1" dirty="0" err="1">
                <a:solidFill>
                  <a:schemeClr val="tx1"/>
                </a:solidFill>
              </a:rPr>
              <a:t>các</a:t>
            </a:r>
            <a:r>
              <a:rPr lang="en-US" b="1" dirty="0">
                <a:solidFill>
                  <a:schemeClr val="tx1"/>
                </a:solidFill>
              </a:rPr>
              <a:t> </a:t>
            </a:r>
            <a:r>
              <a:rPr lang="en-US" b="1" dirty="0" err="1">
                <a:solidFill>
                  <a:schemeClr val="tx1"/>
                </a:solidFill>
              </a:rPr>
              <a:t>tầng</a:t>
            </a:r>
            <a:r>
              <a:rPr lang="en-US" b="1" dirty="0">
                <a:solidFill>
                  <a:schemeClr val="tx1"/>
                </a:solidFill>
              </a:rPr>
              <a:t> </a:t>
            </a:r>
            <a:r>
              <a:rPr lang="en-US" b="1" dirty="0" err="1">
                <a:solidFill>
                  <a:schemeClr val="tx1"/>
                </a:solidFill>
              </a:rPr>
              <a:t>của</a:t>
            </a:r>
            <a:r>
              <a:rPr lang="en-US" b="1" dirty="0">
                <a:solidFill>
                  <a:schemeClr val="tx1"/>
                </a:solidFill>
              </a:rPr>
              <a:t> </a:t>
            </a:r>
            <a:r>
              <a:rPr lang="en-US" b="1" dirty="0" err="1">
                <a:solidFill>
                  <a:schemeClr val="tx1"/>
                </a:solidFill>
              </a:rPr>
              <a:t>mô</a:t>
            </a:r>
            <a:r>
              <a:rPr lang="en-US" b="1" dirty="0">
                <a:solidFill>
                  <a:schemeClr val="tx1"/>
                </a:solidFill>
              </a:rPr>
              <a:t> </a:t>
            </a:r>
            <a:r>
              <a:rPr lang="en-US" b="1" dirty="0" err="1">
                <a:solidFill>
                  <a:schemeClr val="tx1"/>
                </a:solidFill>
              </a:rPr>
              <a:t>hình</a:t>
            </a:r>
            <a:r>
              <a:rPr lang="en-US" b="1" dirty="0">
                <a:solidFill>
                  <a:schemeClr val="tx1"/>
                </a:solidFill>
              </a:rPr>
              <a:t>, </a:t>
            </a:r>
            <a:r>
              <a:rPr lang="en-US" b="1" dirty="0" err="1">
                <a:solidFill>
                  <a:schemeClr val="tx1"/>
                </a:solidFill>
              </a:rPr>
              <a:t>đảm</a:t>
            </a:r>
            <a:r>
              <a:rPr lang="en-US" b="1" dirty="0">
                <a:solidFill>
                  <a:schemeClr val="tx1"/>
                </a:solidFill>
              </a:rPr>
              <a:t> </a:t>
            </a:r>
            <a:r>
              <a:rPr lang="en-US" b="1" dirty="0" err="1">
                <a:solidFill>
                  <a:schemeClr val="tx1"/>
                </a:solidFill>
              </a:rPr>
              <a:t>bảo</a:t>
            </a:r>
            <a:r>
              <a:rPr lang="en-US" b="1" dirty="0">
                <a:solidFill>
                  <a:schemeClr val="tx1"/>
                </a:solidFill>
              </a:rPr>
              <a:t> </a:t>
            </a:r>
            <a:r>
              <a:rPr lang="en-US" b="1" dirty="0" err="1">
                <a:solidFill>
                  <a:schemeClr val="tx1"/>
                </a:solidFill>
              </a:rPr>
              <a:t>phần</a:t>
            </a:r>
            <a:r>
              <a:rPr lang="en-US" b="1" dirty="0">
                <a:solidFill>
                  <a:schemeClr val="tx1"/>
                </a:solidFill>
              </a:rPr>
              <a:t> </a:t>
            </a:r>
            <a:r>
              <a:rPr lang="en-US" b="1" dirty="0" err="1">
                <a:solidFill>
                  <a:schemeClr val="tx1"/>
                </a:solidFill>
              </a:rPr>
              <a:t>cứng</a:t>
            </a:r>
            <a:r>
              <a:rPr lang="en-US" b="1" dirty="0">
                <a:solidFill>
                  <a:schemeClr val="tx1"/>
                </a:solidFill>
              </a:rPr>
              <a:t> </a:t>
            </a:r>
            <a:r>
              <a:rPr lang="en-US" b="1" dirty="0" err="1">
                <a:solidFill>
                  <a:schemeClr val="tx1"/>
                </a:solidFill>
              </a:rPr>
              <a:t>đáp</a:t>
            </a:r>
            <a:r>
              <a:rPr lang="en-US" b="1" dirty="0">
                <a:solidFill>
                  <a:schemeClr val="tx1"/>
                </a:solidFill>
              </a:rPr>
              <a:t> </a:t>
            </a:r>
            <a:r>
              <a:rPr lang="en-US" b="1" dirty="0" err="1">
                <a:solidFill>
                  <a:schemeClr val="tx1"/>
                </a:solidFill>
              </a:rPr>
              <a:t>ứng</a:t>
            </a:r>
            <a:r>
              <a:rPr lang="en-US" b="1" dirty="0">
                <a:solidFill>
                  <a:schemeClr val="tx1"/>
                </a:solidFill>
              </a:rPr>
              <a:t> </a:t>
            </a:r>
            <a:r>
              <a:rPr lang="en-US" b="1" dirty="0" err="1">
                <a:solidFill>
                  <a:schemeClr val="tx1"/>
                </a:solidFill>
              </a:rPr>
              <a:t>đúng</a:t>
            </a:r>
            <a:r>
              <a:rPr lang="en-US" b="1" dirty="0">
                <a:solidFill>
                  <a:schemeClr val="tx1"/>
                </a:solidFill>
              </a:rPr>
              <a:t> </a:t>
            </a:r>
            <a:r>
              <a:rPr lang="en-US" b="1" dirty="0" err="1">
                <a:solidFill>
                  <a:schemeClr val="tx1"/>
                </a:solidFill>
              </a:rPr>
              <a:t>với</a:t>
            </a:r>
            <a:r>
              <a:rPr lang="en-US" b="1" dirty="0">
                <a:solidFill>
                  <a:schemeClr val="tx1"/>
                </a:solidFill>
              </a:rPr>
              <a:t> </a:t>
            </a:r>
            <a:r>
              <a:rPr lang="en-US" b="1" dirty="0" err="1">
                <a:solidFill>
                  <a:schemeClr val="tx1"/>
                </a:solidFill>
              </a:rPr>
              <a:t>sai</a:t>
            </a:r>
            <a:r>
              <a:rPr lang="en-US" b="1" dirty="0">
                <a:solidFill>
                  <a:schemeClr val="tx1"/>
                </a:solidFill>
              </a:rPr>
              <a:t> </a:t>
            </a:r>
            <a:r>
              <a:rPr lang="en-US" b="1" dirty="0" err="1">
                <a:solidFill>
                  <a:schemeClr val="tx1"/>
                </a:solidFill>
              </a:rPr>
              <a:t>lệch</a:t>
            </a:r>
            <a:r>
              <a:rPr lang="en-US" b="1" dirty="0">
                <a:solidFill>
                  <a:schemeClr val="tx1"/>
                </a:solidFill>
              </a:rPr>
              <a:t> </a:t>
            </a:r>
            <a:r>
              <a:rPr lang="en-US" b="1" dirty="0" err="1">
                <a:solidFill>
                  <a:schemeClr val="tx1"/>
                </a:solidFill>
              </a:rPr>
              <a:t>xấp</a:t>
            </a:r>
            <a:r>
              <a:rPr lang="en-US" b="1" dirty="0">
                <a:solidFill>
                  <a:schemeClr val="tx1"/>
                </a:solidFill>
              </a:rPr>
              <a:t> </a:t>
            </a:r>
            <a:r>
              <a:rPr lang="en-US" b="1" dirty="0" err="1">
                <a:solidFill>
                  <a:schemeClr val="tx1"/>
                </a:solidFill>
              </a:rPr>
              <a:t>xỉ</a:t>
            </a:r>
            <a:r>
              <a:rPr lang="en-US" b="1" dirty="0">
                <a:solidFill>
                  <a:schemeClr val="tx1"/>
                </a:solidFill>
              </a:rPr>
              <a:t> 0</a:t>
            </a:r>
            <a:endParaRPr b="1" dirty="0">
              <a:solidFill>
                <a:schemeClr val="tx1"/>
              </a:solidFill>
            </a:endParaRPr>
          </a:p>
        </p:txBody>
      </p:sp>
      <p:sp>
        <p:nvSpPr>
          <p:cNvPr id="45" name="Rectangle 44">
            <a:extLst>
              <a:ext uri="{FF2B5EF4-FFF2-40B4-BE49-F238E27FC236}">
                <a16:creationId xmlns:a16="http://schemas.microsoft.com/office/drawing/2014/main" id="{6ADD21AA-3C46-6249-260C-FE7AC5B15DAF}"/>
              </a:ext>
            </a:extLst>
          </p:cNvPr>
          <p:cNvSpPr/>
          <p:nvPr/>
        </p:nvSpPr>
        <p:spPr>
          <a:xfrm>
            <a:off x="719328" y="5026762"/>
            <a:ext cx="9939436" cy="874483"/>
          </a:xfrm>
          <a:prstGeom prst="rect">
            <a:avLst/>
          </a:prstGeom>
          <a:solidFill>
            <a:srgbClr val="F2F1ED"/>
          </a:solidFill>
          <a:ln w="9525">
            <a:solidFill>
              <a:srgbClr val="DC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n-US" b="1" dirty="0">
                <a:solidFill>
                  <a:srgbClr val="FF0000"/>
                </a:solidFill>
              </a:rPr>
              <a:t>5</a:t>
            </a:r>
            <a:r>
              <a:rPr lang="en-US" b="1" dirty="0">
                <a:solidFill>
                  <a:schemeClr val="tx1"/>
                </a:solidFill>
              </a:rPr>
              <a:t>. </a:t>
            </a:r>
            <a:r>
              <a:rPr lang="en-US" b="1" dirty="0" err="1">
                <a:solidFill>
                  <a:schemeClr val="tx1"/>
                </a:solidFill>
              </a:rPr>
              <a:t>Thực</a:t>
            </a:r>
            <a:r>
              <a:rPr lang="en-US" b="1" dirty="0">
                <a:solidFill>
                  <a:schemeClr val="tx1"/>
                </a:solidFill>
              </a:rPr>
              <a:t> </a:t>
            </a:r>
            <a:r>
              <a:rPr lang="en-US" b="1" dirty="0" err="1">
                <a:solidFill>
                  <a:schemeClr val="tx1"/>
                </a:solidFill>
              </a:rPr>
              <a:t>hiện</a:t>
            </a:r>
            <a:r>
              <a:rPr lang="en-US" b="1" dirty="0">
                <a:solidFill>
                  <a:schemeClr val="tx1"/>
                </a:solidFill>
              </a:rPr>
              <a:t> </a:t>
            </a:r>
            <a:r>
              <a:rPr lang="en-US" b="1" dirty="0" err="1">
                <a:solidFill>
                  <a:schemeClr val="tx1"/>
                </a:solidFill>
              </a:rPr>
              <a:t>triển</a:t>
            </a:r>
            <a:r>
              <a:rPr lang="en-US" b="1" dirty="0">
                <a:solidFill>
                  <a:schemeClr val="tx1"/>
                </a:solidFill>
              </a:rPr>
              <a:t> </a:t>
            </a:r>
            <a:r>
              <a:rPr lang="en-US" b="1" dirty="0" err="1">
                <a:solidFill>
                  <a:schemeClr val="tx1"/>
                </a:solidFill>
              </a:rPr>
              <a:t>khai</a:t>
            </a:r>
            <a:r>
              <a:rPr lang="en-US" b="1" dirty="0">
                <a:solidFill>
                  <a:schemeClr val="tx1"/>
                </a:solidFill>
              </a:rPr>
              <a:t> </a:t>
            </a:r>
            <a:r>
              <a:rPr lang="en-US" b="1" dirty="0" err="1">
                <a:solidFill>
                  <a:schemeClr val="tx1"/>
                </a:solidFill>
              </a:rPr>
              <a:t>phần</a:t>
            </a:r>
            <a:r>
              <a:rPr lang="en-US" b="1" dirty="0">
                <a:solidFill>
                  <a:schemeClr val="tx1"/>
                </a:solidFill>
              </a:rPr>
              <a:t> </a:t>
            </a:r>
            <a:r>
              <a:rPr lang="en-US" b="1" dirty="0" err="1">
                <a:solidFill>
                  <a:schemeClr val="tx1"/>
                </a:solidFill>
              </a:rPr>
              <a:t>cứng</a:t>
            </a:r>
            <a:r>
              <a:rPr lang="en-US" b="1" dirty="0">
                <a:solidFill>
                  <a:schemeClr val="tx1"/>
                </a:solidFill>
              </a:rPr>
              <a:t> </a:t>
            </a:r>
            <a:r>
              <a:rPr lang="en-US" b="1" dirty="0" err="1">
                <a:solidFill>
                  <a:schemeClr val="tx1"/>
                </a:solidFill>
              </a:rPr>
              <a:t>tiết</a:t>
            </a:r>
            <a:r>
              <a:rPr lang="en-US" b="1" dirty="0">
                <a:solidFill>
                  <a:schemeClr val="tx1"/>
                </a:solidFill>
              </a:rPr>
              <a:t> </a:t>
            </a:r>
            <a:r>
              <a:rPr lang="en-US" b="1" dirty="0" err="1">
                <a:solidFill>
                  <a:schemeClr val="tx1"/>
                </a:solidFill>
              </a:rPr>
              <a:t>kiệm</a:t>
            </a:r>
            <a:r>
              <a:rPr lang="en-US" b="1" dirty="0">
                <a:solidFill>
                  <a:schemeClr val="tx1"/>
                </a:solidFill>
              </a:rPr>
              <a:t> </a:t>
            </a:r>
            <a:r>
              <a:rPr lang="en-US" b="1" dirty="0" err="1">
                <a:solidFill>
                  <a:schemeClr val="tx1"/>
                </a:solidFill>
              </a:rPr>
              <a:t>tài</a:t>
            </a:r>
            <a:r>
              <a:rPr lang="en-US" b="1" dirty="0">
                <a:solidFill>
                  <a:schemeClr val="tx1"/>
                </a:solidFill>
              </a:rPr>
              <a:t> </a:t>
            </a:r>
            <a:r>
              <a:rPr lang="en-US" b="1" dirty="0" err="1">
                <a:solidFill>
                  <a:schemeClr val="tx1"/>
                </a:solidFill>
              </a:rPr>
              <a:t>nguyên</a:t>
            </a:r>
            <a:r>
              <a:rPr lang="en-US" b="1" dirty="0">
                <a:solidFill>
                  <a:schemeClr val="tx1"/>
                </a:solidFill>
              </a:rPr>
              <a:t> </a:t>
            </a:r>
            <a:r>
              <a:rPr lang="en-US" b="1" dirty="0" err="1">
                <a:solidFill>
                  <a:schemeClr val="tx1"/>
                </a:solidFill>
              </a:rPr>
              <a:t>trên</a:t>
            </a:r>
            <a:r>
              <a:rPr lang="en-US" b="1" dirty="0">
                <a:solidFill>
                  <a:schemeClr val="tx1"/>
                </a:solidFill>
              </a:rPr>
              <a:t> FPGA</a:t>
            </a:r>
            <a:endParaRPr b="1" dirty="0">
              <a:solidFill>
                <a:schemeClr val="tx1"/>
              </a:solidFill>
            </a:endParaRPr>
          </a:p>
        </p:txBody>
      </p:sp>
      <p:sp>
        <p:nvSpPr>
          <p:cNvPr id="7" name="Rectangle 6">
            <a:extLst>
              <a:ext uri="{FF2B5EF4-FFF2-40B4-BE49-F238E27FC236}">
                <a16:creationId xmlns:a16="http://schemas.microsoft.com/office/drawing/2014/main" id="{132F9F47-F9DD-FD6C-5BEB-3F93EA0301F4}"/>
              </a:ext>
            </a:extLst>
          </p:cNvPr>
          <p:cNvSpPr/>
          <p:nvPr/>
        </p:nvSpPr>
        <p:spPr>
          <a:xfrm>
            <a:off x="719328" y="3932560"/>
            <a:ext cx="9939436" cy="874483"/>
          </a:xfrm>
          <a:prstGeom prst="rect">
            <a:avLst/>
          </a:prstGeom>
          <a:solidFill>
            <a:srgbClr val="F2F1ED"/>
          </a:solidFill>
          <a:ln w="9525">
            <a:solidFill>
              <a:srgbClr val="DC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n-US" b="1" dirty="0">
                <a:solidFill>
                  <a:srgbClr val="FF0000"/>
                </a:solidFill>
              </a:rPr>
              <a:t>4</a:t>
            </a:r>
            <a:r>
              <a:rPr lang="en-US" b="1" dirty="0">
                <a:solidFill>
                  <a:schemeClr val="tx1"/>
                </a:solidFill>
              </a:rPr>
              <a:t>. </a:t>
            </a:r>
            <a:r>
              <a:rPr lang="en-US" b="1" dirty="0" err="1">
                <a:solidFill>
                  <a:schemeClr val="tx1"/>
                </a:solidFill>
              </a:rPr>
              <a:t>Xác</a:t>
            </a:r>
            <a:r>
              <a:rPr lang="en-US" b="1" dirty="0">
                <a:solidFill>
                  <a:schemeClr val="tx1"/>
                </a:solidFill>
              </a:rPr>
              <a:t> </a:t>
            </a:r>
            <a:r>
              <a:rPr lang="en-US" b="1" dirty="0" err="1">
                <a:solidFill>
                  <a:schemeClr val="tx1"/>
                </a:solidFill>
              </a:rPr>
              <a:t>minh</a:t>
            </a:r>
            <a:r>
              <a:rPr lang="en-US" b="1" dirty="0">
                <a:solidFill>
                  <a:schemeClr val="tx1"/>
                </a:solidFill>
              </a:rPr>
              <a:t> </a:t>
            </a:r>
            <a:r>
              <a:rPr lang="en-US" b="1" dirty="0" err="1">
                <a:solidFill>
                  <a:schemeClr val="tx1"/>
                </a:solidFill>
              </a:rPr>
              <a:t>tính</a:t>
            </a:r>
            <a:r>
              <a:rPr lang="en-US" b="1" dirty="0">
                <a:solidFill>
                  <a:schemeClr val="tx1"/>
                </a:solidFill>
              </a:rPr>
              <a:t> </a:t>
            </a:r>
            <a:r>
              <a:rPr lang="en-US" b="1" dirty="0" err="1">
                <a:solidFill>
                  <a:schemeClr val="tx1"/>
                </a:solidFill>
              </a:rPr>
              <a:t>ổn</a:t>
            </a:r>
            <a:r>
              <a:rPr lang="en-US" b="1" dirty="0">
                <a:solidFill>
                  <a:schemeClr val="tx1"/>
                </a:solidFill>
              </a:rPr>
              <a:t> </a:t>
            </a:r>
            <a:r>
              <a:rPr lang="en-US" b="1" dirty="0" err="1">
                <a:solidFill>
                  <a:schemeClr val="tx1"/>
                </a:solidFill>
              </a:rPr>
              <a:t>định</a:t>
            </a:r>
            <a:r>
              <a:rPr lang="en-US" b="1" dirty="0">
                <a:solidFill>
                  <a:schemeClr val="tx1"/>
                </a:solidFill>
              </a:rPr>
              <a:t> </a:t>
            </a:r>
            <a:r>
              <a:rPr lang="en-US" b="1" dirty="0" err="1">
                <a:solidFill>
                  <a:schemeClr val="tx1"/>
                </a:solidFill>
              </a:rPr>
              <a:t>của</a:t>
            </a:r>
            <a:r>
              <a:rPr lang="en-US" b="1" dirty="0">
                <a:solidFill>
                  <a:schemeClr val="tx1"/>
                </a:solidFill>
              </a:rPr>
              <a:t> </a:t>
            </a:r>
            <a:r>
              <a:rPr lang="en-US" b="1" dirty="0" err="1">
                <a:solidFill>
                  <a:schemeClr val="tx1"/>
                </a:solidFill>
              </a:rPr>
              <a:t>mô</a:t>
            </a:r>
            <a:r>
              <a:rPr lang="en-US" b="1" dirty="0">
                <a:solidFill>
                  <a:schemeClr val="tx1"/>
                </a:solidFill>
              </a:rPr>
              <a:t> </a:t>
            </a:r>
            <a:r>
              <a:rPr lang="en-US" b="1" dirty="0" err="1">
                <a:solidFill>
                  <a:schemeClr val="tx1"/>
                </a:solidFill>
              </a:rPr>
              <a:t>hình</a:t>
            </a:r>
            <a:r>
              <a:rPr lang="en-US" b="1" dirty="0">
                <a:solidFill>
                  <a:schemeClr val="tx1"/>
                </a:solidFill>
              </a:rPr>
              <a:t> </a:t>
            </a:r>
            <a:r>
              <a:rPr lang="en-US" b="1" dirty="0" err="1">
                <a:solidFill>
                  <a:schemeClr val="tx1"/>
                </a:solidFill>
              </a:rPr>
              <a:t>thông</a:t>
            </a:r>
            <a:r>
              <a:rPr lang="en-US" b="1" dirty="0">
                <a:solidFill>
                  <a:schemeClr val="tx1"/>
                </a:solidFill>
              </a:rPr>
              <a:t> qua </a:t>
            </a:r>
            <a:r>
              <a:rPr lang="en-US" b="1" dirty="0" err="1">
                <a:solidFill>
                  <a:schemeClr val="tx1"/>
                </a:solidFill>
              </a:rPr>
              <a:t>kiểm</a:t>
            </a:r>
            <a:r>
              <a:rPr lang="en-US" b="1" dirty="0">
                <a:solidFill>
                  <a:schemeClr val="tx1"/>
                </a:solidFill>
              </a:rPr>
              <a:t> </a:t>
            </a:r>
            <a:r>
              <a:rPr lang="en-US" b="1" dirty="0" err="1">
                <a:solidFill>
                  <a:schemeClr val="tx1"/>
                </a:solidFill>
              </a:rPr>
              <a:t>tra</a:t>
            </a:r>
            <a:r>
              <a:rPr lang="en-US" b="1" dirty="0">
                <a:solidFill>
                  <a:schemeClr val="tx1"/>
                </a:solidFill>
              </a:rPr>
              <a:t> </a:t>
            </a:r>
            <a:r>
              <a:rPr lang="en-US" b="1" dirty="0" err="1">
                <a:solidFill>
                  <a:schemeClr val="tx1"/>
                </a:solidFill>
              </a:rPr>
              <a:t>chéo</a:t>
            </a:r>
            <a:r>
              <a:rPr lang="en-US" b="1" dirty="0">
                <a:solidFill>
                  <a:schemeClr val="tx1"/>
                </a:solidFill>
              </a:rPr>
              <a:t> </a:t>
            </a:r>
            <a:r>
              <a:rPr lang="en-US" b="1" dirty="0" err="1">
                <a:solidFill>
                  <a:schemeClr val="tx1"/>
                </a:solidFill>
              </a:rPr>
              <a:t>trên</a:t>
            </a:r>
            <a:r>
              <a:rPr lang="en-US" b="1" dirty="0">
                <a:solidFill>
                  <a:schemeClr val="tx1"/>
                </a:solidFill>
              </a:rPr>
              <a:t> </a:t>
            </a:r>
            <a:r>
              <a:rPr lang="en-US" b="1" dirty="0" err="1">
                <a:solidFill>
                  <a:schemeClr val="tx1"/>
                </a:solidFill>
              </a:rPr>
              <a:t>nguồn</a:t>
            </a:r>
            <a:r>
              <a:rPr lang="en-US" b="1" dirty="0">
                <a:solidFill>
                  <a:schemeClr val="tx1"/>
                </a:solidFill>
              </a:rPr>
              <a:t> </a:t>
            </a:r>
            <a:r>
              <a:rPr lang="en-US" b="1" dirty="0" err="1">
                <a:solidFill>
                  <a:schemeClr val="tx1"/>
                </a:solidFill>
              </a:rPr>
              <a:t>dữ</a:t>
            </a:r>
            <a:r>
              <a:rPr lang="en-US" b="1" dirty="0">
                <a:solidFill>
                  <a:schemeClr val="tx1"/>
                </a:solidFill>
              </a:rPr>
              <a:t> </a:t>
            </a:r>
            <a:r>
              <a:rPr lang="en-US" b="1" dirty="0" err="1">
                <a:solidFill>
                  <a:schemeClr val="tx1"/>
                </a:solidFill>
              </a:rPr>
              <a:t>liệu</a:t>
            </a:r>
            <a:r>
              <a:rPr lang="en-US" b="1" dirty="0">
                <a:solidFill>
                  <a:schemeClr val="tx1"/>
                </a:solidFill>
              </a:rPr>
              <a:t> </a:t>
            </a:r>
            <a:r>
              <a:rPr lang="en-US" b="1" dirty="0" err="1">
                <a:solidFill>
                  <a:schemeClr val="tx1"/>
                </a:solidFill>
              </a:rPr>
              <a:t>độc</a:t>
            </a:r>
            <a:r>
              <a:rPr lang="en-US" b="1" dirty="0">
                <a:solidFill>
                  <a:schemeClr val="tx1"/>
                </a:solidFill>
              </a:rPr>
              <a:t> </a:t>
            </a:r>
            <a:r>
              <a:rPr lang="en-US" b="1" dirty="0" err="1">
                <a:solidFill>
                  <a:schemeClr val="tx1"/>
                </a:solidFill>
              </a:rPr>
              <a:t>lập</a:t>
            </a:r>
            <a:endParaRPr b="1" dirty="0">
              <a:solidFill>
                <a:schemeClr val="tx1"/>
              </a:solidFill>
            </a:endParaRPr>
          </a:p>
        </p:txBody>
      </p:sp>
    </p:spTree>
    <p:extLst>
      <p:ext uri="{BB962C8B-B14F-4D97-AF65-F5344CB8AC3E}">
        <p14:creationId xmlns:p14="http://schemas.microsoft.com/office/powerpoint/2010/main" val="3857915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1C2340"/>
        </a:solidFill>
        <a:effectLst/>
      </p:bgPr>
    </p:bg>
    <p:spTree>
      <p:nvGrpSpPr>
        <p:cNvPr id="1" name=""/>
        <p:cNvGrpSpPr/>
        <p:nvPr/>
      </p:nvGrpSpPr>
      <p:grpSpPr>
        <a:xfrm>
          <a:off x="0" y="0"/>
          <a:ext cx="0" cy="0"/>
          <a:chOff x="0" y="0"/>
          <a:chExt cx="0" cy="0"/>
        </a:xfrm>
      </p:grpSpPr>
      <p:pic>
        <p:nvPicPr>
          <p:cNvPr id="2" name="Image 0" descr="img/ecg_light.png"/>
          <p:cNvPicPr>
            <a:picLocks noChangeAspect="1"/>
          </p:cNvPicPr>
          <p:nvPr/>
        </p:nvPicPr>
        <p:blipFill>
          <a:blip r:embed="rId3">
            <a:alphaModFix amt="55000"/>
          </a:blip>
          <a:stretch>
            <a:fillRect/>
          </a:stretch>
        </p:blipFill>
        <p:spPr>
          <a:xfrm>
            <a:off x="0" y="5074920"/>
            <a:ext cx="12188952" cy="1600200"/>
          </a:xfrm>
          <a:prstGeom prst="rect">
            <a:avLst/>
          </a:prstGeom>
        </p:spPr>
      </p:pic>
      <p:sp>
        <p:nvSpPr>
          <p:cNvPr id="3" name="Text 0"/>
          <p:cNvSpPr/>
          <p:nvPr/>
        </p:nvSpPr>
        <p:spPr>
          <a:xfrm>
            <a:off x="566928" y="1051560"/>
            <a:ext cx="2926080" cy="1737360"/>
          </a:xfrm>
          <a:prstGeom prst="rect">
            <a:avLst/>
          </a:prstGeom>
          <a:noFill/>
          <a:ln/>
        </p:spPr>
        <p:txBody>
          <a:bodyPr wrap="square" lIns="0" tIns="0" rIns="0" bIns="0" rtlCol="0" anchor="ctr"/>
          <a:lstStyle/>
          <a:p>
            <a:pPr marL="0" indent="0">
              <a:buNone/>
            </a:pPr>
            <a:r>
              <a:rPr lang="en-US" sz="10800" b="1" dirty="0">
                <a:solidFill>
                  <a:srgbClr val="E23D4D"/>
                </a:solidFill>
                <a:latin typeface="Cambria" pitchFamily="34" charset="0"/>
                <a:ea typeface="Cambria" pitchFamily="34" charset="-122"/>
                <a:cs typeface="Cambria" pitchFamily="34" charset="-120"/>
              </a:rPr>
              <a:t>03</a:t>
            </a:r>
            <a:endParaRPr lang="en-US" sz="10800" dirty="0"/>
          </a:p>
        </p:txBody>
      </p:sp>
      <p:sp>
        <p:nvSpPr>
          <p:cNvPr id="4" name="Text 1"/>
          <p:cNvSpPr/>
          <p:nvPr/>
        </p:nvSpPr>
        <p:spPr>
          <a:xfrm>
            <a:off x="566928" y="2788920"/>
            <a:ext cx="8778240" cy="914400"/>
          </a:xfrm>
          <a:prstGeom prst="rect">
            <a:avLst/>
          </a:prstGeom>
          <a:noFill/>
          <a:ln/>
        </p:spPr>
        <p:txBody>
          <a:bodyPr wrap="square" lIns="0" tIns="0" rIns="0" bIns="0" rtlCol="0" anchor="ctr"/>
          <a:lstStyle/>
          <a:p>
            <a:pPr marL="0" indent="0">
              <a:buNone/>
            </a:pPr>
            <a:r>
              <a:rPr lang="en-US" sz="3400" b="1" dirty="0">
                <a:solidFill>
                  <a:srgbClr val="FCF6F5"/>
                </a:solidFill>
                <a:latin typeface="Cambria" pitchFamily="34" charset="0"/>
                <a:ea typeface="Cambria" pitchFamily="34" charset="-122"/>
                <a:cs typeface="Cambria" pitchFamily="34" charset="-120"/>
              </a:rPr>
              <a:t>THIẾT KẾ VÀ TRIỂN KHAI MẠNG CNN</a:t>
            </a:r>
            <a:endParaRPr lang="en-US" sz="3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956FB-536A-0658-3117-BFE2D9A8A61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CA4D34-CEC1-6083-76F6-B1FDE70F0348}"/>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
        <p:nvSpPr>
          <p:cNvPr id="3" name="Text 1">
            <a:extLst>
              <a:ext uri="{FF2B5EF4-FFF2-40B4-BE49-F238E27FC236}">
                <a16:creationId xmlns:a16="http://schemas.microsoft.com/office/drawing/2014/main" id="{CC958F1B-5124-8630-3CAE-93F37D789EE1}"/>
              </a:ext>
            </a:extLst>
          </p:cNvPr>
          <p:cNvSpPr/>
          <p:nvPr/>
        </p:nvSpPr>
        <p:spPr>
          <a:xfrm>
            <a:off x="566928" y="655320"/>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3.1 Quy </a:t>
            </a:r>
            <a:r>
              <a:rPr lang="en-US" sz="2700" b="1" dirty="0" err="1">
                <a:solidFill>
                  <a:srgbClr val="1A1C22"/>
                </a:solidFill>
                <a:latin typeface="Cambria" pitchFamily="34" charset="0"/>
                <a:ea typeface="Cambria" pitchFamily="34" charset="-122"/>
                <a:cs typeface="Cambria" pitchFamily="34" charset="-120"/>
              </a:rPr>
              <a:t>trình</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thiết</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kế</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và</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triển</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khai</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trên</a:t>
            </a:r>
            <a:r>
              <a:rPr lang="en-US" sz="2700" b="1" dirty="0">
                <a:solidFill>
                  <a:srgbClr val="1A1C22"/>
                </a:solidFill>
                <a:latin typeface="Cambria" pitchFamily="34" charset="0"/>
                <a:ea typeface="Cambria" pitchFamily="34" charset="-122"/>
                <a:cs typeface="Cambria" pitchFamily="34" charset="-120"/>
              </a:rPr>
              <a:t> FPGA</a:t>
            </a:r>
            <a:endParaRPr lang="en-US" sz="2700" dirty="0"/>
          </a:p>
        </p:txBody>
      </p:sp>
      <p:pic>
        <p:nvPicPr>
          <p:cNvPr id="22" name="Image 0" descr="img/image6.png">
            <a:extLst>
              <a:ext uri="{FF2B5EF4-FFF2-40B4-BE49-F238E27FC236}">
                <a16:creationId xmlns:a16="http://schemas.microsoft.com/office/drawing/2014/main" id="{38A72172-0565-8BF4-0B14-74BE30148A71}"/>
              </a:ext>
            </a:extLst>
          </p:cNvPr>
          <p:cNvPicPr>
            <a:picLocks noChangeAspect="1"/>
          </p:cNvPicPr>
          <p:nvPr/>
        </p:nvPicPr>
        <p:blipFill>
          <a:blip r:embed="rId3"/>
          <a:stretch>
            <a:fillRect/>
          </a:stretch>
        </p:blipFill>
        <p:spPr>
          <a:xfrm>
            <a:off x="7903525" y="847020"/>
            <a:ext cx="4029395" cy="1430491"/>
          </a:xfrm>
          <a:prstGeom prst="rect">
            <a:avLst/>
          </a:prstGeom>
          <a:ln>
            <a:solidFill>
              <a:srgbClr val="FF0000"/>
            </a:solidFill>
          </a:ln>
        </p:spPr>
      </p:pic>
      <p:pic>
        <p:nvPicPr>
          <p:cNvPr id="24" name="Image 0" descr="img/image7.png">
            <a:extLst>
              <a:ext uri="{FF2B5EF4-FFF2-40B4-BE49-F238E27FC236}">
                <a16:creationId xmlns:a16="http://schemas.microsoft.com/office/drawing/2014/main" id="{A02D1FE7-3B48-F071-A7FF-E3E6BBE62346}"/>
              </a:ext>
            </a:extLst>
          </p:cNvPr>
          <p:cNvPicPr>
            <a:picLocks noChangeAspect="1"/>
          </p:cNvPicPr>
          <p:nvPr/>
        </p:nvPicPr>
        <p:blipFill>
          <a:blip r:embed="rId4"/>
          <a:stretch>
            <a:fillRect/>
          </a:stretch>
        </p:blipFill>
        <p:spPr>
          <a:xfrm>
            <a:off x="8611695" y="3061197"/>
            <a:ext cx="2666349" cy="1101090"/>
          </a:xfrm>
          <a:prstGeom prst="rect">
            <a:avLst/>
          </a:prstGeom>
          <a:ln>
            <a:solidFill>
              <a:srgbClr val="FF0000"/>
            </a:solidFill>
          </a:ln>
        </p:spPr>
      </p:pic>
      <p:sp>
        <p:nvSpPr>
          <p:cNvPr id="26" name="TextBox 25">
            <a:extLst>
              <a:ext uri="{FF2B5EF4-FFF2-40B4-BE49-F238E27FC236}">
                <a16:creationId xmlns:a16="http://schemas.microsoft.com/office/drawing/2014/main" id="{0C307D4B-EED4-DB26-F972-B0A6866135E2}"/>
              </a:ext>
            </a:extLst>
          </p:cNvPr>
          <p:cNvSpPr txBox="1"/>
          <p:nvPr/>
        </p:nvSpPr>
        <p:spPr>
          <a:xfrm>
            <a:off x="2421380" y="5899666"/>
            <a:ext cx="1782219" cy="369332"/>
          </a:xfrm>
          <a:prstGeom prst="rect">
            <a:avLst/>
          </a:prstGeom>
          <a:noFill/>
        </p:spPr>
        <p:txBody>
          <a:bodyPr wrap="none" rtlCol="0">
            <a:spAutoFit/>
          </a:bodyPr>
          <a:lstStyle/>
          <a:p>
            <a:r>
              <a:rPr lang="en-US" dirty="0"/>
              <a:t>Qui </a:t>
            </a:r>
            <a:r>
              <a:rPr lang="en-US" dirty="0" err="1"/>
              <a:t>trình</a:t>
            </a:r>
            <a:r>
              <a:rPr lang="en-US" dirty="0"/>
              <a:t> </a:t>
            </a:r>
            <a:r>
              <a:rPr lang="en-US" dirty="0" err="1"/>
              <a:t>thiết</a:t>
            </a:r>
            <a:r>
              <a:rPr lang="en-US" dirty="0"/>
              <a:t> </a:t>
            </a:r>
            <a:r>
              <a:rPr lang="en-US" dirty="0" err="1"/>
              <a:t>kế</a:t>
            </a:r>
            <a:endParaRPr lang="en-US" dirty="0"/>
          </a:p>
        </p:txBody>
      </p:sp>
      <p:sp>
        <p:nvSpPr>
          <p:cNvPr id="28" name="TextBox 27">
            <a:extLst>
              <a:ext uri="{FF2B5EF4-FFF2-40B4-BE49-F238E27FC236}">
                <a16:creationId xmlns:a16="http://schemas.microsoft.com/office/drawing/2014/main" id="{473FA44C-35C8-A3FC-04B6-782CC0DDAC27}"/>
              </a:ext>
            </a:extLst>
          </p:cNvPr>
          <p:cNvSpPr txBox="1"/>
          <p:nvPr/>
        </p:nvSpPr>
        <p:spPr>
          <a:xfrm>
            <a:off x="6724782" y="1373386"/>
            <a:ext cx="1298510" cy="646331"/>
          </a:xfrm>
          <a:prstGeom prst="rect">
            <a:avLst/>
          </a:prstGeom>
          <a:noFill/>
        </p:spPr>
        <p:txBody>
          <a:bodyPr wrap="square" rtlCol="0">
            <a:spAutoFit/>
          </a:bodyPr>
          <a:lstStyle/>
          <a:p>
            <a:r>
              <a:rPr lang="en-US" dirty="0" err="1"/>
              <a:t>Mô</a:t>
            </a:r>
            <a:r>
              <a:rPr lang="en-US" dirty="0"/>
              <a:t> </a:t>
            </a:r>
            <a:r>
              <a:rPr lang="en-US" dirty="0" err="1"/>
              <a:t>hình</a:t>
            </a:r>
            <a:r>
              <a:rPr lang="en-US" dirty="0"/>
              <a:t> </a:t>
            </a:r>
            <a:r>
              <a:rPr lang="en-US" dirty="0" err="1"/>
              <a:t>mạng</a:t>
            </a:r>
            <a:r>
              <a:rPr lang="en-US" dirty="0"/>
              <a:t> CNN</a:t>
            </a:r>
          </a:p>
        </p:txBody>
      </p:sp>
      <p:sp>
        <p:nvSpPr>
          <p:cNvPr id="30" name="TextBox 29">
            <a:extLst>
              <a:ext uri="{FF2B5EF4-FFF2-40B4-BE49-F238E27FC236}">
                <a16:creationId xmlns:a16="http://schemas.microsoft.com/office/drawing/2014/main" id="{744EA43E-B88A-584F-BF93-42149768B8E3}"/>
              </a:ext>
            </a:extLst>
          </p:cNvPr>
          <p:cNvSpPr txBox="1"/>
          <p:nvPr/>
        </p:nvSpPr>
        <p:spPr>
          <a:xfrm>
            <a:off x="6639312" y="3338471"/>
            <a:ext cx="1735547" cy="646331"/>
          </a:xfrm>
          <a:prstGeom prst="rect">
            <a:avLst/>
          </a:prstGeom>
          <a:noFill/>
        </p:spPr>
        <p:txBody>
          <a:bodyPr wrap="square" rtlCol="0">
            <a:spAutoFit/>
          </a:bodyPr>
          <a:lstStyle/>
          <a:p>
            <a:r>
              <a:rPr lang="en-US" dirty="0" err="1"/>
              <a:t>Kiến</a:t>
            </a:r>
            <a:r>
              <a:rPr lang="en-US" dirty="0"/>
              <a:t> </a:t>
            </a:r>
            <a:r>
              <a:rPr lang="en-US" dirty="0" err="1"/>
              <a:t>trúc</a:t>
            </a:r>
            <a:r>
              <a:rPr lang="en-US" dirty="0"/>
              <a:t> </a:t>
            </a:r>
            <a:r>
              <a:rPr lang="en-US" dirty="0" err="1"/>
              <a:t>triển</a:t>
            </a:r>
            <a:r>
              <a:rPr lang="en-US" dirty="0"/>
              <a:t> </a:t>
            </a:r>
            <a:r>
              <a:rPr lang="en-US" dirty="0" err="1"/>
              <a:t>khai</a:t>
            </a:r>
            <a:r>
              <a:rPr lang="en-US" dirty="0"/>
              <a:t> </a:t>
            </a:r>
            <a:r>
              <a:rPr lang="en-US" dirty="0" err="1"/>
              <a:t>mạng</a:t>
            </a:r>
            <a:r>
              <a:rPr lang="en-US" dirty="0"/>
              <a:t> CNN</a:t>
            </a:r>
          </a:p>
        </p:txBody>
      </p:sp>
      <p:pic>
        <p:nvPicPr>
          <p:cNvPr id="34" name="Image 0" descr="img/image3.png">
            <a:extLst>
              <a:ext uri="{FF2B5EF4-FFF2-40B4-BE49-F238E27FC236}">
                <a16:creationId xmlns:a16="http://schemas.microsoft.com/office/drawing/2014/main" id="{85399417-C0E8-7F30-27BD-040840011C3E}"/>
              </a:ext>
            </a:extLst>
          </p:cNvPr>
          <p:cNvPicPr>
            <a:picLocks noChangeAspect="1"/>
          </p:cNvPicPr>
          <p:nvPr/>
        </p:nvPicPr>
        <p:blipFill>
          <a:blip r:embed="rId5"/>
          <a:stretch>
            <a:fillRect/>
          </a:stretch>
        </p:blipFill>
        <p:spPr>
          <a:xfrm>
            <a:off x="566928" y="1608245"/>
            <a:ext cx="5491125" cy="4106781"/>
          </a:xfrm>
          <a:prstGeom prst="rect">
            <a:avLst/>
          </a:prstGeom>
        </p:spPr>
      </p:pic>
      <p:pic>
        <p:nvPicPr>
          <p:cNvPr id="36" name="Picture 35">
            <a:extLst>
              <a:ext uri="{FF2B5EF4-FFF2-40B4-BE49-F238E27FC236}">
                <a16:creationId xmlns:a16="http://schemas.microsoft.com/office/drawing/2014/main" id="{97646DCF-A666-FCCC-8FDF-7A0C446421AF}"/>
              </a:ext>
            </a:extLst>
          </p:cNvPr>
          <p:cNvPicPr>
            <a:picLocks noChangeAspect="1"/>
          </p:cNvPicPr>
          <p:nvPr/>
        </p:nvPicPr>
        <p:blipFill>
          <a:blip r:embed="rId6"/>
          <a:srcRect t="14135"/>
          <a:stretch>
            <a:fillRect/>
          </a:stretch>
        </p:blipFill>
        <p:spPr>
          <a:xfrm>
            <a:off x="8733891" y="4932545"/>
            <a:ext cx="2421959" cy="1559695"/>
          </a:xfrm>
          <a:prstGeom prst="rect">
            <a:avLst/>
          </a:prstGeom>
          <a:ln>
            <a:solidFill>
              <a:srgbClr val="FF0000"/>
            </a:solidFill>
          </a:ln>
        </p:spPr>
      </p:pic>
      <p:sp>
        <p:nvSpPr>
          <p:cNvPr id="38" name="TextBox 37">
            <a:extLst>
              <a:ext uri="{FF2B5EF4-FFF2-40B4-BE49-F238E27FC236}">
                <a16:creationId xmlns:a16="http://schemas.microsoft.com/office/drawing/2014/main" id="{601E2D13-34BD-5AE9-13AE-80B0D1150D0F}"/>
              </a:ext>
            </a:extLst>
          </p:cNvPr>
          <p:cNvSpPr txBox="1"/>
          <p:nvPr/>
        </p:nvSpPr>
        <p:spPr>
          <a:xfrm>
            <a:off x="6724782" y="5483733"/>
            <a:ext cx="1735547" cy="646331"/>
          </a:xfrm>
          <a:prstGeom prst="rect">
            <a:avLst/>
          </a:prstGeom>
          <a:noFill/>
        </p:spPr>
        <p:txBody>
          <a:bodyPr wrap="square" rtlCol="0">
            <a:spAutoFit/>
          </a:bodyPr>
          <a:lstStyle/>
          <a:p>
            <a:r>
              <a:rPr lang="en-US" dirty="0" err="1"/>
              <a:t>Triển</a:t>
            </a:r>
            <a:r>
              <a:rPr lang="en-US" dirty="0"/>
              <a:t> </a:t>
            </a:r>
            <a:r>
              <a:rPr lang="en-US" dirty="0" err="1"/>
              <a:t>khai</a:t>
            </a:r>
            <a:r>
              <a:rPr lang="en-US" dirty="0"/>
              <a:t> </a:t>
            </a:r>
            <a:r>
              <a:rPr lang="en-US" dirty="0" err="1"/>
              <a:t>thiết</a:t>
            </a:r>
            <a:r>
              <a:rPr lang="en-US" dirty="0"/>
              <a:t> </a:t>
            </a:r>
            <a:r>
              <a:rPr lang="en-US" dirty="0" err="1"/>
              <a:t>kế</a:t>
            </a:r>
            <a:r>
              <a:rPr lang="en-US" dirty="0"/>
              <a:t> </a:t>
            </a:r>
            <a:r>
              <a:rPr lang="en-US" dirty="0" err="1"/>
              <a:t>lên</a:t>
            </a:r>
            <a:r>
              <a:rPr lang="en-US" dirty="0"/>
              <a:t> board</a:t>
            </a:r>
          </a:p>
        </p:txBody>
      </p:sp>
      <p:sp>
        <p:nvSpPr>
          <p:cNvPr id="39" name="Arrow: Down 38">
            <a:extLst>
              <a:ext uri="{FF2B5EF4-FFF2-40B4-BE49-F238E27FC236}">
                <a16:creationId xmlns:a16="http://schemas.microsoft.com/office/drawing/2014/main" id="{81C83D36-9627-7D7C-D091-4198B077EE29}"/>
              </a:ext>
            </a:extLst>
          </p:cNvPr>
          <p:cNvSpPr/>
          <p:nvPr/>
        </p:nvSpPr>
        <p:spPr>
          <a:xfrm>
            <a:off x="9835331" y="2369301"/>
            <a:ext cx="352425" cy="54864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Down 40">
            <a:extLst>
              <a:ext uri="{FF2B5EF4-FFF2-40B4-BE49-F238E27FC236}">
                <a16:creationId xmlns:a16="http://schemas.microsoft.com/office/drawing/2014/main" id="{417F0390-D701-CE90-71E4-76B0AC3A164E}"/>
              </a:ext>
            </a:extLst>
          </p:cNvPr>
          <p:cNvSpPr/>
          <p:nvPr/>
        </p:nvSpPr>
        <p:spPr>
          <a:xfrm>
            <a:off x="9835332" y="4295323"/>
            <a:ext cx="352425" cy="54864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9694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5" name="Image 0" descr="img/image2.png"/>
          <p:cNvPicPr>
            <a:picLocks noChangeAspect="1"/>
          </p:cNvPicPr>
          <p:nvPr/>
        </p:nvPicPr>
        <p:blipFill>
          <a:blip r:embed="rId3"/>
          <a:srcRect l="4040"/>
          <a:stretch>
            <a:fillRect/>
          </a:stretch>
        </p:blipFill>
        <p:spPr>
          <a:xfrm>
            <a:off x="5461077" y="795527"/>
            <a:ext cx="6677101" cy="3699892"/>
          </a:xfrm>
          <a:prstGeom prst="rect">
            <a:avLst/>
          </a:prstGeom>
        </p:spPr>
      </p:pic>
      <p:sp>
        <p:nvSpPr>
          <p:cNvPr id="3" name="Text 1"/>
          <p:cNvSpPr/>
          <p:nvPr/>
        </p:nvSpPr>
        <p:spPr>
          <a:xfrm>
            <a:off x="566928" y="664084"/>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3.2 </a:t>
            </a:r>
            <a:r>
              <a:rPr lang="en-US" sz="2700" b="1" dirty="0" err="1">
                <a:solidFill>
                  <a:srgbClr val="1A1C22"/>
                </a:solidFill>
                <a:latin typeface="Cambria" pitchFamily="34" charset="0"/>
                <a:ea typeface="Cambria" pitchFamily="34" charset="-122"/>
                <a:cs typeface="Cambria" pitchFamily="34" charset="-120"/>
              </a:rPr>
              <a:t>Bộ</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dữ</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liệu</a:t>
            </a:r>
            <a:r>
              <a:rPr lang="en-US" sz="2700" b="1" dirty="0">
                <a:solidFill>
                  <a:srgbClr val="1A1C22"/>
                </a:solidFill>
                <a:latin typeface="Cambria" pitchFamily="34" charset="0"/>
                <a:ea typeface="Cambria" pitchFamily="34" charset="-122"/>
                <a:cs typeface="Cambria" pitchFamily="34" charset="-120"/>
              </a:rPr>
              <a:t> Chapman </a:t>
            </a:r>
            <a:r>
              <a:rPr lang="en-US" sz="2700" b="1" dirty="0" err="1">
                <a:solidFill>
                  <a:srgbClr val="1A1C22"/>
                </a:solidFill>
                <a:latin typeface="Cambria" pitchFamily="34" charset="0"/>
                <a:ea typeface="Cambria" pitchFamily="34" charset="-122"/>
                <a:cs typeface="Cambria" pitchFamily="34" charset="-120"/>
              </a:rPr>
              <a:t>và</a:t>
            </a:r>
            <a:r>
              <a:rPr lang="en-US" sz="2700" b="1" dirty="0">
                <a:solidFill>
                  <a:srgbClr val="1A1C22"/>
                </a:solidFill>
                <a:latin typeface="Cambria" pitchFamily="34" charset="0"/>
                <a:ea typeface="Cambria" pitchFamily="34" charset="-122"/>
                <a:cs typeface="Cambria" pitchFamily="34" charset="-120"/>
              </a:rPr>
              <a:t> Georgia</a:t>
            </a:r>
            <a:endParaRPr lang="en-US" sz="2700" dirty="0"/>
          </a:p>
        </p:txBody>
      </p:sp>
      <p:sp>
        <p:nvSpPr>
          <p:cNvPr id="7" name="Shape 4"/>
          <p:cNvSpPr/>
          <p:nvPr/>
        </p:nvSpPr>
        <p:spPr>
          <a:xfrm>
            <a:off x="566928" y="1298448"/>
            <a:ext cx="4919472" cy="2511552"/>
          </a:xfrm>
          <a:prstGeom prst="roundRect">
            <a:avLst>
              <a:gd name="adj" fmla="val 4688"/>
            </a:avLst>
          </a:prstGeom>
          <a:solidFill>
            <a:srgbClr val="F7EFEF"/>
          </a:solidFill>
          <a:ln w="12700">
            <a:solidFill>
              <a:srgbClr val="F7EFEF"/>
            </a:solidFill>
            <a:prstDash val="solid"/>
          </a:ln>
        </p:spPr>
        <p:txBody>
          <a:bodyPr/>
          <a:lstStyle/>
          <a:p>
            <a:endParaRPr lang="en-US" dirty="0"/>
          </a:p>
        </p:txBody>
      </p:sp>
      <p:sp>
        <p:nvSpPr>
          <p:cNvPr id="8" name="Text 5"/>
          <p:cNvSpPr/>
          <p:nvPr/>
        </p:nvSpPr>
        <p:spPr>
          <a:xfrm>
            <a:off x="822960" y="1417320"/>
            <a:ext cx="4663440" cy="292608"/>
          </a:xfrm>
          <a:prstGeom prst="rect">
            <a:avLst/>
          </a:prstGeom>
          <a:noFill/>
          <a:ln/>
        </p:spPr>
        <p:txBody>
          <a:bodyPr wrap="square" lIns="0" tIns="0" rIns="0" bIns="0" rtlCol="0" anchor="ctr"/>
          <a:lstStyle/>
          <a:p>
            <a:pPr marL="0" indent="0">
              <a:buNone/>
            </a:pPr>
            <a:r>
              <a:rPr lang="en-US" sz="2000" b="1" dirty="0" err="1">
                <a:solidFill>
                  <a:srgbClr val="990011"/>
                </a:solidFill>
                <a:latin typeface="Calibri" pitchFamily="34" charset="0"/>
                <a:ea typeface="Calibri" pitchFamily="34" charset="-122"/>
                <a:cs typeface="Calibri" pitchFamily="34" charset="-120"/>
              </a:rPr>
              <a:t>Bộ</a:t>
            </a:r>
            <a:r>
              <a:rPr lang="en-US" sz="2000" b="1" dirty="0">
                <a:solidFill>
                  <a:srgbClr val="990011"/>
                </a:solidFill>
                <a:latin typeface="Calibri" pitchFamily="34" charset="0"/>
                <a:ea typeface="Calibri" pitchFamily="34" charset="-122"/>
                <a:cs typeface="Calibri" pitchFamily="34" charset="-120"/>
              </a:rPr>
              <a:t> </a:t>
            </a:r>
            <a:r>
              <a:rPr lang="en-US" sz="2000" b="1" dirty="0" err="1">
                <a:solidFill>
                  <a:srgbClr val="990011"/>
                </a:solidFill>
                <a:latin typeface="Calibri" pitchFamily="34" charset="0"/>
                <a:ea typeface="Calibri" pitchFamily="34" charset="-122"/>
                <a:cs typeface="Calibri" pitchFamily="34" charset="-120"/>
              </a:rPr>
              <a:t>dữ</a:t>
            </a:r>
            <a:r>
              <a:rPr lang="en-US" sz="2000" b="1" dirty="0">
                <a:solidFill>
                  <a:srgbClr val="990011"/>
                </a:solidFill>
                <a:latin typeface="Calibri" pitchFamily="34" charset="0"/>
                <a:ea typeface="Calibri" pitchFamily="34" charset="-122"/>
                <a:cs typeface="Calibri" pitchFamily="34" charset="-120"/>
              </a:rPr>
              <a:t> </a:t>
            </a:r>
            <a:r>
              <a:rPr lang="en-US" sz="2000" b="1" dirty="0" err="1">
                <a:solidFill>
                  <a:srgbClr val="990011"/>
                </a:solidFill>
                <a:latin typeface="Calibri" pitchFamily="34" charset="0"/>
                <a:ea typeface="Calibri" pitchFamily="34" charset="-122"/>
                <a:cs typeface="Calibri" pitchFamily="34" charset="-120"/>
              </a:rPr>
              <a:t>liệu</a:t>
            </a:r>
            <a:r>
              <a:rPr lang="en-US" sz="2000" b="1" dirty="0">
                <a:solidFill>
                  <a:srgbClr val="990011"/>
                </a:solidFill>
                <a:latin typeface="Calibri" pitchFamily="34" charset="0"/>
                <a:ea typeface="Calibri" pitchFamily="34" charset="-122"/>
                <a:cs typeface="Calibri" pitchFamily="34" charset="-120"/>
              </a:rPr>
              <a:t> </a:t>
            </a:r>
            <a:r>
              <a:rPr lang="en-US" sz="2000" b="1" dirty="0" err="1">
                <a:solidFill>
                  <a:srgbClr val="990011"/>
                </a:solidFill>
                <a:latin typeface="Calibri" pitchFamily="34" charset="0"/>
                <a:ea typeface="Calibri" pitchFamily="34" charset="-122"/>
                <a:cs typeface="Calibri" pitchFamily="34" charset="-120"/>
              </a:rPr>
              <a:t>huấn</a:t>
            </a:r>
            <a:r>
              <a:rPr lang="en-US" sz="2000" b="1" dirty="0">
                <a:solidFill>
                  <a:srgbClr val="990011"/>
                </a:solidFill>
                <a:latin typeface="Calibri" pitchFamily="34" charset="0"/>
                <a:ea typeface="Calibri" pitchFamily="34" charset="-122"/>
                <a:cs typeface="Calibri" pitchFamily="34" charset="-120"/>
              </a:rPr>
              <a:t> </a:t>
            </a:r>
            <a:r>
              <a:rPr lang="en-US" sz="2000" b="1" dirty="0" err="1">
                <a:solidFill>
                  <a:srgbClr val="990011"/>
                </a:solidFill>
                <a:latin typeface="Calibri" pitchFamily="34" charset="0"/>
                <a:ea typeface="Calibri" pitchFamily="34" charset="-122"/>
                <a:cs typeface="Calibri" pitchFamily="34" charset="-120"/>
              </a:rPr>
              <a:t>luyện</a:t>
            </a:r>
            <a:r>
              <a:rPr lang="en-US" sz="2000" b="1" dirty="0">
                <a:solidFill>
                  <a:srgbClr val="990011"/>
                </a:solidFill>
                <a:latin typeface="Calibri" pitchFamily="34" charset="0"/>
                <a:ea typeface="Calibri" pitchFamily="34" charset="-122"/>
                <a:cs typeface="Calibri" pitchFamily="34" charset="-120"/>
              </a:rPr>
              <a:t> Chapman </a:t>
            </a:r>
            <a:endParaRPr lang="en-US" sz="2000" dirty="0"/>
          </a:p>
        </p:txBody>
      </p:sp>
      <p:sp>
        <p:nvSpPr>
          <p:cNvPr id="9" name="Text 6"/>
          <p:cNvSpPr/>
          <p:nvPr/>
        </p:nvSpPr>
        <p:spPr>
          <a:xfrm>
            <a:off x="822960" y="1773936"/>
            <a:ext cx="4444365" cy="1207008"/>
          </a:xfrm>
          <a:prstGeom prst="rect">
            <a:avLst/>
          </a:prstGeom>
          <a:noFill/>
          <a:ln/>
        </p:spPr>
        <p:txBody>
          <a:bodyPr wrap="square" lIns="0" tIns="0" rIns="0" bIns="0" rtlCol="0" anchor="t"/>
          <a:lstStyle/>
          <a:p>
            <a:pPr marL="342900" indent="-342900">
              <a:buSzPct val="100000"/>
              <a:buChar char="•"/>
            </a:pPr>
            <a:r>
              <a:rPr lang="en-US" sz="1600" dirty="0"/>
              <a:t>A large scale 12-lead electrocardiogram database for arrhythmia study v1.0.0</a:t>
            </a:r>
          </a:p>
          <a:p>
            <a:pPr marL="342900" indent="-342900">
              <a:buSzPct val="100000"/>
              <a:buChar char="•"/>
            </a:pPr>
            <a:r>
              <a:rPr lang="en-US" sz="1600" b="1" dirty="0"/>
              <a:t>DOI : </a:t>
            </a:r>
            <a:r>
              <a:rPr lang="en-US" sz="1600" b="1" dirty="0">
                <a:latin typeface="-apple-system"/>
              </a:rPr>
              <a:t>10.13026/wgex-er52 </a:t>
            </a:r>
          </a:p>
          <a:p>
            <a:pPr marL="342900" indent="-342900">
              <a:buSzPct val="100000"/>
              <a:buChar char="•"/>
            </a:pPr>
            <a:r>
              <a:rPr lang="en-US" sz="1600" dirty="0">
                <a:latin typeface="-apple-system"/>
              </a:rPr>
              <a:t>Bệnh </a:t>
            </a:r>
            <a:r>
              <a:rPr lang="en-US" sz="1600" dirty="0" err="1">
                <a:latin typeface="-apple-system"/>
              </a:rPr>
              <a:t>viện</a:t>
            </a:r>
            <a:r>
              <a:rPr lang="en-US" sz="1600" dirty="0">
                <a:latin typeface="-apple-system"/>
              </a:rPr>
              <a:t> Shaoxing People’s </a:t>
            </a:r>
            <a:r>
              <a:rPr lang="en-US" sz="1600" dirty="0" err="1">
                <a:latin typeface="-apple-system"/>
              </a:rPr>
              <a:t>và</a:t>
            </a:r>
            <a:r>
              <a:rPr lang="en-US" sz="1600" dirty="0">
                <a:latin typeface="-apple-system"/>
              </a:rPr>
              <a:t> Ningbo First </a:t>
            </a:r>
          </a:p>
          <a:p>
            <a:pPr marL="342900" indent="-342900">
              <a:buSzPct val="100000"/>
              <a:buChar char="•"/>
            </a:pPr>
            <a:r>
              <a:rPr lang="en-US" sz="1600" dirty="0">
                <a:solidFill>
                  <a:srgbClr val="1A1C22"/>
                </a:solidFill>
                <a:latin typeface="Calibri" pitchFamily="34" charset="0"/>
                <a:ea typeface="Calibri" pitchFamily="34" charset="-122"/>
                <a:cs typeface="Calibri" pitchFamily="34" charset="-120"/>
              </a:rPr>
              <a:t>33.143 </a:t>
            </a:r>
            <a:r>
              <a:rPr lang="en-US" sz="1600" dirty="0" err="1">
                <a:solidFill>
                  <a:srgbClr val="1A1C22"/>
                </a:solidFill>
                <a:latin typeface="Calibri" pitchFamily="34" charset="0"/>
                <a:ea typeface="Calibri" pitchFamily="34" charset="-122"/>
                <a:cs typeface="Calibri" pitchFamily="34" charset="-120"/>
              </a:rPr>
              <a:t>bản</a:t>
            </a:r>
            <a:r>
              <a:rPr lang="en-US" sz="1600" dirty="0">
                <a:solidFill>
                  <a:srgbClr val="1A1C22"/>
                </a:solidFill>
                <a:latin typeface="Calibri" pitchFamily="34" charset="0"/>
                <a:ea typeface="Calibri" pitchFamily="34" charset="-122"/>
                <a:cs typeface="Calibri" pitchFamily="34" charset="-120"/>
              </a:rPr>
              <a:t> </a:t>
            </a:r>
            <a:r>
              <a:rPr lang="en-US" sz="1600" dirty="0" err="1">
                <a:solidFill>
                  <a:srgbClr val="1A1C22"/>
                </a:solidFill>
                <a:latin typeface="Calibri" pitchFamily="34" charset="0"/>
                <a:ea typeface="Calibri" pitchFamily="34" charset="-122"/>
                <a:cs typeface="Calibri" pitchFamily="34" charset="-120"/>
              </a:rPr>
              <a:t>ghi</a:t>
            </a:r>
            <a:r>
              <a:rPr lang="en-US" sz="1600" dirty="0">
                <a:solidFill>
                  <a:srgbClr val="1A1C22"/>
                </a:solidFill>
                <a:latin typeface="Calibri" pitchFamily="34" charset="0"/>
                <a:ea typeface="Calibri" pitchFamily="34" charset="-122"/>
                <a:cs typeface="Calibri" pitchFamily="34" charset="-120"/>
              </a:rPr>
              <a:t> (10s)</a:t>
            </a:r>
            <a:endParaRPr lang="en-US" sz="1600" dirty="0">
              <a:latin typeface="Calibri" charset="0"/>
              <a:ea typeface="Calibri" charset="0"/>
              <a:cs typeface="Calibri" charset="0"/>
            </a:endParaRPr>
          </a:p>
          <a:p>
            <a:pPr>
              <a:buSzPct val="100000"/>
            </a:pPr>
            <a:br>
              <a:rPr lang="en-US" sz="1600" b="1" dirty="0">
                <a:latin typeface="-apple-system"/>
              </a:rPr>
            </a:br>
            <a:endParaRPr lang="en-US" sz="1600" dirty="0"/>
          </a:p>
        </p:txBody>
      </p:sp>
      <p:sp>
        <p:nvSpPr>
          <p:cNvPr id="10" name="Text 7"/>
          <p:cNvSpPr/>
          <p:nvPr/>
        </p:nvSpPr>
        <p:spPr>
          <a:xfrm>
            <a:off x="566928" y="3200400"/>
            <a:ext cx="5212080" cy="256032"/>
          </a:xfrm>
          <a:prstGeom prst="rect">
            <a:avLst/>
          </a:prstGeom>
          <a:noFill/>
          <a:ln/>
        </p:spPr>
        <p:txBody>
          <a:bodyPr wrap="square" lIns="0" tIns="0" rIns="0" bIns="0" rtlCol="0" anchor="ctr"/>
          <a:lstStyle/>
          <a:p>
            <a:pPr marL="0" indent="0">
              <a:buNone/>
            </a:pPr>
            <a:endParaRPr lang="en-US" sz="1100" dirty="0"/>
          </a:p>
        </p:txBody>
      </p:sp>
      <p:sp>
        <p:nvSpPr>
          <p:cNvPr id="12" name="Shape 8"/>
          <p:cNvSpPr/>
          <p:nvPr/>
        </p:nvSpPr>
        <p:spPr>
          <a:xfrm>
            <a:off x="566927" y="3928872"/>
            <a:ext cx="4919473" cy="2353056"/>
          </a:xfrm>
          <a:prstGeom prst="roundRect">
            <a:avLst>
              <a:gd name="adj" fmla="val 7200"/>
            </a:avLst>
          </a:prstGeom>
          <a:solidFill>
            <a:srgbClr val="EFF1F8"/>
          </a:solidFill>
          <a:ln w="12700">
            <a:solidFill>
              <a:srgbClr val="EFF1F8"/>
            </a:solidFill>
            <a:prstDash val="solid"/>
          </a:ln>
        </p:spPr>
      </p:sp>
      <p:sp>
        <p:nvSpPr>
          <p:cNvPr id="13" name="Text 9"/>
          <p:cNvSpPr/>
          <p:nvPr/>
        </p:nvSpPr>
        <p:spPr>
          <a:xfrm>
            <a:off x="822960" y="4083940"/>
            <a:ext cx="4663440" cy="292608"/>
          </a:xfrm>
          <a:prstGeom prst="rect">
            <a:avLst/>
          </a:prstGeom>
          <a:noFill/>
          <a:ln/>
        </p:spPr>
        <p:txBody>
          <a:bodyPr wrap="square" lIns="0" tIns="0" rIns="0" bIns="0" rtlCol="0" anchor="ctr"/>
          <a:lstStyle/>
          <a:p>
            <a:pPr marL="0" indent="0">
              <a:buNone/>
            </a:pPr>
            <a:r>
              <a:rPr lang="en-US" sz="2000" b="1" dirty="0" err="1">
                <a:solidFill>
                  <a:srgbClr val="2F3C7E"/>
                </a:solidFill>
                <a:latin typeface="Calibri" pitchFamily="34" charset="0"/>
                <a:ea typeface="Calibri" pitchFamily="34" charset="-122"/>
                <a:cs typeface="Calibri" pitchFamily="34" charset="-120"/>
              </a:rPr>
              <a:t>Bộ</a:t>
            </a:r>
            <a:r>
              <a:rPr lang="en-US" sz="2000" b="1" dirty="0">
                <a:solidFill>
                  <a:srgbClr val="2F3C7E"/>
                </a:solidFill>
                <a:latin typeface="Calibri" pitchFamily="34" charset="0"/>
                <a:ea typeface="Calibri" pitchFamily="34" charset="-122"/>
                <a:cs typeface="Calibri" pitchFamily="34" charset="-120"/>
              </a:rPr>
              <a:t> </a:t>
            </a:r>
            <a:r>
              <a:rPr lang="en-US" sz="2000" b="1" dirty="0" err="1">
                <a:solidFill>
                  <a:srgbClr val="2F3C7E"/>
                </a:solidFill>
                <a:latin typeface="Calibri" pitchFamily="34" charset="0"/>
                <a:ea typeface="Calibri" pitchFamily="34" charset="-122"/>
                <a:cs typeface="Calibri" pitchFamily="34" charset="-120"/>
              </a:rPr>
              <a:t>dữ</a:t>
            </a:r>
            <a:r>
              <a:rPr lang="en-US" sz="2000" b="1" dirty="0">
                <a:solidFill>
                  <a:srgbClr val="2F3C7E"/>
                </a:solidFill>
                <a:latin typeface="Calibri" pitchFamily="34" charset="0"/>
                <a:ea typeface="Calibri" pitchFamily="34" charset="-122"/>
                <a:cs typeface="Calibri" pitchFamily="34" charset="-120"/>
              </a:rPr>
              <a:t> </a:t>
            </a:r>
            <a:r>
              <a:rPr lang="en-US" sz="2000" b="1" dirty="0" err="1">
                <a:solidFill>
                  <a:srgbClr val="2F3C7E"/>
                </a:solidFill>
                <a:latin typeface="Calibri" pitchFamily="34" charset="0"/>
                <a:ea typeface="Calibri" pitchFamily="34" charset="-122"/>
                <a:cs typeface="Calibri" pitchFamily="34" charset="-120"/>
              </a:rPr>
              <a:t>liệu</a:t>
            </a:r>
            <a:r>
              <a:rPr lang="en-US" sz="2000" b="1" dirty="0">
                <a:solidFill>
                  <a:srgbClr val="2F3C7E"/>
                </a:solidFill>
                <a:latin typeface="Calibri" pitchFamily="34" charset="0"/>
                <a:ea typeface="Calibri" pitchFamily="34" charset="-122"/>
                <a:cs typeface="Calibri" pitchFamily="34" charset="-120"/>
              </a:rPr>
              <a:t> cross – check data Georgia</a:t>
            </a:r>
            <a:endParaRPr lang="en-US" sz="2000" dirty="0"/>
          </a:p>
        </p:txBody>
      </p:sp>
      <p:sp>
        <p:nvSpPr>
          <p:cNvPr id="14" name="Text 10"/>
          <p:cNvSpPr/>
          <p:nvPr/>
        </p:nvSpPr>
        <p:spPr>
          <a:xfrm>
            <a:off x="822960" y="4495419"/>
            <a:ext cx="4539615" cy="1705355"/>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Georgia 12-Lead ECG Challenge Database</a:t>
            </a:r>
          </a:p>
          <a:p>
            <a:pPr marL="285750" indent="-285750">
              <a:buFont typeface="Arial" panose="020B0604020202020204" pitchFamily="34" charset="0"/>
              <a:buChar char="•"/>
            </a:pPr>
            <a:r>
              <a:rPr lang="en-US" sz="1600" b="1" dirty="0">
                <a:latin typeface="Calibri" pitchFamily="34" charset="0"/>
                <a:ea typeface="Calibri" pitchFamily="34" charset="-122"/>
                <a:cs typeface="Calibri" pitchFamily="34" charset="-120"/>
              </a:rPr>
              <a:t>DOI : </a:t>
            </a:r>
            <a:r>
              <a:rPr lang="en-US" sz="1600" b="1" dirty="0"/>
              <a:t>10.13026/34va-7q14 (Challenge 2021 v1.0.3)</a:t>
            </a:r>
          </a:p>
          <a:p>
            <a:pPr marL="285750" indent="-285750">
              <a:buFont typeface="Arial" panose="020B0604020202020204" pitchFamily="34" charset="0"/>
              <a:buChar char="•"/>
            </a:pPr>
            <a:r>
              <a:rPr lang="en-US" sz="1600" dirty="0">
                <a:latin typeface="-apple-system"/>
                <a:ea typeface="Calibri" pitchFamily="34" charset="-122"/>
                <a:cs typeface="Calibri" pitchFamily="34" charset="-120"/>
              </a:rPr>
              <a:t>South East USA</a:t>
            </a:r>
            <a:endParaRPr lang="en-US" sz="1600" dirty="0">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1600" dirty="0">
                <a:latin typeface="Calibri" pitchFamily="34" charset="0"/>
                <a:ea typeface="Calibri" pitchFamily="34" charset="-122"/>
                <a:cs typeface="Calibri" pitchFamily="34" charset="-120"/>
              </a:rPr>
              <a:t>5.459 </a:t>
            </a:r>
            <a:r>
              <a:rPr lang="en-US" sz="1600" dirty="0" err="1">
                <a:latin typeface="Calibri" pitchFamily="34" charset="0"/>
                <a:ea typeface="Calibri" pitchFamily="34" charset="-122"/>
                <a:cs typeface="Calibri" pitchFamily="34" charset="-120"/>
              </a:rPr>
              <a:t>bản</a:t>
            </a:r>
            <a:r>
              <a:rPr lang="en-US" sz="1600" dirty="0">
                <a:latin typeface="Calibri" pitchFamily="34" charset="0"/>
                <a:ea typeface="Calibri" pitchFamily="34" charset="-122"/>
                <a:cs typeface="Calibri" pitchFamily="34" charset="-120"/>
              </a:rPr>
              <a:t> </a:t>
            </a:r>
            <a:r>
              <a:rPr lang="en-US" sz="1600" dirty="0" err="1">
                <a:latin typeface="Calibri" pitchFamily="34" charset="0"/>
                <a:ea typeface="Calibri" pitchFamily="34" charset="-122"/>
                <a:cs typeface="Calibri" pitchFamily="34" charset="-120"/>
              </a:rPr>
              <a:t>ghi</a:t>
            </a:r>
            <a:r>
              <a:rPr lang="en-US" sz="1600" dirty="0">
                <a:latin typeface="Calibri" pitchFamily="34" charset="0"/>
                <a:ea typeface="Calibri" pitchFamily="34" charset="-122"/>
                <a:cs typeface="Calibri" pitchFamily="34" charset="-120"/>
              </a:rPr>
              <a:t> (10s) </a:t>
            </a:r>
            <a:r>
              <a:rPr lang="en-US" sz="1600" dirty="0" err="1">
                <a:latin typeface="Calibri" pitchFamily="34" charset="0"/>
                <a:ea typeface="Calibri" pitchFamily="34" charset="-122"/>
                <a:cs typeface="Calibri" pitchFamily="34" charset="-120"/>
              </a:rPr>
              <a:t>nhãn</a:t>
            </a:r>
            <a:r>
              <a:rPr lang="en-US" sz="1600" dirty="0">
                <a:latin typeface="Calibri" pitchFamily="34" charset="0"/>
                <a:ea typeface="Calibri" pitchFamily="34" charset="-122"/>
                <a:cs typeface="Calibri" pitchFamily="34" charset="-120"/>
              </a:rPr>
              <a:t> SNOMED-CT ánh xạ về cùng 4 </a:t>
            </a:r>
            <a:r>
              <a:rPr lang="en-US" sz="1600" dirty="0" err="1">
                <a:latin typeface="Calibri" pitchFamily="34" charset="0"/>
                <a:ea typeface="Calibri" pitchFamily="34" charset="-122"/>
                <a:cs typeface="Calibri" pitchFamily="34" charset="-120"/>
              </a:rPr>
              <a:t>lớp</a:t>
            </a:r>
            <a:r>
              <a:rPr lang="en-US" sz="1600" dirty="0">
                <a:latin typeface="Calibri" pitchFamily="34" charset="0"/>
                <a:ea typeface="Calibri" pitchFamily="34" charset="-122"/>
                <a:cs typeface="Calibri" pitchFamily="34" charset="-120"/>
              </a:rPr>
              <a:t>.</a:t>
            </a:r>
            <a:endParaRPr lang="en-US" sz="1600" dirty="0"/>
          </a:p>
        </p:txBody>
      </p:sp>
      <p:sp>
        <p:nvSpPr>
          <p:cNvPr id="15" name="Shape 11"/>
          <p:cNvSpPr/>
          <p:nvPr/>
        </p:nvSpPr>
        <p:spPr>
          <a:xfrm>
            <a:off x="5962650" y="4553712"/>
            <a:ext cx="6105525" cy="1728216"/>
          </a:xfrm>
          <a:prstGeom prst="roundRect">
            <a:avLst>
              <a:gd name="adj" fmla="val 4762"/>
            </a:avLst>
          </a:prstGeom>
          <a:solidFill>
            <a:srgbClr val="F7EFEF"/>
          </a:solidFill>
          <a:ln w="12700">
            <a:solidFill>
              <a:srgbClr val="F7EFEF"/>
            </a:solidFill>
            <a:prstDash val="solid"/>
          </a:ln>
        </p:spPr>
      </p:sp>
      <p:sp>
        <p:nvSpPr>
          <p:cNvPr id="16" name="Text 12"/>
          <p:cNvSpPr/>
          <p:nvPr/>
        </p:nvSpPr>
        <p:spPr>
          <a:xfrm>
            <a:off x="6286499" y="4663440"/>
            <a:ext cx="5571363" cy="292608"/>
          </a:xfrm>
          <a:prstGeom prst="rect">
            <a:avLst/>
          </a:prstGeom>
          <a:noFill/>
          <a:ln/>
        </p:spPr>
        <p:txBody>
          <a:bodyPr wrap="square" lIns="0" tIns="0" rIns="0" bIns="0" rtlCol="0" anchor="ctr"/>
          <a:lstStyle/>
          <a:p>
            <a:pPr marL="0" indent="0">
              <a:buNone/>
            </a:pPr>
            <a:r>
              <a:rPr lang="en-US" sz="2000" b="1" dirty="0" err="1">
                <a:solidFill>
                  <a:srgbClr val="990011"/>
                </a:solidFill>
                <a:latin typeface="Calibri" pitchFamily="34" charset="0"/>
                <a:ea typeface="Calibri" pitchFamily="34" charset="-122"/>
                <a:cs typeface="Calibri" pitchFamily="34" charset="-120"/>
              </a:rPr>
              <a:t>Bốn</a:t>
            </a:r>
            <a:r>
              <a:rPr lang="en-US" sz="2000" b="1" dirty="0">
                <a:solidFill>
                  <a:srgbClr val="990011"/>
                </a:solidFill>
                <a:latin typeface="Calibri" pitchFamily="34" charset="0"/>
                <a:ea typeface="Calibri" pitchFamily="34" charset="-122"/>
                <a:cs typeface="Calibri" pitchFamily="34" charset="-120"/>
              </a:rPr>
              <a:t> nhóm nhịp cần phân loại</a:t>
            </a:r>
            <a:endParaRPr lang="en-US" sz="2000" dirty="0"/>
          </a:p>
        </p:txBody>
      </p:sp>
      <p:sp>
        <p:nvSpPr>
          <p:cNvPr id="17" name="Text 13"/>
          <p:cNvSpPr/>
          <p:nvPr/>
        </p:nvSpPr>
        <p:spPr>
          <a:xfrm>
            <a:off x="6286500" y="5010912"/>
            <a:ext cx="5571363" cy="1170432"/>
          </a:xfrm>
          <a:prstGeom prst="rect">
            <a:avLst/>
          </a:prstGeom>
          <a:noFill/>
          <a:ln/>
        </p:spPr>
        <p:txBody>
          <a:bodyPr wrap="square" lIns="0" tIns="0" rIns="0" bIns="0" rtlCol="0" anchor="t"/>
          <a:lstStyle/>
          <a:p>
            <a:pPr marL="0" indent="0">
              <a:buNone/>
            </a:pPr>
            <a:r>
              <a:rPr lang="en-US" sz="1500" b="1" dirty="0">
                <a:solidFill>
                  <a:srgbClr val="1A1C22"/>
                </a:solidFill>
                <a:latin typeface="Calibri" pitchFamily="34" charset="0"/>
                <a:ea typeface="Calibri" pitchFamily="34" charset="-122"/>
                <a:cs typeface="Calibri" pitchFamily="34" charset="-120"/>
              </a:rPr>
              <a:t>AFIB — </a:t>
            </a:r>
            <a:r>
              <a:rPr lang="en-US" sz="1500" dirty="0">
                <a:solidFill>
                  <a:srgbClr val="1A1C22"/>
                </a:solidFill>
                <a:latin typeface="Calibri" pitchFamily="34" charset="0"/>
                <a:ea typeface="Calibri" pitchFamily="34" charset="-122"/>
                <a:cs typeface="Calibri" pitchFamily="34" charset="-120"/>
              </a:rPr>
              <a:t>rung nhĩ và cuồng nhĩ (AFIB, AF)</a:t>
            </a:r>
            <a:endParaRPr lang="en-US" sz="1500" dirty="0"/>
          </a:p>
          <a:p>
            <a:pPr marL="0" indent="0">
              <a:buNone/>
            </a:pPr>
            <a:r>
              <a:rPr lang="en-US" sz="1500" b="1" dirty="0">
                <a:solidFill>
                  <a:srgbClr val="1A1C22"/>
                </a:solidFill>
                <a:latin typeface="Calibri" pitchFamily="34" charset="0"/>
                <a:ea typeface="Calibri" pitchFamily="34" charset="-122"/>
                <a:cs typeface="Calibri" pitchFamily="34" charset="-120"/>
              </a:rPr>
              <a:t>GSVT — </a:t>
            </a:r>
            <a:r>
              <a:rPr lang="en-US" sz="1500" dirty="0">
                <a:solidFill>
                  <a:srgbClr val="1A1C22"/>
                </a:solidFill>
                <a:latin typeface="Calibri" pitchFamily="34" charset="0"/>
                <a:ea typeface="Calibri" pitchFamily="34" charset="-122"/>
                <a:cs typeface="Calibri" pitchFamily="34" charset="-120"/>
              </a:rPr>
              <a:t>nhịp nhanh trên thất (ST, SVT, AT, AVNRT, AVRT, SAAWR)</a:t>
            </a:r>
            <a:endParaRPr lang="en-US" sz="1500" dirty="0"/>
          </a:p>
          <a:p>
            <a:pPr marL="0" indent="0">
              <a:buNone/>
            </a:pPr>
            <a:r>
              <a:rPr lang="en-US" sz="1500" b="1" dirty="0">
                <a:solidFill>
                  <a:srgbClr val="1A1C22"/>
                </a:solidFill>
                <a:latin typeface="Calibri" pitchFamily="34" charset="0"/>
                <a:ea typeface="Calibri" pitchFamily="34" charset="-122"/>
                <a:cs typeface="Calibri" pitchFamily="34" charset="-120"/>
              </a:rPr>
              <a:t>SB — </a:t>
            </a:r>
            <a:r>
              <a:rPr lang="en-US" sz="1500" dirty="0">
                <a:solidFill>
                  <a:srgbClr val="1A1C22"/>
                </a:solidFill>
                <a:latin typeface="Calibri" pitchFamily="34" charset="0"/>
                <a:ea typeface="Calibri" pitchFamily="34" charset="-122"/>
                <a:cs typeface="Calibri" pitchFamily="34" charset="-120"/>
              </a:rPr>
              <a:t>nhịp chậm xoang</a:t>
            </a:r>
            <a:endParaRPr lang="en-US" sz="1500" dirty="0"/>
          </a:p>
          <a:p>
            <a:pPr marL="0" indent="0">
              <a:buNone/>
            </a:pPr>
            <a:r>
              <a:rPr lang="en-US" sz="1500" b="1" dirty="0">
                <a:solidFill>
                  <a:srgbClr val="1A1C22"/>
                </a:solidFill>
                <a:latin typeface="Calibri" pitchFamily="34" charset="0"/>
                <a:ea typeface="Calibri" pitchFamily="34" charset="-122"/>
                <a:cs typeface="Calibri" pitchFamily="34" charset="-120"/>
              </a:rPr>
              <a:t>SR — </a:t>
            </a:r>
            <a:r>
              <a:rPr lang="en-US" sz="1500" dirty="0">
                <a:solidFill>
                  <a:srgbClr val="1A1C22"/>
                </a:solidFill>
                <a:latin typeface="Calibri" pitchFamily="34" charset="0"/>
                <a:ea typeface="Calibri" pitchFamily="34" charset="-122"/>
                <a:cs typeface="Calibri" pitchFamily="34" charset="-120"/>
              </a:rPr>
              <a:t>nhịp xoang bình thường (SR, SA)</a:t>
            </a:r>
            <a:endParaRPr lang="en-US" sz="1500" dirty="0"/>
          </a:p>
        </p:txBody>
      </p:sp>
      <p:sp>
        <p:nvSpPr>
          <p:cNvPr id="20" name="Text 0">
            <a:extLst>
              <a:ext uri="{FF2B5EF4-FFF2-40B4-BE49-F238E27FC236}">
                <a16:creationId xmlns:a16="http://schemas.microsoft.com/office/drawing/2014/main" id="{7CF8D64F-1860-9914-EFE4-43FDA71BE270}"/>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29820-7494-0413-5556-41C9FED30DB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997BEE7-1DB1-FF9C-7993-A18631D313FF}"/>
              </a:ext>
            </a:extLst>
          </p:cNvPr>
          <p:cNvSpPr/>
          <p:nvPr/>
        </p:nvSpPr>
        <p:spPr>
          <a:xfrm>
            <a:off x="566928" y="651891"/>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3.3 </a:t>
            </a:r>
            <a:r>
              <a:rPr lang="en-US" sz="2700" b="1" dirty="0" err="1">
                <a:solidFill>
                  <a:srgbClr val="1A1C22"/>
                </a:solidFill>
                <a:latin typeface="Cambria" pitchFamily="34" charset="0"/>
                <a:ea typeface="Cambria" pitchFamily="34" charset="-122"/>
                <a:cs typeface="Cambria" pitchFamily="34" charset="-120"/>
              </a:rPr>
              <a:t>Tiền</a:t>
            </a:r>
            <a:r>
              <a:rPr lang="en-US" sz="2700" b="1" dirty="0">
                <a:solidFill>
                  <a:srgbClr val="1A1C22"/>
                </a:solidFill>
                <a:latin typeface="Cambria" pitchFamily="34" charset="0"/>
                <a:ea typeface="Cambria" pitchFamily="34" charset="-122"/>
                <a:cs typeface="Cambria" pitchFamily="34" charset="-120"/>
              </a:rPr>
              <a:t> xử lý tín hiệu</a:t>
            </a:r>
            <a:endParaRPr lang="en-US" sz="2700" dirty="0"/>
          </a:p>
        </p:txBody>
      </p:sp>
      <p:sp>
        <p:nvSpPr>
          <p:cNvPr id="7" name="Shape 4">
            <a:extLst>
              <a:ext uri="{FF2B5EF4-FFF2-40B4-BE49-F238E27FC236}">
                <a16:creationId xmlns:a16="http://schemas.microsoft.com/office/drawing/2014/main" id="{3AABBC57-C015-9342-604C-11D9D1E4C949}"/>
              </a:ext>
            </a:extLst>
          </p:cNvPr>
          <p:cNvSpPr/>
          <p:nvPr/>
        </p:nvSpPr>
        <p:spPr>
          <a:xfrm>
            <a:off x="566928" y="1298448"/>
            <a:ext cx="11055096" cy="2886690"/>
          </a:xfrm>
          <a:prstGeom prst="roundRect">
            <a:avLst>
              <a:gd name="adj" fmla="val 4688"/>
            </a:avLst>
          </a:prstGeom>
          <a:solidFill>
            <a:srgbClr val="F7EFEF"/>
          </a:solidFill>
          <a:ln w="12700">
            <a:solidFill>
              <a:srgbClr val="F7EFEF"/>
            </a:solidFill>
            <a:prstDash val="solid"/>
          </a:ln>
        </p:spPr>
        <p:txBody>
          <a:bodyPr/>
          <a:lstStyle/>
          <a:p>
            <a:pPr marL="342900" indent="-342900">
              <a:spcAft>
                <a:spcPts val="700"/>
              </a:spcAft>
              <a:buSzPct val="100000"/>
              <a:buChar char="•"/>
            </a:pPr>
            <a:r>
              <a:rPr lang="en-US" dirty="0" err="1">
                <a:solidFill>
                  <a:schemeClr val="accent1"/>
                </a:solidFill>
                <a:latin typeface="Calibri" pitchFamily="34" charset="0"/>
                <a:ea typeface="Calibri" pitchFamily="34" charset="-122"/>
                <a:cs typeface="Calibri" pitchFamily="34" charset="-120"/>
              </a:rPr>
              <a:t>Trích</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chuyển</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đạo</a:t>
            </a:r>
            <a:r>
              <a:rPr lang="en-US" dirty="0">
                <a:solidFill>
                  <a:schemeClr val="accent1"/>
                </a:solidFill>
                <a:latin typeface="Calibri" pitchFamily="34" charset="0"/>
                <a:ea typeface="Calibri" pitchFamily="34" charset="-122"/>
                <a:cs typeface="Calibri" pitchFamily="34" charset="-120"/>
              </a:rPr>
              <a:t> II </a:t>
            </a:r>
            <a:r>
              <a:rPr lang="en-US" dirty="0" err="1">
                <a:solidFill>
                  <a:schemeClr val="accent1"/>
                </a:solidFill>
                <a:latin typeface="Calibri" pitchFamily="34" charset="0"/>
                <a:ea typeface="Calibri" pitchFamily="34" charset="-122"/>
                <a:cs typeface="Calibri" pitchFamily="34" charset="-120"/>
              </a:rPr>
              <a:t>làm</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đầu</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vào</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đơn</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kênh</a:t>
            </a:r>
            <a:r>
              <a:rPr lang="en-US" dirty="0">
                <a:solidFill>
                  <a:schemeClr val="accent1"/>
                </a:solidFill>
                <a:latin typeface="Calibri" pitchFamily="34" charset="0"/>
                <a:ea typeface="Calibri" pitchFamily="34" charset="-122"/>
                <a:cs typeface="Calibri" pitchFamily="34" charset="-120"/>
              </a:rPr>
              <a:t>.</a:t>
            </a:r>
            <a:endParaRPr lang="en-US" dirty="0">
              <a:solidFill>
                <a:schemeClr val="accent1"/>
              </a:solidFill>
            </a:endParaRPr>
          </a:p>
          <a:p>
            <a:pPr marL="342900" indent="-342900">
              <a:spcAft>
                <a:spcPts val="700"/>
              </a:spcAft>
              <a:buSzPct val="100000"/>
              <a:buChar char="•"/>
            </a:pPr>
            <a:r>
              <a:rPr lang="en-US" dirty="0" err="1">
                <a:solidFill>
                  <a:schemeClr val="accent1"/>
                </a:solidFill>
                <a:latin typeface="Calibri" pitchFamily="34" charset="0"/>
                <a:ea typeface="Calibri" pitchFamily="34" charset="-122"/>
                <a:cs typeface="Calibri" pitchFamily="34" charset="-120"/>
              </a:rPr>
              <a:t>Lấy</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mẫu</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lại</a:t>
            </a:r>
            <a:r>
              <a:rPr lang="en-US" dirty="0">
                <a:solidFill>
                  <a:schemeClr val="accent1"/>
                </a:solidFill>
                <a:latin typeface="Calibri" pitchFamily="34" charset="0"/>
                <a:ea typeface="Calibri" pitchFamily="34" charset="-122"/>
                <a:cs typeface="Calibri" pitchFamily="34" charset="-120"/>
              </a:rPr>
              <a:t> 500 → 250 Hz: </a:t>
            </a:r>
            <a:r>
              <a:rPr lang="en-US" dirty="0" err="1">
                <a:solidFill>
                  <a:schemeClr val="accent1"/>
                </a:solidFill>
                <a:latin typeface="Calibri" pitchFamily="34" charset="0"/>
                <a:ea typeface="Calibri" pitchFamily="34" charset="-122"/>
                <a:cs typeface="Calibri" pitchFamily="34" charset="-120"/>
              </a:rPr>
              <a:t>cửa</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sổ</a:t>
            </a:r>
            <a:r>
              <a:rPr lang="en-US" dirty="0">
                <a:solidFill>
                  <a:schemeClr val="accent1"/>
                </a:solidFill>
                <a:latin typeface="Calibri" pitchFamily="34" charset="0"/>
                <a:ea typeface="Calibri" pitchFamily="34" charset="-122"/>
                <a:cs typeface="Calibri" pitchFamily="34" charset="-120"/>
              </a:rPr>
              <a:t> 10 s </a:t>
            </a:r>
            <a:r>
              <a:rPr lang="en-US" dirty="0" err="1">
                <a:solidFill>
                  <a:schemeClr val="accent1"/>
                </a:solidFill>
                <a:latin typeface="Calibri" pitchFamily="34" charset="0"/>
                <a:ea typeface="Calibri" pitchFamily="34" charset="-122"/>
                <a:cs typeface="Calibri" pitchFamily="34" charset="-120"/>
              </a:rPr>
              <a:t>từ</a:t>
            </a:r>
            <a:r>
              <a:rPr lang="en-US" dirty="0">
                <a:solidFill>
                  <a:schemeClr val="accent1"/>
                </a:solidFill>
                <a:latin typeface="Calibri" pitchFamily="34" charset="0"/>
                <a:ea typeface="Calibri" pitchFamily="34" charset="-122"/>
                <a:cs typeface="Calibri" pitchFamily="34" charset="-120"/>
              </a:rPr>
              <a:t> 5000 </a:t>
            </a:r>
            <a:r>
              <a:rPr lang="en-US" dirty="0" err="1">
                <a:solidFill>
                  <a:schemeClr val="accent1"/>
                </a:solidFill>
                <a:latin typeface="Calibri" pitchFamily="34" charset="0"/>
                <a:ea typeface="Calibri" pitchFamily="34" charset="-122"/>
                <a:cs typeface="Calibri" pitchFamily="34" charset="-120"/>
              </a:rPr>
              <a:t>xuống</a:t>
            </a:r>
            <a:r>
              <a:rPr lang="en-US" dirty="0">
                <a:solidFill>
                  <a:schemeClr val="accent1"/>
                </a:solidFill>
                <a:latin typeface="Calibri" pitchFamily="34" charset="0"/>
                <a:ea typeface="Calibri" pitchFamily="34" charset="-122"/>
                <a:cs typeface="Calibri" pitchFamily="34" charset="-120"/>
              </a:rPr>
              <a:t> 2500 </a:t>
            </a:r>
            <a:r>
              <a:rPr lang="en-US" dirty="0" err="1">
                <a:solidFill>
                  <a:schemeClr val="accent1"/>
                </a:solidFill>
                <a:latin typeface="Calibri" pitchFamily="34" charset="0"/>
                <a:ea typeface="Calibri" pitchFamily="34" charset="-122"/>
                <a:cs typeface="Calibri" pitchFamily="34" charset="-120"/>
              </a:rPr>
              <a:t>mẫu</a:t>
            </a:r>
            <a:r>
              <a:rPr lang="en-US" dirty="0">
                <a:solidFill>
                  <a:srgbClr val="1A1C22"/>
                </a:solidFill>
                <a:latin typeface="Calibri" pitchFamily="34" charset="0"/>
                <a:ea typeface="Calibri" pitchFamily="34" charset="-122"/>
                <a:cs typeface="Calibri" pitchFamily="34" charset="-120"/>
              </a:rPr>
              <a:t>.</a:t>
            </a:r>
          </a:p>
          <a:p>
            <a:pPr marL="342900" indent="0">
              <a:spcAft>
                <a:spcPts val="700"/>
              </a:spcAft>
              <a:buSzPct val="100000"/>
              <a:buNone/>
            </a:pPr>
            <a:r>
              <a:rPr lang="en-US" sz="1600" i="1" dirty="0" err="1">
                <a:solidFill>
                  <a:srgbClr val="1A1C22"/>
                </a:solidFill>
                <a:latin typeface="Cambria Math" panose="02040503050406030204" pitchFamily="18" charset="0"/>
                <a:cs typeface="Cambria Math" panose="02040503050406030204" pitchFamily="18" charset="0"/>
              </a:rPr>
              <a:t>x</a:t>
            </a:r>
            <a:r>
              <a:rPr lang="en-US" sz="1600" baseline="-25000" dirty="0" err="1">
                <a:solidFill>
                  <a:srgbClr val="1A1C22"/>
                </a:solidFill>
                <a:latin typeface="Cambria Math" panose="02040503050406030204" pitchFamily="18" charset="0"/>
                <a:cs typeface="Cambria Math" panose="02040503050406030204" pitchFamily="18" charset="0"/>
              </a:rPr>
              <a:t>ds</a:t>
            </a:r>
            <a:r>
              <a:rPr lang="en-US" sz="1600" dirty="0">
                <a:solidFill>
                  <a:srgbClr val="1A1C22"/>
                </a:solidFill>
                <a:latin typeface="Cambria Math" panose="02040503050406030204" pitchFamily="18" charset="0"/>
                <a:cs typeface="Cambria Math" panose="02040503050406030204" pitchFamily="18" charset="0"/>
              </a:rPr>
              <a:t> = IDFT( LPF( DFT(</a:t>
            </a:r>
            <a:r>
              <a:rPr lang="en-US" sz="1600" i="1" dirty="0" err="1">
                <a:solidFill>
                  <a:srgbClr val="1A1C22"/>
                </a:solidFill>
                <a:latin typeface="Cambria Math" panose="02040503050406030204" pitchFamily="18" charset="0"/>
                <a:cs typeface="Cambria Math" panose="02040503050406030204" pitchFamily="18" charset="0"/>
              </a:rPr>
              <a:t>x</a:t>
            </a:r>
            <a:r>
              <a:rPr lang="en-US" sz="1600" baseline="-25000" dirty="0" err="1">
                <a:solidFill>
                  <a:srgbClr val="1A1C22"/>
                </a:solidFill>
                <a:latin typeface="Cambria Math" panose="02040503050406030204" pitchFamily="18" charset="0"/>
                <a:cs typeface="Cambria Math" panose="02040503050406030204" pitchFamily="18" charset="0"/>
              </a:rPr>
              <a:t>raw</a:t>
            </a:r>
            <a:r>
              <a:rPr lang="en-US" sz="1600" dirty="0">
                <a:solidFill>
                  <a:srgbClr val="1A1C22"/>
                </a:solidFill>
                <a:latin typeface="Cambria Math" panose="02040503050406030204" pitchFamily="18" charset="0"/>
                <a:cs typeface="Cambria Math" panose="02040503050406030204" pitchFamily="18" charset="0"/>
              </a:rPr>
              <a:t>) ) )</a:t>
            </a:r>
            <a:r>
              <a:rPr lang="vi-VN" sz="1600" dirty="0">
                <a:solidFill>
                  <a:srgbClr val="1A1C22"/>
                </a:solidFill>
                <a:latin typeface="Calibri" pitchFamily="34" charset="0"/>
                <a:ea typeface="Calibri" pitchFamily="34" charset="-122"/>
                <a:cs typeface="Calibri" pitchFamily="34" charset="-120"/>
              </a:rPr>
              <a:t>, tần số cắt 125 Hz — lấy mẫu lại trong miền tần số, lọc trước rồi mới giảm mẫu nên không gây chồng phổ.</a:t>
            </a:r>
            <a:endParaRPr lang="en-US" sz="1600" dirty="0"/>
          </a:p>
          <a:p>
            <a:pPr marL="342900" indent="-342900">
              <a:spcAft>
                <a:spcPts val="700"/>
              </a:spcAft>
              <a:buSzPct val="100000"/>
              <a:buChar char="•"/>
            </a:pPr>
            <a:r>
              <a:rPr lang="en-US" dirty="0" err="1">
                <a:solidFill>
                  <a:schemeClr val="accent1"/>
                </a:solidFill>
                <a:latin typeface="Calibri" pitchFamily="34" charset="0"/>
                <a:ea typeface="Calibri" pitchFamily="34" charset="-122"/>
                <a:cs typeface="Calibri" pitchFamily="34" charset="-120"/>
              </a:rPr>
              <a:t>Chuẩn</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hoá</a:t>
            </a:r>
            <a:r>
              <a:rPr lang="en-US" dirty="0">
                <a:solidFill>
                  <a:schemeClr val="accent1"/>
                </a:solidFill>
                <a:latin typeface="Calibri" pitchFamily="34" charset="0"/>
                <a:ea typeface="Calibri" pitchFamily="34" charset="-122"/>
                <a:cs typeface="Calibri" pitchFamily="34" charset="-120"/>
              </a:rPr>
              <a:t> Z-score </a:t>
            </a:r>
            <a:r>
              <a:rPr lang="en-US" dirty="0" err="1">
                <a:solidFill>
                  <a:schemeClr val="accent1"/>
                </a:solidFill>
                <a:latin typeface="Calibri" pitchFamily="34" charset="0"/>
                <a:ea typeface="Calibri" pitchFamily="34" charset="-122"/>
                <a:cs typeface="Calibri" pitchFamily="34" charset="-120"/>
              </a:rPr>
              <a:t>theo</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từng</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bản</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ghi</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đưa</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mọi</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bản</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ghi</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về</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cùng</a:t>
            </a:r>
            <a:r>
              <a:rPr lang="en-US" dirty="0">
                <a:solidFill>
                  <a:schemeClr val="accent1"/>
                </a:solidFill>
                <a:latin typeface="Calibri" pitchFamily="34" charset="0"/>
                <a:ea typeface="Calibri" pitchFamily="34" charset="-122"/>
                <a:cs typeface="Calibri" pitchFamily="34" charset="-120"/>
              </a:rPr>
              <a:t> thang </a:t>
            </a:r>
            <a:r>
              <a:rPr lang="en-US" dirty="0" err="1">
                <a:solidFill>
                  <a:schemeClr val="accent1"/>
                </a:solidFill>
                <a:latin typeface="Calibri" pitchFamily="34" charset="0"/>
                <a:ea typeface="Calibri" pitchFamily="34" charset="-122"/>
                <a:cs typeface="Calibri" pitchFamily="34" charset="-120"/>
              </a:rPr>
              <a:t>biên</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độ</a:t>
            </a:r>
            <a:r>
              <a:rPr lang="en-US" dirty="0">
                <a:solidFill>
                  <a:schemeClr val="accent1"/>
                </a:solidFill>
                <a:latin typeface="Calibri" pitchFamily="34" charset="0"/>
                <a:ea typeface="Calibri" pitchFamily="34" charset="-122"/>
                <a:cs typeface="Calibri" pitchFamily="34" charset="-120"/>
              </a:rPr>
              <a:t>.</a:t>
            </a:r>
          </a:p>
          <a:p>
            <a:pPr marL="342900" indent="0">
              <a:spcAft>
                <a:spcPts val="700"/>
              </a:spcAft>
              <a:buSzPct val="100000"/>
              <a:buNone/>
            </a:pPr>
            <a:r>
              <a:rPr lang="en-US" sz="1600" i="1" dirty="0" err="1">
                <a:solidFill>
                  <a:srgbClr val="1A1C22"/>
                </a:solidFill>
                <a:latin typeface="Cambria Math" panose="02040503050406030204" pitchFamily="18" charset="0"/>
                <a:cs typeface="Cambria Math" panose="02040503050406030204" pitchFamily="18" charset="0"/>
              </a:rPr>
              <a:t>x</a:t>
            </a:r>
            <a:r>
              <a:rPr lang="en-US" sz="1600" baseline="-25000" dirty="0" err="1">
                <a:solidFill>
                  <a:srgbClr val="1A1C22"/>
                </a:solidFill>
                <a:latin typeface="Cambria Math" panose="02040503050406030204" pitchFamily="18" charset="0"/>
                <a:cs typeface="Cambria Math" panose="02040503050406030204" pitchFamily="18" charset="0"/>
              </a:rPr>
              <a:t>norm</a:t>
            </a:r>
            <a:r>
              <a:rPr lang="en-US" sz="1600" dirty="0">
                <a:solidFill>
                  <a:srgbClr val="1A1C22"/>
                </a:solidFill>
                <a:latin typeface="Cambria Math" panose="02040503050406030204" pitchFamily="18" charset="0"/>
                <a:cs typeface="Cambria Math" panose="02040503050406030204" pitchFamily="18" charset="0"/>
              </a:rPr>
              <a:t> = (</a:t>
            </a:r>
            <a:r>
              <a:rPr lang="en-US" sz="1600" i="1" dirty="0" err="1">
                <a:solidFill>
                  <a:srgbClr val="1A1C22"/>
                </a:solidFill>
                <a:latin typeface="Cambria Math" panose="02040503050406030204" pitchFamily="18" charset="0"/>
                <a:cs typeface="Cambria Math" panose="02040503050406030204" pitchFamily="18" charset="0"/>
              </a:rPr>
              <a:t>x</a:t>
            </a:r>
            <a:r>
              <a:rPr lang="en-US" sz="1600" baseline="-25000" dirty="0" err="1">
                <a:solidFill>
                  <a:srgbClr val="1A1C22"/>
                </a:solidFill>
                <a:latin typeface="Cambria Math" panose="02040503050406030204" pitchFamily="18" charset="0"/>
                <a:cs typeface="Cambria Math" panose="02040503050406030204" pitchFamily="18" charset="0"/>
              </a:rPr>
              <a:t>ds</a:t>
            </a:r>
            <a:r>
              <a:rPr lang="en-US" sz="1600" dirty="0">
                <a:solidFill>
                  <a:srgbClr val="1A1C22"/>
                </a:solidFill>
                <a:latin typeface="Cambria Math" panose="02040503050406030204" pitchFamily="18" charset="0"/>
                <a:cs typeface="Cambria Math" panose="02040503050406030204" pitchFamily="18" charset="0"/>
              </a:rPr>
              <a:t> − </a:t>
            </a:r>
            <a:r>
              <a:rPr lang="el-GR" sz="1600" i="1" dirty="0">
                <a:solidFill>
                  <a:srgbClr val="1A1C22"/>
                </a:solidFill>
                <a:latin typeface="Cambria Math" panose="02040503050406030204" pitchFamily="18" charset="0"/>
                <a:cs typeface="Cambria Math" panose="02040503050406030204" pitchFamily="18" charset="0"/>
              </a:rPr>
              <a:t>μ</a:t>
            </a:r>
            <a:r>
              <a:rPr lang="en-US" sz="1600" dirty="0">
                <a:solidFill>
                  <a:srgbClr val="1A1C22"/>
                </a:solidFill>
                <a:latin typeface="Cambria Math" panose="02040503050406030204" pitchFamily="18" charset="0"/>
                <a:cs typeface="Cambria Math" panose="02040503050406030204" pitchFamily="18" charset="0"/>
              </a:rPr>
              <a:t>) / (</a:t>
            </a:r>
            <a:r>
              <a:rPr lang="el-GR" sz="1600" i="1" dirty="0">
                <a:solidFill>
                  <a:srgbClr val="1A1C22"/>
                </a:solidFill>
                <a:latin typeface="Cambria Math" panose="02040503050406030204" pitchFamily="18" charset="0"/>
                <a:cs typeface="Cambria Math" panose="02040503050406030204" pitchFamily="18" charset="0"/>
              </a:rPr>
              <a:t>σ</a:t>
            </a:r>
            <a:r>
              <a:rPr lang="en-US" sz="1600" dirty="0">
                <a:solidFill>
                  <a:srgbClr val="1A1C22"/>
                </a:solidFill>
                <a:latin typeface="Cambria Math" panose="02040503050406030204" pitchFamily="18" charset="0"/>
                <a:cs typeface="Cambria Math" panose="02040503050406030204" pitchFamily="18" charset="0"/>
              </a:rPr>
              <a:t> + </a:t>
            </a:r>
            <a:r>
              <a:rPr lang="el-GR" sz="1600" i="1" dirty="0">
                <a:solidFill>
                  <a:srgbClr val="1A1C22"/>
                </a:solidFill>
                <a:latin typeface="Cambria Math" panose="02040503050406030204" pitchFamily="18" charset="0"/>
                <a:cs typeface="Cambria Math" panose="02040503050406030204" pitchFamily="18" charset="0"/>
              </a:rPr>
              <a:t>ε</a:t>
            </a:r>
            <a:r>
              <a:rPr lang="en-US" sz="1600" dirty="0">
                <a:solidFill>
                  <a:srgbClr val="1A1C22"/>
                </a:solidFill>
                <a:latin typeface="Cambria Math" panose="02040503050406030204" pitchFamily="18" charset="0"/>
                <a:cs typeface="Cambria Math" panose="02040503050406030204" pitchFamily="18" charset="0"/>
              </a:rPr>
              <a:t>), </a:t>
            </a:r>
            <a:r>
              <a:rPr lang="el-GR" sz="1600" i="1" dirty="0">
                <a:solidFill>
                  <a:srgbClr val="1A1C22"/>
                </a:solidFill>
                <a:latin typeface="Cambria Math" panose="02040503050406030204" pitchFamily="18" charset="0"/>
                <a:cs typeface="Cambria Math" panose="02040503050406030204" pitchFamily="18" charset="0"/>
              </a:rPr>
              <a:t>ε</a:t>
            </a:r>
            <a:r>
              <a:rPr lang="en-US" sz="1600" dirty="0">
                <a:solidFill>
                  <a:srgbClr val="1A1C22"/>
                </a:solidFill>
                <a:latin typeface="Cambria Math" panose="02040503050406030204" pitchFamily="18" charset="0"/>
                <a:cs typeface="Cambria Math" panose="02040503050406030204" pitchFamily="18" charset="0"/>
              </a:rPr>
              <a:t> = 10</a:t>
            </a:r>
            <a:r>
              <a:rPr lang="en-US" sz="1600" baseline="30000" dirty="0">
                <a:solidFill>
                  <a:srgbClr val="1A1C22"/>
                </a:solidFill>
                <a:latin typeface="Cambria Math" panose="02040503050406030204" pitchFamily="18" charset="0"/>
                <a:cs typeface="Cambria Math" panose="02040503050406030204" pitchFamily="18" charset="0"/>
              </a:rPr>
              <a:t>−8</a:t>
            </a:r>
            <a:r>
              <a:rPr lang="vi-VN" sz="1600" dirty="0">
                <a:solidFill>
                  <a:srgbClr val="1A1C22"/>
                </a:solidFill>
                <a:latin typeface="Calibri" pitchFamily="34" charset="0"/>
                <a:ea typeface="Calibri" pitchFamily="34" charset="-122"/>
                <a:cs typeface="Calibri" pitchFamily="34" charset="-120"/>
              </a:rPr>
              <a:t> — </a:t>
            </a:r>
            <a:r>
              <a:rPr lang="el-GR" sz="1600" i="1" dirty="0">
                <a:solidFill>
                  <a:srgbClr val="1A1C22"/>
                </a:solidFill>
                <a:latin typeface="Cambria Math" panose="02040503050406030204" pitchFamily="18" charset="0"/>
                <a:cs typeface="Cambria Math" panose="02040503050406030204" pitchFamily="18" charset="0"/>
              </a:rPr>
              <a:t>μ</a:t>
            </a:r>
            <a:r>
              <a:rPr lang="vi-VN" sz="1600" dirty="0">
                <a:solidFill>
                  <a:srgbClr val="1A1C22"/>
                </a:solidFill>
                <a:latin typeface="Calibri" pitchFamily="34" charset="0"/>
                <a:ea typeface="Calibri" pitchFamily="34" charset="-122"/>
                <a:cs typeface="Calibri" pitchFamily="34" charset="-120"/>
              </a:rPr>
              <a:t> và </a:t>
            </a:r>
            <a:r>
              <a:rPr lang="el-GR" sz="1600" i="1" dirty="0">
                <a:solidFill>
                  <a:srgbClr val="1A1C22"/>
                </a:solidFill>
                <a:latin typeface="Cambria Math" panose="02040503050406030204" pitchFamily="18" charset="0"/>
                <a:cs typeface="Cambria Math" panose="02040503050406030204" pitchFamily="18" charset="0"/>
              </a:rPr>
              <a:t>σ</a:t>
            </a:r>
            <a:r>
              <a:rPr lang="vi-VN" sz="1600" dirty="0">
                <a:solidFill>
                  <a:srgbClr val="1A1C22"/>
                </a:solidFill>
                <a:latin typeface="Calibri" pitchFamily="34" charset="0"/>
                <a:ea typeface="Calibri" pitchFamily="34" charset="-122"/>
                <a:cs typeface="Calibri" pitchFamily="34" charset="-120"/>
              </a:rPr>
              <a:t> tính trên chính bản ghi đó, nên không mang thông tin từ tập huấn luyện sang tập kiểm tra.</a:t>
            </a:r>
            <a:endParaRPr lang="en-US" sz="1600" dirty="0"/>
          </a:p>
          <a:p>
            <a:pPr marL="342900" indent="-342900">
              <a:spcAft>
                <a:spcPts val="700"/>
              </a:spcAft>
              <a:buSzPct val="100000"/>
              <a:buChar char="•"/>
            </a:pPr>
            <a:r>
              <a:rPr lang="en-US" dirty="0">
                <a:solidFill>
                  <a:schemeClr val="accent1"/>
                </a:solidFill>
                <a:latin typeface="Calibri" pitchFamily="34" charset="0"/>
                <a:ea typeface="Calibri" pitchFamily="34" charset="-122"/>
                <a:cs typeface="Calibri" pitchFamily="34" charset="-120"/>
              </a:rPr>
              <a:t>Chia </a:t>
            </a:r>
            <a:r>
              <a:rPr lang="en-US" dirty="0" err="1">
                <a:solidFill>
                  <a:schemeClr val="accent1"/>
                </a:solidFill>
                <a:latin typeface="Calibri" pitchFamily="34" charset="0"/>
                <a:ea typeface="Calibri" pitchFamily="34" charset="-122"/>
                <a:cs typeface="Calibri" pitchFamily="34" charset="-120"/>
              </a:rPr>
              <a:t>tập</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dữ</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liệu</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độc</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lập</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theo</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bệnh</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nhân</a:t>
            </a:r>
            <a:r>
              <a:rPr lang="en-US" dirty="0">
                <a:solidFill>
                  <a:schemeClr val="accent1"/>
                </a:solidFill>
                <a:latin typeface="Calibri" pitchFamily="34" charset="0"/>
                <a:ea typeface="Calibri" pitchFamily="34" charset="-122"/>
                <a:cs typeface="Calibri" pitchFamily="34" charset="-120"/>
              </a:rPr>
              <a:t>.</a:t>
            </a:r>
            <a:endParaRPr lang="en-US" dirty="0">
              <a:solidFill>
                <a:schemeClr val="accent1"/>
              </a:solidFill>
            </a:endParaRPr>
          </a:p>
          <a:p>
            <a:endParaRPr lang="en-US" dirty="0"/>
          </a:p>
        </p:txBody>
      </p:sp>
      <p:sp>
        <p:nvSpPr>
          <p:cNvPr id="8" name="Text 5">
            <a:extLst>
              <a:ext uri="{FF2B5EF4-FFF2-40B4-BE49-F238E27FC236}">
                <a16:creationId xmlns:a16="http://schemas.microsoft.com/office/drawing/2014/main" id="{42C443A9-359C-7F32-09B2-44FDB4197A9B}"/>
              </a:ext>
            </a:extLst>
          </p:cNvPr>
          <p:cNvSpPr/>
          <p:nvPr/>
        </p:nvSpPr>
        <p:spPr>
          <a:xfrm>
            <a:off x="822960" y="1417320"/>
            <a:ext cx="4663440" cy="292608"/>
          </a:xfrm>
          <a:prstGeom prst="rect">
            <a:avLst/>
          </a:prstGeom>
          <a:noFill/>
          <a:ln/>
        </p:spPr>
        <p:txBody>
          <a:bodyPr wrap="square" lIns="0" tIns="0" rIns="0" bIns="0" rtlCol="0" anchor="ctr"/>
          <a:lstStyle/>
          <a:p>
            <a:pPr marL="0" indent="0">
              <a:buNone/>
            </a:pPr>
            <a:endParaRPr lang="en-US" sz="2000" dirty="0"/>
          </a:p>
        </p:txBody>
      </p:sp>
      <p:graphicFrame>
        <p:nvGraphicFramePr>
          <p:cNvPr id="11" name="Table 0">
            <a:extLst>
              <a:ext uri="{FF2B5EF4-FFF2-40B4-BE49-F238E27FC236}">
                <a16:creationId xmlns:a16="http://schemas.microsoft.com/office/drawing/2014/main" id="{7DE20D3F-9CE5-39AD-D44E-81870BA7DA9E}"/>
              </a:ext>
            </a:extLst>
          </p:cNvPr>
          <p:cNvGraphicFramePr>
            <a:graphicFrameLocks noGrp="1"/>
          </p:cNvGraphicFramePr>
          <p:nvPr>
            <p:extLst>
              <p:ext uri="{D42A27DB-BD31-4B8C-83A1-F6EECF244321}">
                <p14:modId xmlns:p14="http://schemas.microsoft.com/office/powerpoint/2010/main" val="4181287751"/>
              </p:ext>
            </p:extLst>
          </p:nvPr>
        </p:nvGraphicFramePr>
        <p:xfrm>
          <a:off x="1576578" y="4546854"/>
          <a:ext cx="8672322" cy="1828800"/>
        </p:xfrm>
        <a:graphic>
          <a:graphicData uri="http://schemas.openxmlformats.org/drawingml/2006/table">
            <a:tbl>
              <a:tblPr/>
              <a:tblGrid>
                <a:gridCol w="2053971">
                  <a:extLst>
                    <a:ext uri="{9D8B030D-6E8A-4147-A177-3AD203B41FA5}">
                      <a16:colId xmlns:a16="http://schemas.microsoft.com/office/drawing/2014/main" val="20000"/>
                    </a:ext>
                  </a:extLst>
                </a:gridCol>
                <a:gridCol w="1749679">
                  <a:extLst>
                    <a:ext uri="{9D8B030D-6E8A-4147-A177-3AD203B41FA5}">
                      <a16:colId xmlns:a16="http://schemas.microsoft.com/office/drawing/2014/main" val="20001"/>
                    </a:ext>
                  </a:extLst>
                </a:gridCol>
                <a:gridCol w="1217168">
                  <a:extLst>
                    <a:ext uri="{9D8B030D-6E8A-4147-A177-3AD203B41FA5}">
                      <a16:colId xmlns:a16="http://schemas.microsoft.com/office/drawing/2014/main" val="20002"/>
                    </a:ext>
                  </a:extLst>
                </a:gridCol>
                <a:gridCol w="3651504">
                  <a:extLst>
                    <a:ext uri="{9D8B030D-6E8A-4147-A177-3AD203B41FA5}">
                      <a16:colId xmlns:a16="http://schemas.microsoft.com/office/drawing/2014/main" val="20003"/>
                    </a:ext>
                  </a:extLst>
                </a:gridCol>
              </a:tblGrid>
              <a:tr h="301752">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Tập</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Số bản ghi</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Tỉ lệ</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Vai trò</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30175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Huấn luyện</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23.198</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70 %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Cập nhật trọng số</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Kiểm định</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4.972</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15 %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Chọn mô hình tốt nhất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30175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Kiểm tra</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4.973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15 %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Đánh giá cuối cùng</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Tổng</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33.143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100 %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bl>
          </a:graphicData>
        </a:graphic>
      </p:graphicFrame>
      <p:sp>
        <p:nvSpPr>
          <p:cNvPr id="18" name="Text 0">
            <a:extLst>
              <a:ext uri="{FF2B5EF4-FFF2-40B4-BE49-F238E27FC236}">
                <a16:creationId xmlns:a16="http://schemas.microsoft.com/office/drawing/2014/main" id="{8A644864-10BB-28CE-7957-410F9BCC8B98}"/>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Tree>
    <p:extLst>
      <p:ext uri="{BB962C8B-B14F-4D97-AF65-F5344CB8AC3E}">
        <p14:creationId xmlns:p14="http://schemas.microsoft.com/office/powerpoint/2010/main" val="2528459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710946"/>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3.4.1 </a:t>
            </a:r>
            <a:r>
              <a:rPr lang="en-US" sz="2700" b="1" dirty="0" err="1">
                <a:solidFill>
                  <a:srgbClr val="1A1C22"/>
                </a:solidFill>
                <a:latin typeface="Cambria" pitchFamily="34" charset="0"/>
                <a:ea typeface="Cambria" pitchFamily="34" charset="-122"/>
                <a:cs typeface="Cambria" pitchFamily="34" charset="-120"/>
              </a:rPr>
              <a:t>Mô</a:t>
            </a:r>
            <a:r>
              <a:rPr lang="en-US" sz="2700" b="1" dirty="0">
                <a:solidFill>
                  <a:srgbClr val="1A1C22"/>
                </a:solidFill>
                <a:latin typeface="Cambria" pitchFamily="34" charset="0"/>
                <a:ea typeface="Cambria" pitchFamily="34" charset="-122"/>
                <a:cs typeface="Cambria" pitchFamily="34" charset="-120"/>
              </a:rPr>
              <a:t> hình 1D-CNN và quy trình huấn luyện</a:t>
            </a:r>
            <a:endParaRPr lang="en-US" sz="2700" dirty="0"/>
          </a:p>
        </p:txBody>
      </p:sp>
      <p:pic>
        <p:nvPicPr>
          <p:cNvPr id="5" name="Image 0" descr="img/image5.png"/>
          <p:cNvPicPr>
            <a:picLocks noChangeAspect="1"/>
          </p:cNvPicPr>
          <p:nvPr/>
        </p:nvPicPr>
        <p:blipFill>
          <a:blip r:embed="rId3"/>
          <a:stretch>
            <a:fillRect/>
          </a:stretch>
        </p:blipFill>
        <p:spPr>
          <a:xfrm>
            <a:off x="900684" y="1140076"/>
            <a:ext cx="10597896" cy="3432038"/>
          </a:xfrm>
          <a:prstGeom prst="rect">
            <a:avLst/>
          </a:prstGeom>
        </p:spPr>
      </p:pic>
      <p:sp>
        <p:nvSpPr>
          <p:cNvPr id="7" name="Shape 4"/>
          <p:cNvSpPr/>
          <p:nvPr/>
        </p:nvSpPr>
        <p:spPr>
          <a:xfrm>
            <a:off x="566928" y="5076553"/>
            <a:ext cx="2615184" cy="1261872"/>
          </a:xfrm>
          <a:prstGeom prst="roundRect">
            <a:avLst>
              <a:gd name="adj" fmla="val 6522"/>
            </a:avLst>
          </a:prstGeom>
          <a:solidFill>
            <a:srgbClr val="F7EFEF"/>
          </a:solidFill>
          <a:ln w="12700">
            <a:solidFill>
              <a:srgbClr val="F7EFEF"/>
            </a:solidFill>
            <a:prstDash val="solid"/>
          </a:ln>
        </p:spPr>
      </p:sp>
      <p:sp>
        <p:nvSpPr>
          <p:cNvPr id="8" name="Shape 5"/>
          <p:cNvSpPr/>
          <p:nvPr/>
        </p:nvSpPr>
        <p:spPr>
          <a:xfrm>
            <a:off x="768096" y="5232001"/>
            <a:ext cx="292608" cy="292608"/>
          </a:xfrm>
          <a:prstGeom prst="ellipse">
            <a:avLst/>
          </a:prstGeom>
          <a:solidFill>
            <a:srgbClr val="990011"/>
          </a:solidFill>
          <a:ln w="12700">
            <a:solidFill>
              <a:srgbClr val="990011"/>
            </a:solidFill>
            <a:prstDash val="solid"/>
          </a:ln>
        </p:spPr>
      </p:sp>
      <p:sp>
        <p:nvSpPr>
          <p:cNvPr id="9" name="Text 6"/>
          <p:cNvSpPr/>
          <p:nvPr/>
        </p:nvSpPr>
        <p:spPr>
          <a:xfrm>
            <a:off x="768096" y="5232001"/>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p:nvPr/>
        </p:nvSpPr>
        <p:spPr>
          <a:xfrm>
            <a:off x="1133856" y="5213713"/>
            <a:ext cx="1929384" cy="310896"/>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Lan truyền thuận</a:t>
            </a:r>
            <a:endParaRPr lang="en-US" sz="2000" dirty="0"/>
          </a:p>
        </p:txBody>
      </p:sp>
      <p:sp>
        <p:nvSpPr>
          <p:cNvPr id="11" name="Text 8"/>
          <p:cNvSpPr/>
          <p:nvPr/>
        </p:nvSpPr>
        <p:spPr>
          <a:xfrm>
            <a:off x="786384" y="5579473"/>
            <a:ext cx="2203704" cy="658368"/>
          </a:xfrm>
          <a:prstGeom prst="rect">
            <a:avLst/>
          </a:prstGeom>
          <a:noFill/>
          <a:ln/>
        </p:spPr>
        <p:txBody>
          <a:bodyPr wrap="square" lIns="0" tIns="0" rIns="0" bIns="0" rtlCol="0" anchor="t"/>
          <a:lstStyle/>
          <a:p>
            <a:pPr marL="0" indent="0">
              <a:buNone/>
            </a:pPr>
            <a:r>
              <a:rPr lang="en-US" sz="1600" dirty="0" err="1">
                <a:solidFill>
                  <a:srgbClr val="6E6E78"/>
                </a:solidFill>
                <a:latin typeface="Calibri" pitchFamily="34" charset="0"/>
                <a:ea typeface="Calibri" pitchFamily="34" charset="-122"/>
                <a:cs typeface="Calibri" pitchFamily="34" charset="-120"/>
              </a:rPr>
              <a:t>Đưa</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tập</a:t>
            </a:r>
            <a:r>
              <a:rPr lang="en-US" sz="1600" dirty="0">
                <a:solidFill>
                  <a:srgbClr val="6E6E78"/>
                </a:solidFill>
                <a:latin typeface="Calibri" pitchFamily="34" charset="0"/>
                <a:ea typeface="Calibri" pitchFamily="34" charset="-122"/>
                <a:cs typeface="Calibri" pitchFamily="34" charset="-120"/>
              </a:rPr>
              <a:t> dữ liệu qua mạng để tính đầu ra dự đoán</a:t>
            </a:r>
            <a:endParaRPr lang="en-US" sz="1600" dirty="0"/>
          </a:p>
        </p:txBody>
      </p:sp>
      <p:sp>
        <p:nvSpPr>
          <p:cNvPr id="12" name="Shape 9"/>
          <p:cNvSpPr/>
          <p:nvPr/>
        </p:nvSpPr>
        <p:spPr>
          <a:xfrm>
            <a:off x="3383280" y="5076553"/>
            <a:ext cx="2615184" cy="1261872"/>
          </a:xfrm>
          <a:prstGeom prst="roundRect">
            <a:avLst>
              <a:gd name="adj" fmla="val 6522"/>
            </a:avLst>
          </a:prstGeom>
          <a:solidFill>
            <a:srgbClr val="FAFAFB"/>
          </a:solidFill>
          <a:ln w="12700">
            <a:solidFill>
              <a:srgbClr val="FAFAFB"/>
            </a:solidFill>
            <a:prstDash val="solid"/>
          </a:ln>
        </p:spPr>
      </p:sp>
      <p:sp>
        <p:nvSpPr>
          <p:cNvPr id="13" name="Shape 10"/>
          <p:cNvSpPr/>
          <p:nvPr/>
        </p:nvSpPr>
        <p:spPr>
          <a:xfrm>
            <a:off x="3584448" y="5232001"/>
            <a:ext cx="292608" cy="292608"/>
          </a:xfrm>
          <a:prstGeom prst="ellipse">
            <a:avLst/>
          </a:prstGeom>
          <a:solidFill>
            <a:srgbClr val="990011"/>
          </a:solidFill>
          <a:ln w="12700">
            <a:solidFill>
              <a:srgbClr val="990011"/>
            </a:solidFill>
            <a:prstDash val="solid"/>
          </a:ln>
        </p:spPr>
      </p:sp>
      <p:sp>
        <p:nvSpPr>
          <p:cNvPr id="14" name="Text 11"/>
          <p:cNvSpPr/>
          <p:nvPr/>
        </p:nvSpPr>
        <p:spPr>
          <a:xfrm>
            <a:off x="3584448" y="5232001"/>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3950208" y="5213713"/>
            <a:ext cx="2121408" cy="310896"/>
          </a:xfrm>
          <a:prstGeom prst="rect">
            <a:avLst/>
          </a:prstGeom>
          <a:noFill/>
          <a:ln/>
        </p:spPr>
        <p:txBody>
          <a:bodyPr wrap="square" lIns="0" tIns="0" rIns="0" bIns="0" rtlCol="0" anchor="ctr"/>
          <a:lstStyle/>
          <a:p>
            <a:pPr marL="0" indent="0">
              <a:buNone/>
            </a:pPr>
            <a:r>
              <a:rPr lang="en-US" sz="2000" b="1" dirty="0" err="1">
                <a:solidFill>
                  <a:srgbClr val="1A1C22"/>
                </a:solidFill>
                <a:latin typeface="Calibri" pitchFamily="34" charset="0"/>
                <a:ea typeface="Calibri" pitchFamily="34" charset="-122"/>
                <a:cs typeface="Calibri" pitchFamily="34" charset="-120"/>
              </a:rPr>
              <a:t>Tính</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hàm</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mất</a:t>
            </a:r>
            <a:r>
              <a:rPr lang="en-US" sz="2000" b="1" dirty="0">
                <a:solidFill>
                  <a:srgbClr val="1A1C22"/>
                </a:solidFill>
                <a:latin typeface="Calibri" pitchFamily="34" charset="0"/>
                <a:ea typeface="Calibri" pitchFamily="34" charset="-122"/>
                <a:cs typeface="Calibri" pitchFamily="34" charset="-120"/>
              </a:rPr>
              <a:t> mát</a:t>
            </a:r>
            <a:endParaRPr lang="en-US" sz="2000" dirty="0"/>
          </a:p>
        </p:txBody>
      </p:sp>
      <p:sp>
        <p:nvSpPr>
          <p:cNvPr id="16" name="Text 13"/>
          <p:cNvSpPr/>
          <p:nvPr/>
        </p:nvSpPr>
        <p:spPr>
          <a:xfrm>
            <a:off x="3602736" y="5579473"/>
            <a:ext cx="2203704" cy="658368"/>
          </a:xfrm>
          <a:prstGeom prst="rect">
            <a:avLst/>
          </a:prstGeom>
          <a:noFill/>
          <a:ln/>
        </p:spPr>
        <p:txBody>
          <a:bodyPr wrap="square" lIns="0" tIns="0" rIns="0" bIns="0" rtlCol="0" anchor="t"/>
          <a:lstStyle/>
          <a:p>
            <a:pPr marL="0" indent="0">
              <a:buNone/>
            </a:pPr>
            <a:r>
              <a:rPr lang="en-US" sz="1600" dirty="0">
                <a:solidFill>
                  <a:srgbClr val="6E6E78"/>
                </a:solidFill>
                <a:latin typeface="Calibri" pitchFamily="34" charset="0"/>
                <a:ea typeface="Calibri" pitchFamily="34" charset="-122"/>
                <a:cs typeface="Calibri" pitchFamily="34" charset="-120"/>
              </a:rPr>
              <a:t>So dự đoán với nhãn thật bằng </a:t>
            </a:r>
            <a:r>
              <a:rPr lang="en-US" sz="1600" dirty="0" err="1">
                <a:solidFill>
                  <a:srgbClr val="6E6E78"/>
                </a:solidFill>
                <a:latin typeface="Calibri" pitchFamily="34" charset="0"/>
                <a:ea typeface="Calibri" pitchFamily="34" charset="-122"/>
                <a:cs typeface="Calibri" pitchFamily="34" charset="-120"/>
              </a:rPr>
              <a:t>hàm</a:t>
            </a:r>
            <a:r>
              <a:rPr lang="en-US" sz="1600" dirty="0">
                <a:solidFill>
                  <a:srgbClr val="6E6E78"/>
                </a:solidFill>
                <a:latin typeface="Calibri" pitchFamily="34" charset="0"/>
                <a:ea typeface="Calibri" pitchFamily="34" charset="-122"/>
                <a:cs typeface="Calibri" pitchFamily="34" charset="-120"/>
              </a:rPr>
              <a:t> cross-entropy</a:t>
            </a:r>
            <a:endParaRPr lang="en-US" sz="1600" dirty="0"/>
          </a:p>
        </p:txBody>
      </p:sp>
      <p:sp>
        <p:nvSpPr>
          <p:cNvPr id="17" name="Shape 14"/>
          <p:cNvSpPr/>
          <p:nvPr/>
        </p:nvSpPr>
        <p:spPr>
          <a:xfrm>
            <a:off x="6199632" y="5076553"/>
            <a:ext cx="2615184" cy="1261872"/>
          </a:xfrm>
          <a:prstGeom prst="roundRect">
            <a:avLst>
              <a:gd name="adj" fmla="val 6522"/>
            </a:avLst>
          </a:prstGeom>
          <a:solidFill>
            <a:srgbClr val="F7EFEF"/>
          </a:solidFill>
          <a:ln w="12700">
            <a:solidFill>
              <a:srgbClr val="F7EFEF"/>
            </a:solidFill>
            <a:prstDash val="solid"/>
          </a:ln>
        </p:spPr>
      </p:sp>
      <p:sp>
        <p:nvSpPr>
          <p:cNvPr id="18" name="Shape 15"/>
          <p:cNvSpPr/>
          <p:nvPr/>
        </p:nvSpPr>
        <p:spPr>
          <a:xfrm>
            <a:off x="6400800" y="5232001"/>
            <a:ext cx="292608" cy="292608"/>
          </a:xfrm>
          <a:prstGeom prst="ellipse">
            <a:avLst/>
          </a:prstGeom>
          <a:solidFill>
            <a:srgbClr val="990011"/>
          </a:solidFill>
          <a:ln w="12700">
            <a:solidFill>
              <a:srgbClr val="990011"/>
            </a:solidFill>
            <a:prstDash val="solid"/>
          </a:ln>
        </p:spPr>
      </p:sp>
      <p:sp>
        <p:nvSpPr>
          <p:cNvPr id="19" name="Text 16"/>
          <p:cNvSpPr/>
          <p:nvPr/>
        </p:nvSpPr>
        <p:spPr>
          <a:xfrm>
            <a:off x="6400800" y="5232001"/>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6766560" y="5213713"/>
            <a:ext cx="1929384" cy="310896"/>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Lan truyền ngược</a:t>
            </a:r>
            <a:endParaRPr lang="en-US" sz="2000" dirty="0"/>
          </a:p>
        </p:txBody>
      </p:sp>
      <p:sp>
        <p:nvSpPr>
          <p:cNvPr id="21" name="Text 18"/>
          <p:cNvSpPr/>
          <p:nvPr/>
        </p:nvSpPr>
        <p:spPr>
          <a:xfrm>
            <a:off x="6419088" y="5579473"/>
            <a:ext cx="2276856" cy="658368"/>
          </a:xfrm>
          <a:prstGeom prst="rect">
            <a:avLst/>
          </a:prstGeom>
          <a:noFill/>
          <a:ln/>
        </p:spPr>
        <p:txBody>
          <a:bodyPr wrap="square" lIns="0" tIns="0" rIns="0" bIns="0" rtlCol="0" anchor="t"/>
          <a:lstStyle/>
          <a:p>
            <a:pPr marL="0" indent="0">
              <a:buNone/>
            </a:pPr>
            <a:r>
              <a:rPr lang="en-US" sz="1600" dirty="0">
                <a:solidFill>
                  <a:srgbClr val="6E6E78"/>
                </a:solidFill>
                <a:latin typeface="Calibri" pitchFamily="34" charset="0"/>
                <a:ea typeface="Calibri" pitchFamily="34" charset="-122"/>
                <a:cs typeface="Calibri" pitchFamily="34" charset="-120"/>
              </a:rPr>
              <a:t>Tính đạo hàm của hàm mất mát theo từng trọng số</a:t>
            </a:r>
            <a:endParaRPr lang="en-US" sz="1600" dirty="0"/>
          </a:p>
        </p:txBody>
      </p:sp>
      <p:sp>
        <p:nvSpPr>
          <p:cNvPr id="22" name="Shape 19"/>
          <p:cNvSpPr/>
          <p:nvPr/>
        </p:nvSpPr>
        <p:spPr>
          <a:xfrm>
            <a:off x="9015984" y="5076553"/>
            <a:ext cx="2615184" cy="1261872"/>
          </a:xfrm>
          <a:prstGeom prst="roundRect">
            <a:avLst>
              <a:gd name="adj" fmla="val 6522"/>
            </a:avLst>
          </a:prstGeom>
          <a:solidFill>
            <a:srgbClr val="FAFAFB"/>
          </a:solidFill>
          <a:ln w="12700">
            <a:solidFill>
              <a:srgbClr val="FAFAFB"/>
            </a:solidFill>
            <a:prstDash val="solid"/>
          </a:ln>
        </p:spPr>
      </p:sp>
      <p:sp>
        <p:nvSpPr>
          <p:cNvPr id="23" name="Shape 20"/>
          <p:cNvSpPr/>
          <p:nvPr/>
        </p:nvSpPr>
        <p:spPr>
          <a:xfrm>
            <a:off x="9217152" y="5232001"/>
            <a:ext cx="292608" cy="292608"/>
          </a:xfrm>
          <a:prstGeom prst="ellipse">
            <a:avLst/>
          </a:prstGeom>
          <a:solidFill>
            <a:srgbClr val="990011"/>
          </a:solidFill>
          <a:ln w="12700">
            <a:solidFill>
              <a:srgbClr val="990011"/>
            </a:solidFill>
            <a:prstDash val="solid"/>
          </a:ln>
        </p:spPr>
      </p:sp>
      <p:sp>
        <p:nvSpPr>
          <p:cNvPr id="24" name="Text 21"/>
          <p:cNvSpPr/>
          <p:nvPr/>
        </p:nvSpPr>
        <p:spPr>
          <a:xfrm>
            <a:off x="9217152" y="5232001"/>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p:nvPr/>
        </p:nvSpPr>
        <p:spPr>
          <a:xfrm>
            <a:off x="9582912" y="5213713"/>
            <a:ext cx="1929384" cy="310896"/>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Cập nhật trọng số</a:t>
            </a:r>
            <a:endParaRPr lang="en-US" sz="2000" dirty="0"/>
          </a:p>
        </p:txBody>
      </p:sp>
      <p:sp>
        <p:nvSpPr>
          <p:cNvPr id="26" name="Text 23"/>
          <p:cNvSpPr/>
          <p:nvPr/>
        </p:nvSpPr>
        <p:spPr>
          <a:xfrm>
            <a:off x="9235440" y="5579473"/>
            <a:ext cx="2203704" cy="658368"/>
          </a:xfrm>
          <a:prstGeom prst="rect">
            <a:avLst/>
          </a:prstGeom>
          <a:noFill/>
          <a:ln/>
        </p:spPr>
        <p:txBody>
          <a:bodyPr wrap="square" lIns="0" tIns="0" rIns="0" bIns="0" rtlCol="0" anchor="t"/>
          <a:lstStyle/>
          <a:p>
            <a:pPr marL="0" indent="0">
              <a:buNone/>
            </a:pPr>
            <a:r>
              <a:rPr lang="en-US" sz="1600" dirty="0">
                <a:solidFill>
                  <a:srgbClr val="6E6E78"/>
                </a:solidFill>
                <a:latin typeface="Calibri" pitchFamily="34" charset="0"/>
                <a:ea typeface="Calibri" pitchFamily="34" charset="-122"/>
                <a:cs typeface="Calibri" pitchFamily="34" charset="-120"/>
              </a:rPr>
              <a:t>Bộ tối ưu Adam điều chỉnh theo hướng giảm mất mát</a:t>
            </a:r>
            <a:endParaRPr lang="en-US" sz="1600" dirty="0"/>
          </a:p>
        </p:txBody>
      </p:sp>
      <p:sp>
        <p:nvSpPr>
          <p:cNvPr id="29" name="Text 0">
            <a:extLst>
              <a:ext uri="{FF2B5EF4-FFF2-40B4-BE49-F238E27FC236}">
                <a16:creationId xmlns:a16="http://schemas.microsoft.com/office/drawing/2014/main" id="{406DF332-5506-5E16-DB62-D7764DB8D266}"/>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
        <p:nvSpPr>
          <p:cNvPr id="31" name="TextBox 30">
            <a:extLst>
              <a:ext uri="{FF2B5EF4-FFF2-40B4-BE49-F238E27FC236}">
                <a16:creationId xmlns:a16="http://schemas.microsoft.com/office/drawing/2014/main" id="{05A2C343-9358-0AEB-B610-905231A4B294}"/>
              </a:ext>
            </a:extLst>
          </p:cNvPr>
          <p:cNvSpPr txBox="1"/>
          <p:nvPr/>
        </p:nvSpPr>
        <p:spPr>
          <a:xfrm>
            <a:off x="2438686" y="4559694"/>
            <a:ext cx="7375588" cy="400110"/>
          </a:xfrm>
          <a:prstGeom prst="rect">
            <a:avLst/>
          </a:prstGeom>
          <a:noFill/>
        </p:spPr>
        <p:txBody>
          <a:bodyPr wrap="square">
            <a:spAutoFit/>
          </a:bodyPr>
          <a:lstStyle/>
          <a:p>
            <a:r>
              <a:rPr lang="en-US" sz="2000" dirty="0" err="1">
                <a:solidFill>
                  <a:schemeClr val="accent1"/>
                </a:solidFill>
              </a:rPr>
              <a:t>Kiến</a:t>
            </a:r>
            <a:r>
              <a:rPr lang="en-US" sz="2000" dirty="0">
                <a:solidFill>
                  <a:schemeClr val="accent1"/>
                </a:solidFill>
              </a:rPr>
              <a:t> </a:t>
            </a:r>
            <a:r>
              <a:rPr lang="en-US" sz="2000" dirty="0" err="1">
                <a:solidFill>
                  <a:schemeClr val="accent1"/>
                </a:solidFill>
              </a:rPr>
              <a:t>trúc</a:t>
            </a:r>
            <a:r>
              <a:rPr lang="en-US" sz="2000" dirty="0">
                <a:solidFill>
                  <a:schemeClr val="accent1"/>
                </a:solidFill>
              </a:rPr>
              <a:t> ban </a:t>
            </a:r>
            <a:r>
              <a:rPr lang="en-US" sz="2000" dirty="0" err="1">
                <a:solidFill>
                  <a:schemeClr val="accent1"/>
                </a:solidFill>
              </a:rPr>
              <a:t>đầu</a:t>
            </a:r>
            <a:r>
              <a:rPr lang="en-US" sz="2000" dirty="0">
                <a:solidFill>
                  <a:schemeClr val="accent1"/>
                </a:solidFill>
              </a:rPr>
              <a:t> </a:t>
            </a:r>
            <a:r>
              <a:rPr lang="en-US" sz="2000" dirty="0" err="1">
                <a:solidFill>
                  <a:schemeClr val="accent1"/>
                </a:solidFill>
              </a:rPr>
              <a:t>có</a:t>
            </a:r>
            <a:r>
              <a:rPr lang="en-US" sz="2000" dirty="0">
                <a:solidFill>
                  <a:schemeClr val="accent1"/>
                </a:solidFill>
              </a:rPr>
              <a:t> </a:t>
            </a:r>
            <a:r>
              <a:rPr lang="en-US" sz="2000" dirty="0" err="1">
                <a:solidFill>
                  <a:schemeClr val="accent1"/>
                </a:solidFill>
              </a:rPr>
              <a:t>cấu</a:t>
            </a:r>
            <a:r>
              <a:rPr lang="en-US" sz="2000" dirty="0">
                <a:solidFill>
                  <a:schemeClr val="accent1"/>
                </a:solidFill>
              </a:rPr>
              <a:t> </a:t>
            </a:r>
            <a:r>
              <a:rPr lang="en-US" sz="2000" dirty="0" err="1">
                <a:solidFill>
                  <a:schemeClr val="accent1"/>
                </a:solidFill>
              </a:rPr>
              <a:t>hình</a:t>
            </a:r>
            <a:r>
              <a:rPr lang="en-US" sz="2000" dirty="0">
                <a:solidFill>
                  <a:schemeClr val="accent1"/>
                </a:solidFill>
              </a:rPr>
              <a:t> </a:t>
            </a:r>
            <a:r>
              <a:rPr lang="en-US" sz="2000" dirty="0" err="1">
                <a:solidFill>
                  <a:schemeClr val="accent1"/>
                </a:solidFill>
              </a:rPr>
              <a:t>kênh</a:t>
            </a:r>
            <a:r>
              <a:rPr lang="en-US" sz="2000" dirty="0">
                <a:solidFill>
                  <a:schemeClr val="accent1"/>
                </a:solidFill>
              </a:rPr>
              <a:t> 4-8-8-16 </a:t>
            </a:r>
            <a:r>
              <a:rPr lang="en-US" sz="2000" dirty="0" err="1">
                <a:solidFill>
                  <a:schemeClr val="accent1"/>
                </a:solidFill>
              </a:rPr>
              <a:t>với</a:t>
            </a:r>
            <a:r>
              <a:rPr lang="en-US" sz="2000" dirty="0">
                <a:solidFill>
                  <a:schemeClr val="accent1"/>
                </a:solidFill>
              </a:rPr>
              <a:t> 1.244 </a:t>
            </a:r>
            <a:r>
              <a:rPr lang="en-US" sz="2000" dirty="0" err="1">
                <a:solidFill>
                  <a:schemeClr val="accent1"/>
                </a:solidFill>
              </a:rPr>
              <a:t>tham</a:t>
            </a:r>
            <a:r>
              <a:rPr lang="en-US" sz="2000" dirty="0">
                <a:solidFill>
                  <a:schemeClr val="accent1"/>
                </a:solidFill>
              </a:rPr>
              <a:t> </a:t>
            </a:r>
            <a:r>
              <a:rPr lang="en-US" sz="2000" dirty="0" err="1">
                <a:solidFill>
                  <a:schemeClr val="accent1"/>
                </a:solidFill>
              </a:rPr>
              <a:t>số</a:t>
            </a:r>
            <a:endParaRPr lang="en-US" sz="2000" dirty="0">
              <a:solidFill>
                <a:schemeClr val="accent1"/>
              </a:solidFill>
            </a:endParaRPr>
          </a:p>
        </p:txBody>
      </p:sp>
      <p:sp>
        <p:nvSpPr>
          <p:cNvPr id="2" name="Arrow: Right 1">
            <a:extLst>
              <a:ext uri="{FF2B5EF4-FFF2-40B4-BE49-F238E27FC236}">
                <a16:creationId xmlns:a16="http://schemas.microsoft.com/office/drawing/2014/main" id="{75CB4830-B12D-CFAB-D7DA-2CF03EE37EB0}"/>
              </a:ext>
            </a:extLst>
          </p:cNvPr>
          <p:cNvSpPr/>
          <p:nvPr/>
        </p:nvSpPr>
        <p:spPr>
          <a:xfrm>
            <a:off x="3113042" y="5579473"/>
            <a:ext cx="339308" cy="287710"/>
          </a:xfrm>
          <a:prstGeom prst="rightArrow">
            <a:avLst/>
          </a:prstGeom>
          <a:solidFill>
            <a:schemeClr val="accent2">
              <a:lumMod val="20000"/>
              <a:lumOff val="8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D278CD49-4DDC-7726-7906-896BDE33432E}"/>
              </a:ext>
            </a:extLst>
          </p:cNvPr>
          <p:cNvSpPr/>
          <p:nvPr/>
        </p:nvSpPr>
        <p:spPr>
          <a:xfrm>
            <a:off x="5956826" y="5620947"/>
            <a:ext cx="339308" cy="287710"/>
          </a:xfrm>
          <a:prstGeom prst="rightArrow">
            <a:avLst/>
          </a:prstGeom>
          <a:solidFill>
            <a:schemeClr val="accent2">
              <a:lumMod val="20000"/>
              <a:lumOff val="8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E2895C59-50CE-3F16-EE2A-15E49872F64D}"/>
              </a:ext>
            </a:extLst>
          </p:cNvPr>
          <p:cNvSpPr/>
          <p:nvPr/>
        </p:nvSpPr>
        <p:spPr>
          <a:xfrm>
            <a:off x="8786404" y="5620947"/>
            <a:ext cx="339308" cy="287710"/>
          </a:xfrm>
          <a:prstGeom prst="rightArrow">
            <a:avLst/>
          </a:prstGeom>
          <a:solidFill>
            <a:schemeClr val="accent2">
              <a:lumMod val="20000"/>
              <a:lumOff val="8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39496" y="689991"/>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3.4.2 Pruning channel có cấu trúc theo chuẩn L1</a:t>
            </a:r>
            <a:endParaRPr lang="en-US" sz="2700" dirty="0"/>
          </a:p>
        </p:txBody>
      </p:sp>
      <p:graphicFrame>
        <p:nvGraphicFramePr>
          <p:cNvPr id="10" name="Table 0"/>
          <p:cNvGraphicFramePr>
            <a:graphicFrameLocks noGrp="1"/>
          </p:cNvGraphicFramePr>
          <p:nvPr>
            <p:extLst>
              <p:ext uri="{D42A27DB-BD31-4B8C-83A1-F6EECF244321}">
                <p14:modId xmlns:p14="http://schemas.microsoft.com/office/powerpoint/2010/main" val="1371304363"/>
              </p:ext>
            </p:extLst>
          </p:nvPr>
        </p:nvGraphicFramePr>
        <p:xfrm>
          <a:off x="576072" y="1430457"/>
          <a:ext cx="5349240" cy="2255520"/>
        </p:xfrm>
        <a:graphic>
          <a:graphicData uri="http://schemas.openxmlformats.org/drawingml/2006/table">
            <a:tbl>
              <a:tblPr/>
              <a:tblGrid>
                <a:gridCol w="82296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329184">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Tầng</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Ban đầu</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Sau cắt tỉa</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Hành động</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329184">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Giữ nguyên</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Loại 4 bộ lọc L1 nhỏ nhất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329184">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Conv3</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Giữ nguyên</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16</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Loại 8 bộ lọc L1 nhỏ nhất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r h="329184">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FC</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16</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Thu hẹp theo Conv4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6284976" y="1477602"/>
            <a:ext cx="5349240" cy="1810230"/>
          </a:xfrm>
          <a:prstGeom prst="roundRect">
            <a:avLst>
              <a:gd name="adj" fmla="val 3462"/>
            </a:avLst>
          </a:prstGeom>
          <a:solidFill>
            <a:srgbClr val="F7EFEF"/>
          </a:solidFill>
          <a:ln w="12700">
            <a:solidFill>
              <a:srgbClr val="F7EFEF"/>
            </a:solidFill>
            <a:prstDash val="solid"/>
          </a:ln>
        </p:spPr>
        <p:txBody>
          <a:bodyPr/>
          <a:lstStyle/>
          <a:p>
            <a:pPr>
              <a:spcAft>
                <a:spcPts val="700"/>
              </a:spcAft>
              <a:buSzPct val="100000"/>
            </a:pPr>
            <a:r>
              <a:rPr lang="en-US" sz="2000" b="1" dirty="0" err="1">
                <a:solidFill>
                  <a:srgbClr val="C00000"/>
                </a:solidFill>
                <a:latin typeface="Calibri" pitchFamily="34" charset="0"/>
                <a:ea typeface="Calibri" pitchFamily="34" charset="-122"/>
                <a:cs typeface="Calibri" pitchFamily="34" charset="-120"/>
              </a:rPr>
              <a:t>Cắt</a:t>
            </a:r>
            <a:r>
              <a:rPr lang="en-US" sz="2000" b="1" dirty="0">
                <a:solidFill>
                  <a:srgbClr val="C00000"/>
                </a:solidFill>
                <a:latin typeface="Calibri" pitchFamily="34" charset="0"/>
                <a:ea typeface="Calibri" pitchFamily="34" charset="-122"/>
                <a:cs typeface="Calibri" pitchFamily="34" charset="-120"/>
              </a:rPr>
              <a:t> </a:t>
            </a:r>
            <a:r>
              <a:rPr lang="en-US" sz="2000" b="1" dirty="0" err="1">
                <a:solidFill>
                  <a:srgbClr val="C00000"/>
                </a:solidFill>
                <a:latin typeface="Calibri" pitchFamily="34" charset="0"/>
                <a:ea typeface="Calibri" pitchFamily="34" charset="-122"/>
                <a:cs typeface="Calibri" pitchFamily="34" charset="-120"/>
              </a:rPr>
              <a:t>tỉa</a:t>
            </a:r>
            <a:r>
              <a:rPr lang="en-US" sz="2000" b="1" dirty="0">
                <a:solidFill>
                  <a:srgbClr val="C00000"/>
                </a:solidFill>
                <a:latin typeface="Calibri" pitchFamily="34" charset="0"/>
                <a:ea typeface="Calibri" pitchFamily="34" charset="-122"/>
                <a:cs typeface="Calibri" pitchFamily="34" charset="-120"/>
              </a:rPr>
              <a:t> </a:t>
            </a:r>
            <a:r>
              <a:rPr lang="en-US" sz="2000" b="1" dirty="0" err="1">
                <a:solidFill>
                  <a:srgbClr val="C00000"/>
                </a:solidFill>
                <a:latin typeface="Calibri" pitchFamily="34" charset="0"/>
                <a:ea typeface="Calibri" pitchFamily="34" charset="-122"/>
                <a:cs typeface="Calibri" pitchFamily="34" charset="-120"/>
              </a:rPr>
              <a:t>có</a:t>
            </a:r>
            <a:r>
              <a:rPr lang="en-US" sz="2000" b="1" dirty="0">
                <a:solidFill>
                  <a:srgbClr val="C00000"/>
                </a:solidFill>
                <a:latin typeface="Calibri" pitchFamily="34" charset="0"/>
                <a:ea typeface="Calibri" pitchFamily="34" charset="-122"/>
                <a:cs typeface="Calibri" pitchFamily="34" charset="-120"/>
              </a:rPr>
              <a:t> </a:t>
            </a:r>
            <a:r>
              <a:rPr lang="en-US" sz="2000" b="1" dirty="0" err="1">
                <a:solidFill>
                  <a:srgbClr val="C00000"/>
                </a:solidFill>
                <a:latin typeface="Calibri" pitchFamily="34" charset="0"/>
                <a:ea typeface="Calibri" pitchFamily="34" charset="-122"/>
                <a:cs typeface="Calibri" pitchFamily="34" charset="-120"/>
              </a:rPr>
              <a:t>cấu</a:t>
            </a:r>
            <a:r>
              <a:rPr lang="en-US" sz="2000" b="1" dirty="0">
                <a:solidFill>
                  <a:srgbClr val="C00000"/>
                </a:solidFill>
                <a:latin typeface="Calibri" pitchFamily="34" charset="0"/>
                <a:ea typeface="Calibri" pitchFamily="34" charset="-122"/>
                <a:cs typeface="Calibri" pitchFamily="34" charset="-120"/>
              </a:rPr>
              <a:t> </a:t>
            </a:r>
            <a:r>
              <a:rPr lang="en-US" sz="2000" b="1" dirty="0" err="1">
                <a:solidFill>
                  <a:srgbClr val="C00000"/>
                </a:solidFill>
                <a:latin typeface="Calibri" pitchFamily="34" charset="0"/>
                <a:ea typeface="Calibri" pitchFamily="34" charset="-122"/>
                <a:cs typeface="Calibri" pitchFamily="34" charset="-120"/>
              </a:rPr>
              <a:t>trúc</a:t>
            </a:r>
            <a:endParaRPr lang="en-US" sz="2000" b="1" dirty="0">
              <a:solidFill>
                <a:srgbClr val="C00000"/>
              </a:solidFill>
              <a:latin typeface="Calibri" pitchFamily="34" charset="0"/>
              <a:ea typeface="Calibri" pitchFamily="34" charset="-122"/>
              <a:cs typeface="Calibri" pitchFamily="34" charset="-120"/>
            </a:endParaRPr>
          </a:p>
          <a:p>
            <a:pPr marL="285750" indent="-285750">
              <a:spcAft>
                <a:spcPts val="700"/>
              </a:spcAft>
              <a:buSzPct val="100000"/>
              <a:buFont typeface="Arial" panose="020B0604020202020204" pitchFamily="34" charset="0"/>
              <a:buChar char="•"/>
            </a:pPr>
            <a:r>
              <a:rPr lang="en-US" dirty="0" err="1">
                <a:solidFill>
                  <a:srgbClr val="1A1C22"/>
                </a:solidFill>
                <a:latin typeface="Calibri" pitchFamily="34" charset="0"/>
                <a:ea typeface="Calibri" pitchFamily="34" charset="-122"/>
                <a:cs typeface="Calibri" pitchFamily="34" charset="-120"/>
              </a:rPr>
              <a:t>Loại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trọn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lọc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cùng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đầu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ra</a:t>
            </a:r>
            <a:r>
              <a:rPr lang="en-US" dirty="0">
                <a:solidFill>
                  <a:srgbClr val="1A1C22"/>
                </a:solidFill>
                <a:latin typeface="Calibri" pitchFamily="34" charset="0"/>
                <a:ea typeface="Calibri" pitchFamily="34" charset="-122"/>
                <a:cs typeface="Calibri" pitchFamily="34" charset="-120"/>
              </a:rPr>
              <a:t> → </a:t>
            </a:r>
            <a:r>
              <a:rPr lang="en-US" dirty="0" err="1">
                <a:solidFill>
                  <a:srgbClr val="1A1C22"/>
                </a:solidFill>
                <a:latin typeface="Calibri" pitchFamily="34" charset="0"/>
                <a:ea typeface="Calibri" pitchFamily="34" charset="-122"/>
                <a:cs typeface="Calibri" pitchFamily="34" charset="-120"/>
              </a:rPr>
              <a:t>giảm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nhân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dung </a:t>
            </a:r>
            <a:r>
              <a:rPr lang="en-US" dirty="0" err="1">
                <a:solidFill>
                  <a:srgbClr val="1A1C22"/>
                </a:solidFill>
                <a:latin typeface="Calibri" pitchFamily="34" charset="0"/>
                <a:ea typeface="Calibri" pitchFamily="34" charset="-122"/>
                <a:cs typeface="Calibri" pitchFamily="34" charset="-120"/>
              </a:rPr>
              <a:t>lượng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nhớ</a:t>
            </a:r>
            <a:r>
              <a:rPr lang="en-US" dirty="0">
                <a:solidFill>
                  <a:srgbClr val="1A1C22"/>
                </a:solidFill>
                <a:latin typeface="Calibri" pitchFamily="34" charset="0"/>
                <a:ea typeface="Calibri" pitchFamily="34" charset="-122"/>
                <a:cs typeface="Calibri" pitchFamily="34" charset="-120"/>
              </a:rPr>
              <a:t>.</a:t>
            </a:r>
            <a:endParaRPr lang="en-US" dirty="0"/>
          </a:p>
          <a:p>
            <a:pPr marL="285750" indent="-285750">
              <a:spcAft>
                <a:spcPts val="700"/>
              </a:spcAft>
              <a:buSzPct val="100000"/>
              <a:buFont typeface="Arial" panose="020B0604020202020204" pitchFamily="34" charset="0"/>
              <a:buChar char="•"/>
            </a:pPr>
            <a:r>
              <a:rPr lang="en-US" dirty="0" err="1">
                <a:solidFill>
                  <a:srgbClr val="1A1C22"/>
                </a:solidFill>
                <a:latin typeface="Calibri" pitchFamily="34" charset="0"/>
                <a:ea typeface="Calibri" pitchFamily="34" charset="-122"/>
                <a:cs typeface="Calibri" pitchFamily="34" charset="-120"/>
              </a:rPr>
              <a:t>Tiêu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chí</a:t>
            </a:r>
            <a:r>
              <a:rPr lang="en-US" dirty="0">
                <a:solidFill>
                  <a:srgbClr val="1A1C22"/>
                </a:solidFill>
                <a:latin typeface="Calibri" pitchFamily="34" charset="0"/>
                <a:ea typeface="Calibri" pitchFamily="34" charset="-122"/>
                <a:cs typeface="Calibri" pitchFamily="34" charset="-120"/>
              </a:rPr>
              <a:t> L1-norm </a:t>
            </a:r>
            <a:r>
              <a:rPr lang="en-US" dirty="0" err="1">
                <a:solidFill>
                  <a:srgbClr val="1A1C22"/>
                </a:solidFill>
                <a:latin typeface="Calibri" pitchFamily="34" charset="0"/>
                <a:ea typeface="Calibri" pitchFamily="34" charset="-122"/>
                <a:cs typeface="Calibri" pitchFamily="34" charset="-120"/>
              </a:rPr>
              <a:t>chỉ</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cần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đọc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trọng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không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phụ</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thuộc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lô</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dữ</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liệu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như</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xấp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xỉ</a:t>
            </a:r>
            <a:r>
              <a:rPr lang="en-US" dirty="0">
                <a:solidFill>
                  <a:srgbClr val="1A1C22"/>
                </a:solidFill>
                <a:latin typeface="Calibri" pitchFamily="34" charset="0"/>
                <a:ea typeface="Calibri" pitchFamily="34" charset="-122"/>
                <a:cs typeface="Calibri" pitchFamily="34" charset="-120"/>
              </a:rPr>
              <a:t> Taylor.</a:t>
            </a:r>
            <a:endParaRPr lang="en-US" dirty="0"/>
          </a:p>
          <a:p>
            <a:endParaRPr lang="en-US" dirty="0"/>
          </a:p>
        </p:txBody>
      </p:sp>
      <p:sp>
        <p:nvSpPr>
          <p:cNvPr id="8" name="Text 5"/>
          <p:cNvSpPr/>
          <p:nvPr/>
        </p:nvSpPr>
        <p:spPr>
          <a:xfrm>
            <a:off x="6528816" y="1426464"/>
            <a:ext cx="4846320" cy="292608"/>
          </a:xfrm>
          <a:prstGeom prst="rect">
            <a:avLst/>
          </a:prstGeom>
          <a:noFill/>
          <a:ln/>
        </p:spPr>
        <p:txBody>
          <a:bodyPr wrap="square" lIns="0" tIns="0" rIns="0" bIns="0" rtlCol="0" anchor="ctr"/>
          <a:lstStyle/>
          <a:p>
            <a:pPr marL="0" indent="0">
              <a:buNone/>
            </a:pPr>
            <a:endParaRPr lang="en-US" sz="2000" dirty="0"/>
          </a:p>
        </p:txBody>
      </p:sp>
      <p:sp>
        <p:nvSpPr>
          <p:cNvPr id="6" name="Shape 7"/>
          <p:cNvSpPr/>
          <p:nvPr/>
        </p:nvSpPr>
        <p:spPr>
          <a:xfrm>
            <a:off x="6284976" y="3570169"/>
            <a:ext cx="5349240" cy="1540002"/>
          </a:xfrm>
          <a:prstGeom prst="roundRect">
            <a:avLst>
              <a:gd name="adj" fmla="val 5625"/>
            </a:avLst>
          </a:prstGeom>
          <a:solidFill>
            <a:srgbClr val="EFF1F8"/>
          </a:solidFill>
          <a:ln w="12700">
            <a:solidFill>
              <a:srgbClr val="EFF1F8"/>
            </a:solidFill>
            <a:prstDash val="solid"/>
          </a:ln>
        </p:spPr>
        <p:txBody>
          <a:bodyPr/>
          <a:lstStyle/>
          <a:p>
            <a:r>
              <a:rPr lang="en-US" b="1" dirty="0">
                <a:solidFill>
                  <a:srgbClr val="2F3C7E"/>
                </a:solidFill>
                <a:latin typeface="Calibri" pitchFamily="34" charset="0"/>
                <a:ea typeface="Calibri" pitchFamily="34" charset="-122"/>
                <a:cs typeface="Calibri" pitchFamily="34" charset="-120"/>
              </a:rPr>
              <a:t>Tinh </a:t>
            </a:r>
            <a:r>
              <a:rPr lang="en-US" b="1" dirty="0" err="1">
                <a:solidFill>
                  <a:srgbClr val="2F3C7E"/>
                </a:solidFill>
                <a:latin typeface="Calibri" pitchFamily="34" charset="0"/>
                <a:ea typeface="Calibri" pitchFamily="34" charset="-122"/>
                <a:cs typeface="Calibri" pitchFamily="34" charset="-120"/>
              </a:rPr>
              <a:t>chỉnh</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hai</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pha</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sau</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cắt</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tỉa</a:t>
            </a:r>
            <a:endParaRPr lang="en-US" b="1" dirty="0">
              <a:solidFill>
                <a:srgbClr val="2F3C7E"/>
              </a:solidFill>
              <a:latin typeface="Calibri" pitchFamily="34" charset="0"/>
              <a:ea typeface="Calibri" pitchFamily="34" charset="-122"/>
              <a:cs typeface="Calibri" pitchFamily="34" charset="-120"/>
            </a:endParaRPr>
          </a:p>
          <a:p>
            <a:r>
              <a:rPr lang="en-US" b="1" dirty="0">
                <a:solidFill>
                  <a:srgbClr val="1A1C22"/>
                </a:solidFill>
                <a:latin typeface="Calibri" pitchFamily="34" charset="0"/>
                <a:ea typeface="Calibri" pitchFamily="34" charset="-122"/>
                <a:cs typeface="Calibri" pitchFamily="34" charset="-120"/>
              </a:rPr>
              <a:t>Pha 1 — </a:t>
            </a:r>
            <a:r>
              <a:rPr lang="en-US" dirty="0">
                <a:solidFill>
                  <a:srgbClr val="1A1C22"/>
                </a:solidFill>
                <a:latin typeface="Calibri" pitchFamily="34" charset="0"/>
                <a:ea typeface="Calibri" pitchFamily="34" charset="-122"/>
                <a:cs typeface="Calibri" pitchFamily="34" charset="-120"/>
              </a:rPr>
              <a:t>30 epoch, </a:t>
            </a:r>
            <a:r>
              <a:rPr lang="en-US" dirty="0" err="1">
                <a:solidFill>
                  <a:srgbClr val="1A1C22"/>
                </a:solidFill>
                <a:latin typeface="Calibri" pitchFamily="34" charset="0"/>
                <a:ea typeface="Calibri" pitchFamily="34" charset="-122"/>
                <a:cs typeface="Calibri" pitchFamily="34" charset="-120"/>
              </a:rPr>
              <a:t>tốc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học</a:t>
            </a:r>
            <a:r>
              <a:rPr lang="en-US" dirty="0">
                <a:solidFill>
                  <a:srgbClr val="1A1C22"/>
                </a:solidFill>
                <a:latin typeface="Calibri" pitchFamily="34" charset="0"/>
                <a:ea typeface="Calibri" pitchFamily="34" charset="-122"/>
                <a:cs typeface="Calibri" pitchFamily="34" charset="-120"/>
              </a:rPr>
              <a:t> 10⁻³: </a:t>
            </a:r>
            <a:r>
              <a:rPr lang="en-US" dirty="0" err="1">
                <a:solidFill>
                  <a:srgbClr val="1A1C22"/>
                </a:solidFill>
                <a:latin typeface="Calibri" pitchFamily="34" charset="0"/>
                <a:ea typeface="Calibri" pitchFamily="34" charset="-122"/>
                <a:cs typeface="Calibri" pitchFamily="34" charset="-120"/>
              </a:rPr>
              <a:t>phục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hồi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nhanh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sau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cắt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tỉa</a:t>
            </a:r>
            <a:r>
              <a:rPr lang="en-US" dirty="0">
                <a:solidFill>
                  <a:srgbClr val="1A1C22"/>
                </a:solidFill>
                <a:latin typeface="Calibri" pitchFamily="34" charset="0"/>
                <a:ea typeface="Calibri" pitchFamily="34" charset="-122"/>
                <a:cs typeface="Calibri" pitchFamily="34" charset="-120"/>
              </a:rPr>
              <a:t>.</a:t>
            </a:r>
            <a:endParaRPr lang="en-US" dirty="0"/>
          </a:p>
          <a:p>
            <a:r>
              <a:rPr lang="en-US" b="1" dirty="0">
                <a:solidFill>
                  <a:srgbClr val="1A1C22"/>
                </a:solidFill>
                <a:latin typeface="Calibri" pitchFamily="34" charset="0"/>
                <a:ea typeface="Calibri" pitchFamily="34" charset="-122"/>
                <a:cs typeface="Calibri" pitchFamily="34" charset="-120"/>
              </a:rPr>
              <a:t>Pha 2 — </a:t>
            </a:r>
            <a:r>
              <a:rPr lang="en-US" dirty="0">
                <a:solidFill>
                  <a:srgbClr val="1A1C22"/>
                </a:solidFill>
                <a:latin typeface="Calibri" pitchFamily="34" charset="0"/>
                <a:ea typeface="Calibri" pitchFamily="34" charset="-122"/>
                <a:cs typeface="Calibri" pitchFamily="34" charset="-120"/>
              </a:rPr>
              <a:t>20 epoch, </a:t>
            </a:r>
            <a:r>
              <a:rPr lang="en-US" dirty="0" err="1">
                <a:solidFill>
                  <a:srgbClr val="1A1C22"/>
                </a:solidFill>
                <a:latin typeface="Calibri" pitchFamily="34" charset="0"/>
                <a:ea typeface="Calibri" pitchFamily="34" charset="-122"/>
                <a:cs typeface="Calibri" pitchFamily="34" charset="-120"/>
              </a:rPr>
              <a:t>tốc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học</a:t>
            </a:r>
            <a:r>
              <a:rPr lang="en-US" dirty="0">
                <a:solidFill>
                  <a:srgbClr val="1A1C22"/>
                </a:solidFill>
                <a:latin typeface="Calibri" pitchFamily="34" charset="0"/>
                <a:ea typeface="Calibri" pitchFamily="34" charset="-122"/>
                <a:cs typeface="Calibri" pitchFamily="34" charset="-120"/>
              </a:rPr>
              <a:t> 10⁻⁴: </a:t>
            </a:r>
            <a:r>
              <a:rPr lang="en-US" dirty="0" err="1">
                <a:solidFill>
                  <a:srgbClr val="1A1C22"/>
                </a:solidFill>
                <a:latin typeface="Calibri" pitchFamily="34" charset="0"/>
                <a:ea typeface="Calibri" pitchFamily="34" charset="-122"/>
                <a:cs typeface="Calibri" pitchFamily="34" charset="-120"/>
              </a:rPr>
              <a:t>tinh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chỉnh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mịn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hội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tụ</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ổn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định</a:t>
            </a:r>
            <a:r>
              <a:rPr lang="en-US" dirty="0">
                <a:solidFill>
                  <a:srgbClr val="1A1C22"/>
                </a:solidFill>
                <a:latin typeface="Calibri" pitchFamily="34" charset="0"/>
                <a:ea typeface="Calibri" pitchFamily="34" charset="-122"/>
                <a:cs typeface="Calibri" pitchFamily="34" charset="-120"/>
              </a:rPr>
              <a:t>.</a:t>
            </a:r>
            <a:endParaRPr lang="en-US" dirty="0"/>
          </a:p>
          <a:p>
            <a:endParaRPr lang="en-US" dirty="0"/>
          </a:p>
          <a:p>
            <a:endParaRPr lang="en-US" dirty="0"/>
          </a:p>
        </p:txBody>
      </p:sp>
      <p:sp>
        <p:nvSpPr>
          <p:cNvPr id="11" name="Text 8"/>
          <p:cNvSpPr/>
          <p:nvPr/>
        </p:nvSpPr>
        <p:spPr>
          <a:xfrm>
            <a:off x="6528816" y="3950208"/>
            <a:ext cx="4846320" cy="292608"/>
          </a:xfrm>
          <a:prstGeom prst="rect">
            <a:avLst/>
          </a:prstGeom>
          <a:noFill/>
          <a:ln/>
        </p:spPr>
        <p:txBody>
          <a:bodyPr wrap="square" lIns="0" tIns="0" rIns="0" bIns="0" rtlCol="0" anchor="ctr"/>
          <a:lstStyle/>
          <a:p>
            <a:pPr marL="0" indent="0">
              <a:buNone/>
            </a:pPr>
            <a:endParaRPr lang="en-US" sz="2000" dirty="0"/>
          </a:p>
        </p:txBody>
      </p:sp>
      <p:sp>
        <p:nvSpPr>
          <p:cNvPr id="12" name="Text 9"/>
          <p:cNvSpPr/>
          <p:nvPr/>
        </p:nvSpPr>
        <p:spPr>
          <a:xfrm>
            <a:off x="6528816" y="4297680"/>
            <a:ext cx="4846320" cy="685800"/>
          </a:xfrm>
          <a:prstGeom prst="rect">
            <a:avLst/>
          </a:prstGeom>
          <a:noFill/>
          <a:ln/>
        </p:spPr>
        <p:txBody>
          <a:bodyPr wrap="square" lIns="0" tIns="0" rIns="0" bIns="0" rtlCol="0" anchor="t"/>
          <a:lstStyle/>
          <a:p>
            <a:pPr marL="0" indent="0">
              <a:buNone/>
            </a:pPr>
            <a:endParaRPr lang="en-US" dirty="0"/>
          </a:p>
        </p:txBody>
      </p:sp>
      <p:sp>
        <p:nvSpPr>
          <p:cNvPr id="13" name="Shape 10"/>
          <p:cNvSpPr/>
          <p:nvPr/>
        </p:nvSpPr>
        <p:spPr>
          <a:xfrm>
            <a:off x="4215385" y="3877803"/>
            <a:ext cx="1691640" cy="1298448"/>
          </a:xfrm>
          <a:prstGeom prst="roundRect">
            <a:avLst>
              <a:gd name="adj" fmla="val 6338"/>
            </a:avLst>
          </a:prstGeom>
          <a:solidFill>
            <a:srgbClr val="EFF1F8"/>
          </a:solidFill>
          <a:ln w="12700">
            <a:solidFill>
              <a:srgbClr val="EFF1F8"/>
            </a:solidFill>
            <a:prstDash val="solid"/>
          </a:ln>
        </p:spPr>
      </p:sp>
      <p:sp>
        <p:nvSpPr>
          <p:cNvPr id="14" name="Text 11"/>
          <p:cNvSpPr/>
          <p:nvPr/>
        </p:nvSpPr>
        <p:spPr>
          <a:xfrm>
            <a:off x="4325113" y="4024107"/>
            <a:ext cx="1472184" cy="649224"/>
          </a:xfrm>
          <a:prstGeom prst="rect">
            <a:avLst/>
          </a:prstGeom>
          <a:noFill/>
          <a:ln/>
        </p:spPr>
        <p:txBody>
          <a:bodyPr wrap="square" lIns="0" tIns="0" rIns="0" bIns="0" rtlCol="0" anchor="ctr"/>
          <a:lstStyle/>
          <a:p>
            <a:pPr marL="0" indent="0" algn="ctr">
              <a:buNone/>
            </a:pPr>
            <a:r>
              <a:rPr lang="en-US" sz="3000" b="1" dirty="0">
                <a:solidFill>
                  <a:srgbClr val="2F3C7E"/>
                </a:solidFill>
                <a:latin typeface="Cambria" pitchFamily="34" charset="0"/>
                <a:ea typeface="Cambria" pitchFamily="34" charset="-122"/>
                <a:cs typeface="Cambria" pitchFamily="34" charset="-120"/>
              </a:rPr>
              <a:t>1.244</a:t>
            </a:r>
            <a:endParaRPr lang="en-US" sz="3000" dirty="0"/>
          </a:p>
        </p:txBody>
      </p:sp>
      <p:sp>
        <p:nvSpPr>
          <p:cNvPr id="15" name="Text 12"/>
          <p:cNvSpPr/>
          <p:nvPr/>
        </p:nvSpPr>
        <p:spPr>
          <a:xfrm>
            <a:off x="4306825" y="4604934"/>
            <a:ext cx="1508760" cy="545348"/>
          </a:xfrm>
          <a:prstGeom prst="rect">
            <a:avLst/>
          </a:prstGeom>
          <a:noFill/>
          <a:ln/>
        </p:spPr>
        <p:txBody>
          <a:bodyPr wrap="square" lIns="0" tIns="0" rIns="0" bIns="0" rtlCol="0" anchor="t"/>
          <a:lstStyle/>
          <a:p>
            <a:pPr marL="0" indent="0" algn="ctr">
              <a:buNone/>
            </a:pPr>
            <a:r>
              <a:rPr lang="en-US" sz="1600" dirty="0">
                <a:solidFill>
                  <a:srgbClr val="6E6E78"/>
                </a:solidFill>
                <a:latin typeface="Calibri" pitchFamily="34" charset="0"/>
                <a:ea typeface="Calibri" pitchFamily="34" charset="-122"/>
                <a:cs typeface="Calibri" pitchFamily="34" charset="-120"/>
              </a:rPr>
              <a:t>tham số ban đầu</a:t>
            </a:r>
            <a:endParaRPr lang="en-US" sz="1600" dirty="0"/>
          </a:p>
        </p:txBody>
      </p:sp>
      <p:sp>
        <p:nvSpPr>
          <p:cNvPr id="16" name="Shape 13"/>
          <p:cNvSpPr/>
          <p:nvPr/>
        </p:nvSpPr>
        <p:spPr>
          <a:xfrm>
            <a:off x="4233672" y="5285232"/>
            <a:ext cx="1691640" cy="1298448"/>
          </a:xfrm>
          <a:prstGeom prst="roundRect">
            <a:avLst>
              <a:gd name="adj" fmla="val 6338"/>
            </a:avLst>
          </a:prstGeom>
          <a:solidFill>
            <a:srgbClr val="F7EFEF"/>
          </a:solidFill>
          <a:ln w="12700">
            <a:solidFill>
              <a:srgbClr val="F7EFEF"/>
            </a:solidFill>
            <a:prstDash val="solid"/>
          </a:ln>
        </p:spPr>
      </p:sp>
      <p:sp>
        <p:nvSpPr>
          <p:cNvPr id="17" name="Text 14"/>
          <p:cNvSpPr/>
          <p:nvPr/>
        </p:nvSpPr>
        <p:spPr>
          <a:xfrm>
            <a:off x="4343400" y="5431536"/>
            <a:ext cx="1472184" cy="649224"/>
          </a:xfrm>
          <a:prstGeom prst="rect">
            <a:avLst/>
          </a:prstGeom>
          <a:noFill/>
          <a:ln/>
        </p:spPr>
        <p:txBody>
          <a:bodyPr wrap="square" lIns="0" tIns="0" rIns="0" bIns="0" rtlCol="0" anchor="ctr"/>
          <a:lstStyle/>
          <a:p>
            <a:pPr marL="0" indent="0" algn="ctr">
              <a:buNone/>
            </a:pPr>
            <a:r>
              <a:rPr lang="en-US" sz="3000" b="1" dirty="0">
                <a:solidFill>
                  <a:srgbClr val="990011"/>
                </a:solidFill>
                <a:latin typeface="Cambria" pitchFamily="34" charset="0"/>
                <a:ea typeface="Cambria" pitchFamily="34" charset="-122"/>
                <a:cs typeface="Cambria" pitchFamily="34" charset="-120"/>
              </a:rPr>
              <a:t>640</a:t>
            </a:r>
            <a:endParaRPr lang="en-US" sz="3000" dirty="0"/>
          </a:p>
        </p:txBody>
      </p:sp>
      <p:sp>
        <p:nvSpPr>
          <p:cNvPr id="18" name="Text 15"/>
          <p:cNvSpPr/>
          <p:nvPr/>
        </p:nvSpPr>
        <p:spPr>
          <a:xfrm>
            <a:off x="4325112" y="6012363"/>
            <a:ext cx="1508760" cy="545348"/>
          </a:xfrm>
          <a:prstGeom prst="rect">
            <a:avLst/>
          </a:prstGeom>
          <a:noFill/>
          <a:ln/>
        </p:spPr>
        <p:txBody>
          <a:bodyPr wrap="square" lIns="0" tIns="0" rIns="0" bIns="0" rtlCol="0" anchor="t"/>
          <a:lstStyle/>
          <a:p>
            <a:pPr marL="0" indent="0" algn="ctr">
              <a:buNone/>
            </a:pPr>
            <a:r>
              <a:rPr lang="en-US" sz="1600" dirty="0" err="1">
                <a:solidFill>
                  <a:srgbClr val="6E6E78"/>
                </a:solidFill>
                <a:latin typeface="Calibri" pitchFamily="34" charset="0"/>
                <a:ea typeface="Calibri" pitchFamily="34" charset="-122"/>
                <a:cs typeface="Calibri" pitchFamily="34" charset="-120"/>
              </a:rPr>
              <a:t>tham</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số</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sau</a:t>
            </a:r>
            <a:r>
              <a:rPr lang="en-US" sz="1600" dirty="0">
                <a:solidFill>
                  <a:srgbClr val="6E6E78"/>
                </a:solidFill>
                <a:latin typeface="Calibri" pitchFamily="34" charset="0"/>
                <a:ea typeface="Calibri" pitchFamily="34" charset="-122"/>
                <a:cs typeface="Calibri" pitchFamily="34" charset="-120"/>
              </a:rPr>
              <a:t> cắt tỉa</a:t>
            </a:r>
            <a:endParaRPr lang="en-US" sz="1600" dirty="0"/>
          </a:p>
        </p:txBody>
      </p:sp>
      <p:sp>
        <p:nvSpPr>
          <p:cNvPr id="19" name="Shape 16"/>
          <p:cNvSpPr/>
          <p:nvPr/>
        </p:nvSpPr>
        <p:spPr>
          <a:xfrm>
            <a:off x="6266690" y="5285232"/>
            <a:ext cx="1975104" cy="1298448"/>
          </a:xfrm>
          <a:prstGeom prst="roundRect">
            <a:avLst>
              <a:gd name="adj" fmla="val 6338"/>
            </a:avLst>
          </a:prstGeom>
          <a:solidFill>
            <a:srgbClr val="F7EFEF"/>
          </a:solidFill>
          <a:ln w="12700">
            <a:solidFill>
              <a:srgbClr val="F7EFEF"/>
            </a:solidFill>
            <a:prstDash val="solid"/>
          </a:ln>
        </p:spPr>
      </p:sp>
      <p:sp>
        <p:nvSpPr>
          <p:cNvPr id="20" name="Text 17"/>
          <p:cNvSpPr/>
          <p:nvPr/>
        </p:nvSpPr>
        <p:spPr>
          <a:xfrm>
            <a:off x="6376418" y="5431536"/>
            <a:ext cx="1755648" cy="649224"/>
          </a:xfrm>
          <a:prstGeom prst="rect">
            <a:avLst/>
          </a:prstGeom>
          <a:noFill/>
          <a:ln/>
        </p:spPr>
        <p:txBody>
          <a:bodyPr wrap="square" lIns="0" tIns="0" rIns="0" bIns="0" rtlCol="0" anchor="ctr"/>
          <a:lstStyle/>
          <a:p>
            <a:pPr marL="0" indent="0" algn="ctr">
              <a:buNone/>
            </a:pPr>
            <a:r>
              <a:rPr lang="en-US" sz="3000" b="1" dirty="0">
                <a:solidFill>
                  <a:srgbClr val="990011"/>
                </a:solidFill>
                <a:latin typeface="Cambria" pitchFamily="34" charset="0"/>
                <a:ea typeface="Cambria" pitchFamily="34" charset="-122"/>
                <a:cs typeface="Cambria" pitchFamily="34" charset="-120"/>
              </a:rPr>
              <a:t>−48,55 %</a:t>
            </a:r>
            <a:endParaRPr lang="en-US" sz="3000" dirty="0"/>
          </a:p>
        </p:txBody>
      </p:sp>
      <p:sp>
        <p:nvSpPr>
          <p:cNvPr id="21" name="Text 18"/>
          <p:cNvSpPr/>
          <p:nvPr/>
        </p:nvSpPr>
        <p:spPr>
          <a:xfrm>
            <a:off x="6358130" y="6012363"/>
            <a:ext cx="1792224" cy="545348"/>
          </a:xfrm>
          <a:prstGeom prst="rect">
            <a:avLst/>
          </a:prstGeom>
          <a:noFill/>
          <a:ln/>
        </p:spPr>
        <p:txBody>
          <a:bodyPr wrap="square" lIns="0" tIns="0" rIns="0" bIns="0" rtlCol="0" anchor="t"/>
          <a:lstStyle/>
          <a:p>
            <a:pPr marL="0" indent="0" algn="ctr">
              <a:buNone/>
            </a:pPr>
            <a:r>
              <a:rPr lang="en-US" sz="1600" dirty="0">
                <a:solidFill>
                  <a:srgbClr val="6E6E78"/>
                </a:solidFill>
                <a:latin typeface="Calibri" pitchFamily="34" charset="0"/>
                <a:ea typeface="Calibri" pitchFamily="34" charset="-122"/>
                <a:cs typeface="Calibri" pitchFamily="34" charset="-120"/>
              </a:rPr>
              <a:t>số tham số</a:t>
            </a:r>
            <a:endParaRPr lang="en-US" sz="1600" dirty="0"/>
          </a:p>
        </p:txBody>
      </p:sp>
      <p:sp>
        <p:nvSpPr>
          <p:cNvPr id="24" name="Text 0">
            <a:extLst>
              <a:ext uri="{FF2B5EF4-FFF2-40B4-BE49-F238E27FC236}">
                <a16:creationId xmlns:a16="http://schemas.microsoft.com/office/drawing/2014/main" id="{D610BDA1-246C-BF39-EA8C-FDE045F175E7}"/>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pic>
        <p:nvPicPr>
          <p:cNvPr id="26" name="Picture 25">
            <a:extLst>
              <a:ext uri="{FF2B5EF4-FFF2-40B4-BE49-F238E27FC236}">
                <a16:creationId xmlns:a16="http://schemas.microsoft.com/office/drawing/2014/main" id="{19CD7FE2-5E8B-9FF2-0D13-7EC3F1989F2B}"/>
              </a:ext>
            </a:extLst>
          </p:cNvPr>
          <p:cNvPicPr>
            <a:picLocks noChangeAspect="1"/>
          </p:cNvPicPr>
          <p:nvPr/>
        </p:nvPicPr>
        <p:blipFill>
          <a:blip r:embed="rId3"/>
          <a:srcRect l="-387" t="7316" r="38271" b="7283"/>
          <a:stretch>
            <a:fillRect/>
          </a:stretch>
        </p:blipFill>
        <p:spPr>
          <a:xfrm>
            <a:off x="816864" y="4096512"/>
            <a:ext cx="2940177" cy="245289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681228"/>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3.4.3 </a:t>
            </a:r>
            <a:r>
              <a:rPr lang="en-US" sz="2700" b="1" dirty="0" err="1">
                <a:solidFill>
                  <a:srgbClr val="1A1C22"/>
                </a:solidFill>
                <a:latin typeface="Cambria" pitchFamily="34" charset="0"/>
                <a:ea typeface="Cambria" pitchFamily="34" charset="-122"/>
                <a:cs typeface="Cambria" pitchFamily="34" charset="-120"/>
              </a:rPr>
              <a:t>Cấu</a:t>
            </a:r>
            <a:r>
              <a:rPr lang="en-US" sz="2700" b="1" dirty="0">
                <a:solidFill>
                  <a:srgbClr val="1A1C22"/>
                </a:solidFill>
                <a:latin typeface="Cambria" pitchFamily="34" charset="0"/>
                <a:ea typeface="Cambria" pitchFamily="34" charset="-122"/>
                <a:cs typeface="Cambria" pitchFamily="34" charset="-120"/>
              </a:rPr>
              <a:t> hình triển khai: mạng 640 tham số trên phần cứng</a:t>
            </a:r>
            <a:endParaRPr lang="en-US" sz="2700" dirty="0"/>
          </a:p>
        </p:txBody>
      </p:sp>
      <p:pic>
        <p:nvPicPr>
          <p:cNvPr id="5" name="Image 0" descr="img/image6.png"/>
          <p:cNvPicPr>
            <a:picLocks noChangeAspect="1"/>
          </p:cNvPicPr>
          <p:nvPr/>
        </p:nvPicPr>
        <p:blipFill>
          <a:blip r:embed="rId3"/>
          <a:stretch>
            <a:fillRect/>
          </a:stretch>
        </p:blipFill>
        <p:spPr>
          <a:xfrm>
            <a:off x="2433218" y="1152258"/>
            <a:ext cx="7653757" cy="2532774"/>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86982841"/>
              </p:ext>
            </p:extLst>
          </p:nvPr>
        </p:nvGraphicFramePr>
        <p:xfrm>
          <a:off x="500253" y="4061413"/>
          <a:ext cx="11362944" cy="2682240"/>
        </p:xfrm>
        <a:graphic>
          <a:graphicData uri="http://schemas.openxmlformats.org/drawingml/2006/table">
            <a:tbl>
              <a:tblPr/>
              <a:tblGrid>
                <a:gridCol w="768338">
                  <a:extLst>
                    <a:ext uri="{9D8B030D-6E8A-4147-A177-3AD203B41FA5}">
                      <a16:colId xmlns:a16="http://schemas.microsoft.com/office/drawing/2014/main" val="20000"/>
                    </a:ext>
                  </a:extLst>
                </a:gridCol>
                <a:gridCol w="1204200">
                  <a:extLst>
                    <a:ext uri="{9D8B030D-6E8A-4147-A177-3AD203B41FA5}">
                      <a16:colId xmlns:a16="http://schemas.microsoft.com/office/drawing/2014/main" val="20001"/>
                    </a:ext>
                  </a:extLst>
                </a:gridCol>
                <a:gridCol w="1106297">
                  <a:extLst>
                    <a:ext uri="{9D8B030D-6E8A-4147-A177-3AD203B41FA5}">
                      <a16:colId xmlns:a16="http://schemas.microsoft.com/office/drawing/2014/main" val="20002"/>
                    </a:ext>
                  </a:extLst>
                </a:gridCol>
                <a:gridCol w="499302">
                  <a:extLst>
                    <a:ext uri="{9D8B030D-6E8A-4147-A177-3AD203B41FA5}">
                      <a16:colId xmlns:a16="http://schemas.microsoft.com/office/drawing/2014/main" val="20003"/>
                    </a:ext>
                  </a:extLst>
                </a:gridCol>
                <a:gridCol w="567834">
                  <a:extLst>
                    <a:ext uri="{9D8B030D-6E8A-4147-A177-3AD203B41FA5}">
                      <a16:colId xmlns:a16="http://schemas.microsoft.com/office/drawing/2014/main" val="20004"/>
                    </a:ext>
                  </a:extLst>
                </a:gridCol>
                <a:gridCol w="1400004">
                  <a:extLst>
                    <a:ext uri="{9D8B030D-6E8A-4147-A177-3AD203B41FA5}">
                      <a16:colId xmlns:a16="http://schemas.microsoft.com/office/drawing/2014/main" val="20005"/>
                    </a:ext>
                  </a:extLst>
                </a:gridCol>
                <a:gridCol w="930073">
                  <a:extLst>
                    <a:ext uri="{9D8B030D-6E8A-4147-A177-3AD203B41FA5}">
                      <a16:colId xmlns:a16="http://schemas.microsoft.com/office/drawing/2014/main" val="20006"/>
                    </a:ext>
                  </a:extLst>
                </a:gridCol>
                <a:gridCol w="1791614">
                  <a:extLst>
                    <a:ext uri="{9D8B030D-6E8A-4147-A177-3AD203B41FA5}">
                      <a16:colId xmlns:a16="http://schemas.microsoft.com/office/drawing/2014/main" val="20007"/>
                    </a:ext>
                  </a:extLst>
                </a:gridCol>
                <a:gridCol w="1556648">
                  <a:extLst>
                    <a:ext uri="{9D8B030D-6E8A-4147-A177-3AD203B41FA5}">
                      <a16:colId xmlns:a16="http://schemas.microsoft.com/office/drawing/2014/main" val="20008"/>
                    </a:ext>
                  </a:extLst>
                </a:gridCol>
                <a:gridCol w="1538634">
                  <a:extLst>
                    <a:ext uri="{9D8B030D-6E8A-4147-A177-3AD203B41FA5}">
                      <a16:colId xmlns:a16="http://schemas.microsoft.com/office/drawing/2014/main" val="20009"/>
                    </a:ext>
                  </a:extLst>
                </a:gridCol>
              </a:tblGrid>
              <a:tr h="251460">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Tầng</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Kênh vào</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Kênh ra</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K</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P</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Max-Pool</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ReLU</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Kích thước vào</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Kích thước ra</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Tham số</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25146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Không</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 × 2500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 × 500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146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Không</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 × 500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 × 100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25146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Conv3</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Không</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 × 100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 × 20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168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146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Có</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 × 20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 × 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328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r h="25146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GAP</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 × 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 × 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146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FC</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36</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6"/>
                  </a:ext>
                </a:extLst>
              </a:tr>
              <a:tr h="251460">
                <a:tc>
                  <a:txBody>
                    <a:bodyPr/>
                    <a:lstStyle/>
                    <a:p>
                      <a:pPr marL="0" indent="0" algn="l">
                        <a:buNone/>
                      </a:pPr>
                      <a:r>
                        <a:rPr lang="en-US" sz="1600" b="1" dirty="0">
                          <a:solidFill>
                            <a:srgbClr val="1A1C22"/>
                          </a:solidFill>
                          <a:latin typeface="Calibri" pitchFamily="34" charset="0"/>
                          <a:ea typeface="Calibri" pitchFamily="34" charset="-122"/>
                          <a:cs typeface="Calibri" pitchFamily="34" charset="-120"/>
                        </a:rPr>
                        <a:t>Tổng</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640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2" name="Text 0">
            <a:extLst>
              <a:ext uri="{FF2B5EF4-FFF2-40B4-BE49-F238E27FC236}">
                <a16:creationId xmlns:a16="http://schemas.microsoft.com/office/drawing/2014/main" id="{A5BE49F3-74B9-02AC-72B6-6F2BC15B6F8A}"/>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
        <p:nvSpPr>
          <p:cNvPr id="14" name="TextBox 13">
            <a:extLst>
              <a:ext uri="{FF2B5EF4-FFF2-40B4-BE49-F238E27FC236}">
                <a16:creationId xmlns:a16="http://schemas.microsoft.com/office/drawing/2014/main" id="{F20B3FB3-7EDC-CB48-506C-451393F5346D}"/>
              </a:ext>
            </a:extLst>
          </p:cNvPr>
          <p:cNvSpPr txBox="1"/>
          <p:nvPr/>
        </p:nvSpPr>
        <p:spPr>
          <a:xfrm>
            <a:off x="2538603" y="3661303"/>
            <a:ext cx="8577072" cy="400110"/>
          </a:xfrm>
          <a:prstGeom prst="rect">
            <a:avLst/>
          </a:prstGeom>
          <a:noFill/>
        </p:spPr>
        <p:txBody>
          <a:bodyPr wrap="square">
            <a:spAutoFit/>
          </a:bodyPr>
          <a:lstStyle/>
          <a:p>
            <a:r>
              <a:rPr lang="en-US" sz="2000" dirty="0" err="1">
                <a:solidFill>
                  <a:schemeClr val="accent1"/>
                </a:solidFill>
                <a:latin typeface="Calibri" pitchFamily="34" charset="0"/>
                <a:ea typeface="Calibri" pitchFamily="34" charset="-122"/>
                <a:cs typeface="Calibri" pitchFamily="34" charset="-120"/>
              </a:rPr>
              <a:t>Kiến</a:t>
            </a:r>
            <a:r>
              <a:rPr lang="en-US" sz="2000" dirty="0">
                <a:solidFill>
                  <a:schemeClr val="accent1"/>
                </a:solidFill>
                <a:latin typeface="Calibri" pitchFamily="34" charset="0"/>
                <a:ea typeface="Calibri" pitchFamily="34" charset="-122"/>
                <a:cs typeface="Calibri" pitchFamily="34" charset="-120"/>
              </a:rPr>
              <a:t> </a:t>
            </a:r>
            <a:r>
              <a:rPr lang="en-US" sz="2000" dirty="0" err="1">
                <a:solidFill>
                  <a:schemeClr val="accent1"/>
                </a:solidFill>
                <a:latin typeface="Calibri" pitchFamily="34" charset="0"/>
                <a:ea typeface="Calibri" pitchFamily="34" charset="-122"/>
                <a:cs typeface="Calibri" pitchFamily="34" charset="-120"/>
              </a:rPr>
              <a:t>trúc</a:t>
            </a:r>
            <a:r>
              <a:rPr lang="en-US" sz="2000" dirty="0">
                <a:solidFill>
                  <a:schemeClr val="accent1"/>
                </a:solidFill>
                <a:latin typeface="Calibri" pitchFamily="34" charset="0"/>
                <a:ea typeface="Calibri" pitchFamily="34" charset="-122"/>
                <a:cs typeface="Calibri" pitchFamily="34" charset="-120"/>
              </a:rPr>
              <a:t> CNN </a:t>
            </a:r>
            <a:r>
              <a:rPr lang="en-US" sz="2000" dirty="0" err="1">
                <a:solidFill>
                  <a:schemeClr val="accent1"/>
                </a:solidFill>
                <a:latin typeface="Calibri" pitchFamily="34" charset="0"/>
                <a:ea typeface="Calibri" pitchFamily="34" charset="-122"/>
                <a:cs typeface="Calibri" pitchFamily="34" charset="-120"/>
              </a:rPr>
              <a:t>sau</a:t>
            </a:r>
            <a:r>
              <a:rPr lang="en-US" sz="2000" dirty="0">
                <a:solidFill>
                  <a:schemeClr val="accent1"/>
                </a:solidFill>
                <a:latin typeface="Calibri" pitchFamily="34" charset="0"/>
                <a:ea typeface="Calibri" pitchFamily="34" charset="-122"/>
                <a:cs typeface="Calibri" pitchFamily="34" charset="-120"/>
              </a:rPr>
              <a:t> pruning (640 </a:t>
            </a:r>
            <a:r>
              <a:rPr lang="en-US" sz="2000" dirty="0" err="1">
                <a:solidFill>
                  <a:schemeClr val="accent1"/>
                </a:solidFill>
                <a:latin typeface="Calibri" pitchFamily="34" charset="0"/>
                <a:ea typeface="Calibri" pitchFamily="34" charset="-122"/>
                <a:cs typeface="Calibri" pitchFamily="34" charset="-120"/>
              </a:rPr>
              <a:t>tham</a:t>
            </a:r>
            <a:r>
              <a:rPr lang="en-US" sz="2000" dirty="0">
                <a:solidFill>
                  <a:schemeClr val="accent1"/>
                </a:solidFill>
                <a:latin typeface="Calibri" pitchFamily="34" charset="0"/>
                <a:ea typeface="Calibri" pitchFamily="34" charset="-122"/>
                <a:cs typeface="Calibri" pitchFamily="34" charset="-120"/>
              </a:rPr>
              <a:t> </a:t>
            </a:r>
            <a:r>
              <a:rPr lang="en-US" sz="2000" dirty="0" err="1">
                <a:solidFill>
                  <a:schemeClr val="accent1"/>
                </a:solidFill>
                <a:latin typeface="Calibri" pitchFamily="34" charset="0"/>
                <a:ea typeface="Calibri" pitchFamily="34" charset="-122"/>
                <a:cs typeface="Calibri" pitchFamily="34" charset="-120"/>
              </a:rPr>
              <a:t>số</a:t>
            </a:r>
            <a:r>
              <a:rPr lang="en-US" sz="2000" dirty="0">
                <a:solidFill>
                  <a:schemeClr val="accent1"/>
                </a:solidFill>
                <a:latin typeface="Calibri" pitchFamily="34" charset="0"/>
                <a:ea typeface="Calibri" pitchFamily="34" charset="-122"/>
                <a:cs typeface="Calibri" pitchFamily="34" charset="-120"/>
              </a:rPr>
              <a:t>) — </a:t>
            </a:r>
            <a:r>
              <a:rPr lang="en-US" sz="2000" dirty="0" err="1">
                <a:solidFill>
                  <a:schemeClr val="accent1"/>
                </a:solidFill>
                <a:latin typeface="Calibri" pitchFamily="34" charset="0"/>
                <a:ea typeface="Calibri" pitchFamily="34" charset="-122"/>
                <a:cs typeface="Calibri" pitchFamily="34" charset="-120"/>
              </a:rPr>
              <a:t>cấu</a:t>
            </a:r>
            <a:r>
              <a:rPr lang="en-US" sz="2000" dirty="0">
                <a:solidFill>
                  <a:schemeClr val="accent1"/>
                </a:solidFill>
                <a:latin typeface="Calibri" pitchFamily="34" charset="0"/>
                <a:ea typeface="Calibri" pitchFamily="34" charset="-122"/>
                <a:cs typeface="Calibri" pitchFamily="34" charset="-120"/>
              </a:rPr>
              <a:t> </a:t>
            </a:r>
            <a:r>
              <a:rPr lang="en-US" sz="2000" dirty="0" err="1">
                <a:solidFill>
                  <a:schemeClr val="accent1"/>
                </a:solidFill>
                <a:latin typeface="Calibri" pitchFamily="34" charset="0"/>
                <a:ea typeface="Calibri" pitchFamily="34" charset="-122"/>
                <a:cs typeface="Calibri" pitchFamily="34" charset="-120"/>
              </a:rPr>
              <a:t>hình</a:t>
            </a:r>
            <a:r>
              <a:rPr lang="en-US" sz="2000" dirty="0">
                <a:solidFill>
                  <a:schemeClr val="accent1"/>
                </a:solidFill>
                <a:latin typeface="Calibri" pitchFamily="34" charset="0"/>
                <a:ea typeface="Calibri" pitchFamily="34" charset="-122"/>
                <a:cs typeface="Calibri" pitchFamily="34" charset="-120"/>
              </a:rPr>
              <a:t> </a:t>
            </a:r>
            <a:r>
              <a:rPr lang="en-US" sz="2000" dirty="0" err="1">
                <a:solidFill>
                  <a:schemeClr val="accent1"/>
                </a:solidFill>
                <a:latin typeface="Calibri" pitchFamily="34" charset="0"/>
                <a:ea typeface="Calibri" pitchFamily="34" charset="-122"/>
                <a:cs typeface="Calibri" pitchFamily="34" charset="-120"/>
              </a:rPr>
              <a:t>triển</a:t>
            </a:r>
            <a:r>
              <a:rPr lang="en-US" sz="2000" dirty="0">
                <a:solidFill>
                  <a:schemeClr val="accent1"/>
                </a:solidFill>
                <a:latin typeface="Calibri" pitchFamily="34" charset="0"/>
                <a:ea typeface="Calibri" pitchFamily="34" charset="-122"/>
                <a:cs typeface="Calibri" pitchFamily="34" charset="-120"/>
              </a:rPr>
              <a:t> </a:t>
            </a:r>
            <a:r>
              <a:rPr lang="en-US" sz="2000" dirty="0" err="1">
                <a:solidFill>
                  <a:schemeClr val="accent1"/>
                </a:solidFill>
                <a:latin typeface="Calibri" pitchFamily="34" charset="0"/>
                <a:ea typeface="Calibri" pitchFamily="34" charset="-122"/>
                <a:cs typeface="Calibri" pitchFamily="34" charset="-120"/>
              </a:rPr>
              <a:t>khai</a:t>
            </a:r>
            <a:r>
              <a:rPr lang="en-US" sz="2000" dirty="0">
                <a:solidFill>
                  <a:schemeClr val="accent1"/>
                </a:solidFill>
                <a:latin typeface="Calibri" pitchFamily="34" charset="0"/>
                <a:ea typeface="Calibri" pitchFamily="34" charset="-122"/>
                <a:cs typeface="Calibri" pitchFamily="34" charset="-120"/>
              </a:rPr>
              <a:t> </a:t>
            </a:r>
            <a:r>
              <a:rPr lang="en-US" sz="2000" dirty="0" err="1">
                <a:solidFill>
                  <a:schemeClr val="accent1"/>
                </a:solidFill>
                <a:latin typeface="Calibri" pitchFamily="34" charset="0"/>
                <a:ea typeface="Calibri" pitchFamily="34" charset="-122"/>
                <a:cs typeface="Calibri" pitchFamily="34" charset="-120"/>
              </a:rPr>
              <a:t>trên</a:t>
            </a:r>
            <a:r>
              <a:rPr lang="en-US" sz="2000" dirty="0">
                <a:solidFill>
                  <a:schemeClr val="accent1"/>
                </a:solidFill>
                <a:latin typeface="Calibri" pitchFamily="34" charset="0"/>
                <a:ea typeface="Calibri" pitchFamily="34" charset="-122"/>
                <a:cs typeface="Calibri" pitchFamily="34" charset="-120"/>
              </a:rPr>
              <a:t> </a:t>
            </a:r>
            <a:r>
              <a:rPr lang="en-US" sz="2000" dirty="0" err="1">
                <a:solidFill>
                  <a:schemeClr val="accent1"/>
                </a:solidFill>
                <a:latin typeface="Calibri" pitchFamily="34" charset="0"/>
                <a:ea typeface="Calibri" pitchFamily="34" charset="-122"/>
                <a:cs typeface="Calibri" pitchFamily="34" charset="-120"/>
              </a:rPr>
              <a:t>phần</a:t>
            </a:r>
            <a:r>
              <a:rPr lang="en-US" sz="2000" dirty="0">
                <a:solidFill>
                  <a:schemeClr val="accent1"/>
                </a:solidFill>
                <a:latin typeface="Calibri" pitchFamily="34" charset="0"/>
                <a:ea typeface="Calibri" pitchFamily="34" charset="-122"/>
                <a:cs typeface="Calibri" pitchFamily="34" charset="-120"/>
              </a:rPr>
              <a:t> </a:t>
            </a:r>
            <a:r>
              <a:rPr lang="en-US" sz="2000" dirty="0" err="1">
                <a:solidFill>
                  <a:schemeClr val="accent1"/>
                </a:solidFill>
                <a:latin typeface="Calibri" pitchFamily="34" charset="0"/>
                <a:ea typeface="Calibri" pitchFamily="34" charset="-122"/>
                <a:cs typeface="Calibri" pitchFamily="34" charset="-120"/>
              </a:rPr>
              <a:t>cứng</a:t>
            </a:r>
            <a:endParaRPr lang="en-US" sz="2000" dirty="0">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D166A-DDB3-8F4D-B67C-1D1FE656843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3451D91-C2C1-06D1-F4E5-4627A310B154}"/>
              </a:ext>
            </a:extLst>
          </p:cNvPr>
          <p:cNvSpPr/>
          <p:nvPr/>
        </p:nvSpPr>
        <p:spPr>
          <a:xfrm>
            <a:off x="566928" y="599694"/>
            <a:ext cx="10908792" cy="548640"/>
          </a:xfrm>
          <a:prstGeom prst="rect">
            <a:avLst/>
          </a:prstGeom>
          <a:noFill/>
          <a:ln/>
        </p:spPr>
        <p:txBody>
          <a:bodyPr wrap="square" lIns="0" tIns="0" rIns="0" bIns="0" rtlCol="0" anchor="t"/>
          <a:lstStyle/>
          <a:p>
            <a:pPr marL="0" indent="0">
              <a:buNone/>
            </a:pPr>
            <a:r>
              <a:rPr lang="en-US" sz="2700" b="1" dirty="0">
                <a:latin typeface="Cambria" panose="02040503050406030204" pitchFamily="18" charset="0"/>
                <a:ea typeface="Cambria" panose="02040503050406030204" pitchFamily="18" charset="0"/>
                <a:cs typeface="Cambria" pitchFamily="34" charset="-120"/>
              </a:rPr>
              <a:t>3.4.4  Lượng tử </a:t>
            </a:r>
            <a:r>
              <a:rPr lang="en-US" sz="2700" b="1" dirty="0" err="1">
                <a:latin typeface="Cambria" panose="02040503050406030204" pitchFamily="18" charset="0"/>
                <a:ea typeface="Cambria" panose="02040503050406030204" pitchFamily="18" charset="0"/>
                <a:cs typeface="Cambria" pitchFamily="34" charset="-120"/>
              </a:rPr>
              <a:t>hoá</a:t>
            </a:r>
            <a:r>
              <a:rPr lang="en-US" sz="2700" b="1" dirty="0">
                <a:latin typeface="Cambria" panose="02040503050406030204" pitchFamily="18" charset="0"/>
                <a:ea typeface="Cambria" panose="02040503050406030204" pitchFamily="18" charset="0"/>
                <a:cs typeface="Cambria" pitchFamily="34" charset="-120"/>
              </a:rPr>
              <a:t> INT8</a:t>
            </a:r>
            <a:endParaRPr lang="en-US" sz="2700" dirty="0">
              <a:latin typeface="Cambria" panose="02040503050406030204" pitchFamily="18" charset="0"/>
              <a:ea typeface="Cambria" panose="02040503050406030204" pitchFamily="18" charset="0"/>
            </a:endParaRPr>
          </a:p>
        </p:txBody>
      </p:sp>
      <p:sp>
        <p:nvSpPr>
          <p:cNvPr id="38" name="Text 0">
            <a:extLst>
              <a:ext uri="{FF2B5EF4-FFF2-40B4-BE49-F238E27FC236}">
                <a16:creationId xmlns:a16="http://schemas.microsoft.com/office/drawing/2014/main" id="{1D91DE47-A984-BC24-BF64-D942426966B4}"/>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
        <p:nvSpPr>
          <p:cNvPr id="5" name="Shape 4">
            <a:extLst>
              <a:ext uri="{FF2B5EF4-FFF2-40B4-BE49-F238E27FC236}">
                <a16:creationId xmlns:a16="http://schemas.microsoft.com/office/drawing/2014/main" id="{BF7C0290-E6D6-139B-5D08-02A0CC26BD9C}"/>
              </a:ext>
            </a:extLst>
          </p:cNvPr>
          <p:cNvSpPr/>
          <p:nvPr/>
        </p:nvSpPr>
        <p:spPr>
          <a:xfrm>
            <a:off x="566928" y="1224697"/>
            <a:ext cx="6600490" cy="1582909"/>
          </a:xfrm>
          <a:prstGeom prst="roundRect">
            <a:avLst>
              <a:gd name="adj" fmla="val 3462"/>
            </a:avLst>
          </a:prstGeom>
          <a:solidFill>
            <a:srgbClr val="F7EFEF"/>
          </a:solidFill>
          <a:ln w="12700">
            <a:solidFill>
              <a:srgbClr val="F7EFEF"/>
            </a:solidFill>
            <a:prstDash val="solid"/>
          </a:ln>
        </p:spPr>
        <p:txBody>
          <a:bodyPr/>
          <a:lstStyle/>
          <a:p>
            <a:r>
              <a:rPr lang="vi-VN" b="1" dirty="0">
                <a:solidFill>
                  <a:srgbClr val="2F3C7E"/>
                </a:solidFill>
                <a:latin typeface="Calibri"/>
              </a:rPr>
              <a:t>Công thức lượng tử hoá tổng quát</a:t>
            </a:r>
            <a:endParaRPr lang="vi-VN" dirty="0"/>
          </a:p>
          <a:p>
            <a:r>
              <a:rPr lang="en-US" b="1" dirty="0">
                <a:solidFill>
                  <a:srgbClr val="1A1C22"/>
                </a:solidFill>
                <a:latin typeface="Calibri (Body)"/>
              </a:rPr>
              <a:t>q = clamp( round( r / s ), −127, 127 )</a:t>
            </a:r>
          </a:p>
          <a:p>
            <a:pPr>
              <a:spcAft>
                <a:spcPts val="200"/>
              </a:spcAft>
            </a:pPr>
            <a:r>
              <a:rPr lang="vi-VN" dirty="0">
                <a:solidFill>
                  <a:srgbClr val="555B6B"/>
                </a:solidFill>
                <a:latin typeface="Calibri"/>
              </a:rPr>
              <a:t>•  round: làm tròn về số nguyên gần nhất — nguồn sai số lượng tử.</a:t>
            </a:r>
          </a:p>
          <a:p>
            <a:pPr>
              <a:spcAft>
                <a:spcPts val="200"/>
              </a:spcAft>
            </a:pPr>
            <a:r>
              <a:rPr lang="vi-VN" dirty="0">
                <a:solidFill>
                  <a:srgbClr val="555B6B"/>
                </a:solidFill>
                <a:latin typeface="Calibri"/>
              </a:rPr>
              <a:t>•  clamp: chặn biên về dải INT8 [−127, 127] — chống tràn số.</a:t>
            </a:r>
          </a:p>
          <a:p>
            <a:pPr>
              <a:spcAft>
                <a:spcPts val="200"/>
              </a:spcAft>
            </a:pPr>
            <a:r>
              <a:rPr lang="vi-VN" dirty="0">
                <a:solidFill>
                  <a:srgbClr val="555B6B"/>
                </a:solidFill>
                <a:latin typeface="Calibri"/>
              </a:rPr>
              <a:t>•  s: hệ số tỉ lệ, quyết định chi phí phần cứng của phép khôi phục.</a:t>
            </a:r>
          </a:p>
          <a:p>
            <a:endParaRPr dirty="0"/>
          </a:p>
        </p:txBody>
      </p:sp>
      <p:sp>
        <p:nvSpPr>
          <p:cNvPr id="7" name="Shape 4">
            <a:extLst>
              <a:ext uri="{FF2B5EF4-FFF2-40B4-BE49-F238E27FC236}">
                <a16:creationId xmlns:a16="http://schemas.microsoft.com/office/drawing/2014/main" id="{323B81E4-5531-0A42-3C76-E8A32866CA73}"/>
              </a:ext>
            </a:extLst>
          </p:cNvPr>
          <p:cNvSpPr/>
          <p:nvPr/>
        </p:nvSpPr>
        <p:spPr>
          <a:xfrm>
            <a:off x="7389091" y="1224697"/>
            <a:ext cx="4673137" cy="1537485"/>
          </a:xfrm>
          <a:prstGeom prst="roundRect">
            <a:avLst>
              <a:gd name="adj" fmla="val 3462"/>
            </a:avLst>
          </a:prstGeom>
          <a:solidFill>
            <a:srgbClr val="F7EFEF"/>
          </a:solidFill>
          <a:ln w="12700">
            <a:solidFill>
              <a:srgbClr val="F7EFEF"/>
            </a:solidFill>
            <a:prstDash val="solid"/>
          </a:ln>
        </p:spPr>
        <p:txBody>
          <a:bodyPr/>
          <a:lstStyle/>
          <a:p>
            <a:r>
              <a:rPr lang="en-US" b="1" dirty="0">
                <a:solidFill>
                  <a:srgbClr val="1A1C22"/>
                </a:solidFill>
              </a:rPr>
              <a:t>s = 2</a:t>
            </a:r>
            <a:r>
              <a:rPr lang="en-US" b="1" baseline="30000" dirty="0">
                <a:solidFill>
                  <a:srgbClr val="1A1C22"/>
                </a:solidFill>
              </a:rPr>
              <a:t>−shift_bits</a:t>
            </a:r>
          </a:p>
          <a:p>
            <a:r>
              <a:rPr lang="en-US" i="1" dirty="0" err="1">
                <a:solidFill>
                  <a:srgbClr val="555B6B"/>
                </a:solidFill>
              </a:rPr>
              <a:t>shift_bits</a:t>
            </a:r>
            <a:r>
              <a:rPr lang="en-US" i="1" dirty="0">
                <a:solidFill>
                  <a:srgbClr val="555B6B"/>
                </a:solidFill>
              </a:rPr>
              <a:t> = ⌊ log₂( 127 / |</a:t>
            </a:r>
            <a:r>
              <a:rPr lang="en-US" i="1" dirty="0" err="1">
                <a:solidFill>
                  <a:srgbClr val="555B6B"/>
                </a:solidFill>
              </a:rPr>
              <a:t>r|max</a:t>
            </a:r>
            <a:r>
              <a:rPr lang="en-US" i="1" dirty="0">
                <a:solidFill>
                  <a:srgbClr val="555B6B"/>
                </a:solidFill>
              </a:rPr>
              <a:t> ) ⌋</a:t>
            </a:r>
          </a:p>
          <a:p>
            <a:r>
              <a:rPr lang="en-US" dirty="0">
                <a:solidFill>
                  <a:srgbClr val="555B6B"/>
                </a:solidFill>
              </a:rPr>
              <a:t>Khi s </a:t>
            </a:r>
            <a:r>
              <a:rPr lang="en-US" dirty="0" err="1">
                <a:solidFill>
                  <a:srgbClr val="555B6B"/>
                </a:solidFill>
              </a:rPr>
              <a:t>là</a:t>
            </a:r>
            <a:r>
              <a:rPr lang="en-US" dirty="0">
                <a:solidFill>
                  <a:srgbClr val="555B6B"/>
                </a:solidFill>
              </a:rPr>
              <a:t> </a:t>
            </a:r>
            <a:r>
              <a:rPr lang="en-US" dirty="0" err="1">
                <a:solidFill>
                  <a:srgbClr val="555B6B"/>
                </a:solidFill>
              </a:rPr>
              <a:t>luỹ</a:t>
            </a:r>
            <a:r>
              <a:rPr lang="en-US" dirty="0">
                <a:solidFill>
                  <a:srgbClr val="555B6B"/>
                </a:solidFill>
              </a:rPr>
              <a:t> </a:t>
            </a:r>
            <a:r>
              <a:rPr lang="en-US" dirty="0" err="1">
                <a:solidFill>
                  <a:srgbClr val="555B6B"/>
                </a:solidFill>
              </a:rPr>
              <a:t>thừa</a:t>
            </a:r>
            <a:r>
              <a:rPr lang="en-US" dirty="0">
                <a:solidFill>
                  <a:srgbClr val="555B6B"/>
                </a:solidFill>
              </a:rPr>
              <a:t> </a:t>
            </a:r>
            <a:r>
              <a:rPr lang="en-US" dirty="0" err="1">
                <a:solidFill>
                  <a:srgbClr val="555B6B"/>
                </a:solidFill>
              </a:rPr>
              <a:t>của</a:t>
            </a:r>
            <a:r>
              <a:rPr lang="en-US" dirty="0">
                <a:solidFill>
                  <a:srgbClr val="555B6B"/>
                </a:solidFill>
              </a:rPr>
              <a:t> 2, </a:t>
            </a:r>
            <a:r>
              <a:rPr lang="en-US" dirty="0" err="1">
                <a:solidFill>
                  <a:srgbClr val="555B6B"/>
                </a:solidFill>
              </a:rPr>
              <a:t>phép</a:t>
            </a:r>
            <a:r>
              <a:rPr lang="en-US" dirty="0">
                <a:solidFill>
                  <a:srgbClr val="555B6B"/>
                </a:solidFill>
              </a:rPr>
              <a:t> chia </a:t>
            </a:r>
            <a:r>
              <a:rPr lang="en-US" dirty="0" err="1">
                <a:solidFill>
                  <a:srgbClr val="555B6B"/>
                </a:solidFill>
              </a:rPr>
              <a:t>cho</a:t>
            </a:r>
            <a:r>
              <a:rPr lang="en-US" dirty="0">
                <a:solidFill>
                  <a:srgbClr val="555B6B"/>
                </a:solidFill>
              </a:rPr>
              <a:t> s </a:t>
            </a:r>
            <a:r>
              <a:rPr lang="en-US" dirty="0" err="1">
                <a:solidFill>
                  <a:srgbClr val="555B6B"/>
                </a:solidFill>
              </a:rPr>
              <a:t>trở</a:t>
            </a:r>
            <a:r>
              <a:rPr lang="en-US" dirty="0">
                <a:solidFill>
                  <a:srgbClr val="555B6B"/>
                </a:solidFill>
              </a:rPr>
              <a:t> </a:t>
            </a:r>
            <a:r>
              <a:rPr lang="en-US" dirty="0" err="1">
                <a:solidFill>
                  <a:srgbClr val="555B6B"/>
                </a:solidFill>
              </a:rPr>
              <a:t>thành</a:t>
            </a:r>
            <a:r>
              <a:rPr lang="en-US" dirty="0">
                <a:solidFill>
                  <a:srgbClr val="555B6B"/>
                </a:solidFill>
              </a:rPr>
              <a:t> </a:t>
            </a:r>
            <a:r>
              <a:rPr lang="en-US" dirty="0" err="1">
                <a:solidFill>
                  <a:srgbClr val="555B6B"/>
                </a:solidFill>
              </a:rPr>
              <a:t>phép</a:t>
            </a:r>
            <a:r>
              <a:rPr lang="en-US" dirty="0">
                <a:solidFill>
                  <a:srgbClr val="555B6B"/>
                </a:solidFill>
              </a:rPr>
              <a:t> </a:t>
            </a:r>
            <a:r>
              <a:rPr lang="en-US" dirty="0" err="1">
                <a:solidFill>
                  <a:srgbClr val="555B6B"/>
                </a:solidFill>
              </a:rPr>
              <a:t>dịch</a:t>
            </a:r>
            <a:r>
              <a:rPr lang="en-US" dirty="0">
                <a:solidFill>
                  <a:srgbClr val="555B6B"/>
                </a:solidFill>
              </a:rPr>
              <a:t> bit:</a:t>
            </a:r>
          </a:p>
          <a:p>
            <a:pPr>
              <a:spcBef>
                <a:spcPts val="400"/>
              </a:spcBef>
            </a:pPr>
            <a:r>
              <a:rPr lang="en-US" b="1" dirty="0">
                <a:solidFill>
                  <a:srgbClr val="1A1C22"/>
                </a:solidFill>
              </a:rPr>
              <a:t>q = clamp( round( r · 2^shift_bits ), −127, 127 )</a:t>
            </a:r>
          </a:p>
        </p:txBody>
      </p:sp>
      <p:sp>
        <p:nvSpPr>
          <p:cNvPr id="11" name="Shape 8">
            <a:extLst>
              <a:ext uri="{FF2B5EF4-FFF2-40B4-BE49-F238E27FC236}">
                <a16:creationId xmlns:a16="http://schemas.microsoft.com/office/drawing/2014/main" id="{DD053017-6F16-1B41-F6D2-DAB21773CF09}"/>
              </a:ext>
            </a:extLst>
          </p:cNvPr>
          <p:cNvSpPr/>
          <p:nvPr/>
        </p:nvSpPr>
        <p:spPr>
          <a:xfrm>
            <a:off x="178726" y="3369975"/>
            <a:ext cx="7746074" cy="2538597"/>
          </a:xfrm>
          <a:prstGeom prst="roundRect">
            <a:avLst>
              <a:gd name="adj" fmla="val 4000"/>
            </a:avLst>
          </a:prstGeom>
          <a:solidFill>
            <a:srgbClr val="EFF1F8"/>
          </a:solidFill>
          <a:ln w="12700">
            <a:solidFill>
              <a:srgbClr val="EFF1F8"/>
            </a:solidFill>
            <a:prstDash val="solid"/>
          </a:ln>
        </p:spPr>
        <p:txBody>
          <a:bodyPr/>
          <a:lstStyle/>
          <a:p>
            <a:pPr>
              <a:spcBef>
                <a:spcPts val="300"/>
              </a:spcBef>
              <a:spcAft>
                <a:spcPts val="300"/>
              </a:spcAft>
            </a:pPr>
            <a:r>
              <a:rPr lang="vi-VN" b="1" dirty="0">
                <a:solidFill>
                  <a:srgbClr val="2F3C7E"/>
                </a:solidFill>
                <a:latin typeface="Calibri"/>
              </a:rPr>
              <a:t>Áp dụng vào mô hình — bốn bước của luồng suy luận INT8</a:t>
            </a:r>
          </a:p>
          <a:p>
            <a:pPr>
              <a:spcBef>
                <a:spcPts val="300"/>
              </a:spcBef>
              <a:spcAft>
                <a:spcPts val="300"/>
              </a:spcAft>
            </a:pPr>
            <a:r>
              <a:rPr lang="en-US" sz="1600" b="1" dirty="0">
                <a:solidFill>
                  <a:srgbClr val="1A1C22"/>
                </a:solidFill>
              </a:rPr>
              <a:t>1. </a:t>
            </a:r>
            <a:r>
              <a:rPr lang="en-US" sz="1600" b="1" dirty="0" err="1">
                <a:solidFill>
                  <a:srgbClr val="1A1C22"/>
                </a:solidFill>
              </a:rPr>
              <a:t>Đầu</a:t>
            </a:r>
            <a:r>
              <a:rPr lang="en-US" sz="1600" b="1" dirty="0">
                <a:solidFill>
                  <a:srgbClr val="1A1C22"/>
                </a:solidFill>
              </a:rPr>
              <a:t> </a:t>
            </a:r>
            <a:r>
              <a:rPr lang="en-US" sz="1600" b="1" dirty="0" err="1">
                <a:solidFill>
                  <a:srgbClr val="1A1C22"/>
                </a:solidFill>
              </a:rPr>
              <a:t>vào</a:t>
            </a:r>
            <a:r>
              <a:rPr lang="en-US" sz="1600" b="1" dirty="0">
                <a:solidFill>
                  <a:srgbClr val="1A1C22"/>
                </a:solidFill>
              </a:rPr>
              <a:t> ECG : </a:t>
            </a:r>
            <a:r>
              <a:rPr lang="en-US" sz="1600" dirty="0" err="1">
                <a:solidFill>
                  <a:srgbClr val="1A1C22"/>
                </a:solidFill>
                <a:latin typeface="Consolas"/>
              </a:rPr>
              <a:t>x_q</a:t>
            </a:r>
            <a:r>
              <a:rPr lang="en-US" sz="1600" dirty="0">
                <a:solidFill>
                  <a:srgbClr val="1A1C22"/>
                </a:solidFill>
                <a:latin typeface="Consolas"/>
              </a:rPr>
              <a:t> = clamp( round( x · 2^input_shift ), −127, 127 ) </a:t>
            </a:r>
            <a:r>
              <a:rPr lang="en-US" sz="1600" i="1" dirty="0" err="1">
                <a:solidFill>
                  <a:srgbClr val="555B6B"/>
                </a:solidFill>
              </a:rPr>
              <a:t>input_shift</a:t>
            </a:r>
            <a:r>
              <a:rPr lang="en-US" sz="1600" i="1" dirty="0">
                <a:solidFill>
                  <a:srgbClr val="555B6B"/>
                </a:solidFill>
              </a:rPr>
              <a:t> = 2</a:t>
            </a:r>
          </a:p>
          <a:p>
            <a:pPr>
              <a:spcBef>
                <a:spcPts val="300"/>
              </a:spcBef>
              <a:spcAft>
                <a:spcPts val="300"/>
              </a:spcAft>
            </a:pPr>
            <a:r>
              <a:rPr lang="en-US" sz="1600" b="1" dirty="0">
                <a:solidFill>
                  <a:srgbClr val="1A1C22"/>
                </a:solidFill>
              </a:rPr>
              <a:t>2. </a:t>
            </a:r>
            <a:r>
              <a:rPr lang="en-US" sz="1600" b="1" dirty="0" err="1">
                <a:solidFill>
                  <a:srgbClr val="1A1C22"/>
                </a:solidFill>
              </a:rPr>
              <a:t>Trọng</a:t>
            </a:r>
            <a:r>
              <a:rPr lang="en-US" sz="1600" b="1" dirty="0">
                <a:solidFill>
                  <a:srgbClr val="1A1C22"/>
                </a:solidFill>
              </a:rPr>
              <a:t> </a:t>
            </a:r>
            <a:r>
              <a:rPr lang="en-US" sz="1600" b="1" dirty="0" err="1">
                <a:solidFill>
                  <a:srgbClr val="1A1C22"/>
                </a:solidFill>
              </a:rPr>
              <a:t>số</a:t>
            </a:r>
            <a:r>
              <a:rPr lang="en-US" sz="1600" b="1" dirty="0">
                <a:solidFill>
                  <a:srgbClr val="1A1C22"/>
                </a:solidFill>
              </a:rPr>
              <a:t> : </a:t>
            </a:r>
            <a:r>
              <a:rPr lang="pl-PL" sz="1600" dirty="0">
                <a:solidFill>
                  <a:srgbClr val="1A1C22"/>
                </a:solidFill>
                <a:latin typeface="Consolas"/>
              </a:rPr>
              <a:t>w_q = clamp( round( w · 2^w_shift ), −127, 127 )</a:t>
            </a:r>
            <a:r>
              <a:rPr lang="en-US" sz="1600" dirty="0">
                <a:solidFill>
                  <a:srgbClr val="1A1C22"/>
                </a:solidFill>
                <a:latin typeface="Consolas"/>
              </a:rPr>
              <a:t> </a:t>
            </a:r>
          </a:p>
          <a:p>
            <a:pPr>
              <a:spcBef>
                <a:spcPts val="300"/>
              </a:spcBef>
              <a:spcAft>
                <a:spcPts val="300"/>
              </a:spcAft>
            </a:pPr>
            <a:r>
              <a:rPr lang="en-US" sz="1600" i="1" dirty="0" err="1">
                <a:solidFill>
                  <a:srgbClr val="555B6B"/>
                </a:solidFill>
              </a:rPr>
              <a:t>w_shift</a:t>
            </a:r>
            <a:r>
              <a:rPr lang="en-US" sz="1600" i="1" dirty="0">
                <a:solidFill>
                  <a:srgbClr val="555B6B"/>
                </a:solidFill>
              </a:rPr>
              <a:t> = 6/7/6/7/7</a:t>
            </a:r>
          </a:p>
          <a:p>
            <a:pPr>
              <a:spcBef>
                <a:spcPts val="300"/>
              </a:spcBef>
              <a:spcAft>
                <a:spcPts val="300"/>
              </a:spcAft>
            </a:pPr>
            <a:r>
              <a:rPr lang="en-US" sz="1600" b="1" dirty="0">
                <a:solidFill>
                  <a:srgbClr val="1A1C22"/>
                </a:solidFill>
              </a:rPr>
              <a:t>3. </a:t>
            </a:r>
            <a:r>
              <a:rPr lang="en-US" sz="1600" b="1" dirty="0" err="1">
                <a:solidFill>
                  <a:srgbClr val="1A1C22"/>
                </a:solidFill>
              </a:rPr>
              <a:t>Tích</a:t>
            </a:r>
            <a:r>
              <a:rPr lang="en-US" sz="1600" b="1" dirty="0">
                <a:solidFill>
                  <a:srgbClr val="1A1C22"/>
                </a:solidFill>
              </a:rPr>
              <a:t> </a:t>
            </a:r>
            <a:r>
              <a:rPr lang="en-US" sz="1600" b="1" dirty="0" err="1">
                <a:solidFill>
                  <a:srgbClr val="1A1C22"/>
                </a:solidFill>
              </a:rPr>
              <a:t>luỹ</a:t>
            </a:r>
            <a:r>
              <a:rPr lang="en-US" sz="1600" b="1" dirty="0">
                <a:solidFill>
                  <a:srgbClr val="1A1C22"/>
                </a:solidFill>
              </a:rPr>
              <a:t> INT32 : </a:t>
            </a:r>
            <a:r>
              <a:rPr lang="en-US" sz="1600" dirty="0">
                <a:solidFill>
                  <a:srgbClr val="1A1C22"/>
                </a:solidFill>
                <a:latin typeface="Consolas"/>
              </a:rPr>
              <a:t>acc32 = </a:t>
            </a:r>
            <a:r>
              <a:rPr lang="el-GR" sz="1600" dirty="0">
                <a:solidFill>
                  <a:srgbClr val="1A1C22"/>
                </a:solidFill>
                <a:latin typeface="Consolas"/>
              </a:rPr>
              <a:t>Σ ( </a:t>
            </a:r>
            <a:r>
              <a:rPr lang="en-US" sz="1600" dirty="0" err="1">
                <a:solidFill>
                  <a:srgbClr val="1A1C22"/>
                </a:solidFill>
                <a:latin typeface="Consolas"/>
              </a:rPr>
              <a:t>x_q</a:t>
            </a:r>
            <a:r>
              <a:rPr lang="en-US" sz="1600" dirty="0">
                <a:solidFill>
                  <a:srgbClr val="1A1C22"/>
                </a:solidFill>
                <a:latin typeface="Consolas"/>
              </a:rPr>
              <a:t> · </a:t>
            </a:r>
            <a:r>
              <a:rPr lang="en-US" sz="1600" dirty="0" err="1">
                <a:solidFill>
                  <a:srgbClr val="1A1C22"/>
                </a:solidFill>
                <a:latin typeface="Consolas"/>
              </a:rPr>
              <a:t>w_q</a:t>
            </a:r>
            <a:r>
              <a:rPr lang="en-US" sz="1600" dirty="0">
                <a:solidFill>
                  <a:srgbClr val="1A1C22"/>
                </a:solidFill>
                <a:latin typeface="Consolas"/>
              </a:rPr>
              <a:t> ) + </a:t>
            </a:r>
            <a:r>
              <a:rPr lang="en-US" sz="1600" dirty="0" err="1">
                <a:solidFill>
                  <a:srgbClr val="1A1C22"/>
                </a:solidFill>
                <a:latin typeface="Consolas"/>
              </a:rPr>
              <a:t>bias_q</a:t>
            </a:r>
            <a:endParaRPr lang="en-US" sz="1600" dirty="0">
              <a:solidFill>
                <a:srgbClr val="1A1C22"/>
              </a:solidFill>
              <a:latin typeface="Consolas"/>
            </a:endParaRPr>
          </a:p>
          <a:p>
            <a:pPr>
              <a:spcBef>
                <a:spcPts val="300"/>
              </a:spcBef>
              <a:spcAft>
                <a:spcPts val="300"/>
              </a:spcAft>
            </a:pPr>
            <a:r>
              <a:rPr lang="en-US" sz="1600" b="1" dirty="0">
                <a:solidFill>
                  <a:srgbClr val="1A1C22"/>
                </a:solidFill>
              </a:rPr>
              <a:t>4. Tái </a:t>
            </a:r>
            <a:r>
              <a:rPr lang="en-US" sz="1600" b="1" dirty="0" err="1">
                <a:solidFill>
                  <a:srgbClr val="1A1C22"/>
                </a:solidFill>
              </a:rPr>
              <a:t>tỉ</a:t>
            </a:r>
            <a:r>
              <a:rPr lang="en-US" sz="1600" b="1" dirty="0">
                <a:solidFill>
                  <a:srgbClr val="1A1C22"/>
                </a:solidFill>
              </a:rPr>
              <a:t> </a:t>
            </a:r>
            <a:r>
              <a:rPr lang="en-US" sz="1600" b="1" dirty="0" err="1">
                <a:solidFill>
                  <a:srgbClr val="1A1C22"/>
                </a:solidFill>
              </a:rPr>
              <a:t>lệ</a:t>
            </a:r>
            <a:r>
              <a:rPr lang="en-US" sz="1600" b="1" dirty="0">
                <a:solidFill>
                  <a:srgbClr val="1A1C22"/>
                </a:solidFill>
              </a:rPr>
              <a:t> </a:t>
            </a:r>
            <a:r>
              <a:rPr lang="en-US" sz="1600" b="1" dirty="0" err="1">
                <a:solidFill>
                  <a:srgbClr val="1A1C22"/>
                </a:solidFill>
              </a:rPr>
              <a:t>về</a:t>
            </a:r>
            <a:r>
              <a:rPr lang="en-US" sz="1600" b="1" dirty="0">
                <a:solidFill>
                  <a:srgbClr val="1A1C22"/>
                </a:solidFill>
              </a:rPr>
              <a:t> INT8 : </a:t>
            </a:r>
            <a:r>
              <a:rPr lang="es-ES" sz="1600" dirty="0" err="1">
                <a:solidFill>
                  <a:srgbClr val="1A1C22"/>
                </a:solidFill>
                <a:latin typeface="Consolas"/>
              </a:rPr>
              <a:t>y_q</a:t>
            </a:r>
            <a:r>
              <a:rPr lang="es-ES" sz="1600" dirty="0">
                <a:solidFill>
                  <a:srgbClr val="1A1C22"/>
                </a:solidFill>
                <a:latin typeface="Consolas"/>
              </a:rPr>
              <a:t> = </a:t>
            </a:r>
            <a:r>
              <a:rPr lang="es-ES" sz="1600" dirty="0" err="1">
                <a:solidFill>
                  <a:srgbClr val="1A1C22"/>
                </a:solidFill>
                <a:latin typeface="Consolas"/>
              </a:rPr>
              <a:t>clamp</a:t>
            </a:r>
            <a:r>
              <a:rPr lang="es-ES" sz="1600" dirty="0">
                <a:solidFill>
                  <a:srgbClr val="1A1C22"/>
                </a:solidFill>
                <a:latin typeface="Consolas"/>
              </a:rPr>
              <a:t>( ( acc32 + 2^(nb−1) ) &gt;&gt; </a:t>
            </a:r>
            <a:r>
              <a:rPr lang="es-ES" sz="1600" dirty="0" err="1">
                <a:solidFill>
                  <a:srgbClr val="1A1C22"/>
                </a:solidFill>
                <a:latin typeface="Consolas"/>
              </a:rPr>
              <a:t>nb</a:t>
            </a:r>
            <a:r>
              <a:rPr lang="es-ES" sz="1600" dirty="0">
                <a:solidFill>
                  <a:srgbClr val="1A1C22"/>
                </a:solidFill>
                <a:latin typeface="Consolas"/>
              </a:rPr>
              <a:t>, −127, 127 ) </a:t>
            </a:r>
            <a:r>
              <a:rPr lang="en-US" sz="1600" i="1" dirty="0" err="1">
                <a:solidFill>
                  <a:srgbClr val="555B6B"/>
                </a:solidFill>
              </a:rPr>
              <a:t>nb</a:t>
            </a:r>
            <a:r>
              <a:rPr lang="en-US" sz="1600" i="1" dirty="0">
                <a:solidFill>
                  <a:srgbClr val="555B6B"/>
                </a:solidFill>
              </a:rPr>
              <a:t> = 8/7/6/7</a:t>
            </a:r>
            <a:endParaRPr lang="en-US" sz="1600" b="1" i="1" dirty="0">
              <a:solidFill>
                <a:srgbClr val="1A1C22"/>
              </a:solidFill>
            </a:endParaRPr>
          </a:p>
        </p:txBody>
      </p:sp>
      <p:sp>
        <p:nvSpPr>
          <p:cNvPr id="13" name="Shape 8">
            <a:extLst>
              <a:ext uri="{FF2B5EF4-FFF2-40B4-BE49-F238E27FC236}">
                <a16:creationId xmlns:a16="http://schemas.microsoft.com/office/drawing/2014/main" id="{285FC977-6096-6CA3-4151-B10BB4053EC2}"/>
              </a:ext>
            </a:extLst>
          </p:cNvPr>
          <p:cNvSpPr/>
          <p:nvPr/>
        </p:nvSpPr>
        <p:spPr>
          <a:xfrm>
            <a:off x="8079046" y="3369975"/>
            <a:ext cx="3934228" cy="2538597"/>
          </a:xfrm>
          <a:prstGeom prst="roundRect">
            <a:avLst>
              <a:gd name="adj" fmla="val 4000"/>
            </a:avLst>
          </a:prstGeom>
          <a:solidFill>
            <a:srgbClr val="EFF1F8"/>
          </a:solidFill>
          <a:ln w="12700">
            <a:solidFill>
              <a:srgbClr val="EFF1F8"/>
            </a:solidFill>
            <a:prstDash val="solid"/>
          </a:ln>
        </p:spPr>
        <p:txBody>
          <a:bodyPr/>
          <a:lstStyle/>
          <a:p>
            <a:r>
              <a:rPr lang="en-US" b="1" dirty="0" err="1">
                <a:solidFill>
                  <a:srgbClr val="2F3C7E"/>
                </a:solidFill>
              </a:rPr>
              <a:t>Điểm</a:t>
            </a:r>
            <a:r>
              <a:rPr lang="en-US" b="1" dirty="0">
                <a:solidFill>
                  <a:srgbClr val="2F3C7E"/>
                </a:solidFill>
              </a:rPr>
              <a:t> </a:t>
            </a:r>
            <a:r>
              <a:rPr lang="en-US" b="1" dirty="0" err="1">
                <a:solidFill>
                  <a:srgbClr val="2F3C7E"/>
                </a:solidFill>
              </a:rPr>
              <a:t>cải</a:t>
            </a:r>
            <a:r>
              <a:rPr lang="en-US" b="1" dirty="0">
                <a:solidFill>
                  <a:srgbClr val="2F3C7E"/>
                </a:solidFill>
              </a:rPr>
              <a:t> </a:t>
            </a:r>
            <a:r>
              <a:rPr lang="en-US" b="1" dirty="0" err="1">
                <a:solidFill>
                  <a:srgbClr val="2F3C7E"/>
                </a:solidFill>
              </a:rPr>
              <a:t>tiến</a:t>
            </a:r>
            <a:r>
              <a:rPr lang="en-US" b="1" dirty="0">
                <a:solidFill>
                  <a:srgbClr val="2F3C7E"/>
                </a:solidFill>
              </a:rPr>
              <a:t>: round-half-up</a:t>
            </a:r>
          </a:p>
          <a:p>
            <a:pPr>
              <a:spcAft>
                <a:spcPts val="500"/>
              </a:spcAft>
            </a:pPr>
            <a:r>
              <a:rPr lang="vi-VN" sz="1600" dirty="0">
                <a:solidFill>
                  <a:srgbClr val="555B6B"/>
                </a:solidFill>
                <a:latin typeface="Calibri"/>
              </a:rPr>
              <a:t>•  Dịch phải số học luôn làm tròn xuống → sai số lệch hẳn một phía</a:t>
            </a:r>
            <a:r>
              <a:rPr lang="en-US" sz="1600" dirty="0">
                <a:solidFill>
                  <a:srgbClr val="555B6B"/>
                </a:solidFill>
                <a:latin typeface="Calibri"/>
              </a:rPr>
              <a:t>[-1:0]</a:t>
            </a:r>
            <a:r>
              <a:rPr lang="vi-VN" sz="1600" dirty="0">
                <a:solidFill>
                  <a:srgbClr val="555B6B"/>
                </a:solidFill>
                <a:latin typeface="Calibri"/>
              </a:rPr>
              <a:t> và tích luỹ qua 4 tầng.</a:t>
            </a:r>
          </a:p>
          <a:p>
            <a:pPr>
              <a:spcAft>
                <a:spcPts val="500"/>
              </a:spcAft>
            </a:pPr>
            <a:r>
              <a:rPr lang="vi-VN" sz="1600" dirty="0">
                <a:solidFill>
                  <a:srgbClr val="555B6B"/>
                </a:solidFill>
                <a:latin typeface="Calibri"/>
              </a:rPr>
              <a:t>•  Cộng thêm nửa đơn vị của bit bị dịch, 2^(nb−1), trước khi dịch → sai số phân bố đối xứng quanh 0</a:t>
            </a:r>
            <a:r>
              <a:rPr lang="en-US" sz="1600" dirty="0">
                <a:solidFill>
                  <a:srgbClr val="555B6B"/>
                </a:solidFill>
                <a:latin typeface="Calibri"/>
              </a:rPr>
              <a:t> [-0.5:0.5]</a:t>
            </a:r>
            <a:r>
              <a:rPr lang="vi-VN" sz="1600" dirty="0">
                <a:solidFill>
                  <a:srgbClr val="555B6B"/>
                </a:solidFill>
                <a:latin typeface="Calibri"/>
              </a:rPr>
              <a:t>.</a:t>
            </a:r>
          </a:p>
          <a:p>
            <a:endParaRPr lang="en-US" sz="1600" b="1" dirty="0">
              <a:solidFill>
                <a:srgbClr val="2F3C7E"/>
              </a:solidFill>
            </a:endParaRPr>
          </a:p>
        </p:txBody>
      </p:sp>
    </p:spTree>
    <p:extLst>
      <p:ext uri="{BB962C8B-B14F-4D97-AF65-F5344CB8AC3E}">
        <p14:creationId xmlns:p14="http://schemas.microsoft.com/office/powerpoint/2010/main" val="350401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646938"/>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3.4.5 </a:t>
            </a:r>
            <a:r>
              <a:rPr lang="en-US" sz="2700" b="1" dirty="0" err="1">
                <a:solidFill>
                  <a:srgbClr val="1A1C22"/>
                </a:solidFill>
                <a:latin typeface="Cambria" pitchFamily="34" charset="0"/>
                <a:ea typeface="Cambria" pitchFamily="34" charset="-122"/>
                <a:cs typeface="Cambria" pitchFamily="34" charset="-120"/>
              </a:rPr>
              <a:t>Trích</a:t>
            </a:r>
            <a:r>
              <a:rPr lang="en-US" sz="2700" b="1" dirty="0">
                <a:solidFill>
                  <a:srgbClr val="1A1C22"/>
                </a:solidFill>
                <a:latin typeface="Cambria" pitchFamily="34" charset="0"/>
                <a:ea typeface="Cambria" pitchFamily="34" charset="-122"/>
                <a:cs typeface="Cambria" pitchFamily="34" charset="-120"/>
              </a:rPr>
              <a:t> xuất trọng số</a:t>
            </a:r>
            <a:endParaRPr lang="en-US" sz="2700" dirty="0"/>
          </a:p>
        </p:txBody>
      </p:sp>
      <p:sp>
        <p:nvSpPr>
          <p:cNvPr id="10" name="Shape 8"/>
          <p:cNvSpPr/>
          <p:nvPr/>
        </p:nvSpPr>
        <p:spPr>
          <a:xfrm>
            <a:off x="929068" y="1227201"/>
            <a:ext cx="10692956" cy="2057400"/>
          </a:xfrm>
          <a:prstGeom prst="roundRect">
            <a:avLst>
              <a:gd name="adj" fmla="val 4000"/>
            </a:avLst>
          </a:prstGeom>
          <a:solidFill>
            <a:srgbClr val="EFF1F8"/>
          </a:solidFill>
          <a:ln w="12700">
            <a:solidFill>
              <a:srgbClr val="EFF1F8"/>
            </a:solidFill>
            <a:prstDash val="solid"/>
          </a:ln>
        </p:spPr>
        <p:txBody>
          <a:bodyPr/>
          <a:lstStyle/>
          <a:p>
            <a:r>
              <a:rPr lang="en-US" b="1" dirty="0" err="1">
                <a:solidFill>
                  <a:srgbClr val="2F3C7E"/>
                </a:solidFill>
                <a:latin typeface="Calibri" pitchFamily="34" charset="0"/>
                <a:ea typeface="Calibri" pitchFamily="34" charset="-122"/>
                <a:cs typeface="Calibri" pitchFamily="34" charset="-120"/>
              </a:rPr>
              <a:t>Trích</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xuất</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và</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đóng</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gói</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trọng</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số</a:t>
            </a:r>
            <a:endParaRPr lang="en-US"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Trọng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Conv </a:t>
            </a:r>
            <a:r>
              <a:rPr lang="en-US" dirty="0" err="1">
                <a:solidFill>
                  <a:srgbClr val="1A1C22"/>
                </a:solidFill>
                <a:latin typeface="Calibri" pitchFamily="34" charset="0"/>
                <a:ea typeface="Calibri" pitchFamily="34" charset="-122"/>
                <a:cs typeface="Calibri" pitchFamily="34" charset="-120"/>
              </a:rPr>
              <a:t>sắp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xếp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ra</a:t>
            </a:r>
            <a:r>
              <a:rPr lang="en-US" dirty="0">
                <a:solidFill>
                  <a:srgbClr val="1A1C22"/>
                </a:solidFill>
                <a:latin typeface="Calibri" pitchFamily="34" charset="0"/>
                <a:ea typeface="Calibri" pitchFamily="34" charset="-122"/>
                <a:cs typeface="Calibri" pitchFamily="34" charset="-120"/>
              </a:rPr>
              <a:t> ở </a:t>
            </a:r>
            <a:r>
              <a:rPr lang="en-US" dirty="0" err="1">
                <a:solidFill>
                  <a:srgbClr val="1A1C22"/>
                </a:solidFill>
                <a:latin typeface="Calibri" pitchFamily="34" charset="0"/>
                <a:ea typeface="Calibri" pitchFamily="34" charset="-122"/>
                <a:cs typeface="Calibri" pitchFamily="34" charset="-120"/>
              </a:rPr>
              <a:t>ngoài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vào</a:t>
            </a:r>
            <a:r>
              <a:rPr lang="en-US" dirty="0">
                <a:solidFill>
                  <a:srgbClr val="1A1C22"/>
                </a:solidFill>
                <a:latin typeface="Calibri" pitchFamily="34" charset="0"/>
                <a:ea typeface="Calibri" pitchFamily="34" charset="-122"/>
                <a:cs typeface="Calibri" pitchFamily="34" charset="-120"/>
              </a:rPr>
              <a:t> ở </a:t>
            </a:r>
            <a:r>
              <a:rPr lang="en-US" dirty="0" err="1">
                <a:solidFill>
                  <a:srgbClr val="1A1C22"/>
                </a:solidFill>
                <a:latin typeface="Calibri" pitchFamily="34" charset="0"/>
                <a:ea typeface="Calibri" pitchFamily="34" charset="-122"/>
                <a:cs typeface="Calibri" pitchFamily="34" charset="-120"/>
              </a:rPr>
              <a:t>trong</a:t>
            </a:r>
            <a:r>
              <a:rPr lang="en-US" dirty="0">
                <a:solidFill>
                  <a:srgbClr val="1A1C22"/>
                </a:solidFill>
                <a:latin typeface="Calibri" pitchFamily="34" charset="0"/>
                <a:ea typeface="Calibri" pitchFamily="34" charset="-122"/>
                <a:cs typeface="Calibri" pitchFamily="34" charset="-120"/>
              </a:rPr>
              <a:t>; 5 </a:t>
            </a:r>
            <a:r>
              <a:rPr lang="en-US" dirty="0" err="1">
                <a:solidFill>
                  <a:srgbClr val="1A1C22"/>
                </a:solidFill>
                <a:latin typeface="Calibri" pitchFamily="34" charset="0"/>
                <a:ea typeface="Calibri" pitchFamily="34" charset="-122"/>
                <a:cs typeface="Calibri" pitchFamily="34" charset="-120"/>
              </a:rPr>
              <a:t>trọng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của</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cặp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ra</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vào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đóng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gói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thành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từ</a:t>
            </a:r>
            <a:r>
              <a:rPr lang="en-US" dirty="0">
                <a:solidFill>
                  <a:srgbClr val="1A1C22"/>
                </a:solidFill>
                <a:latin typeface="Calibri" pitchFamily="34" charset="0"/>
                <a:ea typeface="Calibri" pitchFamily="34" charset="-122"/>
                <a:cs typeface="Calibri" pitchFamily="34" charset="-120"/>
              </a:rPr>
              <a:t> 40 bit.</a:t>
            </a:r>
            <a:endParaRPr lang="en-US"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Mỗi</a:t>
            </a:r>
            <a:r>
              <a:rPr lang="en-US" dirty="0">
                <a:solidFill>
                  <a:srgbClr val="1A1C22"/>
                </a:solidFill>
                <a:latin typeface="Calibri" pitchFamily="34" charset="0"/>
                <a:ea typeface="Calibri" pitchFamily="34" charset="-122"/>
                <a:cs typeface="Calibri" pitchFamily="34" charset="-120"/>
              </a:rPr>
              <a:t> chu </a:t>
            </a:r>
            <a:r>
              <a:rPr lang="en-US" dirty="0" err="1">
                <a:solidFill>
                  <a:srgbClr val="1A1C22"/>
                </a:solidFill>
                <a:latin typeface="Calibri" pitchFamily="34" charset="0"/>
                <a:ea typeface="Calibri" pitchFamily="34" charset="-122"/>
                <a:cs typeface="Calibri" pitchFamily="34" charset="-120"/>
              </a:rPr>
              <a:t>kỳ</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khối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tính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toán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cần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đúng</a:t>
            </a:r>
            <a:r>
              <a:rPr lang="en-US" dirty="0">
                <a:solidFill>
                  <a:srgbClr val="1A1C22"/>
                </a:solidFill>
                <a:latin typeface="Calibri" pitchFamily="34" charset="0"/>
                <a:ea typeface="Calibri" pitchFamily="34" charset="-122"/>
                <a:cs typeface="Calibri" pitchFamily="34" charset="-120"/>
              </a:rPr>
              <a:t> 5 </a:t>
            </a:r>
            <a:r>
              <a:rPr lang="en-US" dirty="0" err="1">
                <a:solidFill>
                  <a:srgbClr val="1A1C22"/>
                </a:solidFill>
                <a:latin typeface="Calibri" pitchFamily="34" charset="0"/>
                <a:ea typeface="Calibri" pitchFamily="34" charset="-122"/>
                <a:cs typeface="Calibri" pitchFamily="34" charset="-120"/>
              </a:rPr>
              <a:t>trọng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 </a:t>
            </a:r>
            <a:r>
              <a:rPr lang="en-US" dirty="0" err="1">
                <a:solidFill>
                  <a:srgbClr val="1A1C22"/>
                </a:solidFill>
                <a:latin typeface="Calibri" pitchFamily="34" charset="0"/>
                <a:ea typeface="Calibri" pitchFamily="34" charset="-122"/>
                <a:cs typeface="Calibri" pitchFamily="34" charset="-120"/>
              </a:rPr>
              <a:t>tức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đúng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từ</a:t>
            </a:r>
            <a:r>
              <a:rPr lang="en-US" dirty="0">
                <a:solidFill>
                  <a:srgbClr val="1A1C22"/>
                </a:solidFill>
                <a:latin typeface="Calibri" pitchFamily="34" charset="0"/>
                <a:ea typeface="Calibri" pitchFamily="34" charset="-122"/>
                <a:cs typeface="Calibri" pitchFamily="34" charset="-120"/>
              </a:rPr>
              <a:t> 40 bit </a:t>
            </a:r>
            <a:r>
              <a:rPr lang="en-US" dirty="0" err="1">
                <a:solidFill>
                  <a:srgbClr val="1A1C22"/>
                </a:solidFill>
                <a:latin typeface="Calibri" pitchFamily="34" charset="0"/>
                <a:ea typeface="Calibri" pitchFamily="34" charset="-122"/>
                <a:cs typeface="Calibri" pitchFamily="34" charset="-120"/>
              </a:rPr>
              <a:t>đọc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trong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lần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truy</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cập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không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phải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ghép</a:t>
            </a:r>
            <a:r>
              <a:rPr lang="en-US" dirty="0">
                <a:solidFill>
                  <a:srgbClr val="1A1C22"/>
                </a:solidFill>
                <a:latin typeface="Calibri" pitchFamily="34" charset="0"/>
                <a:ea typeface="Calibri" pitchFamily="34" charset="-122"/>
                <a:cs typeface="Calibri" pitchFamily="34" charset="-120"/>
              </a:rPr>
              <a:t> byte </a:t>
            </a:r>
            <a:r>
              <a:rPr lang="en-US" dirty="0" err="1">
                <a:solidFill>
                  <a:srgbClr val="1A1C22"/>
                </a:solidFill>
                <a:latin typeface="Calibri" pitchFamily="34" charset="0"/>
                <a:ea typeface="Calibri" pitchFamily="34" charset="-122"/>
                <a:cs typeface="Calibri" pitchFamily="34" charset="-120"/>
              </a:rPr>
              <a:t>lúc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chạy</a:t>
            </a:r>
            <a:r>
              <a:rPr lang="en-US" dirty="0">
                <a:solidFill>
                  <a:srgbClr val="1A1C22"/>
                </a:solidFill>
                <a:latin typeface="Calibri" pitchFamily="34" charset="0"/>
                <a:ea typeface="Calibri" pitchFamily="34" charset="-122"/>
                <a:cs typeface="Calibri" pitchFamily="34" charset="-120"/>
              </a:rPr>
              <a:t>.</a:t>
            </a:r>
            <a:endParaRPr lang="en-US"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Trọng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FC </a:t>
            </a:r>
            <a:r>
              <a:rPr lang="en-US" dirty="0" err="1">
                <a:solidFill>
                  <a:srgbClr val="1A1C22"/>
                </a:solidFill>
                <a:latin typeface="Calibri" pitchFamily="34" charset="0"/>
                <a:ea typeface="Calibri" pitchFamily="34" charset="-122"/>
                <a:cs typeface="Calibri" pitchFamily="34" charset="-120"/>
              </a:rPr>
              <a:t>lưu</a:t>
            </a:r>
            <a:r>
              <a:rPr lang="en-US" dirty="0">
                <a:solidFill>
                  <a:srgbClr val="1A1C22"/>
                </a:solidFill>
                <a:latin typeface="Calibri" pitchFamily="34" charset="0"/>
                <a:ea typeface="Calibri" pitchFamily="34" charset="-122"/>
                <a:cs typeface="Calibri" pitchFamily="34" charset="-120"/>
              </a:rPr>
              <a:t> 4 </a:t>
            </a:r>
            <a:r>
              <a:rPr lang="en-US" dirty="0" err="1">
                <a:solidFill>
                  <a:srgbClr val="1A1C22"/>
                </a:solidFill>
                <a:latin typeface="Calibri" pitchFamily="34" charset="0"/>
                <a:ea typeface="Calibri" pitchFamily="34" charset="-122"/>
                <a:cs typeface="Calibri" pitchFamily="34" charset="-120"/>
              </a:rPr>
              <a:t>hàng</a:t>
            </a:r>
            <a:r>
              <a:rPr lang="en-US" dirty="0">
                <a:solidFill>
                  <a:srgbClr val="1A1C22"/>
                </a:solidFill>
                <a:latin typeface="Calibri" pitchFamily="34" charset="0"/>
                <a:ea typeface="Calibri" pitchFamily="34" charset="-122"/>
                <a:cs typeface="Calibri" pitchFamily="34" charset="-120"/>
              </a:rPr>
              <a:t> × 8 </a:t>
            </a:r>
            <a:r>
              <a:rPr lang="en-US" dirty="0" err="1">
                <a:solidFill>
                  <a:srgbClr val="1A1C22"/>
                </a:solidFill>
                <a:latin typeface="Calibri" pitchFamily="34" charset="0"/>
                <a:ea typeface="Calibri" pitchFamily="34" charset="-122"/>
                <a:cs typeface="Calibri" pitchFamily="34" charset="-120"/>
              </a:rPr>
              <a:t>cột</a:t>
            </a:r>
            <a:r>
              <a:rPr lang="en-US" dirty="0">
                <a:solidFill>
                  <a:srgbClr val="1A1C22"/>
                </a:solidFill>
                <a:latin typeface="Calibri" pitchFamily="34" charset="0"/>
                <a:ea typeface="Calibri" pitchFamily="34" charset="-122"/>
                <a:cs typeface="Calibri" pitchFamily="34" charset="-120"/>
              </a:rPr>
              <a:t>; bias INT32 </a:t>
            </a:r>
            <a:r>
              <a:rPr lang="en-US" dirty="0" err="1">
                <a:solidFill>
                  <a:srgbClr val="1A1C22"/>
                </a:solidFill>
                <a:latin typeface="Calibri" pitchFamily="34" charset="0"/>
                <a:ea typeface="Calibri" pitchFamily="34" charset="-122"/>
                <a:cs typeface="Calibri" pitchFamily="34" charset="-120"/>
              </a:rPr>
              <a:t>lưu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riêng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theo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địa</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chỉ</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ra</a:t>
            </a:r>
            <a:r>
              <a:rPr lang="en-US" dirty="0">
                <a:solidFill>
                  <a:srgbClr val="1A1C22"/>
                </a:solidFill>
                <a:latin typeface="Calibri" pitchFamily="34" charset="0"/>
                <a:ea typeface="Calibri" pitchFamily="34" charset="-122"/>
                <a:cs typeface="Calibri" pitchFamily="34" charset="-120"/>
              </a:rPr>
              <a:t> × 4 +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tầng</a:t>
            </a:r>
            <a:r>
              <a:rPr lang="en-US" dirty="0">
                <a:solidFill>
                  <a:srgbClr val="1A1C22"/>
                </a:solidFill>
                <a:latin typeface="Calibri" pitchFamily="34" charset="0"/>
                <a:ea typeface="Calibri" pitchFamily="34" charset="-122"/>
                <a:cs typeface="Calibri" pitchFamily="34" charset="-120"/>
              </a:rPr>
              <a:t>.</a:t>
            </a:r>
            <a:endParaRPr lang="en-US" dirty="0"/>
          </a:p>
          <a:p>
            <a:endParaRPr lang="en-US" dirty="0"/>
          </a:p>
        </p:txBody>
      </p:sp>
      <p:sp>
        <p:nvSpPr>
          <p:cNvPr id="11" name="Text 9"/>
          <p:cNvSpPr/>
          <p:nvPr/>
        </p:nvSpPr>
        <p:spPr>
          <a:xfrm>
            <a:off x="822960" y="4168140"/>
            <a:ext cx="5212080" cy="292608"/>
          </a:xfrm>
          <a:prstGeom prst="rect">
            <a:avLst/>
          </a:prstGeom>
          <a:noFill/>
          <a:ln/>
        </p:spPr>
        <p:txBody>
          <a:bodyPr wrap="square" lIns="0" tIns="0" rIns="0" bIns="0" rtlCol="0" anchor="ctr"/>
          <a:lstStyle/>
          <a:p>
            <a:pPr marL="0" indent="0">
              <a:buNone/>
            </a:pPr>
            <a:endParaRPr lang="en-US" sz="1400" dirty="0"/>
          </a:p>
        </p:txBody>
      </p:sp>
      <p:sp>
        <p:nvSpPr>
          <p:cNvPr id="12" name="Text 10"/>
          <p:cNvSpPr/>
          <p:nvPr/>
        </p:nvSpPr>
        <p:spPr>
          <a:xfrm>
            <a:off x="822960" y="4517136"/>
            <a:ext cx="5166360" cy="1463040"/>
          </a:xfrm>
          <a:prstGeom prst="rect">
            <a:avLst/>
          </a:prstGeom>
          <a:noFill/>
          <a:ln/>
        </p:spPr>
        <p:txBody>
          <a:bodyPr wrap="square" lIns="0" tIns="0" rIns="0" bIns="0" rtlCol="0" anchor="t"/>
          <a:lstStyle/>
          <a:p>
            <a:pPr marL="342900" indent="-342900">
              <a:spcAft>
                <a:spcPts val="700"/>
              </a:spcAft>
              <a:buSzPct val="100000"/>
              <a:buChar char="•"/>
            </a:pPr>
            <a:endParaRPr lang="en-US" sz="1150" dirty="0"/>
          </a:p>
        </p:txBody>
      </p:sp>
      <p:graphicFrame>
        <p:nvGraphicFramePr>
          <p:cNvPr id="25" name="Table 1"/>
          <p:cNvGraphicFramePr>
            <a:graphicFrameLocks noGrp="1"/>
          </p:cNvGraphicFramePr>
          <p:nvPr>
            <p:extLst>
              <p:ext uri="{D42A27DB-BD31-4B8C-83A1-F6EECF244321}">
                <p14:modId xmlns:p14="http://schemas.microsoft.com/office/powerpoint/2010/main" val="1105580085"/>
              </p:ext>
            </p:extLst>
          </p:nvPr>
        </p:nvGraphicFramePr>
        <p:xfrm>
          <a:off x="1419418" y="3590544"/>
          <a:ext cx="9566527" cy="2773680"/>
        </p:xfrm>
        <a:graphic>
          <a:graphicData uri="http://schemas.openxmlformats.org/drawingml/2006/table">
            <a:tbl>
              <a:tblPr/>
              <a:tblGrid>
                <a:gridCol w="2984211">
                  <a:extLst>
                    <a:ext uri="{9D8B030D-6E8A-4147-A177-3AD203B41FA5}">
                      <a16:colId xmlns:a16="http://schemas.microsoft.com/office/drawing/2014/main" val="20000"/>
                    </a:ext>
                  </a:extLst>
                </a:gridCol>
                <a:gridCol w="1364211">
                  <a:extLst>
                    <a:ext uri="{9D8B030D-6E8A-4147-A177-3AD203B41FA5}">
                      <a16:colId xmlns:a16="http://schemas.microsoft.com/office/drawing/2014/main" val="20001"/>
                    </a:ext>
                  </a:extLst>
                </a:gridCol>
                <a:gridCol w="1705263">
                  <a:extLst>
                    <a:ext uri="{9D8B030D-6E8A-4147-A177-3AD203B41FA5}">
                      <a16:colId xmlns:a16="http://schemas.microsoft.com/office/drawing/2014/main" val="20002"/>
                    </a:ext>
                  </a:extLst>
                </a:gridCol>
                <a:gridCol w="3512842">
                  <a:extLst>
                    <a:ext uri="{9D8B030D-6E8A-4147-A177-3AD203B41FA5}">
                      <a16:colId xmlns:a16="http://schemas.microsoft.com/office/drawing/2014/main" val="20003"/>
                    </a:ext>
                  </a:extLst>
                </a:gridCol>
              </a:tblGrid>
              <a:tr h="288036">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Tệp</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Số từ</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Độ rộng</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Nội dung</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288036">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conv1_w.hex</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40 bit</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4 kênh ra × 1 kênh vào</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8036">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conv2_w.hex</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16</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40 bit</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4 kênh ra × 4 kênh vào</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288036">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conv3_w.hex</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32</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40 bit</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8 kênh ra × 4 kênh vào</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8036">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conv4_w.hex</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64</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40 bit</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8 kênh ra × 8 kênh vào</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r h="288036">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conv_bias.hex</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32</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32 bit</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Bias INT32 của 4 tầng Conv</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8036">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fc_weights / fc_bias</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32 / 4</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8 / 32 bit</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Trọng số và bias tầng FC</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6"/>
                  </a:ext>
                </a:extLst>
              </a:tr>
            </a:tbl>
          </a:graphicData>
        </a:graphic>
      </p:graphicFrame>
      <p:sp>
        <p:nvSpPr>
          <p:cNvPr id="17" name="Text 0">
            <a:extLst>
              <a:ext uri="{FF2B5EF4-FFF2-40B4-BE49-F238E27FC236}">
                <a16:creationId xmlns:a16="http://schemas.microsoft.com/office/drawing/2014/main" id="{32870441-E488-6D3E-E2F7-2F23CA13B476}"/>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96B3A-41E7-358E-1214-ED73ABBDA91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09BEE0F-CB5B-0F3A-86ED-F6F44D7AC24A}"/>
              </a:ext>
            </a:extLst>
          </p:cNvPr>
          <p:cNvSpPr/>
          <p:nvPr/>
        </p:nvSpPr>
        <p:spPr>
          <a:xfrm>
            <a:off x="566928" y="634593"/>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3.5 </a:t>
            </a:r>
            <a:r>
              <a:rPr lang="en-US" sz="2700" b="1" dirty="0" err="1">
                <a:solidFill>
                  <a:srgbClr val="1A1C22"/>
                </a:solidFill>
                <a:latin typeface="Cambria" pitchFamily="34" charset="0"/>
                <a:ea typeface="Cambria" pitchFamily="34" charset="-122"/>
                <a:cs typeface="Cambria" pitchFamily="34" charset="-120"/>
              </a:rPr>
              <a:t>Kiến</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trúc</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phần</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cứng</a:t>
            </a:r>
            <a:endParaRPr lang="en-US" sz="2700" dirty="0"/>
          </a:p>
        </p:txBody>
      </p:sp>
      <p:pic>
        <p:nvPicPr>
          <p:cNvPr id="5" name="Image 0" descr="img/image7.png">
            <a:extLst>
              <a:ext uri="{FF2B5EF4-FFF2-40B4-BE49-F238E27FC236}">
                <a16:creationId xmlns:a16="http://schemas.microsoft.com/office/drawing/2014/main" id="{CD16BEA9-F5D6-E36B-D74A-4CB9429E0F48}"/>
              </a:ext>
            </a:extLst>
          </p:cNvPr>
          <p:cNvPicPr>
            <a:picLocks noChangeAspect="1"/>
          </p:cNvPicPr>
          <p:nvPr/>
        </p:nvPicPr>
        <p:blipFill>
          <a:blip r:embed="rId3"/>
          <a:stretch>
            <a:fillRect/>
          </a:stretch>
        </p:blipFill>
        <p:spPr>
          <a:xfrm>
            <a:off x="955058" y="1113535"/>
            <a:ext cx="5470235" cy="2258976"/>
          </a:xfrm>
          <a:prstGeom prst="rect">
            <a:avLst/>
          </a:prstGeom>
        </p:spPr>
      </p:pic>
      <p:sp>
        <p:nvSpPr>
          <p:cNvPr id="12" name="Text 9">
            <a:extLst>
              <a:ext uri="{FF2B5EF4-FFF2-40B4-BE49-F238E27FC236}">
                <a16:creationId xmlns:a16="http://schemas.microsoft.com/office/drawing/2014/main" id="{E7EBB06C-9DBE-7A89-109B-4333C7CDA582}"/>
              </a:ext>
            </a:extLst>
          </p:cNvPr>
          <p:cNvSpPr/>
          <p:nvPr/>
        </p:nvSpPr>
        <p:spPr>
          <a:xfrm>
            <a:off x="713232" y="5029200"/>
            <a:ext cx="1837944" cy="822960"/>
          </a:xfrm>
          <a:prstGeom prst="rect">
            <a:avLst/>
          </a:prstGeom>
          <a:noFill/>
          <a:ln/>
        </p:spPr>
        <p:txBody>
          <a:bodyPr wrap="square" lIns="0" tIns="0" rIns="0" bIns="0" rtlCol="0" anchor="t"/>
          <a:lstStyle/>
          <a:p>
            <a:pPr marL="0" indent="0">
              <a:buNone/>
            </a:pPr>
            <a:endParaRPr lang="en-US" sz="1050" dirty="0"/>
          </a:p>
        </p:txBody>
      </p:sp>
      <p:sp>
        <p:nvSpPr>
          <p:cNvPr id="14" name="Text 11">
            <a:extLst>
              <a:ext uri="{FF2B5EF4-FFF2-40B4-BE49-F238E27FC236}">
                <a16:creationId xmlns:a16="http://schemas.microsoft.com/office/drawing/2014/main" id="{6C7593DB-A6CA-123E-34D8-8E253635D7FE}"/>
              </a:ext>
            </a:extLst>
          </p:cNvPr>
          <p:cNvSpPr/>
          <p:nvPr/>
        </p:nvSpPr>
        <p:spPr>
          <a:xfrm>
            <a:off x="2944367" y="4645152"/>
            <a:ext cx="3713607" cy="365760"/>
          </a:xfrm>
          <a:prstGeom prst="rect">
            <a:avLst/>
          </a:prstGeom>
          <a:noFill/>
          <a:ln/>
        </p:spPr>
        <p:txBody>
          <a:bodyPr wrap="square" lIns="0" tIns="0" rIns="0" bIns="0" rtlCol="0" anchor="ctr"/>
          <a:lstStyle/>
          <a:p>
            <a:pPr marL="0" indent="0">
              <a:buNone/>
            </a:pPr>
            <a:endParaRPr lang="en-US" sz="2000" dirty="0"/>
          </a:p>
        </p:txBody>
      </p:sp>
      <p:sp>
        <p:nvSpPr>
          <p:cNvPr id="15" name="Text 12">
            <a:extLst>
              <a:ext uri="{FF2B5EF4-FFF2-40B4-BE49-F238E27FC236}">
                <a16:creationId xmlns:a16="http://schemas.microsoft.com/office/drawing/2014/main" id="{B4C660FC-BC9B-449E-F1DB-0E81A5D88BB9}"/>
              </a:ext>
            </a:extLst>
          </p:cNvPr>
          <p:cNvSpPr/>
          <p:nvPr/>
        </p:nvSpPr>
        <p:spPr>
          <a:xfrm>
            <a:off x="2944368" y="5029200"/>
            <a:ext cx="1837944" cy="822960"/>
          </a:xfrm>
          <a:prstGeom prst="rect">
            <a:avLst/>
          </a:prstGeom>
          <a:noFill/>
          <a:ln/>
        </p:spPr>
        <p:txBody>
          <a:bodyPr wrap="square" lIns="0" tIns="0" rIns="0" bIns="0" rtlCol="0" anchor="t"/>
          <a:lstStyle/>
          <a:p>
            <a:pPr marL="0" indent="0">
              <a:buNone/>
            </a:pPr>
            <a:endParaRPr lang="en-US" sz="1050" dirty="0"/>
          </a:p>
        </p:txBody>
      </p:sp>
      <p:sp>
        <p:nvSpPr>
          <p:cNvPr id="17" name="Text 14">
            <a:extLst>
              <a:ext uri="{FF2B5EF4-FFF2-40B4-BE49-F238E27FC236}">
                <a16:creationId xmlns:a16="http://schemas.microsoft.com/office/drawing/2014/main" id="{EB819C27-26B1-F9CB-45D0-0CB90369EE13}"/>
              </a:ext>
            </a:extLst>
          </p:cNvPr>
          <p:cNvSpPr/>
          <p:nvPr/>
        </p:nvSpPr>
        <p:spPr>
          <a:xfrm>
            <a:off x="5175504" y="4645152"/>
            <a:ext cx="1837944" cy="365760"/>
          </a:xfrm>
          <a:prstGeom prst="rect">
            <a:avLst/>
          </a:prstGeom>
          <a:noFill/>
          <a:ln/>
        </p:spPr>
        <p:txBody>
          <a:bodyPr wrap="square" lIns="0" tIns="0" rIns="0" bIns="0" rtlCol="0" anchor="ctr"/>
          <a:lstStyle/>
          <a:p>
            <a:pPr marL="0" indent="0">
              <a:buNone/>
            </a:pPr>
            <a:endParaRPr lang="en-US" sz="2000" dirty="0"/>
          </a:p>
        </p:txBody>
      </p:sp>
      <p:sp>
        <p:nvSpPr>
          <p:cNvPr id="18" name="Text 15">
            <a:extLst>
              <a:ext uri="{FF2B5EF4-FFF2-40B4-BE49-F238E27FC236}">
                <a16:creationId xmlns:a16="http://schemas.microsoft.com/office/drawing/2014/main" id="{175A84E2-F11A-456B-9151-D3182DECB586}"/>
              </a:ext>
            </a:extLst>
          </p:cNvPr>
          <p:cNvSpPr/>
          <p:nvPr/>
        </p:nvSpPr>
        <p:spPr>
          <a:xfrm>
            <a:off x="5175504" y="5029200"/>
            <a:ext cx="1837944" cy="822960"/>
          </a:xfrm>
          <a:prstGeom prst="rect">
            <a:avLst/>
          </a:prstGeom>
          <a:noFill/>
          <a:ln/>
        </p:spPr>
        <p:txBody>
          <a:bodyPr wrap="square" lIns="0" tIns="0" rIns="0" bIns="0" rtlCol="0" anchor="t"/>
          <a:lstStyle/>
          <a:p>
            <a:pPr marL="0" indent="0">
              <a:buNone/>
            </a:pPr>
            <a:endParaRPr lang="en-US" sz="1050" dirty="0"/>
          </a:p>
        </p:txBody>
      </p:sp>
      <p:sp>
        <p:nvSpPr>
          <p:cNvPr id="20" name="Text 17">
            <a:extLst>
              <a:ext uri="{FF2B5EF4-FFF2-40B4-BE49-F238E27FC236}">
                <a16:creationId xmlns:a16="http://schemas.microsoft.com/office/drawing/2014/main" id="{E85C6E05-0AE2-4531-DF63-9D1341841B14}"/>
              </a:ext>
            </a:extLst>
          </p:cNvPr>
          <p:cNvSpPr/>
          <p:nvPr/>
        </p:nvSpPr>
        <p:spPr>
          <a:xfrm>
            <a:off x="7406640" y="4645152"/>
            <a:ext cx="1837944" cy="365760"/>
          </a:xfrm>
          <a:prstGeom prst="rect">
            <a:avLst/>
          </a:prstGeom>
          <a:noFill/>
          <a:ln/>
        </p:spPr>
        <p:txBody>
          <a:bodyPr wrap="square" lIns="0" tIns="0" rIns="0" bIns="0" rtlCol="0" anchor="ctr"/>
          <a:lstStyle/>
          <a:p>
            <a:pPr marL="0" indent="0">
              <a:buNone/>
            </a:pPr>
            <a:endParaRPr lang="en-US" sz="1200" dirty="0"/>
          </a:p>
        </p:txBody>
      </p:sp>
      <p:sp>
        <p:nvSpPr>
          <p:cNvPr id="21" name="Text 18">
            <a:extLst>
              <a:ext uri="{FF2B5EF4-FFF2-40B4-BE49-F238E27FC236}">
                <a16:creationId xmlns:a16="http://schemas.microsoft.com/office/drawing/2014/main" id="{C15B6B9C-6401-64E5-F726-A74720385D56}"/>
              </a:ext>
            </a:extLst>
          </p:cNvPr>
          <p:cNvSpPr/>
          <p:nvPr/>
        </p:nvSpPr>
        <p:spPr>
          <a:xfrm>
            <a:off x="7406640" y="5038344"/>
            <a:ext cx="1837944" cy="822960"/>
          </a:xfrm>
          <a:prstGeom prst="rect">
            <a:avLst/>
          </a:prstGeom>
          <a:noFill/>
          <a:ln/>
        </p:spPr>
        <p:txBody>
          <a:bodyPr wrap="square" lIns="0" tIns="0" rIns="0" bIns="0" rtlCol="0" anchor="t"/>
          <a:lstStyle/>
          <a:p>
            <a:pPr marL="0" indent="0">
              <a:buNone/>
            </a:pPr>
            <a:endParaRPr lang="en-US" sz="1050" dirty="0"/>
          </a:p>
        </p:txBody>
      </p:sp>
      <p:sp>
        <p:nvSpPr>
          <p:cNvPr id="23" name="Text 20">
            <a:extLst>
              <a:ext uri="{FF2B5EF4-FFF2-40B4-BE49-F238E27FC236}">
                <a16:creationId xmlns:a16="http://schemas.microsoft.com/office/drawing/2014/main" id="{BB8748CD-70E4-4B76-54C9-657DED1EB778}"/>
              </a:ext>
            </a:extLst>
          </p:cNvPr>
          <p:cNvSpPr/>
          <p:nvPr/>
        </p:nvSpPr>
        <p:spPr>
          <a:xfrm>
            <a:off x="9637776" y="4645152"/>
            <a:ext cx="1837944" cy="365760"/>
          </a:xfrm>
          <a:prstGeom prst="rect">
            <a:avLst/>
          </a:prstGeom>
          <a:noFill/>
          <a:ln/>
        </p:spPr>
        <p:txBody>
          <a:bodyPr wrap="square" lIns="0" tIns="0" rIns="0" bIns="0" rtlCol="0" anchor="ctr"/>
          <a:lstStyle/>
          <a:p>
            <a:pPr marL="0" indent="0">
              <a:buNone/>
            </a:pPr>
            <a:endParaRPr lang="en-US" sz="1200" dirty="0"/>
          </a:p>
        </p:txBody>
      </p:sp>
      <p:sp>
        <p:nvSpPr>
          <p:cNvPr id="24" name="Text 21">
            <a:extLst>
              <a:ext uri="{FF2B5EF4-FFF2-40B4-BE49-F238E27FC236}">
                <a16:creationId xmlns:a16="http://schemas.microsoft.com/office/drawing/2014/main" id="{F3E6D8B4-9B5A-745D-8A01-5DB44D837705}"/>
              </a:ext>
            </a:extLst>
          </p:cNvPr>
          <p:cNvSpPr/>
          <p:nvPr/>
        </p:nvSpPr>
        <p:spPr>
          <a:xfrm>
            <a:off x="9637776" y="5029200"/>
            <a:ext cx="1837944" cy="822960"/>
          </a:xfrm>
          <a:prstGeom prst="rect">
            <a:avLst/>
          </a:prstGeom>
          <a:noFill/>
          <a:ln/>
        </p:spPr>
        <p:txBody>
          <a:bodyPr wrap="square" lIns="0" tIns="0" rIns="0" bIns="0" rtlCol="0" anchor="t"/>
          <a:lstStyle/>
          <a:p>
            <a:pPr marL="0" indent="0">
              <a:buNone/>
            </a:pPr>
            <a:endParaRPr lang="en-US" sz="1050" dirty="0"/>
          </a:p>
        </p:txBody>
      </p:sp>
      <p:sp>
        <p:nvSpPr>
          <p:cNvPr id="27" name="Text 0">
            <a:extLst>
              <a:ext uri="{FF2B5EF4-FFF2-40B4-BE49-F238E27FC236}">
                <a16:creationId xmlns:a16="http://schemas.microsoft.com/office/drawing/2014/main" id="{111509B2-1A9A-C19C-1D0C-511FB4A48990}"/>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pic>
        <p:nvPicPr>
          <p:cNvPr id="6" name="Image 0" descr="img/image9.png">
            <a:extLst>
              <a:ext uri="{FF2B5EF4-FFF2-40B4-BE49-F238E27FC236}">
                <a16:creationId xmlns:a16="http://schemas.microsoft.com/office/drawing/2014/main" id="{A23284A9-6FEB-24D5-3DD9-C5556E1265AF}"/>
              </a:ext>
            </a:extLst>
          </p:cNvPr>
          <p:cNvPicPr>
            <a:picLocks noChangeAspect="1"/>
          </p:cNvPicPr>
          <p:nvPr/>
        </p:nvPicPr>
        <p:blipFill>
          <a:blip r:embed="rId4"/>
          <a:stretch>
            <a:fillRect/>
          </a:stretch>
        </p:blipFill>
        <p:spPr>
          <a:xfrm>
            <a:off x="459648" y="3733800"/>
            <a:ext cx="6239343" cy="2886456"/>
          </a:xfrm>
          <a:prstGeom prst="rect">
            <a:avLst/>
          </a:prstGeom>
          <a:ln>
            <a:solidFill>
              <a:srgbClr val="FF0000"/>
            </a:solidFill>
          </a:ln>
        </p:spPr>
      </p:pic>
      <p:pic>
        <p:nvPicPr>
          <p:cNvPr id="10" name="Image 0" descr="img/image8.png">
            <a:extLst>
              <a:ext uri="{FF2B5EF4-FFF2-40B4-BE49-F238E27FC236}">
                <a16:creationId xmlns:a16="http://schemas.microsoft.com/office/drawing/2014/main" id="{2916104A-C925-2B94-7F09-EA1D84C31236}"/>
              </a:ext>
            </a:extLst>
          </p:cNvPr>
          <p:cNvPicPr>
            <a:picLocks noChangeAspect="1"/>
          </p:cNvPicPr>
          <p:nvPr/>
        </p:nvPicPr>
        <p:blipFill>
          <a:blip r:embed="rId5"/>
          <a:stretch>
            <a:fillRect/>
          </a:stretch>
        </p:blipFill>
        <p:spPr>
          <a:xfrm>
            <a:off x="7460678" y="4970193"/>
            <a:ext cx="3801637" cy="1313359"/>
          </a:xfrm>
          <a:prstGeom prst="rect">
            <a:avLst/>
          </a:prstGeom>
          <a:ln>
            <a:solidFill>
              <a:srgbClr val="FF0000"/>
            </a:solidFill>
          </a:ln>
        </p:spPr>
      </p:pic>
      <p:pic>
        <p:nvPicPr>
          <p:cNvPr id="16" name="Image 0" descr="img/image10.png">
            <a:extLst>
              <a:ext uri="{FF2B5EF4-FFF2-40B4-BE49-F238E27FC236}">
                <a16:creationId xmlns:a16="http://schemas.microsoft.com/office/drawing/2014/main" id="{D11182A2-679A-E8AD-47E9-2486B483FB4C}"/>
              </a:ext>
            </a:extLst>
          </p:cNvPr>
          <p:cNvPicPr>
            <a:picLocks noChangeAspect="1"/>
          </p:cNvPicPr>
          <p:nvPr/>
        </p:nvPicPr>
        <p:blipFill>
          <a:blip r:embed="rId6"/>
          <a:stretch>
            <a:fillRect/>
          </a:stretch>
        </p:blipFill>
        <p:spPr>
          <a:xfrm>
            <a:off x="6998263" y="1738010"/>
            <a:ext cx="4346846" cy="1233790"/>
          </a:xfrm>
          <a:prstGeom prst="rect">
            <a:avLst/>
          </a:prstGeom>
          <a:ln>
            <a:solidFill>
              <a:srgbClr val="FF0000"/>
            </a:solidFill>
          </a:ln>
        </p:spPr>
      </p:pic>
      <p:cxnSp>
        <p:nvCxnSpPr>
          <p:cNvPr id="22" name="Straight Connector 21">
            <a:extLst>
              <a:ext uri="{FF2B5EF4-FFF2-40B4-BE49-F238E27FC236}">
                <a16:creationId xmlns:a16="http://schemas.microsoft.com/office/drawing/2014/main" id="{161D87FF-A454-C3C0-CCB6-4478E6E22221}"/>
              </a:ext>
            </a:extLst>
          </p:cNvPr>
          <p:cNvCxnSpPr>
            <a:cxnSpLocks/>
          </p:cNvCxnSpPr>
          <p:nvPr/>
        </p:nvCxnSpPr>
        <p:spPr>
          <a:xfrm flipV="1">
            <a:off x="5334000" y="4970194"/>
            <a:ext cx="2126678" cy="891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C19090-3EF5-DAF5-2A8A-D81D1EAA611C}"/>
              </a:ext>
            </a:extLst>
          </p:cNvPr>
          <p:cNvCxnSpPr>
            <a:cxnSpLocks/>
          </p:cNvCxnSpPr>
          <p:nvPr/>
        </p:nvCxnSpPr>
        <p:spPr>
          <a:xfrm flipH="1" flipV="1">
            <a:off x="5334000" y="6222593"/>
            <a:ext cx="2126678" cy="609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0E678AB-B3A7-BA95-E60F-7410380FCF0F}"/>
              </a:ext>
            </a:extLst>
          </p:cNvPr>
          <p:cNvCxnSpPr/>
          <p:nvPr/>
        </p:nvCxnSpPr>
        <p:spPr>
          <a:xfrm flipV="1">
            <a:off x="5334000" y="1738010"/>
            <a:ext cx="1664263" cy="1898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673D95F-54B9-B9B5-D891-9C0D4C6E51B0}"/>
              </a:ext>
            </a:extLst>
          </p:cNvPr>
          <p:cNvCxnSpPr>
            <a:cxnSpLocks/>
          </p:cNvCxnSpPr>
          <p:nvPr/>
        </p:nvCxnSpPr>
        <p:spPr>
          <a:xfrm>
            <a:off x="5334000" y="2748035"/>
            <a:ext cx="1664263" cy="223765"/>
          </a:xfrm>
          <a:prstGeom prst="line">
            <a:avLst/>
          </a:prstGeom>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4FEA7A12-CA9D-270A-AB22-31067D1C5FDC}"/>
              </a:ext>
            </a:extLst>
          </p:cNvPr>
          <p:cNvPicPr>
            <a:picLocks noChangeAspect="1"/>
          </p:cNvPicPr>
          <p:nvPr/>
        </p:nvPicPr>
        <p:blipFill>
          <a:blip r:embed="rId7"/>
          <a:stretch>
            <a:fillRect/>
          </a:stretch>
        </p:blipFill>
        <p:spPr>
          <a:xfrm>
            <a:off x="7597250" y="3562514"/>
            <a:ext cx="1545442" cy="1180841"/>
          </a:xfrm>
          <a:prstGeom prst="rect">
            <a:avLst/>
          </a:prstGeom>
          <a:ln>
            <a:solidFill>
              <a:srgbClr val="FF0000"/>
            </a:solidFill>
          </a:ln>
        </p:spPr>
      </p:pic>
      <p:cxnSp>
        <p:nvCxnSpPr>
          <p:cNvPr id="44" name="Straight Connector 43">
            <a:extLst>
              <a:ext uri="{FF2B5EF4-FFF2-40B4-BE49-F238E27FC236}">
                <a16:creationId xmlns:a16="http://schemas.microsoft.com/office/drawing/2014/main" id="{6EFCC781-6BAE-2C96-9690-256C12A8F650}"/>
              </a:ext>
            </a:extLst>
          </p:cNvPr>
          <p:cNvCxnSpPr>
            <a:cxnSpLocks/>
          </p:cNvCxnSpPr>
          <p:nvPr/>
        </p:nvCxnSpPr>
        <p:spPr>
          <a:xfrm flipH="1">
            <a:off x="8578597" y="4743355"/>
            <a:ext cx="564095" cy="7685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BDD920A-C8F5-6F53-99A2-A487B97A8670}"/>
              </a:ext>
            </a:extLst>
          </p:cNvPr>
          <p:cNvCxnSpPr>
            <a:cxnSpLocks/>
          </p:cNvCxnSpPr>
          <p:nvPr/>
        </p:nvCxnSpPr>
        <p:spPr>
          <a:xfrm>
            <a:off x="7597250" y="4743355"/>
            <a:ext cx="355474" cy="7685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5527FB7-991B-2E14-74ED-D5AF80B333BF}"/>
              </a:ext>
            </a:extLst>
          </p:cNvPr>
          <p:cNvCxnSpPr/>
          <p:nvPr/>
        </p:nvCxnSpPr>
        <p:spPr>
          <a:xfrm flipH="1">
            <a:off x="459648" y="2748035"/>
            <a:ext cx="1818732" cy="985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9FD55C7-AD55-05B0-BDF4-ECC47B66B615}"/>
              </a:ext>
            </a:extLst>
          </p:cNvPr>
          <p:cNvCxnSpPr>
            <a:cxnSpLocks/>
          </p:cNvCxnSpPr>
          <p:nvPr/>
        </p:nvCxnSpPr>
        <p:spPr>
          <a:xfrm>
            <a:off x="2944368" y="2748035"/>
            <a:ext cx="3713606" cy="985765"/>
          </a:xfrm>
          <a:prstGeom prst="line">
            <a:avLst/>
          </a:prstGeom>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15854AA1-59B1-C475-A06F-8956D7AB0678}"/>
              </a:ext>
            </a:extLst>
          </p:cNvPr>
          <p:cNvSpPr txBox="1"/>
          <p:nvPr/>
        </p:nvSpPr>
        <p:spPr>
          <a:xfrm>
            <a:off x="8119436" y="6283553"/>
            <a:ext cx="2484120" cy="369332"/>
          </a:xfrm>
          <a:prstGeom prst="rect">
            <a:avLst/>
          </a:prstGeom>
          <a:noFill/>
        </p:spPr>
        <p:txBody>
          <a:bodyPr wrap="square">
            <a:spAutoFit/>
          </a:bodyPr>
          <a:lstStyle/>
          <a:p>
            <a:r>
              <a:rPr lang="en-US" b="1" dirty="0">
                <a:solidFill>
                  <a:srgbClr val="1A1C22"/>
                </a:solidFill>
                <a:latin typeface="Cambria" pitchFamily="34" charset="0"/>
                <a:ea typeface="Cambria" pitchFamily="34" charset="-122"/>
                <a:cs typeface="Cambria" pitchFamily="34" charset="-120"/>
              </a:rPr>
              <a:t>convolution-pool unit</a:t>
            </a:r>
            <a:endParaRPr lang="en-US" dirty="0"/>
          </a:p>
        </p:txBody>
      </p:sp>
      <p:sp>
        <p:nvSpPr>
          <p:cNvPr id="70" name="TextBox 69">
            <a:extLst>
              <a:ext uri="{FF2B5EF4-FFF2-40B4-BE49-F238E27FC236}">
                <a16:creationId xmlns:a16="http://schemas.microsoft.com/office/drawing/2014/main" id="{049B26B7-B724-CBE6-A21F-C9BD6FFE2BC3}"/>
              </a:ext>
            </a:extLst>
          </p:cNvPr>
          <p:cNvSpPr txBox="1"/>
          <p:nvPr/>
        </p:nvSpPr>
        <p:spPr>
          <a:xfrm>
            <a:off x="2862182" y="3399783"/>
            <a:ext cx="1439744" cy="369332"/>
          </a:xfrm>
          <a:prstGeom prst="rect">
            <a:avLst/>
          </a:prstGeom>
          <a:noFill/>
        </p:spPr>
        <p:txBody>
          <a:bodyPr wrap="square">
            <a:spAutoFit/>
          </a:bodyPr>
          <a:lstStyle/>
          <a:p>
            <a:r>
              <a:rPr lang="en-US" b="1" dirty="0">
                <a:solidFill>
                  <a:srgbClr val="1A1C22"/>
                </a:solidFill>
                <a:latin typeface="Cambria" pitchFamily="34" charset="0"/>
                <a:ea typeface="Cambria" pitchFamily="34" charset="-122"/>
                <a:cs typeface="Cambria" pitchFamily="34" charset="-120"/>
              </a:rPr>
              <a:t>engine unit</a:t>
            </a:r>
            <a:endParaRPr lang="en-US" dirty="0"/>
          </a:p>
        </p:txBody>
      </p:sp>
      <p:sp>
        <p:nvSpPr>
          <p:cNvPr id="72" name="TextBox 71">
            <a:extLst>
              <a:ext uri="{FF2B5EF4-FFF2-40B4-BE49-F238E27FC236}">
                <a16:creationId xmlns:a16="http://schemas.microsoft.com/office/drawing/2014/main" id="{92CAF74A-58AD-587F-595D-3235D0765AC7}"/>
              </a:ext>
            </a:extLst>
          </p:cNvPr>
          <p:cNvSpPr txBox="1"/>
          <p:nvPr/>
        </p:nvSpPr>
        <p:spPr>
          <a:xfrm>
            <a:off x="7827509" y="3198638"/>
            <a:ext cx="1084924" cy="369332"/>
          </a:xfrm>
          <a:prstGeom prst="rect">
            <a:avLst/>
          </a:prstGeom>
          <a:noFill/>
        </p:spPr>
        <p:txBody>
          <a:bodyPr wrap="square">
            <a:spAutoFit/>
          </a:bodyPr>
          <a:lstStyle/>
          <a:p>
            <a:r>
              <a:rPr lang="en-US" b="1" dirty="0" err="1">
                <a:solidFill>
                  <a:srgbClr val="1A1C22"/>
                </a:solidFill>
                <a:latin typeface="Cambria" pitchFamily="34" charset="0"/>
                <a:ea typeface="Cambria" pitchFamily="34" charset="-122"/>
                <a:cs typeface="Cambria" pitchFamily="34" charset="-120"/>
              </a:rPr>
              <a:t>mul_add</a:t>
            </a:r>
            <a:endParaRPr lang="en-US" dirty="0"/>
          </a:p>
        </p:txBody>
      </p:sp>
      <p:sp>
        <p:nvSpPr>
          <p:cNvPr id="74" name="TextBox 73">
            <a:extLst>
              <a:ext uri="{FF2B5EF4-FFF2-40B4-BE49-F238E27FC236}">
                <a16:creationId xmlns:a16="http://schemas.microsoft.com/office/drawing/2014/main" id="{F947D090-7E15-679A-3BB6-6DA865481234}"/>
              </a:ext>
            </a:extLst>
          </p:cNvPr>
          <p:cNvSpPr txBox="1"/>
          <p:nvPr/>
        </p:nvSpPr>
        <p:spPr>
          <a:xfrm>
            <a:off x="8119436" y="1302097"/>
            <a:ext cx="2171208" cy="369332"/>
          </a:xfrm>
          <a:prstGeom prst="rect">
            <a:avLst/>
          </a:prstGeom>
          <a:noFill/>
        </p:spPr>
        <p:txBody>
          <a:bodyPr wrap="square">
            <a:spAutoFit/>
          </a:bodyPr>
          <a:lstStyle/>
          <a:p>
            <a:r>
              <a:rPr lang="en-US" b="1" dirty="0">
                <a:solidFill>
                  <a:srgbClr val="1A1C22"/>
                </a:solidFill>
                <a:latin typeface="Cambria" pitchFamily="34" charset="0"/>
                <a:ea typeface="Cambria" pitchFamily="34" charset="-122"/>
                <a:cs typeface="Cambria" pitchFamily="34" charset="-120"/>
              </a:rPr>
              <a:t>gap-fc-argmax unit</a:t>
            </a:r>
            <a:endParaRPr lang="en-US" dirty="0"/>
          </a:p>
        </p:txBody>
      </p:sp>
      <p:sp>
        <p:nvSpPr>
          <p:cNvPr id="7" name="Shape 4">
            <a:extLst>
              <a:ext uri="{FF2B5EF4-FFF2-40B4-BE49-F238E27FC236}">
                <a16:creationId xmlns:a16="http://schemas.microsoft.com/office/drawing/2014/main" id="{7417499C-532E-506B-A36F-D961E6A66D6F}"/>
              </a:ext>
            </a:extLst>
          </p:cNvPr>
          <p:cNvSpPr/>
          <p:nvPr/>
        </p:nvSpPr>
        <p:spPr>
          <a:xfrm>
            <a:off x="7073831" y="539496"/>
            <a:ext cx="4630489" cy="692049"/>
          </a:xfrm>
          <a:prstGeom prst="roundRect">
            <a:avLst>
              <a:gd name="adj" fmla="val 2727"/>
            </a:avLst>
          </a:prstGeom>
          <a:solidFill>
            <a:srgbClr val="F7EFEF"/>
          </a:solidFill>
          <a:ln w="12700">
            <a:solidFill>
              <a:srgbClr val="F7EFEF"/>
            </a:solidFill>
            <a:prstDash val="solid"/>
          </a:ln>
          <a:effectLst>
            <a:outerShdw blurRad="101600" dist="25400" dir="5400000" algn="bl" rotWithShape="0">
              <a:srgbClr val="B9AFAF">
                <a:alpha val="25000"/>
              </a:srgbClr>
            </a:outerShdw>
          </a:effectLst>
        </p:spPr>
        <p:txBody>
          <a:bodyPr/>
          <a:lstStyle/>
          <a:p>
            <a:pPr algn="ctr"/>
            <a:r>
              <a:rPr lang="en-US" b="1" dirty="0" err="1">
                <a:solidFill>
                  <a:schemeClr val="accent1"/>
                </a:solidFill>
                <a:latin typeface="Calibri" pitchFamily="34" charset="0"/>
                <a:ea typeface="Calibri" pitchFamily="34" charset="-122"/>
                <a:cs typeface="Calibri" pitchFamily="34" charset="-120"/>
              </a:rPr>
              <a:t>Kiến</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trúc</a:t>
            </a:r>
            <a:r>
              <a:rPr lang="en-US" b="1" dirty="0">
                <a:solidFill>
                  <a:schemeClr val="accent1"/>
                </a:solidFill>
                <a:latin typeface="Calibri" pitchFamily="34" charset="0"/>
                <a:ea typeface="Calibri" pitchFamily="34" charset="-122"/>
                <a:cs typeface="Calibri" pitchFamily="34" charset="-120"/>
              </a:rPr>
              <a:t> chia </a:t>
            </a:r>
            <a:r>
              <a:rPr lang="en-US" b="1" dirty="0" err="1">
                <a:solidFill>
                  <a:schemeClr val="accent1"/>
                </a:solidFill>
                <a:latin typeface="Calibri" pitchFamily="34" charset="0"/>
                <a:ea typeface="Calibri" pitchFamily="34" charset="-122"/>
                <a:cs typeface="Calibri" pitchFamily="34" charset="-120"/>
              </a:rPr>
              <a:t>sẻ</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theo</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thời</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gian</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tái</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sử</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dụng</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lại</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bộ</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tính</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toán</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dựa</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theo</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từng</a:t>
            </a:r>
            <a:r>
              <a:rPr lang="en-US" b="1" dirty="0">
                <a:solidFill>
                  <a:schemeClr val="accent1"/>
                </a:solidFill>
                <a:latin typeface="Calibri" pitchFamily="34" charset="0"/>
                <a:ea typeface="Calibri" pitchFamily="34" charset="-122"/>
                <a:cs typeface="Calibri" pitchFamily="34" charset="-120"/>
              </a:rPr>
              <a:t> </a:t>
            </a:r>
            <a:r>
              <a:rPr lang="en-US" b="1" dirty="0" err="1">
                <a:solidFill>
                  <a:schemeClr val="accent1"/>
                </a:solidFill>
                <a:latin typeface="Calibri" pitchFamily="34" charset="0"/>
                <a:ea typeface="Calibri" pitchFamily="34" charset="-122"/>
                <a:cs typeface="Calibri" pitchFamily="34" charset="-120"/>
              </a:rPr>
              <a:t>lớp</a:t>
            </a:r>
            <a:r>
              <a:rPr lang="en-US" b="1" dirty="0">
                <a:solidFill>
                  <a:schemeClr val="accent1"/>
                </a:solidFill>
                <a:latin typeface="Calibri" pitchFamily="34" charset="0"/>
                <a:ea typeface="Calibri" pitchFamily="34" charset="-122"/>
                <a:cs typeface="Calibri" pitchFamily="34" charset="-120"/>
              </a:rPr>
              <a:t> Conv – pool.</a:t>
            </a:r>
            <a:endParaRPr lang="en-US" dirty="0">
              <a:solidFill>
                <a:schemeClr val="accent1"/>
              </a:solidFill>
            </a:endParaRPr>
          </a:p>
        </p:txBody>
      </p:sp>
    </p:spTree>
    <p:extLst>
      <p:ext uri="{BB962C8B-B14F-4D97-AF65-F5344CB8AC3E}">
        <p14:creationId xmlns:p14="http://schemas.microsoft.com/office/powerpoint/2010/main" val="579880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577901"/>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3.5.1 </a:t>
            </a:r>
            <a:r>
              <a:rPr lang="en-US" sz="2700" b="1" dirty="0" err="1">
                <a:solidFill>
                  <a:srgbClr val="1A1C22"/>
                </a:solidFill>
                <a:latin typeface="Cambria" pitchFamily="34" charset="0"/>
                <a:ea typeface="Cambria" pitchFamily="34" charset="-122"/>
                <a:cs typeface="Cambria" pitchFamily="34" charset="-120"/>
              </a:rPr>
              <a:t>Khối</a:t>
            </a:r>
            <a:r>
              <a:rPr lang="en-US" sz="2700" b="1" dirty="0">
                <a:solidFill>
                  <a:srgbClr val="1A1C22"/>
                </a:solidFill>
                <a:latin typeface="Cambria" pitchFamily="34" charset="0"/>
                <a:ea typeface="Cambria" pitchFamily="34" charset="-122"/>
                <a:cs typeface="Cambria" pitchFamily="34" charset="-120"/>
              </a:rPr>
              <a:t> convolution-pool unit</a:t>
            </a:r>
            <a:endParaRPr lang="en-US" sz="2700" dirty="0"/>
          </a:p>
        </p:txBody>
      </p:sp>
      <p:sp>
        <p:nvSpPr>
          <p:cNvPr id="4" name="Text 2"/>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22</a:t>
            </a:r>
            <a:endParaRPr lang="en-US" sz="1000" dirty="0"/>
          </a:p>
        </p:txBody>
      </p:sp>
      <p:pic>
        <p:nvPicPr>
          <p:cNvPr id="5" name="Image 0" descr="img/image8.png"/>
          <p:cNvPicPr>
            <a:picLocks noChangeAspect="1"/>
          </p:cNvPicPr>
          <p:nvPr/>
        </p:nvPicPr>
        <p:blipFill>
          <a:blip r:embed="rId3"/>
          <a:stretch>
            <a:fillRect/>
          </a:stretch>
        </p:blipFill>
        <p:spPr>
          <a:xfrm>
            <a:off x="4069080" y="1074878"/>
            <a:ext cx="7406640" cy="2521915"/>
          </a:xfrm>
          <a:prstGeom prst="rect">
            <a:avLst/>
          </a:prstGeom>
        </p:spPr>
      </p:pic>
      <p:sp>
        <p:nvSpPr>
          <p:cNvPr id="8" name="Text 5"/>
          <p:cNvSpPr/>
          <p:nvPr/>
        </p:nvSpPr>
        <p:spPr>
          <a:xfrm>
            <a:off x="8394192" y="1389888"/>
            <a:ext cx="3017520" cy="292608"/>
          </a:xfrm>
          <a:prstGeom prst="rect">
            <a:avLst/>
          </a:prstGeom>
          <a:noFill/>
          <a:ln/>
        </p:spPr>
        <p:txBody>
          <a:bodyPr wrap="square" lIns="0" tIns="0" rIns="0" bIns="0" rtlCol="0" anchor="ctr"/>
          <a:lstStyle/>
          <a:p>
            <a:pPr marL="0" indent="0">
              <a:buNone/>
            </a:pPr>
            <a:endParaRPr lang="en-US" sz="2000" dirty="0"/>
          </a:p>
        </p:txBody>
      </p:sp>
      <p:sp>
        <p:nvSpPr>
          <p:cNvPr id="9" name="Text 6"/>
          <p:cNvSpPr/>
          <p:nvPr/>
        </p:nvSpPr>
        <p:spPr>
          <a:xfrm>
            <a:off x="8394192" y="1773936"/>
            <a:ext cx="3538728" cy="2011680"/>
          </a:xfrm>
          <a:prstGeom prst="rect">
            <a:avLst/>
          </a:prstGeom>
          <a:noFill/>
          <a:ln/>
        </p:spPr>
        <p:txBody>
          <a:bodyPr wrap="square" lIns="0" tIns="0" rIns="0" bIns="0" rtlCol="0" anchor="t"/>
          <a:lstStyle/>
          <a:p>
            <a:pPr marL="342900" indent="-342900">
              <a:spcAft>
                <a:spcPts val="700"/>
              </a:spcAft>
              <a:buSzPct val="100000"/>
              <a:buChar char="•"/>
            </a:pPr>
            <a:endParaRPr lang="en-US" dirty="0"/>
          </a:p>
        </p:txBody>
      </p:sp>
      <p:sp>
        <p:nvSpPr>
          <p:cNvPr id="10" name="Shape 7"/>
          <p:cNvSpPr/>
          <p:nvPr/>
        </p:nvSpPr>
        <p:spPr>
          <a:xfrm>
            <a:off x="534924" y="4091940"/>
            <a:ext cx="2688336" cy="2043684"/>
          </a:xfrm>
          <a:prstGeom prst="roundRect">
            <a:avLst>
              <a:gd name="adj" fmla="val 4500"/>
            </a:avLst>
          </a:prstGeom>
          <a:solidFill>
            <a:srgbClr val="F7EFEF"/>
          </a:solidFill>
          <a:ln w="12700">
            <a:solidFill>
              <a:srgbClr val="F7EFEF"/>
            </a:solidFill>
            <a:prstDash val="solid"/>
          </a:ln>
        </p:spPr>
        <p:txBody>
          <a:bodyPr/>
          <a:lstStyle/>
          <a:p>
            <a:r>
              <a:rPr lang="en-US" b="1" dirty="0">
                <a:solidFill>
                  <a:srgbClr val="990011"/>
                </a:solidFill>
                <a:latin typeface="Courier New" pitchFamily="34" charset="0"/>
                <a:ea typeface="Courier New" pitchFamily="34" charset="-122"/>
                <a:cs typeface="Courier New" pitchFamily="34" charset="-120"/>
              </a:rPr>
              <a:t>S1</a:t>
            </a:r>
            <a:endParaRPr lang="en-US" dirty="0"/>
          </a:p>
          <a:p>
            <a:r>
              <a:rPr lang="en-US" b="1" dirty="0" err="1">
                <a:solidFill>
                  <a:srgbClr val="1A1C22"/>
                </a:solidFill>
                <a:latin typeface="Calibri" pitchFamily="34" charset="0"/>
                <a:ea typeface="Calibri" pitchFamily="34" charset="-122"/>
                <a:cs typeface="Calibri" pitchFamily="34" charset="-120"/>
              </a:rPr>
              <a:t>Phép</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nhân</a:t>
            </a:r>
            <a:endParaRPr lang="en-US" b="1" dirty="0">
              <a:solidFill>
                <a:srgbClr val="1A1C22"/>
              </a:solidFill>
              <a:latin typeface="Calibri" pitchFamily="34" charset="0"/>
              <a:ea typeface="Calibri" pitchFamily="34" charset="-122"/>
              <a:cs typeface="Calibri" pitchFamily="34" charset="-120"/>
            </a:endParaRPr>
          </a:p>
          <a:p>
            <a:r>
              <a:rPr lang="en-US" dirty="0">
                <a:solidFill>
                  <a:srgbClr val="6E6E78"/>
                </a:solidFill>
                <a:latin typeface="Calibri" pitchFamily="34" charset="0"/>
                <a:ea typeface="Calibri" pitchFamily="34" charset="-122"/>
                <a:cs typeface="Calibri" pitchFamily="34" charset="-120"/>
              </a:rPr>
              <a:t>5 </a:t>
            </a:r>
            <a:r>
              <a:rPr lang="en-US" dirty="0" err="1">
                <a:solidFill>
                  <a:srgbClr val="6E6E78"/>
                </a:solidFill>
                <a:latin typeface="Calibri" pitchFamily="34" charset="0"/>
                <a:ea typeface="Calibri" pitchFamily="34" charset="-122"/>
                <a:cs typeface="Calibri" pitchFamily="34" charset="-120"/>
              </a:rPr>
              <a:t>bộ</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nhân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có</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dấu</a:t>
            </a:r>
            <a:r>
              <a:rPr lang="en-US" dirty="0">
                <a:solidFill>
                  <a:srgbClr val="6E6E78"/>
                </a:solidFill>
                <a:latin typeface="Calibri" pitchFamily="34" charset="0"/>
                <a:ea typeface="Calibri" pitchFamily="34" charset="-122"/>
                <a:cs typeface="Calibri" pitchFamily="34" charset="-120"/>
              </a:rPr>
              <a:t> 8 × 8 bit </a:t>
            </a:r>
            <a:r>
              <a:rPr lang="en-US" dirty="0" err="1">
                <a:solidFill>
                  <a:srgbClr val="6E6E78"/>
                </a:solidFill>
                <a:latin typeface="Calibri" pitchFamily="34" charset="0"/>
                <a:ea typeface="Calibri" pitchFamily="34" charset="-122"/>
                <a:cs typeface="Calibri" pitchFamily="34" charset="-120"/>
              </a:rPr>
              <a:t>cho</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kết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quả</a:t>
            </a:r>
            <a:r>
              <a:rPr lang="en-US" dirty="0">
                <a:solidFill>
                  <a:srgbClr val="6E6E78"/>
                </a:solidFill>
                <a:latin typeface="Calibri" pitchFamily="34" charset="0"/>
                <a:ea typeface="Calibri" pitchFamily="34" charset="-122"/>
                <a:cs typeface="Calibri" pitchFamily="34" charset="-120"/>
              </a:rPr>
              <a:t> 16 bit; </a:t>
            </a:r>
            <a:r>
              <a:rPr lang="en-US" dirty="0" err="1">
                <a:solidFill>
                  <a:srgbClr val="6E6E78"/>
                </a:solidFill>
                <a:latin typeface="Calibri" pitchFamily="34" charset="0"/>
                <a:ea typeface="Calibri" pitchFamily="34" charset="-122"/>
                <a:cs typeface="Calibri" pitchFamily="34" charset="-120"/>
              </a:rPr>
              <a:t>cả</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hai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toán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hạng</a:t>
            </a:r>
            <a:r>
              <a:rPr lang="en-US" dirty="0">
                <a:solidFill>
                  <a:srgbClr val="6E6E78"/>
                </a:solidFill>
                <a:latin typeface="Calibri" pitchFamily="34" charset="0"/>
                <a:ea typeface="Calibri" pitchFamily="34" charset="-122"/>
                <a:cs typeface="Calibri" pitchFamily="34" charset="-120"/>
              </a:rPr>
              <a:t> ở </a:t>
            </a:r>
            <a:r>
              <a:rPr lang="en-US" dirty="0" err="1">
                <a:solidFill>
                  <a:srgbClr val="6E6E78"/>
                </a:solidFill>
                <a:latin typeface="Calibri" pitchFamily="34" charset="0"/>
                <a:ea typeface="Calibri" pitchFamily="34" charset="-122"/>
                <a:cs typeface="Calibri" pitchFamily="34" charset="-120"/>
              </a:rPr>
              <a:t>dạng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bù</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hai</a:t>
            </a:r>
            <a:r>
              <a:rPr lang="en-US" dirty="0">
                <a:solidFill>
                  <a:srgbClr val="6E6E78"/>
                </a:solidFill>
                <a:latin typeface="Calibri" pitchFamily="34" charset="0"/>
                <a:ea typeface="Calibri" pitchFamily="34" charset="-122"/>
                <a:cs typeface="Calibri" pitchFamily="34" charset="-120"/>
              </a:rPr>
              <a:t>.</a:t>
            </a:r>
            <a:endParaRPr lang="en-US" dirty="0"/>
          </a:p>
          <a:p>
            <a:endParaRPr lang="en-US" dirty="0"/>
          </a:p>
          <a:p>
            <a:endParaRPr lang="en-US" dirty="0"/>
          </a:p>
        </p:txBody>
      </p:sp>
      <p:sp>
        <p:nvSpPr>
          <p:cNvPr id="11" name="Text 8"/>
          <p:cNvSpPr/>
          <p:nvPr/>
        </p:nvSpPr>
        <p:spPr>
          <a:xfrm>
            <a:off x="731520" y="4206240"/>
            <a:ext cx="1051560" cy="292608"/>
          </a:xfrm>
          <a:prstGeom prst="rect">
            <a:avLst/>
          </a:prstGeom>
          <a:noFill/>
          <a:ln/>
        </p:spPr>
        <p:txBody>
          <a:bodyPr wrap="square" lIns="0" tIns="0" rIns="0" bIns="0" rtlCol="0" anchor="ctr"/>
          <a:lstStyle/>
          <a:p>
            <a:pPr marL="0" indent="0">
              <a:buNone/>
            </a:pPr>
            <a:endParaRPr lang="en-US" sz="2000" dirty="0"/>
          </a:p>
        </p:txBody>
      </p:sp>
      <p:sp>
        <p:nvSpPr>
          <p:cNvPr id="12" name="Text 9"/>
          <p:cNvSpPr/>
          <p:nvPr/>
        </p:nvSpPr>
        <p:spPr>
          <a:xfrm>
            <a:off x="731520" y="4517136"/>
            <a:ext cx="2359152" cy="292608"/>
          </a:xfrm>
          <a:prstGeom prst="rect">
            <a:avLst/>
          </a:prstGeom>
          <a:noFill/>
          <a:ln/>
        </p:spPr>
        <p:txBody>
          <a:bodyPr wrap="square" lIns="0" tIns="0" rIns="0" bIns="0" rtlCol="0" anchor="ctr"/>
          <a:lstStyle/>
          <a:p>
            <a:pPr marL="0" indent="0">
              <a:buNone/>
            </a:pPr>
            <a:endParaRPr lang="en-US" dirty="0"/>
          </a:p>
        </p:txBody>
      </p:sp>
      <p:sp>
        <p:nvSpPr>
          <p:cNvPr id="13" name="Text 10"/>
          <p:cNvSpPr/>
          <p:nvPr/>
        </p:nvSpPr>
        <p:spPr>
          <a:xfrm>
            <a:off x="731520" y="4846320"/>
            <a:ext cx="2359152" cy="960120"/>
          </a:xfrm>
          <a:prstGeom prst="rect">
            <a:avLst/>
          </a:prstGeom>
          <a:noFill/>
          <a:ln/>
        </p:spPr>
        <p:txBody>
          <a:bodyPr wrap="square" lIns="0" tIns="0" rIns="0" bIns="0" rtlCol="0" anchor="t"/>
          <a:lstStyle/>
          <a:p>
            <a:pPr marL="0" indent="0">
              <a:buNone/>
            </a:pPr>
            <a:endParaRPr lang="en-US" dirty="0"/>
          </a:p>
        </p:txBody>
      </p:sp>
      <p:sp>
        <p:nvSpPr>
          <p:cNvPr id="14" name="Shape 11"/>
          <p:cNvSpPr/>
          <p:nvPr/>
        </p:nvSpPr>
        <p:spPr>
          <a:xfrm>
            <a:off x="3355848" y="4091940"/>
            <a:ext cx="2688336" cy="2043684"/>
          </a:xfrm>
          <a:prstGeom prst="roundRect">
            <a:avLst>
              <a:gd name="adj" fmla="val 4500"/>
            </a:avLst>
          </a:prstGeom>
          <a:solidFill>
            <a:srgbClr val="EFF1F8"/>
          </a:solidFill>
          <a:ln w="12700">
            <a:solidFill>
              <a:srgbClr val="EFF1F8"/>
            </a:solidFill>
            <a:prstDash val="solid"/>
          </a:ln>
        </p:spPr>
        <p:txBody>
          <a:bodyPr/>
          <a:lstStyle/>
          <a:p>
            <a:r>
              <a:rPr lang="en-US" b="1" dirty="0">
                <a:solidFill>
                  <a:srgbClr val="2F3C7E"/>
                </a:solidFill>
                <a:latin typeface="Courier New" pitchFamily="34" charset="0"/>
                <a:ea typeface="Courier New" pitchFamily="34" charset="-122"/>
                <a:cs typeface="Courier New" pitchFamily="34" charset="-120"/>
              </a:rPr>
              <a:t>S2 S3 S4</a:t>
            </a:r>
            <a:endParaRPr lang="en-US" dirty="0"/>
          </a:p>
          <a:p>
            <a:r>
              <a:rPr lang="en-US" b="1" dirty="0" err="1">
                <a:solidFill>
                  <a:srgbClr val="1A1C22"/>
                </a:solidFill>
                <a:latin typeface="Calibri" pitchFamily="34" charset="0"/>
                <a:ea typeface="Calibri" pitchFamily="34" charset="-122"/>
                <a:cs typeface="Calibri" pitchFamily="34" charset="-120"/>
              </a:rPr>
              <a:t>Cây</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cộng</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ba</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tầng</a:t>
            </a:r>
            <a:endParaRPr lang="en-US" b="1" dirty="0">
              <a:solidFill>
                <a:srgbClr val="1A1C22"/>
              </a:solidFill>
              <a:latin typeface="Calibri" pitchFamily="34" charset="0"/>
              <a:ea typeface="Calibri" pitchFamily="34" charset="-122"/>
              <a:cs typeface="Calibri" pitchFamily="34" charset="-120"/>
            </a:endParaRPr>
          </a:p>
          <a:p>
            <a:r>
              <a:rPr lang="en-US" dirty="0">
                <a:solidFill>
                  <a:srgbClr val="6E6E78"/>
                </a:solidFill>
                <a:latin typeface="Calibri" pitchFamily="34" charset="0"/>
                <a:ea typeface="Calibri" pitchFamily="34" charset="-122"/>
                <a:cs typeface="Calibri" pitchFamily="34" charset="-120"/>
              </a:rPr>
              <a:t>5 </a:t>
            </a:r>
            <a:r>
              <a:rPr lang="en-US" dirty="0" err="1">
                <a:solidFill>
                  <a:srgbClr val="6E6E78"/>
                </a:solidFill>
                <a:latin typeface="Calibri" pitchFamily="34" charset="0"/>
                <a:ea typeface="Calibri" pitchFamily="34" charset="-122"/>
                <a:cs typeface="Calibri" pitchFamily="34" charset="-120"/>
              </a:rPr>
              <a:t>tích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cộng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dồn</a:t>
            </a:r>
            <a:r>
              <a:rPr lang="en-US" dirty="0">
                <a:solidFill>
                  <a:srgbClr val="6E6E78"/>
                </a:solidFill>
                <a:latin typeface="Calibri" pitchFamily="34" charset="0"/>
                <a:ea typeface="Calibri" pitchFamily="34" charset="-122"/>
                <a:cs typeface="Calibri" pitchFamily="34" charset="-120"/>
              </a:rPr>
              <a:t> qua 3 </a:t>
            </a:r>
            <a:r>
              <a:rPr lang="en-US" dirty="0" err="1">
                <a:solidFill>
                  <a:srgbClr val="6E6E78"/>
                </a:solidFill>
                <a:latin typeface="Calibri" pitchFamily="34" charset="0"/>
                <a:ea typeface="Calibri" pitchFamily="34" charset="-122"/>
                <a:cs typeface="Calibri" pitchFamily="34" charset="-120"/>
              </a:rPr>
              <a:t>tầng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có</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thanh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ghi</a:t>
            </a:r>
            <a:endParaRPr lang="en-US" dirty="0"/>
          </a:p>
          <a:p>
            <a:endParaRPr lang="en-US" dirty="0"/>
          </a:p>
        </p:txBody>
      </p:sp>
      <p:sp>
        <p:nvSpPr>
          <p:cNvPr id="15" name="Text 12"/>
          <p:cNvSpPr/>
          <p:nvPr/>
        </p:nvSpPr>
        <p:spPr>
          <a:xfrm>
            <a:off x="3520440" y="4206240"/>
            <a:ext cx="1527810" cy="292608"/>
          </a:xfrm>
          <a:prstGeom prst="rect">
            <a:avLst/>
          </a:prstGeom>
          <a:noFill/>
          <a:ln/>
        </p:spPr>
        <p:txBody>
          <a:bodyPr wrap="square" lIns="0" tIns="0" rIns="0" bIns="0" rtlCol="0" anchor="ctr"/>
          <a:lstStyle/>
          <a:p>
            <a:pPr marL="0" indent="0">
              <a:buNone/>
            </a:pPr>
            <a:endParaRPr lang="en-US" sz="2000" dirty="0"/>
          </a:p>
        </p:txBody>
      </p:sp>
      <p:sp>
        <p:nvSpPr>
          <p:cNvPr id="16" name="Text 13"/>
          <p:cNvSpPr/>
          <p:nvPr/>
        </p:nvSpPr>
        <p:spPr>
          <a:xfrm>
            <a:off x="3520440" y="4517136"/>
            <a:ext cx="2359152" cy="292608"/>
          </a:xfrm>
          <a:prstGeom prst="rect">
            <a:avLst/>
          </a:prstGeom>
          <a:noFill/>
          <a:ln/>
        </p:spPr>
        <p:txBody>
          <a:bodyPr wrap="square" lIns="0" tIns="0" rIns="0" bIns="0" rtlCol="0" anchor="ctr"/>
          <a:lstStyle/>
          <a:p>
            <a:pPr marL="0" indent="0">
              <a:buNone/>
            </a:pPr>
            <a:endParaRPr lang="en-US" sz="1250" dirty="0"/>
          </a:p>
        </p:txBody>
      </p:sp>
      <p:sp>
        <p:nvSpPr>
          <p:cNvPr id="17" name="Text 14"/>
          <p:cNvSpPr/>
          <p:nvPr/>
        </p:nvSpPr>
        <p:spPr>
          <a:xfrm>
            <a:off x="3520440" y="4846320"/>
            <a:ext cx="2359152" cy="960120"/>
          </a:xfrm>
          <a:prstGeom prst="rect">
            <a:avLst/>
          </a:prstGeom>
          <a:noFill/>
          <a:ln/>
        </p:spPr>
        <p:txBody>
          <a:bodyPr wrap="square" lIns="0" tIns="0" rIns="0" bIns="0" rtlCol="0" anchor="t"/>
          <a:lstStyle/>
          <a:p>
            <a:pPr marL="0" indent="0">
              <a:buNone/>
            </a:pPr>
            <a:endParaRPr lang="en-US" sz="1050" dirty="0"/>
          </a:p>
        </p:txBody>
      </p:sp>
      <p:sp>
        <p:nvSpPr>
          <p:cNvPr id="18" name="Shape 15"/>
          <p:cNvSpPr/>
          <p:nvPr/>
        </p:nvSpPr>
        <p:spPr>
          <a:xfrm>
            <a:off x="6166484" y="4088283"/>
            <a:ext cx="2872359" cy="2011680"/>
          </a:xfrm>
          <a:prstGeom prst="roundRect">
            <a:avLst>
              <a:gd name="adj" fmla="val 4500"/>
            </a:avLst>
          </a:prstGeom>
          <a:solidFill>
            <a:srgbClr val="F7EFEF"/>
          </a:solidFill>
          <a:ln w="12700">
            <a:solidFill>
              <a:srgbClr val="F7EFEF"/>
            </a:solidFill>
            <a:prstDash val="solid"/>
          </a:ln>
        </p:spPr>
        <p:txBody>
          <a:bodyPr/>
          <a:lstStyle/>
          <a:p>
            <a:r>
              <a:rPr lang="en-US" b="1" dirty="0">
                <a:solidFill>
                  <a:srgbClr val="990011"/>
                </a:solidFill>
                <a:latin typeface="Courier New" pitchFamily="34" charset="0"/>
                <a:ea typeface="Courier New" pitchFamily="34" charset="-122"/>
                <a:cs typeface="Courier New" pitchFamily="34" charset="-120"/>
              </a:rPr>
              <a:t>S5 </a:t>
            </a:r>
            <a:r>
              <a:rPr lang="en-US" b="1" dirty="0" err="1">
                <a:solidFill>
                  <a:srgbClr val="990011"/>
                </a:solidFill>
                <a:latin typeface="Courier New" pitchFamily="34" charset="0"/>
                <a:ea typeface="Courier New" pitchFamily="34" charset="-122"/>
                <a:cs typeface="Courier New" pitchFamily="34" charset="-120"/>
              </a:rPr>
              <a:t>S_bias</a:t>
            </a:r>
            <a:r>
              <a:rPr lang="en-US" b="1" dirty="0">
                <a:solidFill>
                  <a:srgbClr val="990011"/>
                </a:solidFill>
                <a:latin typeface="Courier New" pitchFamily="34" charset="0"/>
                <a:ea typeface="Courier New" pitchFamily="34" charset="-122"/>
                <a:cs typeface="Courier New" pitchFamily="34" charset="-120"/>
              </a:rPr>
              <a:t> S6</a:t>
            </a:r>
          </a:p>
          <a:p>
            <a:r>
              <a:rPr lang="en-US" b="1" dirty="0" err="1">
                <a:solidFill>
                  <a:srgbClr val="1A1C22"/>
                </a:solidFill>
                <a:latin typeface="Calibri" pitchFamily="34" charset="0"/>
                <a:ea typeface="Calibri" pitchFamily="34" charset="-122"/>
                <a:cs typeface="Calibri" pitchFamily="34" charset="-120"/>
              </a:rPr>
              <a:t>Tích</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luỹ</a:t>
            </a:r>
            <a:r>
              <a:rPr lang="en-US" b="1" dirty="0">
                <a:solidFill>
                  <a:srgbClr val="1A1C22"/>
                </a:solidFill>
                <a:latin typeface="Calibri" pitchFamily="34" charset="0"/>
                <a:ea typeface="Calibri" pitchFamily="34" charset="-122"/>
                <a:cs typeface="Calibri" pitchFamily="34" charset="-120"/>
              </a:rPr>
              <a:t> + </a:t>
            </a:r>
            <a:r>
              <a:rPr lang="en-US" b="1" dirty="0" err="1">
                <a:solidFill>
                  <a:srgbClr val="1A1C22"/>
                </a:solidFill>
                <a:latin typeface="Calibri" pitchFamily="34" charset="0"/>
                <a:ea typeface="Calibri" pitchFamily="34" charset="-122"/>
                <a:cs typeface="Calibri" pitchFamily="34" charset="-120"/>
              </a:rPr>
              <a:t>dịch</a:t>
            </a:r>
            <a:endParaRPr lang="en-US" dirty="0"/>
          </a:p>
          <a:p>
            <a:r>
              <a:rPr lang="en-US" dirty="0" err="1">
                <a:solidFill>
                  <a:srgbClr val="6E6E78"/>
                </a:solidFill>
                <a:latin typeface="Calibri" pitchFamily="34" charset="0"/>
                <a:ea typeface="Calibri" pitchFamily="34" charset="-122"/>
                <a:cs typeface="Calibri" pitchFamily="34" charset="-120"/>
              </a:rPr>
              <a:t>Tích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luỹ</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đa</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kênh</a:t>
            </a:r>
            <a:r>
              <a:rPr lang="en-US" dirty="0">
                <a:solidFill>
                  <a:srgbClr val="6E6E78"/>
                </a:solidFill>
                <a:latin typeface="Calibri" pitchFamily="34" charset="0"/>
                <a:ea typeface="Calibri" pitchFamily="34" charset="-122"/>
                <a:cs typeface="Calibri" pitchFamily="34" charset="-120"/>
              </a:rPr>
              <a:t> qua </a:t>
            </a:r>
            <a:r>
              <a:rPr lang="en-US" i="1" dirty="0" err="1">
                <a:solidFill>
                  <a:srgbClr val="6E6E78"/>
                </a:solidFill>
                <a:latin typeface="Calibri" pitchFamily="34" charset="0"/>
                <a:ea typeface="Calibri" pitchFamily="34" charset="-122"/>
                <a:cs typeface="Calibri" pitchFamily="34" charset="-120"/>
              </a:rPr>
              <a:t>in_ch</a:t>
            </a:r>
            <a:r>
              <a:rPr lang="en-US" i="1" dirty="0">
                <a:solidFill>
                  <a:srgbClr val="6E6E78"/>
                </a:solidFill>
                <a:latin typeface="Calibri" pitchFamily="34" charset="0"/>
                <a:ea typeface="Calibri" pitchFamily="34" charset="-122"/>
                <a:cs typeface="Calibri" pitchFamily="34" charset="-120"/>
              </a:rPr>
              <a:t> </a:t>
            </a:r>
            <a:r>
              <a:rPr lang="en-US" dirty="0">
                <a:solidFill>
                  <a:srgbClr val="6E6E78"/>
                </a:solidFill>
                <a:latin typeface="Calibri" pitchFamily="34" charset="0"/>
                <a:ea typeface="Calibri" pitchFamily="34" charset="-122"/>
                <a:cs typeface="Calibri" pitchFamily="34" charset="-120"/>
              </a:rPr>
              <a:t>chu </a:t>
            </a:r>
            <a:r>
              <a:rPr lang="en-US" dirty="0" err="1">
                <a:solidFill>
                  <a:srgbClr val="6E6E78"/>
                </a:solidFill>
                <a:latin typeface="Calibri" pitchFamily="34" charset="0"/>
                <a:ea typeface="Calibri" pitchFamily="34" charset="-122"/>
                <a:cs typeface="Calibri" pitchFamily="34" charset="-120"/>
              </a:rPr>
              <a:t>kỳ</a:t>
            </a:r>
            <a:r>
              <a:rPr lang="en-US" dirty="0">
                <a:solidFill>
                  <a:srgbClr val="6E6E78"/>
                </a:solidFill>
                <a:latin typeface="Calibri" pitchFamily="34" charset="0"/>
                <a:ea typeface="Calibri" pitchFamily="34" charset="-122"/>
                <a:cs typeface="Calibri" pitchFamily="34" charset="-120"/>
              </a:rPr>
              <a:t>; </a:t>
            </a:r>
          </a:p>
          <a:p>
            <a:r>
              <a:rPr lang="en-US" dirty="0">
                <a:solidFill>
                  <a:srgbClr val="6E6E78"/>
                </a:solidFill>
                <a:latin typeface="Calibri" pitchFamily="34" charset="0"/>
                <a:ea typeface="Calibri" pitchFamily="34" charset="-122"/>
                <a:cs typeface="Calibri" pitchFamily="34" charset="-120"/>
              </a:rPr>
              <a:t>bias </a:t>
            </a:r>
            <a:r>
              <a:rPr lang="en-US" dirty="0" err="1">
                <a:solidFill>
                  <a:srgbClr val="6E6E78"/>
                </a:solidFill>
                <a:latin typeface="Calibri" pitchFamily="34" charset="0"/>
                <a:ea typeface="Calibri" pitchFamily="34" charset="-122"/>
                <a:cs typeface="Calibri" pitchFamily="34" charset="-120"/>
              </a:rPr>
              <a:t>và</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hằng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số</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làm</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tròn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gộp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thẳng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vào</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số</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hạng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khởi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tạo</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rồi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dịch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phải</a:t>
            </a:r>
            <a:r>
              <a:rPr lang="en-US" i="1" dirty="0">
                <a:solidFill>
                  <a:srgbClr val="6E6E78"/>
                </a:solidFill>
                <a:latin typeface="Calibri" pitchFamily="34" charset="0"/>
                <a:ea typeface="Calibri" pitchFamily="34" charset="-122"/>
                <a:cs typeface="Calibri" pitchFamily="34" charset="-120"/>
              </a:rPr>
              <a:t> </a:t>
            </a:r>
            <a:r>
              <a:rPr lang="en-US" i="1" dirty="0" err="1">
                <a:solidFill>
                  <a:srgbClr val="6E6E78"/>
                </a:solidFill>
                <a:latin typeface="Calibri" pitchFamily="34" charset="0"/>
                <a:ea typeface="Calibri" pitchFamily="34" charset="-122"/>
                <a:cs typeface="Calibri" pitchFamily="34" charset="-120"/>
              </a:rPr>
              <a:t>nb</a:t>
            </a:r>
            <a:r>
              <a:rPr lang="en-US" i="1" dirty="0">
                <a:solidFill>
                  <a:srgbClr val="6E6E78"/>
                </a:solidFill>
                <a:latin typeface="Calibri" pitchFamily="34" charset="0"/>
                <a:ea typeface="Calibri" pitchFamily="34" charset="-122"/>
                <a:cs typeface="Calibri" pitchFamily="34" charset="-120"/>
              </a:rPr>
              <a:t> </a:t>
            </a:r>
            <a:r>
              <a:rPr lang="en-US" dirty="0">
                <a:solidFill>
                  <a:srgbClr val="6E6E78"/>
                </a:solidFill>
                <a:latin typeface="Calibri" pitchFamily="34" charset="0"/>
                <a:ea typeface="Calibri" pitchFamily="34" charset="-122"/>
                <a:cs typeface="Calibri" pitchFamily="34" charset="-120"/>
              </a:rPr>
              <a:t>bit.</a:t>
            </a:r>
            <a:endParaRPr lang="en-US" dirty="0"/>
          </a:p>
          <a:p>
            <a:endParaRPr lang="en-US" dirty="0"/>
          </a:p>
          <a:p>
            <a:endParaRPr lang="en-US" dirty="0"/>
          </a:p>
        </p:txBody>
      </p:sp>
      <p:sp>
        <p:nvSpPr>
          <p:cNvPr id="19" name="Text 16"/>
          <p:cNvSpPr/>
          <p:nvPr/>
        </p:nvSpPr>
        <p:spPr>
          <a:xfrm>
            <a:off x="6309360" y="4206240"/>
            <a:ext cx="2186940" cy="292608"/>
          </a:xfrm>
          <a:prstGeom prst="rect">
            <a:avLst/>
          </a:prstGeom>
          <a:noFill/>
          <a:ln/>
        </p:spPr>
        <p:txBody>
          <a:bodyPr wrap="square" lIns="0" tIns="0" rIns="0" bIns="0" rtlCol="0" anchor="ctr"/>
          <a:lstStyle/>
          <a:p>
            <a:pPr marL="0" indent="0">
              <a:buNone/>
            </a:pPr>
            <a:endParaRPr lang="en-US" sz="2000" dirty="0"/>
          </a:p>
        </p:txBody>
      </p:sp>
      <p:sp>
        <p:nvSpPr>
          <p:cNvPr id="20" name="Text 17"/>
          <p:cNvSpPr/>
          <p:nvPr/>
        </p:nvSpPr>
        <p:spPr>
          <a:xfrm>
            <a:off x="6309360" y="4517136"/>
            <a:ext cx="2359152" cy="292608"/>
          </a:xfrm>
          <a:prstGeom prst="rect">
            <a:avLst/>
          </a:prstGeom>
          <a:noFill/>
          <a:ln/>
        </p:spPr>
        <p:txBody>
          <a:bodyPr wrap="square" lIns="0" tIns="0" rIns="0" bIns="0" rtlCol="0" anchor="ctr"/>
          <a:lstStyle/>
          <a:p>
            <a:pPr marL="0" indent="0">
              <a:buNone/>
            </a:pPr>
            <a:endParaRPr lang="en-US" sz="1250" dirty="0"/>
          </a:p>
        </p:txBody>
      </p:sp>
      <p:sp>
        <p:nvSpPr>
          <p:cNvPr id="21" name="Text 18"/>
          <p:cNvSpPr/>
          <p:nvPr/>
        </p:nvSpPr>
        <p:spPr>
          <a:xfrm>
            <a:off x="6309360" y="4846320"/>
            <a:ext cx="2359152" cy="960120"/>
          </a:xfrm>
          <a:prstGeom prst="rect">
            <a:avLst/>
          </a:prstGeom>
          <a:noFill/>
          <a:ln/>
        </p:spPr>
        <p:txBody>
          <a:bodyPr wrap="square" lIns="0" tIns="0" rIns="0" bIns="0" rtlCol="0" anchor="t"/>
          <a:lstStyle/>
          <a:p>
            <a:pPr marL="0" indent="0">
              <a:buNone/>
            </a:pPr>
            <a:endParaRPr lang="en-US" sz="1050" dirty="0"/>
          </a:p>
        </p:txBody>
      </p:sp>
      <p:sp>
        <p:nvSpPr>
          <p:cNvPr id="22" name="Shape 19"/>
          <p:cNvSpPr/>
          <p:nvPr/>
        </p:nvSpPr>
        <p:spPr>
          <a:xfrm>
            <a:off x="9171432" y="4084549"/>
            <a:ext cx="2688336" cy="2039112"/>
          </a:xfrm>
          <a:prstGeom prst="roundRect">
            <a:avLst>
              <a:gd name="adj" fmla="val 4500"/>
            </a:avLst>
          </a:prstGeom>
          <a:solidFill>
            <a:srgbClr val="EFF1F8"/>
          </a:solidFill>
          <a:ln w="12700">
            <a:solidFill>
              <a:srgbClr val="EFF1F8"/>
            </a:solidFill>
            <a:prstDash val="solid"/>
          </a:ln>
        </p:spPr>
        <p:txBody>
          <a:bodyPr/>
          <a:lstStyle/>
          <a:p>
            <a:r>
              <a:rPr lang="en-US" b="1" dirty="0">
                <a:solidFill>
                  <a:srgbClr val="2F3C7E"/>
                </a:solidFill>
                <a:latin typeface="Courier New" pitchFamily="34" charset="0"/>
                <a:ea typeface="Courier New" pitchFamily="34" charset="-122"/>
                <a:cs typeface="Courier New" pitchFamily="34" charset="-120"/>
              </a:rPr>
              <a:t>S7 S8 S9</a:t>
            </a:r>
            <a:endParaRPr lang="en-US" dirty="0"/>
          </a:p>
          <a:p>
            <a:r>
              <a:rPr lang="en-US" b="1" dirty="0" err="1">
                <a:solidFill>
                  <a:srgbClr val="1A1C22"/>
                </a:solidFill>
                <a:latin typeface="Calibri" pitchFamily="34" charset="0"/>
                <a:ea typeface="Calibri" pitchFamily="34" charset="-122"/>
                <a:cs typeface="Calibri" pitchFamily="34" charset="-120"/>
              </a:rPr>
              <a:t>Bão</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hoà</a:t>
            </a:r>
            <a:r>
              <a:rPr lang="en-US" b="1" dirty="0">
                <a:solidFill>
                  <a:srgbClr val="1A1C22"/>
                </a:solidFill>
                <a:latin typeface="Calibri" pitchFamily="34" charset="0"/>
                <a:ea typeface="Calibri" pitchFamily="34" charset="-122"/>
                <a:cs typeface="Calibri" pitchFamily="34" charset="-120"/>
              </a:rPr>
              <a:t> · </a:t>
            </a:r>
            <a:r>
              <a:rPr lang="en-US" b="1" dirty="0" err="1">
                <a:solidFill>
                  <a:srgbClr val="1A1C22"/>
                </a:solidFill>
                <a:latin typeface="Calibri" pitchFamily="34" charset="0"/>
                <a:ea typeface="Calibri" pitchFamily="34" charset="-122"/>
                <a:cs typeface="Calibri" pitchFamily="34" charset="-120"/>
              </a:rPr>
              <a:t>ReLU</a:t>
            </a:r>
            <a:r>
              <a:rPr lang="en-US" b="1" dirty="0">
                <a:solidFill>
                  <a:srgbClr val="1A1C22"/>
                </a:solidFill>
                <a:latin typeface="Calibri" pitchFamily="34" charset="0"/>
                <a:ea typeface="Calibri" pitchFamily="34" charset="-122"/>
                <a:cs typeface="Calibri" pitchFamily="34" charset="-120"/>
              </a:rPr>
              <a:t> · Pool</a:t>
            </a:r>
            <a:endParaRPr lang="en-US" dirty="0"/>
          </a:p>
          <a:p>
            <a:r>
              <a:rPr lang="en-US" dirty="0" err="1">
                <a:solidFill>
                  <a:srgbClr val="6E6E78"/>
                </a:solidFill>
                <a:latin typeface="Calibri" pitchFamily="34" charset="0"/>
                <a:ea typeface="Calibri" pitchFamily="34" charset="-122"/>
                <a:cs typeface="Calibri" pitchFamily="34" charset="-120"/>
              </a:rPr>
              <a:t>Kẹp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về</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dải</a:t>
            </a:r>
            <a:r>
              <a:rPr lang="en-US" dirty="0">
                <a:solidFill>
                  <a:srgbClr val="6E6E78"/>
                </a:solidFill>
                <a:latin typeface="Calibri" pitchFamily="34" charset="0"/>
                <a:ea typeface="Calibri" pitchFamily="34" charset="-122"/>
                <a:cs typeface="Calibri" pitchFamily="34" charset="-120"/>
              </a:rPr>
              <a:t> [−127, 127]; </a:t>
            </a:r>
            <a:r>
              <a:rPr lang="en-US" dirty="0" err="1">
                <a:solidFill>
                  <a:srgbClr val="6E6E78"/>
                </a:solidFill>
                <a:latin typeface="Calibri" pitchFamily="34" charset="0"/>
                <a:ea typeface="Calibri" pitchFamily="34" charset="-122"/>
                <a:cs typeface="Calibri" pitchFamily="34" charset="-120"/>
              </a:rPr>
              <a:t>ReLU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chỉ</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bật</a:t>
            </a:r>
            <a:r>
              <a:rPr lang="en-US" dirty="0">
                <a:solidFill>
                  <a:srgbClr val="6E6E78"/>
                </a:solidFill>
                <a:latin typeface="Calibri" pitchFamily="34" charset="0"/>
                <a:ea typeface="Calibri" pitchFamily="34" charset="-122"/>
                <a:cs typeface="Calibri" pitchFamily="34" charset="-120"/>
              </a:rPr>
              <a:t> ở Conv4; </a:t>
            </a:r>
          </a:p>
          <a:p>
            <a:r>
              <a:rPr lang="en-US" dirty="0" err="1">
                <a:solidFill>
                  <a:srgbClr val="6E6E78"/>
                </a:solidFill>
                <a:latin typeface="Calibri" pitchFamily="34" charset="0"/>
                <a:ea typeface="Calibri" pitchFamily="34" charset="-122"/>
                <a:cs typeface="Calibri" pitchFamily="34" charset="-120"/>
              </a:rPr>
              <a:t>Lấy</a:t>
            </a:r>
            <a:r>
              <a:rPr lang="en-US" dirty="0">
                <a:solidFill>
                  <a:srgbClr val="6E6E78"/>
                </a:solidFill>
                <a:latin typeface="Calibri" pitchFamily="34" charset="0"/>
                <a:ea typeface="Calibri" pitchFamily="34" charset="-122"/>
                <a:cs typeface="Calibri" pitchFamily="34" charset="-120"/>
              </a:rPr>
              <a:t> MAX </a:t>
            </a:r>
            <a:r>
              <a:rPr lang="en-US" dirty="0" err="1">
                <a:solidFill>
                  <a:srgbClr val="6E6E78"/>
                </a:solidFill>
                <a:latin typeface="Calibri" pitchFamily="34" charset="0"/>
                <a:ea typeface="Calibri" pitchFamily="34" charset="-122"/>
                <a:cs typeface="Calibri" pitchFamily="34" charset="-120"/>
              </a:rPr>
              <a:t>sau</a:t>
            </a:r>
            <a:r>
              <a:rPr lang="en-US" dirty="0">
                <a:solidFill>
                  <a:srgbClr val="6E6E78"/>
                </a:solidFill>
                <a:latin typeface="Calibri" pitchFamily="34" charset="0"/>
                <a:ea typeface="Calibri" pitchFamily="34" charset="-122"/>
                <a:cs typeface="Calibri" pitchFamily="34" charset="-120"/>
              </a:rPr>
              <a:t> 5 </a:t>
            </a:r>
            <a:r>
              <a:rPr lang="en-US" dirty="0" err="1">
                <a:solidFill>
                  <a:srgbClr val="6E6E78"/>
                </a:solidFill>
                <a:latin typeface="Calibri" pitchFamily="34" charset="0"/>
                <a:ea typeface="Calibri" pitchFamily="34" charset="-122"/>
                <a:cs typeface="Calibri" pitchFamily="34" charset="-120"/>
              </a:rPr>
              <a:t>mẫu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rồi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phát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xung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pool_write</a:t>
            </a:r>
            <a:r>
              <a:rPr lang="en-US" dirty="0">
                <a:solidFill>
                  <a:srgbClr val="6E6E78"/>
                </a:solidFill>
                <a:latin typeface="Calibri" pitchFamily="34" charset="0"/>
                <a:ea typeface="Calibri" pitchFamily="34" charset="-122"/>
                <a:cs typeface="Calibri" pitchFamily="34" charset="-120"/>
              </a:rPr>
              <a:t>.</a:t>
            </a:r>
            <a:endParaRPr lang="en-US" dirty="0"/>
          </a:p>
          <a:p>
            <a:endParaRPr lang="en-US" dirty="0"/>
          </a:p>
        </p:txBody>
      </p:sp>
      <p:sp>
        <p:nvSpPr>
          <p:cNvPr id="23" name="Text 20"/>
          <p:cNvSpPr/>
          <p:nvPr/>
        </p:nvSpPr>
        <p:spPr>
          <a:xfrm>
            <a:off x="9098280" y="4206240"/>
            <a:ext cx="1417320" cy="292608"/>
          </a:xfrm>
          <a:prstGeom prst="rect">
            <a:avLst/>
          </a:prstGeom>
          <a:noFill/>
          <a:ln/>
        </p:spPr>
        <p:txBody>
          <a:bodyPr wrap="square" lIns="0" tIns="0" rIns="0" bIns="0" rtlCol="0" anchor="ctr"/>
          <a:lstStyle/>
          <a:p>
            <a:pPr marL="0" indent="0">
              <a:buNone/>
            </a:pPr>
            <a:endParaRPr lang="en-US" sz="2000" dirty="0"/>
          </a:p>
        </p:txBody>
      </p:sp>
      <p:sp>
        <p:nvSpPr>
          <p:cNvPr id="24" name="Text 21"/>
          <p:cNvSpPr/>
          <p:nvPr/>
        </p:nvSpPr>
        <p:spPr>
          <a:xfrm>
            <a:off x="9098280" y="4517136"/>
            <a:ext cx="2359152" cy="292608"/>
          </a:xfrm>
          <a:prstGeom prst="rect">
            <a:avLst/>
          </a:prstGeom>
          <a:noFill/>
          <a:ln/>
        </p:spPr>
        <p:txBody>
          <a:bodyPr wrap="square" lIns="0" tIns="0" rIns="0" bIns="0" rtlCol="0" anchor="ctr"/>
          <a:lstStyle/>
          <a:p>
            <a:pPr marL="0" indent="0">
              <a:buNone/>
            </a:pPr>
            <a:endParaRPr lang="en-US" sz="1250" dirty="0"/>
          </a:p>
        </p:txBody>
      </p:sp>
      <p:sp>
        <p:nvSpPr>
          <p:cNvPr id="25" name="Text 22"/>
          <p:cNvSpPr/>
          <p:nvPr/>
        </p:nvSpPr>
        <p:spPr>
          <a:xfrm>
            <a:off x="9098280" y="4846320"/>
            <a:ext cx="2359152" cy="960120"/>
          </a:xfrm>
          <a:prstGeom prst="rect">
            <a:avLst/>
          </a:prstGeom>
          <a:noFill/>
          <a:ln/>
        </p:spPr>
        <p:txBody>
          <a:bodyPr wrap="square" lIns="0" tIns="0" rIns="0" bIns="0" rtlCol="0" anchor="t"/>
          <a:lstStyle/>
          <a:p>
            <a:pPr marL="0" indent="0">
              <a:buNone/>
            </a:pPr>
            <a:endParaRPr lang="en-US" sz="1050" dirty="0"/>
          </a:p>
        </p:txBody>
      </p:sp>
      <p:sp>
        <p:nvSpPr>
          <p:cNvPr id="28" name="Text 0">
            <a:extLst>
              <a:ext uri="{FF2B5EF4-FFF2-40B4-BE49-F238E27FC236}">
                <a16:creationId xmlns:a16="http://schemas.microsoft.com/office/drawing/2014/main" id="{BE308E9E-C1C1-F576-8CF1-9BEE9C2288E6}"/>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pic>
        <p:nvPicPr>
          <p:cNvPr id="6" name="Picture 5">
            <a:extLst>
              <a:ext uri="{FF2B5EF4-FFF2-40B4-BE49-F238E27FC236}">
                <a16:creationId xmlns:a16="http://schemas.microsoft.com/office/drawing/2014/main" id="{A282242B-0864-DC17-7858-064A43A62088}"/>
              </a:ext>
            </a:extLst>
          </p:cNvPr>
          <p:cNvPicPr>
            <a:picLocks noChangeAspect="1"/>
          </p:cNvPicPr>
          <p:nvPr/>
        </p:nvPicPr>
        <p:blipFill>
          <a:blip r:embed="rId4"/>
          <a:stretch>
            <a:fillRect/>
          </a:stretch>
        </p:blipFill>
        <p:spPr>
          <a:xfrm>
            <a:off x="619169" y="1222553"/>
            <a:ext cx="3449911" cy="2636007"/>
          </a:xfrm>
          <a:prstGeom prst="rect">
            <a:avLst/>
          </a:prstGeom>
          <a:ln>
            <a:solidFill>
              <a:srgbClr val="FF0000"/>
            </a:solidFill>
          </a:ln>
        </p:spPr>
      </p:pic>
      <p:cxnSp>
        <p:nvCxnSpPr>
          <p:cNvPr id="31" name="Straight Connector 30">
            <a:extLst>
              <a:ext uri="{FF2B5EF4-FFF2-40B4-BE49-F238E27FC236}">
                <a16:creationId xmlns:a16="http://schemas.microsoft.com/office/drawing/2014/main" id="{05E9C877-D0FC-ED9B-A938-B2CE447A322E}"/>
              </a:ext>
            </a:extLst>
          </p:cNvPr>
          <p:cNvCxnSpPr/>
          <p:nvPr/>
        </p:nvCxnSpPr>
        <p:spPr>
          <a:xfrm>
            <a:off x="4069080" y="1222553"/>
            <a:ext cx="979170" cy="9212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3BAFD03-33C2-5F3D-5AAB-9C1E6A8644B2}"/>
              </a:ext>
            </a:extLst>
          </p:cNvPr>
          <p:cNvCxnSpPr/>
          <p:nvPr/>
        </p:nvCxnSpPr>
        <p:spPr>
          <a:xfrm flipV="1">
            <a:off x="4069080" y="3149600"/>
            <a:ext cx="979170" cy="70896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34924" y="633985"/>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3.5.2 </a:t>
            </a:r>
            <a:r>
              <a:rPr lang="en-US" sz="2700" b="1" dirty="0" err="1">
                <a:solidFill>
                  <a:srgbClr val="1A1C22"/>
                </a:solidFill>
                <a:latin typeface="Cambria" pitchFamily="34" charset="0"/>
                <a:ea typeface="Cambria" pitchFamily="34" charset="-122"/>
                <a:cs typeface="Cambria" pitchFamily="34" charset="-120"/>
              </a:rPr>
              <a:t>Khối</a:t>
            </a:r>
            <a:r>
              <a:rPr lang="en-US" sz="2700" b="1" dirty="0">
                <a:solidFill>
                  <a:srgbClr val="1A1C22"/>
                </a:solidFill>
                <a:latin typeface="Cambria" pitchFamily="34" charset="0"/>
                <a:ea typeface="Cambria" pitchFamily="34" charset="-122"/>
                <a:cs typeface="Cambria" pitchFamily="34" charset="-120"/>
              </a:rPr>
              <a:t> engine unit — 8 kênh đầu ra song song</a:t>
            </a:r>
            <a:endParaRPr lang="en-US" sz="2700" dirty="0"/>
          </a:p>
        </p:txBody>
      </p:sp>
      <p:pic>
        <p:nvPicPr>
          <p:cNvPr id="5" name="Image 0" descr="img/image9.png"/>
          <p:cNvPicPr>
            <a:picLocks noChangeAspect="1"/>
          </p:cNvPicPr>
          <p:nvPr/>
        </p:nvPicPr>
        <p:blipFill>
          <a:blip r:embed="rId3"/>
          <a:stretch>
            <a:fillRect/>
          </a:stretch>
        </p:blipFill>
        <p:spPr>
          <a:xfrm>
            <a:off x="1228725" y="1063711"/>
            <a:ext cx="9915525" cy="4262318"/>
          </a:xfrm>
          <a:prstGeom prst="rect">
            <a:avLst/>
          </a:prstGeom>
        </p:spPr>
      </p:pic>
      <p:sp>
        <p:nvSpPr>
          <p:cNvPr id="7" name="Shape 4"/>
          <p:cNvSpPr/>
          <p:nvPr/>
        </p:nvSpPr>
        <p:spPr>
          <a:xfrm>
            <a:off x="400434" y="5441181"/>
            <a:ext cx="11221590" cy="1231913"/>
          </a:xfrm>
          <a:prstGeom prst="roundRect">
            <a:avLst>
              <a:gd name="adj" fmla="val 2687"/>
            </a:avLst>
          </a:prstGeom>
          <a:solidFill>
            <a:srgbClr val="F7EFEF"/>
          </a:solidFill>
          <a:ln w="12700">
            <a:solidFill>
              <a:srgbClr val="F7EFEF"/>
            </a:solidFill>
            <a:prstDash val="solid"/>
          </a:ln>
          <a:effectLst>
            <a:outerShdw blurRad="101600" dist="25400" dir="5400000" algn="bl" rotWithShape="0">
              <a:srgbClr val="B9AFAF">
                <a:alpha val="25000"/>
              </a:srgbClr>
            </a:outerShdw>
          </a:effectLst>
        </p:spPr>
        <p:txBody>
          <a:bodyPr/>
          <a:lstStyle/>
          <a:p>
            <a:r>
              <a:rPr lang="en-US" b="1" dirty="0" err="1">
                <a:solidFill>
                  <a:srgbClr val="990011"/>
                </a:solidFill>
                <a:latin typeface="Calibri" pitchFamily="34" charset="0"/>
                <a:ea typeface="Calibri" pitchFamily="34" charset="-122"/>
                <a:cs typeface="Calibri" pitchFamily="34" charset="-120"/>
              </a:rPr>
              <a:t>Cấu</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tạo</a:t>
            </a:r>
            <a:endParaRPr lang="en-US" b="1" dirty="0">
              <a:solidFill>
                <a:srgbClr val="990011"/>
              </a:solidFill>
              <a:latin typeface="Calibri" pitchFamily="34" charset="0"/>
              <a:ea typeface="Calibri" pitchFamily="34" charset="-122"/>
              <a:cs typeface="Calibri" pitchFamily="34" charset="-120"/>
            </a:endParaRPr>
          </a:p>
          <a:p>
            <a:pPr marL="342900" indent="-342900">
              <a:buSzPct val="100000"/>
              <a:buChar char="•"/>
            </a:pPr>
            <a:r>
              <a:rPr lang="en-US" dirty="0">
                <a:solidFill>
                  <a:srgbClr val="1A1C22"/>
                </a:solidFill>
                <a:latin typeface="Calibri" pitchFamily="34" charset="0"/>
                <a:ea typeface="Calibri" pitchFamily="34" charset="-122"/>
                <a:cs typeface="Calibri" pitchFamily="34" charset="-120"/>
              </a:rPr>
              <a:t>8 convolution-pool unit </a:t>
            </a:r>
            <a:r>
              <a:rPr lang="en-US" dirty="0" err="1">
                <a:solidFill>
                  <a:srgbClr val="1A1C22"/>
                </a:solidFill>
                <a:latin typeface="Calibri" pitchFamily="34" charset="0"/>
                <a:ea typeface="Calibri" pitchFamily="34" charset="-122"/>
                <a:cs typeface="Calibri" pitchFamily="34" charset="-120"/>
              </a:rPr>
              <a:t>chạy</a:t>
            </a:r>
            <a:r>
              <a:rPr lang="en-US" dirty="0">
                <a:solidFill>
                  <a:srgbClr val="1A1C22"/>
                </a:solidFill>
                <a:latin typeface="Calibri" pitchFamily="34" charset="0"/>
                <a:ea typeface="Calibri" pitchFamily="34" charset="-122"/>
                <a:cs typeface="Calibri" pitchFamily="34" charset="-120"/>
              </a:rPr>
              <a:t> song </a:t>
            </a:r>
            <a:r>
              <a:rPr lang="en-US" dirty="0" err="1">
                <a:solidFill>
                  <a:srgbClr val="1A1C22"/>
                </a:solidFill>
                <a:latin typeface="Calibri" pitchFamily="34" charset="0"/>
                <a:ea typeface="Calibri" pitchFamily="34" charset="-122"/>
                <a:cs typeface="Calibri" pitchFamily="34" charset="-120"/>
              </a:rPr>
              <a:t>song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tính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đồng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thời</a:t>
            </a:r>
            <a:r>
              <a:rPr lang="en-US" dirty="0">
                <a:solidFill>
                  <a:srgbClr val="1A1C22"/>
                </a:solidFill>
                <a:latin typeface="Calibri" pitchFamily="34" charset="0"/>
                <a:ea typeface="Calibri" pitchFamily="34" charset="-122"/>
                <a:cs typeface="Calibri" pitchFamily="34" charset="-120"/>
              </a:rPr>
              <a:t> 8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đầu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ra.</a:t>
            </a:r>
            <a:endParaRPr lang="en-US" dirty="0"/>
          </a:p>
          <a:p>
            <a:pPr marL="342900" indent="-342900">
              <a:buSzPct val="100000"/>
              <a:buChar char="•"/>
            </a:pPr>
            <a:r>
              <a:rPr lang="en-US" dirty="0">
                <a:solidFill>
                  <a:srgbClr val="1A1C22"/>
                </a:solidFill>
                <a:latin typeface="Calibri" pitchFamily="34" charset="0"/>
                <a:ea typeface="Calibri" pitchFamily="34" charset="-122"/>
                <a:cs typeface="Calibri" pitchFamily="34" charset="-120"/>
              </a:rPr>
              <a:t>Bao </a:t>
            </a:r>
            <a:r>
              <a:rPr lang="en-US" dirty="0" err="1">
                <a:solidFill>
                  <a:srgbClr val="1A1C22"/>
                </a:solidFill>
                <a:latin typeface="Calibri" pitchFamily="34" charset="0"/>
                <a:ea typeface="Calibri" pitchFamily="34" charset="-122"/>
                <a:cs typeface="Calibri" pitchFamily="34" charset="-120"/>
              </a:rPr>
              <a:t>quanh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là</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toàn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cơ</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chế</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cấp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dữ</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liệu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cửa</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sổ</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thanh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trượt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chọn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nhánh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chuỗi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trễ</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đồng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kho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trọng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ROM,bias</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cổng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có</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chọn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lọc</a:t>
            </a:r>
            <a:r>
              <a:rPr lang="en-US" dirty="0">
                <a:solidFill>
                  <a:srgbClr val="1A1C22"/>
                </a:solidFill>
                <a:latin typeface="Calibri" pitchFamily="34" charset="0"/>
                <a:ea typeface="Calibri" pitchFamily="34" charset="-122"/>
                <a:cs typeface="Calibri" pitchFamily="34" charset="-120"/>
              </a:rPr>
              <a:t>.</a:t>
            </a:r>
            <a:endParaRPr lang="en-US" dirty="0"/>
          </a:p>
          <a:p>
            <a:endParaRPr lang="en-US" dirty="0"/>
          </a:p>
          <a:p>
            <a:endParaRPr lang="en-US" dirty="0"/>
          </a:p>
        </p:txBody>
      </p:sp>
      <p:sp>
        <p:nvSpPr>
          <p:cNvPr id="8" name="Text 5"/>
          <p:cNvSpPr/>
          <p:nvPr/>
        </p:nvSpPr>
        <p:spPr>
          <a:xfrm>
            <a:off x="8555642" y="1570094"/>
            <a:ext cx="2905917" cy="292608"/>
          </a:xfrm>
          <a:prstGeom prst="rect">
            <a:avLst/>
          </a:prstGeom>
          <a:noFill/>
          <a:ln/>
        </p:spPr>
        <p:txBody>
          <a:bodyPr wrap="square" lIns="0" tIns="0" rIns="0" bIns="0" rtlCol="0" anchor="ctr"/>
          <a:lstStyle/>
          <a:p>
            <a:pPr marL="0" indent="0">
              <a:buNone/>
            </a:pPr>
            <a:endParaRPr lang="en-US" sz="1400" dirty="0"/>
          </a:p>
        </p:txBody>
      </p:sp>
      <p:sp>
        <p:nvSpPr>
          <p:cNvPr id="9" name="Text 6"/>
          <p:cNvSpPr/>
          <p:nvPr/>
        </p:nvSpPr>
        <p:spPr>
          <a:xfrm>
            <a:off x="8555644" y="1954142"/>
            <a:ext cx="2905916" cy="2377440"/>
          </a:xfrm>
          <a:prstGeom prst="rect">
            <a:avLst/>
          </a:prstGeom>
          <a:noFill/>
          <a:ln/>
        </p:spPr>
        <p:txBody>
          <a:bodyPr wrap="square" lIns="0" tIns="0" rIns="0" bIns="0" rtlCol="0" anchor="t"/>
          <a:lstStyle/>
          <a:p>
            <a:pPr marL="342900" indent="-342900">
              <a:spcAft>
                <a:spcPts val="700"/>
              </a:spcAft>
              <a:buSzPct val="100000"/>
              <a:buChar char="•"/>
            </a:pPr>
            <a:endParaRPr lang="en-US" sz="1200" dirty="0"/>
          </a:p>
        </p:txBody>
      </p:sp>
      <p:sp>
        <p:nvSpPr>
          <p:cNvPr id="11" name="Text 8"/>
          <p:cNvSpPr/>
          <p:nvPr/>
        </p:nvSpPr>
        <p:spPr>
          <a:xfrm>
            <a:off x="717804" y="4978557"/>
            <a:ext cx="3255264" cy="310896"/>
          </a:xfrm>
          <a:prstGeom prst="rect">
            <a:avLst/>
          </a:prstGeom>
          <a:noFill/>
          <a:ln/>
        </p:spPr>
        <p:txBody>
          <a:bodyPr wrap="square" lIns="0" tIns="0" rIns="0" bIns="0" rtlCol="0" anchor="ctr"/>
          <a:lstStyle/>
          <a:p>
            <a:pPr marL="0" indent="0">
              <a:buNone/>
            </a:pPr>
            <a:endParaRPr lang="en-US" sz="1250" dirty="0"/>
          </a:p>
        </p:txBody>
      </p:sp>
      <p:sp>
        <p:nvSpPr>
          <p:cNvPr id="12" name="Text 9"/>
          <p:cNvSpPr/>
          <p:nvPr/>
        </p:nvSpPr>
        <p:spPr>
          <a:xfrm>
            <a:off x="717804" y="5326029"/>
            <a:ext cx="3255264" cy="1024128"/>
          </a:xfrm>
          <a:prstGeom prst="rect">
            <a:avLst/>
          </a:prstGeom>
          <a:noFill/>
          <a:ln/>
        </p:spPr>
        <p:txBody>
          <a:bodyPr wrap="square" lIns="0" tIns="0" rIns="0" bIns="0" rtlCol="0" anchor="t"/>
          <a:lstStyle/>
          <a:p>
            <a:pPr marL="0" indent="0">
              <a:buNone/>
            </a:pPr>
            <a:endParaRPr lang="en-US" sz="1050" dirty="0"/>
          </a:p>
        </p:txBody>
      </p:sp>
      <p:sp>
        <p:nvSpPr>
          <p:cNvPr id="14" name="Text 11"/>
          <p:cNvSpPr/>
          <p:nvPr/>
        </p:nvSpPr>
        <p:spPr>
          <a:xfrm>
            <a:off x="4457700" y="4978557"/>
            <a:ext cx="3255264" cy="310896"/>
          </a:xfrm>
          <a:prstGeom prst="rect">
            <a:avLst/>
          </a:prstGeom>
          <a:noFill/>
          <a:ln/>
        </p:spPr>
        <p:txBody>
          <a:bodyPr wrap="square" lIns="0" tIns="0" rIns="0" bIns="0" rtlCol="0" anchor="ctr"/>
          <a:lstStyle/>
          <a:p>
            <a:pPr marL="0" indent="0">
              <a:buNone/>
            </a:pPr>
            <a:endParaRPr lang="en-US" sz="1250" dirty="0"/>
          </a:p>
        </p:txBody>
      </p:sp>
      <p:sp>
        <p:nvSpPr>
          <p:cNvPr id="15" name="Text 12"/>
          <p:cNvSpPr/>
          <p:nvPr/>
        </p:nvSpPr>
        <p:spPr>
          <a:xfrm>
            <a:off x="4457700" y="5326029"/>
            <a:ext cx="3255264" cy="1024128"/>
          </a:xfrm>
          <a:prstGeom prst="rect">
            <a:avLst/>
          </a:prstGeom>
          <a:noFill/>
          <a:ln/>
        </p:spPr>
        <p:txBody>
          <a:bodyPr wrap="square" lIns="0" tIns="0" rIns="0" bIns="0" rtlCol="0" anchor="t"/>
          <a:lstStyle/>
          <a:p>
            <a:pPr marL="0" indent="0">
              <a:buNone/>
            </a:pPr>
            <a:endParaRPr lang="en-US" sz="1050" dirty="0"/>
          </a:p>
        </p:txBody>
      </p:sp>
      <p:sp>
        <p:nvSpPr>
          <p:cNvPr id="17" name="Text 14"/>
          <p:cNvSpPr/>
          <p:nvPr/>
        </p:nvSpPr>
        <p:spPr>
          <a:xfrm>
            <a:off x="8218934" y="4978557"/>
            <a:ext cx="3255264" cy="310896"/>
          </a:xfrm>
          <a:prstGeom prst="rect">
            <a:avLst/>
          </a:prstGeom>
          <a:noFill/>
          <a:ln/>
        </p:spPr>
        <p:txBody>
          <a:bodyPr wrap="square" lIns="0" tIns="0" rIns="0" bIns="0" rtlCol="0" anchor="ctr"/>
          <a:lstStyle/>
          <a:p>
            <a:pPr marL="0" indent="0">
              <a:buNone/>
            </a:pPr>
            <a:endParaRPr lang="en-US" sz="1250" dirty="0"/>
          </a:p>
        </p:txBody>
      </p:sp>
      <p:sp>
        <p:nvSpPr>
          <p:cNvPr id="18" name="Text 15"/>
          <p:cNvSpPr/>
          <p:nvPr/>
        </p:nvSpPr>
        <p:spPr>
          <a:xfrm>
            <a:off x="8218934" y="5326029"/>
            <a:ext cx="3255264" cy="1024128"/>
          </a:xfrm>
          <a:prstGeom prst="rect">
            <a:avLst/>
          </a:prstGeom>
          <a:noFill/>
          <a:ln/>
        </p:spPr>
        <p:txBody>
          <a:bodyPr wrap="square" lIns="0" tIns="0" rIns="0" bIns="0" rtlCol="0" anchor="t"/>
          <a:lstStyle/>
          <a:p>
            <a:pPr marL="0" indent="0">
              <a:buNone/>
            </a:pPr>
            <a:endParaRPr lang="en-US" sz="1050" dirty="0"/>
          </a:p>
        </p:txBody>
      </p:sp>
      <p:sp>
        <p:nvSpPr>
          <p:cNvPr id="20" name="Text 0">
            <a:extLst>
              <a:ext uri="{FF2B5EF4-FFF2-40B4-BE49-F238E27FC236}">
                <a16:creationId xmlns:a16="http://schemas.microsoft.com/office/drawing/2014/main" id="{D19B4BA5-6156-F3D7-83DD-965505763DE7}"/>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636649"/>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3.5.3 </a:t>
            </a:r>
            <a:r>
              <a:rPr lang="en-US" sz="2700" b="1" dirty="0" err="1">
                <a:solidFill>
                  <a:srgbClr val="1A1C22"/>
                </a:solidFill>
                <a:latin typeface="Cambria" pitchFamily="34" charset="0"/>
                <a:ea typeface="Cambria" pitchFamily="34" charset="-122"/>
                <a:cs typeface="Cambria" pitchFamily="34" charset="-120"/>
              </a:rPr>
              <a:t>Khối</a:t>
            </a:r>
            <a:r>
              <a:rPr lang="en-US" sz="2700" b="1" dirty="0">
                <a:solidFill>
                  <a:srgbClr val="1A1C22"/>
                </a:solidFill>
                <a:latin typeface="Cambria" pitchFamily="34" charset="0"/>
                <a:ea typeface="Cambria" pitchFamily="34" charset="-122"/>
                <a:cs typeface="Cambria" pitchFamily="34" charset="-120"/>
              </a:rPr>
              <a:t> gap-fc-argmax unit</a:t>
            </a:r>
            <a:endParaRPr lang="en-US" sz="2700" dirty="0"/>
          </a:p>
        </p:txBody>
      </p:sp>
      <p:pic>
        <p:nvPicPr>
          <p:cNvPr id="5" name="Image 0" descr="img/image10.png"/>
          <p:cNvPicPr>
            <a:picLocks noChangeAspect="1"/>
          </p:cNvPicPr>
          <p:nvPr/>
        </p:nvPicPr>
        <p:blipFill>
          <a:blip r:embed="rId3"/>
          <a:stretch>
            <a:fillRect/>
          </a:stretch>
        </p:blipFill>
        <p:spPr>
          <a:xfrm>
            <a:off x="343263" y="1417354"/>
            <a:ext cx="6675120" cy="1894637"/>
          </a:xfrm>
          <a:prstGeom prst="rect">
            <a:avLst/>
          </a:prstGeom>
        </p:spPr>
      </p:pic>
      <p:sp>
        <p:nvSpPr>
          <p:cNvPr id="7" name="Shape 4"/>
          <p:cNvSpPr/>
          <p:nvPr/>
        </p:nvSpPr>
        <p:spPr>
          <a:xfrm>
            <a:off x="754249" y="3866614"/>
            <a:ext cx="10639175" cy="1828800"/>
          </a:xfrm>
          <a:prstGeom prst="roundRect">
            <a:avLst>
              <a:gd name="adj" fmla="val 3462"/>
            </a:avLst>
          </a:prstGeom>
          <a:solidFill>
            <a:srgbClr val="EFF1F8"/>
          </a:solidFill>
          <a:ln w="12700">
            <a:solidFill>
              <a:srgbClr val="EFF1F8"/>
            </a:solidFill>
            <a:prstDash val="solid"/>
          </a:ln>
        </p:spPr>
        <p:txBody>
          <a:bodyPr/>
          <a:lstStyle/>
          <a:p>
            <a:r>
              <a:rPr lang="en-US" b="1" dirty="0">
                <a:solidFill>
                  <a:srgbClr val="2F3C7E"/>
                </a:solidFill>
                <a:latin typeface="Calibri" pitchFamily="34" charset="0"/>
                <a:ea typeface="Calibri" pitchFamily="34" charset="-122"/>
                <a:cs typeface="Calibri" pitchFamily="34" charset="-120"/>
              </a:rPr>
              <a:t>3 </a:t>
            </a:r>
            <a:r>
              <a:rPr lang="en-US" b="1" dirty="0" err="1">
                <a:solidFill>
                  <a:srgbClr val="2F3C7E"/>
                </a:solidFill>
                <a:latin typeface="Calibri" pitchFamily="34" charset="0"/>
                <a:ea typeface="Calibri" pitchFamily="34" charset="-122"/>
                <a:cs typeface="Calibri" pitchFamily="34" charset="-120"/>
              </a:rPr>
              <a:t>khối</a:t>
            </a:r>
            <a:r>
              <a:rPr lang="en-US" b="1" dirty="0">
                <a:solidFill>
                  <a:srgbClr val="2F3C7E"/>
                </a:solidFill>
                <a:latin typeface="Calibri" pitchFamily="34" charset="0"/>
                <a:ea typeface="Calibri" pitchFamily="34" charset="-122"/>
                <a:cs typeface="Calibri" pitchFamily="34" charset="-120"/>
              </a:rPr>
              <a:t> con Gap-fc-argmax </a:t>
            </a:r>
            <a:endParaRPr lang="en-US" dirty="0"/>
          </a:p>
          <a:p>
            <a:pPr>
              <a:spcBef>
                <a:spcPts val="600"/>
              </a:spcBef>
            </a:pPr>
            <a:r>
              <a:rPr lang="en-US" b="1" dirty="0" err="1">
                <a:solidFill>
                  <a:srgbClr val="990011"/>
                </a:solidFill>
                <a:latin typeface="Calibri" pitchFamily="34" charset="0"/>
                <a:ea typeface="Calibri" pitchFamily="34" charset="-122"/>
                <a:cs typeface="Calibri" pitchFamily="34" charset="-120"/>
              </a:rPr>
              <a:t>gap_unit</a:t>
            </a:r>
            <a:r>
              <a:rPr lang="en-US" b="1" dirty="0">
                <a:solidFill>
                  <a:srgbClr val="990011"/>
                </a:solidFill>
                <a:latin typeface="Calibri" pitchFamily="34" charset="0"/>
                <a:ea typeface="Calibri" pitchFamily="34" charset="-122"/>
                <a:cs typeface="Calibri" pitchFamily="34" charset="-120"/>
              </a:rPr>
              <a:t> — </a:t>
            </a:r>
            <a:r>
              <a:rPr lang="en-US" dirty="0" err="1">
                <a:solidFill>
                  <a:srgbClr val="1A1C22"/>
                </a:solidFill>
                <a:latin typeface="Calibri" pitchFamily="34" charset="0"/>
                <a:ea typeface="Calibri" pitchFamily="34" charset="-122"/>
                <a:cs typeface="Calibri" pitchFamily="34" charset="-120"/>
              </a:rPr>
              <a:t>cộng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dồn</a:t>
            </a:r>
            <a:r>
              <a:rPr lang="en-US" dirty="0">
                <a:solidFill>
                  <a:srgbClr val="1A1C22"/>
                </a:solidFill>
                <a:latin typeface="Calibri" pitchFamily="34" charset="0"/>
                <a:ea typeface="Calibri" pitchFamily="34" charset="-122"/>
                <a:cs typeface="Calibri" pitchFamily="34" charset="-120"/>
              </a:rPr>
              <a:t> 4 </a:t>
            </a:r>
            <a:r>
              <a:rPr lang="en-US" dirty="0" err="1">
                <a:solidFill>
                  <a:srgbClr val="1A1C22"/>
                </a:solidFill>
                <a:latin typeface="Calibri" pitchFamily="34" charset="0"/>
                <a:ea typeface="Calibri" pitchFamily="34" charset="-122"/>
                <a:cs typeface="Calibri" pitchFamily="34" charset="-120"/>
              </a:rPr>
              <a:t>giá</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trị</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của</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mỗi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rồi</a:t>
            </a:r>
            <a:r>
              <a:rPr lang="en-US" dirty="0">
                <a:solidFill>
                  <a:srgbClr val="1A1C22"/>
                </a:solidFill>
                <a:latin typeface="Calibri" pitchFamily="34" charset="0"/>
                <a:ea typeface="Calibri" pitchFamily="34" charset="-122"/>
                <a:cs typeface="Calibri" pitchFamily="34" charset="-120"/>
              </a:rPr>
              <a:t> chia </a:t>
            </a:r>
            <a:r>
              <a:rPr lang="en-US" dirty="0" err="1">
                <a:solidFill>
                  <a:srgbClr val="1A1C22"/>
                </a:solidFill>
                <a:latin typeface="Calibri" pitchFamily="34" charset="0"/>
                <a:ea typeface="Calibri" pitchFamily="34" charset="-122"/>
                <a:cs typeface="Calibri" pitchFamily="34" charset="-120"/>
              </a:rPr>
              <a:t>trung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bình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phép</a:t>
            </a:r>
            <a:r>
              <a:rPr lang="en-US" dirty="0">
                <a:solidFill>
                  <a:srgbClr val="1A1C22"/>
                </a:solidFill>
                <a:latin typeface="Calibri" pitchFamily="34" charset="0"/>
                <a:ea typeface="Calibri" pitchFamily="34" charset="-122"/>
                <a:cs typeface="Calibri" pitchFamily="34" charset="-120"/>
              </a:rPr>
              <a:t> chia 4 </a:t>
            </a:r>
            <a:r>
              <a:rPr lang="en-US" dirty="0" err="1">
                <a:solidFill>
                  <a:srgbClr val="1A1C22"/>
                </a:solidFill>
                <a:latin typeface="Calibri" pitchFamily="34" charset="0"/>
                <a:ea typeface="Calibri" pitchFamily="34" charset="-122"/>
                <a:cs typeface="Calibri" pitchFamily="34" charset="-120"/>
              </a:rPr>
              <a:t>chỉ</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là</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dịch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phải</a:t>
            </a:r>
            <a:r>
              <a:rPr lang="en-US" dirty="0">
                <a:solidFill>
                  <a:srgbClr val="1A1C22"/>
                </a:solidFill>
                <a:latin typeface="Calibri" pitchFamily="34" charset="0"/>
                <a:ea typeface="Calibri" pitchFamily="34" charset="-122"/>
                <a:cs typeface="Calibri" pitchFamily="34" charset="-120"/>
              </a:rPr>
              <a:t> 2 bit </a:t>
            </a:r>
            <a:r>
              <a:rPr lang="en-US" dirty="0" err="1">
                <a:solidFill>
                  <a:srgbClr val="1A1C22"/>
                </a:solidFill>
                <a:latin typeface="Calibri" pitchFamily="34" charset="0"/>
                <a:ea typeface="Calibri" pitchFamily="34" charset="-122"/>
                <a:cs typeface="Calibri" pitchFamily="34" charset="-120"/>
              </a:rPr>
              <a:t>vì</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đã</a:t>
            </a:r>
            <a:r>
              <a:rPr lang="en-US" dirty="0">
                <a:solidFill>
                  <a:srgbClr val="1A1C22"/>
                </a:solidFill>
                <a:latin typeface="Calibri" pitchFamily="34" charset="0"/>
                <a:ea typeface="Calibri" pitchFamily="34" charset="-122"/>
                <a:cs typeface="Calibri" pitchFamily="34" charset="-120"/>
              </a:rPr>
              <a:t> qua </a:t>
            </a:r>
            <a:r>
              <a:rPr lang="en-US" dirty="0" err="1">
                <a:solidFill>
                  <a:srgbClr val="1A1C22"/>
                </a:solidFill>
                <a:latin typeface="Calibri" pitchFamily="34" charset="0"/>
                <a:ea typeface="Calibri" pitchFamily="34" charset="-122"/>
                <a:cs typeface="Calibri" pitchFamily="34" charset="-120"/>
              </a:rPr>
              <a:t>ReLU</a:t>
            </a:r>
            <a:r>
              <a:rPr lang="en-US" dirty="0">
                <a:solidFill>
                  <a:srgbClr val="1A1C22"/>
                </a:solidFill>
                <a:latin typeface="Calibri" pitchFamily="34" charset="0"/>
                <a:ea typeface="Calibri" pitchFamily="34" charset="-122"/>
                <a:cs typeface="Calibri" pitchFamily="34" charset="-120"/>
              </a:rPr>
              <a:t>.</a:t>
            </a:r>
            <a:endParaRPr lang="en-US" dirty="0"/>
          </a:p>
          <a:p>
            <a:pPr>
              <a:spcBef>
                <a:spcPts val="600"/>
              </a:spcBef>
            </a:pPr>
            <a:r>
              <a:rPr lang="en-US" b="1" dirty="0" err="1">
                <a:solidFill>
                  <a:srgbClr val="990011"/>
                </a:solidFill>
                <a:latin typeface="Calibri" pitchFamily="34" charset="0"/>
                <a:ea typeface="Calibri" pitchFamily="34" charset="-122"/>
                <a:cs typeface="Calibri" pitchFamily="34" charset="-120"/>
              </a:rPr>
              <a:t>fc_unit</a:t>
            </a:r>
            <a:r>
              <a:rPr lang="en-US" b="1" dirty="0">
                <a:solidFill>
                  <a:srgbClr val="990011"/>
                </a:solidFill>
                <a:latin typeface="Calibri" pitchFamily="34" charset="0"/>
                <a:ea typeface="Calibri" pitchFamily="34" charset="-122"/>
                <a:cs typeface="Calibri" pitchFamily="34" charset="-120"/>
              </a:rPr>
              <a:t> — </a:t>
            </a:r>
            <a:r>
              <a:rPr lang="en-US" dirty="0" err="1">
                <a:solidFill>
                  <a:srgbClr val="1A1C22"/>
                </a:solidFill>
                <a:latin typeface="Calibri" pitchFamily="34" charset="0"/>
                <a:ea typeface="Calibri" pitchFamily="34" charset="-122"/>
                <a:cs typeface="Calibri" pitchFamily="34" charset="-120"/>
              </a:rPr>
              <a:t>nhân</a:t>
            </a:r>
            <a:r>
              <a:rPr lang="en-US" dirty="0">
                <a:solidFill>
                  <a:srgbClr val="1A1C22"/>
                </a:solidFill>
                <a:latin typeface="Calibri" pitchFamily="34" charset="0"/>
                <a:ea typeface="Calibri" pitchFamily="34" charset="-122"/>
                <a:cs typeface="Calibri" pitchFamily="34" charset="-120"/>
              </a:rPr>
              <a:t> vector 8 </a:t>
            </a:r>
            <a:r>
              <a:rPr lang="en-US" dirty="0" err="1">
                <a:solidFill>
                  <a:srgbClr val="1A1C22"/>
                </a:solidFill>
                <a:latin typeface="Calibri" pitchFamily="34" charset="0"/>
                <a:ea typeface="Calibri" pitchFamily="34" charset="-122"/>
                <a:cs typeface="Calibri" pitchFamily="34" charset="-120"/>
              </a:rPr>
              <a:t>giá</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trị</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với</a:t>
            </a:r>
            <a:r>
              <a:rPr lang="en-US" dirty="0">
                <a:solidFill>
                  <a:srgbClr val="1A1C22"/>
                </a:solidFill>
                <a:latin typeface="Calibri" pitchFamily="34" charset="0"/>
                <a:ea typeface="Calibri" pitchFamily="34" charset="-122"/>
                <a:cs typeface="Calibri" pitchFamily="34" charset="-120"/>
              </a:rPr>
              <a:t> ma </a:t>
            </a:r>
            <a:r>
              <a:rPr lang="en-US" dirty="0" err="1">
                <a:solidFill>
                  <a:srgbClr val="1A1C22"/>
                </a:solidFill>
                <a:latin typeface="Calibri" pitchFamily="34" charset="0"/>
                <a:ea typeface="Calibri" pitchFamily="34" charset="-122"/>
                <a:cs typeface="Calibri" pitchFamily="34" charset="-120"/>
              </a:rPr>
              <a:t>trận</a:t>
            </a:r>
            <a:r>
              <a:rPr lang="en-US" dirty="0">
                <a:solidFill>
                  <a:srgbClr val="1A1C22"/>
                </a:solidFill>
                <a:latin typeface="Calibri" pitchFamily="34" charset="0"/>
                <a:ea typeface="Calibri" pitchFamily="34" charset="-122"/>
                <a:cs typeface="Calibri" pitchFamily="34" charset="-120"/>
              </a:rPr>
              <a:t> 4 × 8 </a:t>
            </a:r>
            <a:r>
              <a:rPr lang="en-US" dirty="0" err="1">
                <a:solidFill>
                  <a:srgbClr val="1A1C22"/>
                </a:solidFill>
                <a:latin typeface="Calibri" pitchFamily="34" charset="0"/>
                <a:ea typeface="Calibri" pitchFamily="34" charset="-122"/>
                <a:cs typeface="Calibri" pitchFamily="34" charset="-120"/>
              </a:rPr>
              <a:t>bằng</a:t>
            </a:r>
            <a:r>
              <a:rPr lang="en-US" dirty="0">
                <a:solidFill>
                  <a:srgbClr val="1A1C22"/>
                </a:solidFill>
                <a:latin typeface="Calibri" pitchFamily="34" charset="0"/>
                <a:ea typeface="Calibri" pitchFamily="34" charset="-122"/>
                <a:cs typeface="Calibri" pitchFamily="34" charset="-120"/>
              </a:rPr>
              <a:t> 4 </a:t>
            </a:r>
            <a:r>
              <a:rPr lang="en-US" dirty="0" err="1">
                <a:solidFill>
                  <a:srgbClr val="1A1C22"/>
                </a:solidFill>
                <a:latin typeface="Calibri" pitchFamily="34" charset="0"/>
                <a:ea typeface="Calibri" pitchFamily="34" charset="-122"/>
                <a:cs typeface="Calibri" pitchFamily="34" charset="-120"/>
              </a:rPr>
              <a:t>bộ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nhân</a:t>
            </a:r>
            <a:r>
              <a:rPr lang="en-US" dirty="0">
                <a:solidFill>
                  <a:srgbClr val="1A1C22"/>
                </a:solidFill>
                <a:latin typeface="Calibri" pitchFamily="34" charset="0"/>
                <a:ea typeface="Calibri" pitchFamily="34" charset="-122"/>
                <a:cs typeface="Calibri" pitchFamily="34" charset="-120"/>
              </a:rPr>
              <a:t> song </a:t>
            </a:r>
            <a:r>
              <a:rPr lang="en-US" dirty="0" err="1">
                <a:solidFill>
                  <a:srgbClr val="1A1C22"/>
                </a:solidFill>
                <a:latin typeface="Calibri" pitchFamily="34" charset="0"/>
                <a:ea typeface="Calibri" pitchFamily="34" charset="-122"/>
                <a:cs typeface="Calibri" pitchFamily="34" charset="-120"/>
              </a:rPr>
              <a:t>song</a:t>
            </a:r>
            <a:r>
              <a:rPr lang="en-US" dirty="0">
                <a:solidFill>
                  <a:srgbClr val="1A1C22"/>
                </a:solidFill>
                <a:latin typeface="Calibri" pitchFamily="34" charset="0"/>
                <a:ea typeface="Calibri" pitchFamily="34" charset="-122"/>
                <a:cs typeface="Calibri" pitchFamily="34" charset="-120"/>
              </a:rPr>
              <a:t>; bias </a:t>
            </a:r>
            <a:r>
              <a:rPr lang="en-US" dirty="0" err="1">
                <a:solidFill>
                  <a:srgbClr val="1A1C22"/>
                </a:solidFill>
                <a:latin typeface="Calibri" pitchFamily="34" charset="0"/>
                <a:ea typeface="Calibri" pitchFamily="34" charset="-122"/>
                <a:cs typeface="Calibri" pitchFamily="34" charset="-120"/>
              </a:rPr>
              <a:t>nạp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sẵn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vào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cộng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tích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luỹ</a:t>
            </a:r>
            <a:r>
              <a:rPr lang="en-US" dirty="0">
                <a:solidFill>
                  <a:srgbClr val="1A1C22"/>
                </a:solidFill>
                <a:latin typeface="Calibri" pitchFamily="34" charset="0"/>
                <a:ea typeface="Calibri" pitchFamily="34" charset="-122"/>
                <a:cs typeface="Calibri" pitchFamily="34" charset="-120"/>
              </a:rPr>
              <a:t>. </a:t>
            </a:r>
            <a:endParaRPr lang="en-US" dirty="0"/>
          </a:p>
          <a:p>
            <a:pPr>
              <a:spcBef>
                <a:spcPts val="600"/>
              </a:spcBef>
            </a:pPr>
            <a:r>
              <a:rPr lang="en-US" b="1" dirty="0" err="1">
                <a:solidFill>
                  <a:srgbClr val="990011"/>
                </a:solidFill>
                <a:latin typeface="Calibri" pitchFamily="34" charset="0"/>
                <a:ea typeface="Calibri" pitchFamily="34" charset="-122"/>
                <a:cs typeface="Calibri" pitchFamily="34" charset="-120"/>
              </a:rPr>
              <a:t>argmax_unit</a:t>
            </a:r>
            <a:r>
              <a:rPr lang="en-US" b="1" dirty="0">
                <a:solidFill>
                  <a:srgbClr val="990011"/>
                </a:solidFill>
                <a:latin typeface="Calibri" pitchFamily="34" charset="0"/>
                <a:ea typeface="Calibri" pitchFamily="34" charset="-122"/>
                <a:cs typeface="Calibri" pitchFamily="34" charset="-120"/>
              </a:rPr>
              <a:t> — </a:t>
            </a:r>
            <a:r>
              <a:rPr lang="en-US" dirty="0">
                <a:solidFill>
                  <a:srgbClr val="1A1C22"/>
                </a:solidFill>
                <a:latin typeface="Calibri" pitchFamily="34" charset="0"/>
                <a:ea typeface="Calibri" pitchFamily="34" charset="-122"/>
                <a:cs typeface="Calibri" pitchFamily="34" charset="-120"/>
              </a:rPr>
              <a:t>so </a:t>
            </a:r>
            <a:r>
              <a:rPr lang="en-US" dirty="0" err="1">
                <a:solidFill>
                  <a:srgbClr val="1A1C22"/>
                </a:solidFill>
                <a:latin typeface="Calibri" pitchFamily="34" charset="0"/>
                <a:ea typeface="Calibri" pitchFamily="34" charset="-122"/>
                <a:cs typeface="Calibri" pitchFamily="34" charset="-120"/>
              </a:rPr>
              <a:t>sánh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tuần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tự</a:t>
            </a:r>
            <a:r>
              <a:rPr lang="en-US" dirty="0">
                <a:solidFill>
                  <a:srgbClr val="1A1C22"/>
                </a:solidFill>
                <a:latin typeface="Calibri" pitchFamily="34" charset="0"/>
                <a:ea typeface="Calibri" pitchFamily="34" charset="-122"/>
                <a:cs typeface="Calibri" pitchFamily="34" charset="-120"/>
              </a:rPr>
              <a:t> 4 logit qua 4 </a:t>
            </a:r>
            <a:r>
              <a:rPr lang="en-US" dirty="0" err="1">
                <a:solidFill>
                  <a:srgbClr val="1A1C22"/>
                </a:solidFill>
                <a:latin typeface="Calibri" pitchFamily="34" charset="0"/>
                <a:ea typeface="Calibri" pitchFamily="34" charset="-122"/>
                <a:cs typeface="Calibri" pitchFamily="34" charset="-120"/>
              </a:rPr>
              <a:t>nhịp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bằng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thanh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giữ</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cực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thanh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giữ</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chỉ</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a:t>
            </a:r>
            <a:endParaRPr lang="en-US" dirty="0"/>
          </a:p>
          <a:p>
            <a:endParaRPr lang="en-US" dirty="0"/>
          </a:p>
        </p:txBody>
      </p:sp>
      <p:sp>
        <p:nvSpPr>
          <p:cNvPr id="8" name="Text 5"/>
          <p:cNvSpPr/>
          <p:nvPr/>
        </p:nvSpPr>
        <p:spPr>
          <a:xfrm>
            <a:off x="7644384" y="1371600"/>
            <a:ext cx="3749040" cy="292608"/>
          </a:xfrm>
          <a:prstGeom prst="rect">
            <a:avLst/>
          </a:prstGeom>
          <a:noFill/>
          <a:ln/>
        </p:spPr>
        <p:txBody>
          <a:bodyPr wrap="square" lIns="0" tIns="0" rIns="0" bIns="0" rtlCol="0" anchor="ctr"/>
          <a:lstStyle/>
          <a:p>
            <a:pPr marL="0" indent="0">
              <a:buNone/>
            </a:pPr>
            <a:endParaRPr lang="en-US" sz="1400" dirty="0"/>
          </a:p>
        </p:txBody>
      </p:sp>
      <p:sp>
        <p:nvSpPr>
          <p:cNvPr id="9" name="Text 6"/>
          <p:cNvSpPr/>
          <p:nvPr/>
        </p:nvSpPr>
        <p:spPr>
          <a:xfrm>
            <a:off x="7644384" y="1719072"/>
            <a:ext cx="3749040" cy="1828800"/>
          </a:xfrm>
          <a:prstGeom prst="rect">
            <a:avLst/>
          </a:prstGeom>
          <a:noFill/>
          <a:ln/>
        </p:spPr>
        <p:txBody>
          <a:bodyPr wrap="square" lIns="0" tIns="0" rIns="0" bIns="0" rtlCol="0" anchor="t"/>
          <a:lstStyle/>
          <a:p>
            <a:pPr marL="0" indent="0">
              <a:buNone/>
            </a:pPr>
            <a:endParaRPr lang="en-US" sz="1100" dirty="0"/>
          </a:p>
        </p:txBody>
      </p:sp>
      <p:sp>
        <p:nvSpPr>
          <p:cNvPr id="32" name="Text 0">
            <a:extLst>
              <a:ext uri="{FF2B5EF4-FFF2-40B4-BE49-F238E27FC236}">
                <a16:creationId xmlns:a16="http://schemas.microsoft.com/office/drawing/2014/main" id="{9ACAE333-A1C8-3FE4-B0A7-BF594F349153}"/>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pic>
        <p:nvPicPr>
          <p:cNvPr id="34" name="Picture 33">
            <a:extLst>
              <a:ext uri="{FF2B5EF4-FFF2-40B4-BE49-F238E27FC236}">
                <a16:creationId xmlns:a16="http://schemas.microsoft.com/office/drawing/2014/main" id="{2C6A1B29-858D-0C7E-DF2C-2B8AFF82D1C4}"/>
              </a:ext>
            </a:extLst>
          </p:cNvPr>
          <p:cNvPicPr>
            <a:picLocks noChangeAspect="1"/>
          </p:cNvPicPr>
          <p:nvPr/>
        </p:nvPicPr>
        <p:blipFill>
          <a:blip r:embed="rId4"/>
          <a:stretch>
            <a:fillRect/>
          </a:stretch>
        </p:blipFill>
        <p:spPr>
          <a:xfrm>
            <a:off x="7018383" y="1517904"/>
            <a:ext cx="5001041" cy="179260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627278"/>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3.5.4 </a:t>
            </a:r>
            <a:r>
              <a:rPr lang="en-US" sz="2700" b="1" dirty="0" err="1">
                <a:solidFill>
                  <a:srgbClr val="1A1C22"/>
                </a:solidFill>
                <a:latin typeface="Cambria" pitchFamily="34" charset="0"/>
                <a:ea typeface="Cambria" pitchFamily="34" charset="-122"/>
                <a:cs typeface="Cambria" pitchFamily="34" charset="-120"/>
              </a:rPr>
              <a:t>Máy</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trạng</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thái</a:t>
            </a:r>
            <a:endParaRPr lang="en-US" sz="2700" dirty="0"/>
          </a:p>
        </p:txBody>
      </p:sp>
      <p:pic>
        <p:nvPicPr>
          <p:cNvPr id="5" name="Image 0" descr="img/image11.png"/>
          <p:cNvPicPr>
            <a:picLocks noChangeAspect="1"/>
          </p:cNvPicPr>
          <p:nvPr/>
        </p:nvPicPr>
        <p:blipFill>
          <a:blip r:embed="rId3"/>
          <a:stretch>
            <a:fillRect/>
          </a:stretch>
        </p:blipFill>
        <p:spPr>
          <a:xfrm>
            <a:off x="28451" y="1138875"/>
            <a:ext cx="6112739" cy="2488245"/>
          </a:xfrm>
          <a:prstGeom prst="rect">
            <a:avLst/>
          </a:prstGeom>
        </p:spPr>
      </p:pic>
      <p:sp>
        <p:nvSpPr>
          <p:cNvPr id="8" name="Text 5"/>
          <p:cNvSpPr/>
          <p:nvPr/>
        </p:nvSpPr>
        <p:spPr>
          <a:xfrm>
            <a:off x="7205472" y="1389888"/>
            <a:ext cx="4206240" cy="292608"/>
          </a:xfrm>
          <a:prstGeom prst="rect">
            <a:avLst/>
          </a:prstGeom>
          <a:noFill/>
          <a:ln/>
        </p:spPr>
        <p:txBody>
          <a:bodyPr wrap="square" lIns="0" tIns="0" rIns="0" bIns="0" rtlCol="0" anchor="ctr"/>
          <a:lstStyle/>
          <a:p>
            <a:pPr marL="0" indent="0">
              <a:buNone/>
            </a:pPr>
            <a:endParaRPr lang="en-US" sz="1400" dirty="0"/>
          </a:p>
        </p:txBody>
      </p:sp>
      <p:sp>
        <p:nvSpPr>
          <p:cNvPr id="9" name="Text 6"/>
          <p:cNvSpPr/>
          <p:nvPr/>
        </p:nvSpPr>
        <p:spPr>
          <a:xfrm>
            <a:off x="7205472" y="1755648"/>
            <a:ext cx="4206240" cy="1051560"/>
          </a:xfrm>
          <a:prstGeom prst="rect">
            <a:avLst/>
          </a:prstGeom>
          <a:noFill/>
          <a:ln/>
        </p:spPr>
        <p:txBody>
          <a:bodyPr wrap="square" lIns="0" tIns="0" rIns="0" bIns="0" rtlCol="0" anchor="t"/>
          <a:lstStyle/>
          <a:p>
            <a:pPr marL="0" indent="0">
              <a:buNone/>
            </a:pPr>
            <a:endParaRPr lang="en-US" sz="1150" dirty="0"/>
          </a:p>
        </p:txBody>
      </p:sp>
      <p:sp>
        <p:nvSpPr>
          <p:cNvPr id="10" name="Text 7"/>
          <p:cNvSpPr/>
          <p:nvPr/>
        </p:nvSpPr>
        <p:spPr>
          <a:xfrm>
            <a:off x="7205472" y="2852928"/>
            <a:ext cx="4206240" cy="896112"/>
          </a:xfrm>
          <a:prstGeom prst="rect">
            <a:avLst/>
          </a:prstGeom>
          <a:noFill/>
          <a:ln/>
        </p:spPr>
        <p:txBody>
          <a:bodyPr wrap="square" lIns="0" tIns="0" rIns="0" bIns="0" rtlCol="0" anchor="t"/>
          <a:lstStyle/>
          <a:p>
            <a:pPr marL="0" indent="0">
              <a:buNone/>
            </a:pPr>
            <a:endParaRPr lang="en-US" sz="1150" dirty="0"/>
          </a:p>
        </p:txBody>
      </p:sp>
      <p:sp>
        <p:nvSpPr>
          <p:cNvPr id="11" name="Text 8"/>
          <p:cNvSpPr/>
          <p:nvPr/>
        </p:nvSpPr>
        <p:spPr>
          <a:xfrm>
            <a:off x="6988873" y="1229868"/>
            <a:ext cx="4100323" cy="274320"/>
          </a:xfrm>
          <a:prstGeom prst="rect">
            <a:avLst/>
          </a:prstGeom>
          <a:noFill/>
          <a:ln/>
        </p:spPr>
        <p:txBody>
          <a:bodyPr wrap="square" lIns="0" tIns="0" rIns="0" bIns="0" rtlCol="0" anchor="ctr"/>
          <a:lstStyle/>
          <a:p>
            <a:pPr marL="0" indent="0">
              <a:buNone/>
            </a:pPr>
            <a:r>
              <a:rPr lang="en-US" dirty="0">
                <a:solidFill>
                  <a:schemeClr val="accent1"/>
                </a:solidFill>
                <a:latin typeface="Calibri" pitchFamily="34" charset="0"/>
                <a:ea typeface="Calibri" pitchFamily="34" charset="-122"/>
                <a:cs typeface="Calibri" pitchFamily="34" charset="-120"/>
              </a:rPr>
              <a:t>Tham số điều khiển phát ra theo </a:t>
            </a:r>
            <a:r>
              <a:rPr lang="en-US" dirty="0" err="1">
                <a:solidFill>
                  <a:schemeClr val="accent1"/>
                </a:solidFill>
                <a:latin typeface="Calibri" pitchFamily="34" charset="0"/>
                <a:ea typeface="Calibri" pitchFamily="34" charset="-122"/>
                <a:cs typeface="Calibri" pitchFamily="34" charset="-120"/>
              </a:rPr>
              <a:t>từng</a:t>
            </a:r>
            <a:r>
              <a:rPr lang="en-US" dirty="0">
                <a:solidFill>
                  <a:schemeClr val="accent1"/>
                </a:solidFill>
                <a:latin typeface="Calibri" pitchFamily="34" charset="0"/>
                <a:ea typeface="Calibri" pitchFamily="34" charset="-122"/>
                <a:cs typeface="Calibri" pitchFamily="34" charset="-120"/>
              </a:rPr>
              <a:t> </a:t>
            </a:r>
            <a:r>
              <a:rPr lang="en-US" dirty="0" err="1">
                <a:solidFill>
                  <a:schemeClr val="accent1"/>
                </a:solidFill>
                <a:latin typeface="Calibri" pitchFamily="34" charset="0"/>
                <a:ea typeface="Calibri" pitchFamily="34" charset="-122"/>
                <a:cs typeface="Calibri" pitchFamily="34" charset="-120"/>
              </a:rPr>
              <a:t>tầng</a:t>
            </a:r>
            <a:endParaRPr lang="en-US" dirty="0">
              <a:solidFill>
                <a:schemeClr val="accent1"/>
              </a:solidFill>
            </a:endParaRPr>
          </a:p>
        </p:txBody>
      </p:sp>
      <p:graphicFrame>
        <p:nvGraphicFramePr>
          <p:cNvPr id="18" name="Table 0"/>
          <p:cNvGraphicFramePr>
            <a:graphicFrameLocks noGrp="1"/>
          </p:cNvGraphicFramePr>
          <p:nvPr>
            <p:extLst>
              <p:ext uri="{D42A27DB-BD31-4B8C-83A1-F6EECF244321}">
                <p14:modId xmlns:p14="http://schemas.microsoft.com/office/powerpoint/2010/main" val="2935232284"/>
              </p:ext>
            </p:extLst>
          </p:nvPr>
        </p:nvGraphicFramePr>
        <p:xfrm>
          <a:off x="6193875" y="1544798"/>
          <a:ext cx="6065520" cy="1676400"/>
        </p:xfrm>
        <a:graphic>
          <a:graphicData uri="http://schemas.openxmlformats.org/drawingml/2006/table">
            <a:tbl>
              <a:tblPr/>
              <a:tblGrid>
                <a:gridCol w="749290">
                  <a:extLst>
                    <a:ext uri="{9D8B030D-6E8A-4147-A177-3AD203B41FA5}">
                      <a16:colId xmlns:a16="http://schemas.microsoft.com/office/drawing/2014/main" val="20000"/>
                    </a:ext>
                  </a:extLst>
                </a:gridCol>
                <a:gridCol w="744230">
                  <a:extLst>
                    <a:ext uri="{9D8B030D-6E8A-4147-A177-3AD203B41FA5}">
                      <a16:colId xmlns:a16="http://schemas.microsoft.com/office/drawing/2014/main" val="20001"/>
                    </a:ext>
                  </a:extLst>
                </a:gridCol>
                <a:gridCol w="711200">
                  <a:extLst>
                    <a:ext uri="{9D8B030D-6E8A-4147-A177-3AD203B41FA5}">
                      <a16:colId xmlns:a16="http://schemas.microsoft.com/office/drawing/2014/main" val="20002"/>
                    </a:ext>
                  </a:extLst>
                </a:gridCol>
                <a:gridCol w="873760">
                  <a:extLst>
                    <a:ext uri="{9D8B030D-6E8A-4147-A177-3AD203B41FA5}">
                      <a16:colId xmlns:a16="http://schemas.microsoft.com/office/drawing/2014/main" val="20003"/>
                    </a:ext>
                  </a:extLst>
                </a:gridCol>
                <a:gridCol w="426720">
                  <a:extLst>
                    <a:ext uri="{9D8B030D-6E8A-4147-A177-3AD203B41FA5}">
                      <a16:colId xmlns:a16="http://schemas.microsoft.com/office/drawing/2014/main" val="20004"/>
                    </a:ext>
                  </a:extLst>
                </a:gridCol>
                <a:gridCol w="883920">
                  <a:extLst>
                    <a:ext uri="{9D8B030D-6E8A-4147-A177-3AD203B41FA5}">
                      <a16:colId xmlns:a16="http://schemas.microsoft.com/office/drawing/2014/main" val="20005"/>
                    </a:ext>
                  </a:extLst>
                </a:gridCol>
                <a:gridCol w="792480">
                  <a:extLst>
                    <a:ext uri="{9D8B030D-6E8A-4147-A177-3AD203B41FA5}">
                      <a16:colId xmlns:a16="http://schemas.microsoft.com/office/drawing/2014/main" val="20006"/>
                    </a:ext>
                  </a:extLst>
                </a:gridCol>
                <a:gridCol w="883920">
                  <a:extLst>
                    <a:ext uri="{9D8B030D-6E8A-4147-A177-3AD203B41FA5}">
                      <a16:colId xmlns:a16="http://schemas.microsoft.com/office/drawing/2014/main" val="20007"/>
                    </a:ext>
                  </a:extLst>
                </a:gridCol>
              </a:tblGrid>
              <a:tr h="329184">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Tầng</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in_ch</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in_len</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out_len</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nb</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relu_en</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cp_en</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err="1">
                          <a:solidFill>
                            <a:srgbClr val="FFFFFF"/>
                          </a:solidFill>
                          <a:latin typeface="Calibri" pitchFamily="34" charset="0"/>
                          <a:ea typeface="Calibri" pitchFamily="34" charset="-122"/>
                          <a:cs typeface="Calibri" pitchFamily="34" charset="-120"/>
                        </a:rPr>
                        <a:t>kênh</a:t>
                      </a:r>
                      <a:r>
                        <a:rPr lang="en-US" sz="1600" b="1" dirty="0">
                          <a:solidFill>
                            <a:srgbClr val="FFFFFF"/>
                          </a:solidFill>
                          <a:latin typeface="Calibri" pitchFamily="34" charset="0"/>
                          <a:ea typeface="Calibri" pitchFamily="34" charset="-122"/>
                          <a:cs typeface="Calibri" pitchFamily="34" charset="-120"/>
                        </a:rPr>
                        <a:t> </a:t>
                      </a:r>
                      <a:r>
                        <a:rPr lang="en-US" sz="1600" b="1" dirty="0" err="1">
                          <a:solidFill>
                            <a:srgbClr val="FFFFFF"/>
                          </a:solidFill>
                          <a:latin typeface="Calibri" pitchFamily="34" charset="0"/>
                          <a:ea typeface="Calibri" pitchFamily="34" charset="-122"/>
                          <a:cs typeface="Calibri" pitchFamily="34" charset="-120"/>
                        </a:rPr>
                        <a:t>ra</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329184">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2500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0x0F</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0x0F</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329184">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Conv3</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0xFF</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Conv4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0xFF</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bl>
          </a:graphicData>
        </a:graphic>
      </p:graphicFrame>
      <p:sp>
        <p:nvSpPr>
          <p:cNvPr id="13" name="Text 9"/>
          <p:cNvSpPr/>
          <p:nvPr/>
        </p:nvSpPr>
        <p:spPr>
          <a:xfrm>
            <a:off x="7962899" y="4551731"/>
            <a:ext cx="4229101" cy="1863166"/>
          </a:xfrm>
          <a:prstGeom prst="rect">
            <a:avLst/>
          </a:prstGeom>
          <a:noFill/>
          <a:ln/>
        </p:spPr>
        <p:txBody>
          <a:bodyPr wrap="square" lIns="0" tIns="0" rIns="0" bIns="0" rtlCol="0" anchor="t"/>
          <a:lstStyle/>
          <a:p>
            <a:pPr marL="0" indent="0">
              <a:buNone/>
            </a:pPr>
            <a:endParaRPr lang="en-US" dirty="0"/>
          </a:p>
        </p:txBody>
      </p:sp>
      <p:sp>
        <p:nvSpPr>
          <p:cNvPr id="14" name="Text 0">
            <a:extLst>
              <a:ext uri="{FF2B5EF4-FFF2-40B4-BE49-F238E27FC236}">
                <a16:creationId xmlns:a16="http://schemas.microsoft.com/office/drawing/2014/main" id="{D34615BD-27CD-FB25-B030-850BEF4ADAE8}"/>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pic>
        <p:nvPicPr>
          <p:cNvPr id="16" name="Picture 15">
            <a:extLst>
              <a:ext uri="{FF2B5EF4-FFF2-40B4-BE49-F238E27FC236}">
                <a16:creationId xmlns:a16="http://schemas.microsoft.com/office/drawing/2014/main" id="{5EDEC5A1-01D6-BC7F-F990-9E67449E526E}"/>
              </a:ext>
            </a:extLst>
          </p:cNvPr>
          <p:cNvPicPr>
            <a:picLocks noChangeAspect="1"/>
          </p:cNvPicPr>
          <p:nvPr/>
        </p:nvPicPr>
        <p:blipFill>
          <a:blip r:embed="rId4"/>
          <a:stretch>
            <a:fillRect/>
          </a:stretch>
        </p:blipFill>
        <p:spPr>
          <a:xfrm>
            <a:off x="189360" y="3934582"/>
            <a:ext cx="6065520" cy="2212393"/>
          </a:xfrm>
          <a:prstGeom prst="rect">
            <a:avLst/>
          </a:prstGeom>
          <a:ln>
            <a:solidFill>
              <a:srgbClr val="FF0000"/>
            </a:solidFill>
          </a:ln>
        </p:spPr>
      </p:pic>
      <p:pic>
        <p:nvPicPr>
          <p:cNvPr id="19" name="Picture 18">
            <a:extLst>
              <a:ext uri="{FF2B5EF4-FFF2-40B4-BE49-F238E27FC236}">
                <a16:creationId xmlns:a16="http://schemas.microsoft.com/office/drawing/2014/main" id="{66B35A31-D072-D093-4874-83AD3442F170}"/>
              </a:ext>
            </a:extLst>
          </p:cNvPr>
          <p:cNvPicPr>
            <a:picLocks noChangeAspect="1"/>
          </p:cNvPicPr>
          <p:nvPr/>
        </p:nvPicPr>
        <p:blipFill>
          <a:blip r:embed="rId5"/>
          <a:stretch>
            <a:fillRect/>
          </a:stretch>
        </p:blipFill>
        <p:spPr>
          <a:xfrm>
            <a:off x="6454521" y="4279086"/>
            <a:ext cx="5364099" cy="1844200"/>
          </a:xfrm>
          <a:prstGeom prst="rect">
            <a:avLst/>
          </a:prstGeom>
          <a:ln>
            <a:solidFill>
              <a:srgbClr val="FF0000"/>
            </a:solidFill>
          </a:ln>
        </p:spPr>
      </p:pic>
      <p:cxnSp>
        <p:nvCxnSpPr>
          <p:cNvPr id="21" name="Straight Arrow Connector 20">
            <a:extLst>
              <a:ext uri="{FF2B5EF4-FFF2-40B4-BE49-F238E27FC236}">
                <a16:creationId xmlns:a16="http://schemas.microsoft.com/office/drawing/2014/main" id="{9FFD1F35-0E92-0BAA-55A8-BFCE38C031C7}"/>
              </a:ext>
            </a:extLst>
          </p:cNvPr>
          <p:cNvCxnSpPr>
            <a:cxnSpLocks/>
          </p:cNvCxnSpPr>
          <p:nvPr/>
        </p:nvCxnSpPr>
        <p:spPr>
          <a:xfrm>
            <a:off x="5605253" y="2457450"/>
            <a:ext cx="1309897" cy="17049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710946"/>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3.5.5 </a:t>
            </a:r>
            <a:r>
              <a:rPr lang="en-US" sz="2700" b="1" dirty="0" err="1">
                <a:solidFill>
                  <a:srgbClr val="1A1C22"/>
                </a:solidFill>
                <a:latin typeface="Cambria" pitchFamily="34" charset="0"/>
                <a:ea typeface="Cambria" pitchFamily="34" charset="-122"/>
                <a:cs typeface="Cambria" pitchFamily="34" charset="-120"/>
              </a:rPr>
              <a:t>Bộ</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nhớ</a:t>
            </a:r>
            <a:r>
              <a:rPr lang="en-US" sz="2700" b="1" dirty="0">
                <a:solidFill>
                  <a:srgbClr val="1A1C22"/>
                </a:solidFill>
                <a:latin typeface="Cambria" pitchFamily="34" charset="0"/>
                <a:ea typeface="Cambria" pitchFamily="34" charset="-122"/>
                <a:cs typeface="Cambria" pitchFamily="34" charset="-120"/>
              </a:rPr>
              <a:t> và luồng dữ liệu của hệ thống</a:t>
            </a:r>
            <a:endParaRPr lang="en-US" sz="2700" dirty="0"/>
          </a:p>
        </p:txBody>
      </p:sp>
      <p:pic>
        <p:nvPicPr>
          <p:cNvPr id="5" name="Image 0" descr="img/image12.png"/>
          <p:cNvPicPr>
            <a:picLocks noChangeAspect="1"/>
          </p:cNvPicPr>
          <p:nvPr/>
        </p:nvPicPr>
        <p:blipFill>
          <a:blip r:embed="rId3"/>
          <a:stretch>
            <a:fillRect/>
          </a:stretch>
        </p:blipFill>
        <p:spPr>
          <a:xfrm>
            <a:off x="2538730" y="1441059"/>
            <a:ext cx="6798310" cy="2554517"/>
          </a:xfrm>
          <a:prstGeom prst="rect">
            <a:avLst/>
          </a:prstGeom>
        </p:spPr>
      </p:pic>
      <p:sp>
        <p:nvSpPr>
          <p:cNvPr id="7" name="Shape 4"/>
          <p:cNvSpPr/>
          <p:nvPr/>
        </p:nvSpPr>
        <p:spPr>
          <a:xfrm>
            <a:off x="472985" y="4400198"/>
            <a:ext cx="10739960" cy="1640381"/>
          </a:xfrm>
          <a:prstGeom prst="roundRect">
            <a:avLst>
              <a:gd name="adj" fmla="val 3529"/>
            </a:avLst>
          </a:prstGeom>
          <a:solidFill>
            <a:srgbClr val="F7EFEF"/>
          </a:solidFill>
          <a:ln w="12700">
            <a:solidFill>
              <a:srgbClr val="F7EFEF"/>
            </a:solidFill>
            <a:prstDash val="solid"/>
          </a:ln>
          <a:effectLst>
            <a:outerShdw blurRad="101600" dist="25400" dir="5400000" algn="bl" rotWithShape="0">
              <a:srgbClr val="B9AFAF">
                <a:alpha val="25000"/>
              </a:srgbClr>
            </a:outerShdw>
          </a:effectLst>
        </p:spPr>
        <p:txBody>
          <a:bodyPr/>
          <a:lstStyle/>
          <a:p>
            <a:r>
              <a:rPr lang="en-US" b="1" dirty="0" err="1">
                <a:solidFill>
                  <a:srgbClr val="990011"/>
                </a:solidFill>
                <a:latin typeface="Calibri" pitchFamily="34" charset="0"/>
                <a:ea typeface="Calibri" pitchFamily="34" charset="-122"/>
                <a:cs typeface="Calibri" pitchFamily="34" charset="-120"/>
              </a:rPr>
              <a:t>Tổ</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chức</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bộ</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nhớ</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trên</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thiết</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kế</a:t>
            </a:r>
            <a:endParaRPr lang="en-US" b="1" dirty="0">
              <a:solidFill>
                <a:srgbClr val="990011"/>
              </a:solidFill>
              <a:latin typeface="Calibri" pitchFamily="34" charset="0"/>
              <a:ea typeface="Calibri" pitchFamily="34" charset="-122"/>
              <a:cs typeface="Calibri" pitchFamily="34" charset="-120"/>
            </a:endParaRPr>
          </a:p>
          <a:p>
            <a:pPr>
              <a:spcAft>
                <a:spcPts val="300"/>
              </a:spcAft>
            </a:pPr>
            <a:r>
              <a:rPr lang="en-US" b="1" dirty="0">
                <a:solidFill>
                  <a:srgbClr val="1A1C22"/>
                </a:solidFill>
                <a:latin typeface="Calibri" pitchFamily="34" charset="0"/>
                <a:ea typeface="Calibri" pitchFamily="34" charset="-122"/>
                <a:cs typeface="Calibri" pitchFamily="34" charset="-120"/>
              </a:rPr>
              <a:t>Input RAM — </a:t>
            </a:r>
            <a:r>
              <a:rPr lang="en-US" dirty="0">
                <a:solidFill>
                  <a:srgbClr val="1A1C22"/>
                </a:solidFill>
                <a:latin typeface="Calibri" pitchFamily="34" charset="0"/>
                <a:ea typeface="Calibri" pitchFamily="34" charset="-122"/>
                <a:cs typeface="Calibri" pitchFamily="34" charset="-120"/>
              </a:rPr>
              <a:t>2500 × 8 bit, </a:t>
            </a:r>
            <a:r>
              <a:rPr lang="en-US" dirty="0" err="1">
                <a:solidFill>
                  <a:srgbClr val="1A1C22"/>
                </a:solidFill>
                <a:latin typeface="Calibri" pitchFamily="34" charset="0"/>
                <a:ea typeface="Calibri" pitchFamily="34" charset="-122"/>
                <a:cs typeface="Calibri" pitchFamily="34" charset="-120"/>
              </a:rPr>
              <a:t>hai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cổng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đơn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giản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chỉ</a:t>
            </a:r>
            <a:r>
              <a:rPr lang="en-US" dirty="0">
                <a:solidFill>
                  <a:srgbClr val="1A1C22"/>
                </a:solidFill>
                <a:latin typeface="Calibri" pitchFamily="34" charset="0"/>
                <a:ea typeface="Calibri" pitchFamily="34" charset="-122"/>
                <a:cs typeface="Calibri" pitchFamily="34" charset="-120"/>
              </a:rPr>
              <a:t> Conv1 </a:t>
            </a:r>
            <a:r>
              <a:rPr lang="en-US" dirty="0" err="1">
                <a:solidFill>
                  <a:srgbClr val="1A1C22"/>
                </a:solidFill>
                <a:latin typeface="Calibri" pitchFamily="34" charset="0"/>
                <a:ea typeface="Calibri" pitchFamily="34" charset="-122"/>
                <a:cs typeface="Calibri" pitchFamily="34" charset="-120"/>
              </a:rPr>
              <a:t>đọc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trực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tiếp</a:t>
            </a:r>
            <a:r>
              <a:rPr lang="en-US" dirty="0">
                <a:solidFill>
                  <a:srgbClr val="1A1C22"/>
                </a:solidFill>
                <a:latin typeface="Calibri" pitchFamily="34" charset="0"/>
                <a:ea typeface="Calibri" pitchFamily="34" charset="-122"/>
                <a:cs typeface="Calibri" pitchFamily="34" charset="-120"/>
              </a:rPr>
              <a:t>.</a:t>
            </a:r>
            <a:endParaRPr lang="en-US" dirty="0"/>
          </a:p>
          <a:p>
            <a:pPr>
              <a:spcAft>
                <a:spcPts val="300"/>
              </a:spcAft>
            </a:pPr>
            <a:r>
              <a:rPr lang="en-US" b="1" dirty="0">
                <a:solidFill>
                  <a:srgbClr val="1A1C22"/>
                </a:solidFill>
                <a:latin typeface="Calibri" pitchFamily="34" charset="0"/>
                <a:ea typeface="Calibri" pitchFamily="34" charset="-122"/>
                <a:cs typeface="Calibri" pitchFamily="34" charset="-120"/>
              </a:rPr>
              <a:t>Ping-Pong RAM — </a:t>
            </a:r>
            <a:r>
              <a:rPr lang="en-US" dirty="0">
                <a:solidFill>
                  <a:srgbClr val="1A1C22"/>
                </a:solidFill>
                <a:latin typeface="Calibri" pitchFamily="34" charset="0"/>
                <a:ea typeface="Calibri" pitchFamily="34" charset="-122"/>
                <a:cs typeface="Calibri" pitchFamily="34" charset="-120"/>
              </a:rPr>
              <a:t>2 bank × 8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 512 × 8 bit (16 </a:t>
            </a:r>
            <a:r>
              <a:rPr lang="en-US" dirty="0" err="1">
                <a:solidFill>
                  <a:srgbClr val="1A1C22"/>
                </a:solidFill>
                <a:latin typeface="Calibri" pitchFamily="34" charset="0"/>
                <a:ea typeface="Calibri" pitchFamily="34" charset="-122"/>
                <a:cs typeface="Calibri" pitchFamily="34" charset="-120"/>
              </a:rPr>
              <a:t>khối</a:t>
            </a:r>
            <a:r>
              <a:rPr lang="en-US" dirty="0">
                <a:solidFill>
                  <a:srgbClr val="1A1C22"/>
                </a:solidFill>
                <a:latin typeface="Calibri" pitchFamily="34" charset="0"/>
                <a:ea typeface="Calibri" pitchFamily="34" charset="-122"/>
                <a:cs typeface="Calibri" pitchFamily="34" charset="-120"/>
              </a:rPr>
              <a:t> M10K). </a:t>
            </a:r>
            <a:r>
              <a:rPr lang="en-US" dirty="0" err="1">
                <a:solidFill>
                  <a:srgbClr val="1A1C22"/>
                </a:solidFill>
                <a:latin typeface="Calibri" pitchFamily="34" charset="0"/>
                <a:ea typeface="Calibri" pitchFamily="34" charset="-122"/>
                <a:cs typeface="Calibri" pitchFamily="34" charset="-120"/>
              </a:rPr>
              <a:t>Tầng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hiện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đọc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băng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này</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sang </a:t>
            </a:r>
            <a:r>
              <a:rPr lang="en-US" dirty="0" err="1">
                <a:solidFill>
                  <a:srgbClr val="1A1C22"/>
                </a:solidFill>
                <a:latin typeface="Calibri" pitchFamily="34" charset="0"/>
                <a:ea typeface="Calibri" pitchFamily="34" charset="-122"/>
                <a:cs typeface="Calibri" pitchFamily="34" charset="-120"/>
              </a:rPr>
              <a:t>băng</a:t>
            </a:r>
            <a:r>
              <a:rPr lang="en-US" dirty="0">
                <a:solidFill>
                  <a:srgbClr val="1A1C22"/>
                </a:solidFill>
                <a:latin typeface="Calibri" pitchFamily="34" charset="0"/>
                <a:ea typeface="Calibri" pitchFamily="34" charset="-122"/>
                <a:cs typeface="Calibri" pitchFamily="34" charset="-120"/>
              </a:rPr>
              <a:t> kia; </a:t>
            </a:r>
            <a:r>
              <a:rPr lang="en-US" dirty="0" err="1">
                <a:solidFill>
                  <a:srgbClr val="1A1C22"/>
                </a:solidFill>
                <a:latin typeface="Calibri" pitchFamily="34" charset="0"/>
                <a:ea typeface="Calibri" pitchFamily="34" charset="-122"/>
                <a:cs typeface="Calibri" pitchFamily="34" charset="-120"/>
              </a:rPr>
              <a:t>mỗi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lần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chuyển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tầng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vai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trò</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đảo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nhau</a:t>
            </a:r>
            <a:r>
              <a:rPr lang="en-US" dirty="0">
                <a:solidFill>
                  <a:srgbClr val="1A1C22"/>
                </a:solidFill>
                <a:latin typeface="Calibri" pitchFamily="34" charset="0"/>
                <a:ea typeface="Calibri" pitchFamily="34" charset="-122"/>
                <a:cs typeface="Calibri" pitchFamily="34" charset="-120"/>
              </a:rPr>
              <a:t>.</a:t>
            </a:r>
            <a:endParaRPr lang="en-US" dirty="0"/>
          </a:p>
          <a:p>
            <a:pPr>
              <a:spcAft>
                <a:spcPts val="300"/>
              </a:spcAft>
            </a:pPr>
            <a:r>
              <a:rPr lang="en-US" b="1" dirty="0">
                <a:solidFill>
                  <a:srgbClr val="1A1C22"/>
                </a:solidFill>
                <a:latin typeface="Calibri" pitchFamily="34" charset="0"/>
                <a:ea typeface="Calibri" pitchFamily="34" charset="-122"/>
                <a:cs typeface="Calibri" pitchFamily="34" charset="-120"/>
              </a:rPr>
              <a:t>ROM </a:t>
            </a:r>
            <a:r>
              <a:rPr lang="en-US" b="1" dirty="0" err="1">
                <a:solidFill>
                  <a:srgbClr val="1A1C22"/>
                </a:solidFill>
                <a:latin typeface="Calibri" pitchFamily="34" charset="0"/>
                <a:ea typeface="Calibri" pitchFamily="34" charset="-122"/>
                <a:cs typeface="Calibri" pitchFamily="34" charset="-120"/>
              </a:rPr>
              <a:t>trọng</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số</a:t>
            </a:r>
            <a:r>
              <a:rPr lang="en-US" b="1" dirty="0">
                <a:solidFill>
                  <a:srgbClr val="1A1C22"/>
                </a:solidFill>
                <a:latin typeface="Calibri" pitchFamily="34" charset="0"/>
                <a:ea typeface="Calibri" pitchFamily="34" charset="-122"/>
                <a:cs typeface="Calibri" pitchFamily="34" charset="-120"/>
              </a:rPr>
              <a:t> — </a:t>
            </a:r>
            <a:r>
              <a:rPr lang="en-US" dirty="0">
                <a:solidFill>
                  <a:srgbClr val="1A1C22"/>
                </a:solidFill>
                <a:latin typeface="Calibri" pitchFamily="34" charset="0"/>
                <a:ea typeface="Calibri" pitchFamily="34" charset="-122"/>
                <a:cs typeface="Calibri" pitchFamily="34" charset="-120"/>
              </a:rPr>
              <a:t>116 word × 40 bit + bias 32 × 32 bit; </a:t>
            </a:r>
            <a:r>
              <a:rPr lang="en-US" dirty="0" err="1">
                <a:solidFill>
                  <a:srgbClr val="1A1C22"/>
                </a:solidFill>
                <a:latin typeface="Calibri" pitchFamily="34" charset="0"/>
                <a:ea typeface="Calibri" pitchFamily="34" charset="-122"/>
                <a:cs typeface="Calibri" pitchFamily="34" charset="-120"/>
              </a:rPr>
              <a:t>nhúng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cố</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định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không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có</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cổng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từ</a:t>
            </a:r>
            <a:r>
              <a:rPr lang="en-US" dirty="0">
                <a:solidFill>
                  <a:srgbClr val="1A1C22"/>
                </a:solidFill>
                <a:latin typeface="Calibri" pitchFamily="34" charset="0"/>
                <a:ea typeface="Calibri" pitchFamily="34" charset="-122"/>
                <a:cs typeface="Calibri" pitchFamily="34" charset="-120"/>
              </a:rPr>
              <a:t> bus.</a:t>
            </a:r>
            <a:endParaRPr lang="en-US" dirty="0"/>
          </a:p>
          <a:p>
            <a:endParaRPr lang="en-US" dirty="0"/>
          </a:p>
        </p:txBody>
      </p:sp>
      <p:sp>
        <p:nvSpPr>
          <p:cNvPr id="8" name="Text 5"/>
          <p:cNvSpPr/>
          <p:nvPr/>
        </p:nvSpPr>
        <p:spPr>
          <a:xfrm>
            <a:off x="7735824" y="1371600"/>
            <a:ext cx="3657600" cy="292608"/>
          </a:xfrm>
          <a:prstGeom prst="rect">
            <a:avLst/>
          </a:prstGeom>
          <a:noFill/>
          <a:ln/>
        </p:spPr>
        <p:txBody>
          <a:bodyPr wrap="square" lIns="0" tIns="0" rIns="0" bIns="0" rtlCol="0" anchor="ctr"/>
          <a:lstStyle/>
          <a:p>
            <a:pPr marL="0" indent="0">
              <a:buNone/>
            </a:pPr>
            <a:endParaRPr lang="en-US" sz="1400" dirty="0"/>
          </a:p>
        </p:txBody>
      </p:sp>
      <p:sp>
        <p:nvSpPr>
          <p:cNvPr id="9" name="Text 6"/>
          <p:cNvSpPr/>
          <p:nvPr/>
        </p:nvSpPr>
        <p:spPr>
          <a:xfrm>
            <a:off x="7735824" y="1719072"/>
            <a:ext cx="3657600" cy="1783080"/>
          </a:xfrm>
          <a:prstGeom prst="rect">
            <a:avLst/>
          </a:prstGeom>
          <a:noFill/>
          <a:ln/>
        </p:spPr>
        <p:txBody>
          <a:bodyPr wrap="square" lIns="0" tIns="0" rIns="0" bIns="0" rtlCol="0" anchor="t"/>
          <a:lstStyle/>
          <a:p>
            <a:pPr marL="0" indent="0">
              <a:buNone/>
            </a:pPr>
            <a:endParaRPr lang="en-US" sz="1100" dirty="0"/>
          </a:p>
        </p:txBody>
      </p:sp>
      <p:sp>
        <p:nvSpPr>
          <p:cNvPr id="38" name="Text 0">
            <a:extLst>
              <a:ext uri="{FF2B5EF4-FFF2-40B4-BE49-F238E27FC236}">
                <a16:creationId xmlns:a16="http://schemas.microsoft.com/office/drawing/2014/main" id="{8A7762AA-E7CC-414A-FD6D-7C184913F9D1}"/>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668982"/>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3.5.6 </a:t>
            </a:r>
            <a:r>
              <a:rPr lang="en-US" sz="2700" b="1" dirty="0" err="1">
                <a:solidFill>
                  <a:srgbClr val="1A1C22"/>
                </a:solidFill>
                <a:latin typeface="Cambria" pitchFamily="34" charset="0"/>
                <a:ea typeface="Cambria" pitchFamily="34" charset="-122"/>
                <a:cs typeface="Cambria" pitchFamily="34" charset="-120"/>
              </a:rPr>
              <a:t>Tích</a:t>
            </a:r>
            <a:r>
              <a:rPr lang="en-US" sz="2700" b="1" dirty="0">
                <a:solidFill>
                  <a:srgbClr val="1A1C22"/>
                </a:solidFill>
                <a:latin typeface="Cambria" pitchFamily="34" charset="0"/>
                <a:ea typeface="Cambria" pitchFamily="34" charset="-122"/>
                <a:cs typeface="Cambria" pitchFamily="34" charset="-120"/>
              </a:rPr>
              <a:t> hợp giao tiếp Avalon-MM và cầu JTAG-to-Avalon</a:t>
            </a:r>
            <a:endParaRPr lang="en-US" sz="2700" dirty="0"/>
          </a:p>
        </p:txBody>
      </p:sp>
      <p:pic>
        <p:nvPicPr>
          <p:cNvPr id="5" name="Image 0" descr="img/image13.png"/>
          <p:cNvPicPr>
            <a:picLocks noChangeAspect="1"/>
          </p:cNvPicPr>
          <p:nvPr/>
        </p:nvPicPr>
        <p:blipFill>
          <a:blip r:embed="rId3"/>
          <a:stretch>
            <a:fillRect/>
          </a:stretch>
        </p:blipFill>
        <p:spPr>
          <a:xfrm>
            <a:off x="377126" y="1272312"/>
            <a:ext cx="5072443" cy="2945000"/>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3529093477"/>
              </p:ext>
            </p:extLst>
          </p:nvPr>
        </p:nvGraphicFramePr>
        <p:xfrm>
          <a:off x="5657849" y="1272312"/>
          <a:ext cx="6410324" cy="2707537"/>
        </p:xfrm>
        <a:graphic>
          <a:graphicData uri="http://schemas.openxmlformats.org/drawingml/2006/table">
            <a:tbl>
              <a:tblPr/>
              <a:tblGrid>
                <a:gridCol w="1480776">
                  <a:extLst>
                    <a:ext uri="{9D8B030D-6E8A-4147-A177-3AD203B41FA5}">
                      <a16:colId xmlns:a16="http://schemas.microsoft.com/office/drawing/2014/main" val="20000"/>
                    </a:ext>
                  </a:extLst>
                </a:gridCol>
                <a:gridCol w="716504">
                  <a:extLst>
                    <a:ext uri="{9D8B030D-6E8A-4147-A177-3AD203B41FA5}">
                      <a16:colId xmlns:a16="http://schemas.microsoft.com/office/drawing/2014/main" val="20001"/>
                    </a:ext>
                  </a:extLst>
                </a:gridCol>
                <a:gridCol w="1385241">
                  <a:extLst>
                    <a:ext uri="{9D8B030D-6E8A-4147-A177-3AD203B41FA5}">
                      <a16:colId xmlns:a16="http://schemas.microsoft.com/office/drawing/2014/main" val="20002"/>
                    </a:ext>
                  </a:extLst>
                </a:gridCol>
                <a:gridCol w="2827803">
                  <a:extLst>
                    <a:ext uri="{9D8B030D-6E8A-4147-A177-3AD203B41FA5}">
                      <a16:colId xmlns:a16="http://schemas.microsoft.com/office/drawing/2014/main" val="20003"/>
                    </a:ext>
                  </a:extLst>
                </a:gridCol>
              </a:tblGrid>
              <a:tr h="370505">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Địa </a:t>
                      </a:r>
                      <a:r>
                        <a:rPr lang="en-US" sz="1800" b="1" dirty="0" err="1">
                          <a:solidFill>
                            <a:srgbClr val="FFFFFF"/>
                          </a:solidFill>
                          <a:latin typeface="Calibri" pitchFamily="34" charset="0"/>
                          <a:ea typeface="Calibri" pitchFamily="34" charset="-122"/>
                          <a:cs typeface="Calibri" pitchFamily="34" charset="-120"/>
                        </a:rPr>
                        <a:t>chỉ</a:t>
                      </a:r>
                      <a:r>
                        <a:rPr lang="en-US" sz="1800" b="1" dirty="0">
                          <a:solidFill>
                            <a:srgbClr val="FFFFFF"/>
                          </a:solidFill>
                          <a:latin typeface="Calibri" pitchFamily="34" charset="0"/>
                          <a:ea typeface="Calibri" pitchFamily="34" charset="-122"/>
                          <a:cs typeface="Calibri" pitchFamily="34" charset="-120"/>
                        </a:rPr>
                        <a:t>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Loại</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Tên</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Chức năng</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655509">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0x0003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Ghi</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start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just">
                        <a:buNone/>
                      </a:pPr>
                      <a:r>
                        <a:rPr lang="en-US" sz="1800" dirty="0">
                          <a:solidFill>
                            <a:srgbClr val="1A1C22"/>
                          </a:solidFill>
                          <a:latin typeface="Calibri" pitchFamily="34" charset="0"/>
                          <a:ea typeface="Calibri" pitchFamily="34" charset="-122"/>
                          <a:cs typeface="Calibri" pitchFamily="34" charset="-120"/>
                        </a:rPr>
                        <a:t>Phát lệnh chạy, xoá cờ hoàn tất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5509">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0x0004</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Đọc</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status</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just">
                        <a:buNone/>
                      </a:pPr>
                      <a:r>
                        <a:rPr lang="en-US" sz="1800" dirty="0">
                          <a:solidFill>
                            <a:srgbClr val="1A1C22"/>
                          </a:solidFill>
                          <a:latin typeface="Calibri" pitchFamily="34" charset="0"/>
                          <a:ea typeface="Calibri" pitchFamily="34" charset="-122"/>
                          <a:cs typeface="Calibri" pitchFamily="34" charset="-120"/>
                        </a:rPr>
                        <a:t>Bit 0 = đang bận, bit 1 = đã hoàn tất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370505">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0x0005</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Đọc</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just">
                        <a:buNone/>
                      </a:pPr>
                      <a:r>
                        <a:rPr lang="en-US" sz="1800" dirty="0">
                          <a:solidFill>
                            <a:srgbClr val="1A1C22"/>
                          </a:solidFill>
                          <a:latin typeface="Calibri" pitchFamily="34" charset="0"/>
                          <a:ea typeface="Calibri" pitchFamily="34" charset="-122"/>
                          <a:cs typeface="Calibri" pitchFamily="34" charset="-120"/>
                        </a:rPr>
                        <a:t>Lớp dự đoán, 2 bit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5509">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0x1000 – 0x19C3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Ghi</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cửa sổ dữ liệu</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just">
                        <a:buNone/>
                      </a:pPr>
                      <a:r>
                        <a:rPr lang="en-US" sz="1800" dirty="0">
                          <a:solidFill>
                            <a:srgbClr val="1A1C22"/>
                          </a:solidFill>
                          <a:latin typeface="Calibri" pitchFamily="34" charset="0"/>
                          <a:ea typeface="Calibri" pitchFamily="34" charset="-122"/>
                          <a:cs typeface="Calibri" pitchFamily="34" charset="-120"/>
                        </a:rPr>
                        <a:t>Nạp 2500 mẫu, mỗi từ ứng một byte</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bl>
          </a:graphicData>
        </a:graphic>
      </p:graphicFrame>
      <p:sp>
        <p:nvSpPr>
          <p:cNvPr id="9" name="Shape 5"/>
          <p:cNvSpPr/>
          <p:nvPr/>
        </p:nvSpPr>
        <p:spPr>
          <a:xfrm>
            <a:off x="7553325" y="4642486"/>
            <a:ext cx="4379595" cy="1913571"/>
          </a:xfrm>
          <a:prstGeom prst="roundRect">
            <a:avLst>
              <a:gd name="adj" fmla="val 8571"/>
            </a:avLst>
          </a:prstGeom>
          <a:solidFill>
            <a:srgbClr val="F7EFEF"/>
          </a:solidFill>
          <a:ln w="12700">
            <a:solidFill>
              <a:srgbClr val="F7EFEF"/>
            </a:solidFill>
            <a:prstDash val="solid"/>
          </a:ln>
        </p:spPr>
        <p:txBody>
          <a:bodyPr/>
          <a:lstStyle/>
          <a:p>
            <a:r>
              <a:rPr lang="en-US" b="1" dirty="0" err="1">
                <a:solidFill>
                  <a:srgbClr val="990011"/>
                </a:solidFill>
                <a:latin typeface="Calibri" pitchFamily="34" charset="0"/>
                <a:ea typeface="Calibri" pitchFamily="34" charset="-122"/>
                <a:cs typeface="Calibri" pitchFamily="34" charset="-120"/>
              </a:rPr>
              <a:t>Trình</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tự</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một</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lượt</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suy</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luận</a:t>
            </a:r>
            <a:r>
              <a:rPr lang="en-US" b="1" dirty="0">
                <a:solidFill>
                  <a:srgbClr val="990011"/>
                </a:solidFill>
                <a:latin typeface="Calibri" pitchFamily="34" charset="0"/>
                <a:ea typeface="Calibri" pitchFamily="34" charset="-122"/>
                <a:cs typeface="Calibri" pitchFamily="34" charset="-120"/>
              </a:rPr>
              <a:t>:  </a:t>
            </a:r>
            <a:r>
              <a:rPr lang="en-US" dirty="0">
                <a:solidFill>
                  <a:srgbClr val="1A1C22"/>
                </a:solidFill>
                <a:latin typeface="Calibri" pitchFamily="34" charset="0"/>
                <a:ea typeface="Calibri" pitchFamily="34" charset="-122"/>
                <a:cs typeface="Calibri" pitchFamily="34" charset="-120"/>
              </a:rPr>
              <a:t>PC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2500 </a:t>
            </a:r>
            <a:r>
              <a:rPr lang="en-US" dirty="0" err="1">
                <a:solidFill>
                  <a:srgbClr val="1A1C22"/>
                </a:solidFill>
                <a:latin typeface="Calibri" pitchFamily="34" charset="0"/>
                <a:ea typeface="Calibri" pitchFamily="34" charset="-122"/>
                <a:cs typeface="Calibri" pitchFamily="34" charset="-120"/>
              </a:rPr>
              <a:t>mẫu</a:t>
            </a:r>
            <a:r>
              <a:rPr lang="en-US" dirty="0">
                <a:solidFill>
                  <a:srgbClr val="1A1C22"/>
                </a:solidFill>
                <a:latin typeface="Calibri" pitchFamily="34" charset="0"/>
                <a:ea typeface="Calibri" pitchFamily="34" charset="-122"/>
                <a:cs typeface="Calibri" pitchFamily="34" charset="-120"/>
              </a:rPr>
              <a:t> ECG </a:t>
            </a:r>
            <a:r>
              <a:rPr lang="en-US" dirty="0" err="1">
                <a:solidFill>
                  <a:srgbClr val="1A1C22"/>
                </a:solidFill>
                <a:latin typeface="Calibri" pitchFamily="34" charset="0"/>
                <a:ea typeface="Calibri" pitchFamily="34" charset="-122"/>
                <a:cs typeface="Calibri" pitchFamily="34" charset="-120"/>
              </a:rPr>
              <a:t>vào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cửa</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sổ</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dữ</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liệu</a:t>
            </a:r>
            <a:r>
              <a:rPr lang="en-US" dirty="0">
                <a:solidFill>
                  <a:srgbClr val="1A1C22"/>
                </a:solidFill>
                <a:latin typeface="Calibri" pitchFamily="34" charset="0"/>
                <a:ea typeface="Calibri" pitchFamily="34" charset="-122"/>
                <a:cs typeface="Calibri" pitchFamily="34" charset="-120"/>
              </a:rPr>
              <a:t> →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bit start </a:t>
            </a:r>
            <a:r>
              <a:rPr lang="en-US" dirty="0" err="1">
                <a:solidFill>
                  <a:srgbClr val="1A1C22"/>
                </a:solidFill>
                <a:latin typeface="Calibri" pitchFamily="34" charset="0"/>
                <a:ea typeface="Calibri" pitchFamily="34" charset="-122"/>
                <a:cs typeface="Calibri" pitchFamily="34" charset="-120"/>
              </a:rPr>
              <a:t>vào</a:t>
            </a:r>
            <a:r>
              <a:rPr lang="en-US" dirty="0">
                <a:solidFill>
                  <a:srgbClr val="1A1C22"/>
                </a:solidFill>
                <a:latin typeface="Calibri" pitchFamily="34" charset="0"/>
                <a:ea typeface="Calibri" pitchFamily="34" charset="-122"/>
                <a:cs typeface="Calibri" pitchFamily="34" charset="-120"/>
              </a:rPr>
              <a:t> 0x0003 → </a:t>
            </a:r>
            <a:r>
              <a:rPr lang="en-US" dirty="0" err="1">
                <a:solidFill>
                  <a:srgbClr val="1A1C22"/>
                </a:solidFill>
                <a:latin typeface="Calibri" pitchFamily="34" charset="0"/>
                <a:ea typeface="Calibri" pitchFamily="34" charset="-122"/>
                <a:cs typeface="Calibri" pitchFamily="34" charset="-120"/>
              </a:rPr>
              <a:t>đọc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lặp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thanh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trạng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thái</a:t>
            </a:r>
            <a:r>
              <a:rPr lang="en-US" dirty="0">
                <a:solidFill>
                  <a:srgbClr val="1A1C22"/>
                </a:solidFill>
                <a:latin typeface="Calibri" pitchFamily="34" charset="0"/>
                <a:ea typeface="Calibri" pitchFamily="34" charset="-122"/>
                <a:cs typeface="Calibri" pitchFamily="34" charset="-120"/>
              </a:rPr>
              <a:t> 0x0004 </a:t>
            </a:r>
            <a:r>
              <a:rPr lang="en-US" dirty="0" err="1">
                <a:solidFill>
                  <a:srgbClr val="1A1C22"/>
                </a:solidFill>
                <a:latin typeface="Calibri" pitchFamily="34" charset="0"/>
                <a:ea typeface="Calibri" pitchFamily="34" charset="-122"/>
                <a:cs typeface="Calibri" pitchFamily="34" charset="-120"/>
              </a:rPr>
              <a:t>tới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khi</a:t>
            </a:r>
            <a:r>
              <a:rPr lang="en-US" dirty="0">
                <a:solidFill>
                  <a:srgbClr val="1A1C22"/>
                </a:solidFill>
                <a:latin typeface="Calibri" pitchFamily="34" charset="0"/>
                <a:ea typeface="Calibri" pitchFamily="34" charset="-122"/>
                <a:cs typeface="Calibri" pitchFamily="34" charset="-120"/>
              </a:rPr>
              <a:t> bit </a:t>
            </a:r>
            <a:r>
              <a:rPr lang="en-US" dirty="0" err="1">
                <a:solidFill>
                  <a:srgbClr val="1A1C22"/>
                </a:solidFill>
                <a:latin typeface="Calibri" pitchFamily="34" charset="0"/>
                <a:ea typeface="Calibri" pitchFamily="34" charset="-122"/>
                <a:cs typeface="Calibri" pitchFamily="34" charset="-120"/>
              </a:rPr>
              <a:t>hoàn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tất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bằng</a:t>
            </a:r>
            <a:r>
              <a:rPr lang="en-US" dirty="0">
                <a:solidFill>
                  <a:srgbClr val="1A1C22"/>
                </a:solidFill>
                <a:latin typeface="Calibri" pitchFamily="34" charset="0"/>
                <a:ea typeface="Calibri" pitchFamily="34" charset="-122"/>
                <a:cs typeface="Calibri" pitchFamily="34" charset="-120"/>
              </a:rPr>
              <a:t> 1 → </a:t>
            </a:r>
            <a:r>
              <a:rPr lang="en-US" dirty="0" err="1">
                <a:solidFill>
                  <a:srgbClr val="1A1C22"/>
                </a:solidFill>
                <a:latin typeface="Calibri" pitchFamily="34" charset="0"/>
                <a:ea typeface="Calibri" pitchFamily="34" charset="-122"/>
                <a:cs typeface="Calibri" pitchFamily="34" charset="-120"/>
              </a:rPr>
              <a:t>đọc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lớp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dự</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đoán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tại</a:t>
            </a:r>
            <a:r>
              <a:rPr lang="en-US" dirty="0">
                <a:solidFill>
                  <a:srgbClr val="1A1C22"/>
                </a:solidFill>
                <a:latin typeface="Calibri" pitchFamily="34" charset="0"/>
                <a:ea typeface="Calibri" pitchFamily="34" charset="-122"/>
                <a:cs typeface="Calibri" pitchFamily="34" charset="-120"/>
              </a:rPr>
              <a:t> 0x0005.</a:t>
            </a:r>
            <a:endParaRPr lang="en-US" dirty="0"/>
          </a:p>
          <a:p>
            <a:endParaRPr lang="en-US" dirty="0"/>
          </a:p>
        </p:txBody>
      </p:sp>
      <p:sp>
        <p:nvSpPr>
          <p:cNvPr id="12" name="Shape 8"/>
          <p:cNvSpPr/>
          <p:nvPr/>
        </p:nvSpPr>
        <p:spPr>
          <a:xfrm>
            <a:off x="509207" y="4628901"/>
            <a:ext cx="6843522" cy="1913572"/>
          </a:xfrm>
          <a:prstGeom prst="roundRect">
            <a:avLst>
              <a:gd name="adj" fmla="val 6667"/>
            </a:avLst>
          </a:prstGeom>
          <a:solidFill>
            <a:srgbClr val="EFF1F8"/>
          </a:solidFill>
          <a:ln w="12700">
            <a:solidFill>
              <a:srgbClr val="EFF1F8"/>
            </a:solidFill>
            <a:prstDash val="solid"/>
          </a:ln>
        </p:spPr>
        <p:txBody>
          <a:bodyPr/>
          <a:lstStyle/>
          <a:p>
            <a:r>
              <a:rPr lang="en-US" i="1" dirty="0">
                <a:solidFill>
                  <a:srgbClr val="6E6E78"/>
                </a:solidFill>
                <a:latin typeface="Calibri" pitchFamily="34" charset="0"/>
                <a:ea typeface="Calibri" pitchFamily="34" charset="-122"/>
                <a:cs typeface="Calibri" pitchFamily="34" charset="-120"/>
              </a:rPr>
              <a:t>Các </a:t>
            </a:r>
            <a:r>
              <a:rPr lang="en-US" i="1" dirty="0" err="1">
                <a:solidFill>
                  <a:srgbClr val="6E6E78"/>
                </a:solidFill>
                <a:latin typeface="Calibri" pitchFamily="34" charset="0"/>
                <a:ea typeface="Calibri" pitchFamily="34" charset="-122"/>
                <a:cs typeface="Calibri" pitchFamily="34" charset="-120"/>
              </a:rPr>
              <a:t>bước</a:t>
            </a:r>
            <a:r>
              <a:rPr lang="en-US" i="1" dirty="0">
                <a:solidFill>
                  <a:srgbClr val="6E6E78"/>
                </a:solidFill>
                <a:latin typeface="Calibri" pitchFamily="34" charset="0"/>
                <a:ea typeface="Calibri" pitchFamily="34" charset="-122"/>
                <a:cs typeface="Calibri" pitchFamily="34" charset="-120"/>
              </a:rPr>
              <a:t> </a:t>
            </a:r>
            <a:r>
              <a:rPr lang="en-US" i="1" dirty="0" err="1">
                <a:solidFill>
                  <a:srgbClr val="6E6E78"/>
                </a:solidFill>
                <a:latin typeface="Calibri" pitchFamily="34" charset="0"/>
                <a:ea typeface="Calibri" pitchFamily="34" charset="-122"/>
                <a:cs typeface="Calibri" pitchFamily="34" charset="-120"/>
              </a:rPr>
              <a:t>điều</a:t>
            </a:r>
            <a:r>
              <a:rPr lang="en-US" i="1" dirty="0">
                <a:solidFill>
                  <a:srgbClr val="6E6E78"/>
                </a:solidFill>
                <a:latin typeface="Calibri" pitchFamily="34" charset="0"/>
                <a:ea typeface="Calibri" pitchFamily="34" charset="-122"/>
                <a:cs typeface="Calibri" pitchFamily="34" charset="-120"/>
              </a:rPr>
              <a:t> </a:t>
            </a:r>
            <a:r>
              <a:rPr lang="en-US" i="1" dirty="0" err="1">
                <a:solidFill>
                  <a:srgbClr val="6E6E78"/>
                </a:solidFill>
                <a:latin typeface="Calibri" pitchFamily="34" charset="0"/>
                <a:ea typeface="Calibri" pitchFamily="34" charset="-122"/>
                <a:cs typeface="Calibri" pitchFamily="34" charset="-120"/>
              </a:rPr>
              <a:t>khiển</a:t>
            </a:r>
            <a:r>
              <a:rPr lang="en-US" i="1" dirty="0">
                <a:solidFill>
                  <a:srgbClr val="6E6E78"/>
                </a:solidFill>
                <a:latin typeface="Calibri" pitchFamily="34" charset="0"/>
                <a:ea typeface="Calibri" pitchFamily="34" charset="-122"/>
                <a:cs typeface="Calibri" pitchFamily="34" charset="-120"/>
              </a:rPr>
              <a:t> </a:t>
            </a:r>
            <a:r>
              <a:rPr lang="en-US" i="1" dirty="0" err="1">
                <a:solidFill>
                  <a:srgbClr val="6E6E78"/>
                </a:solidFill>
                <a:latin typeface="Calibri" pitchFamily="34" charset="0"/>
                <a:ea typeface="Calibri" pitchFamily="34" charset="-122"/>
                <a:cs typeface="Calibri" pitchFamily="34" charset="-120"/>
              </a:rPr>
              <a:t>hệ</a:t>
            </a:r>
            <a:r>
              <a:rPr lang="en-US" i="1" dirty="0">
                <a:solidFill>
                  <a:srgbClr val="6E6E78"/>
                </a:solidFill>
                <a:latin typeface="Calibri" pitchFamily="34" charset="0"/>
                <a:ea typeface="Calibri" pitchFamily="34" charset="-122"/>
                <a:cs typeface="Calibri" pitchFamily="34" charset="-120"/>
              </a:rPr>
              <a:t> </a:t>
            </a:r>
            <a:r>
              <a:rPr lang="en-US" i="1" dirty="0" err="1">
                <a:solidFill>
                  <a:srgbClr val="6E6E78"/>
                </a:solidFill>
                <a:latin typeface="Calibri" pitchFamily="34" charset="0"/>
                <a:ea typeface="Calibri" pitchFamily="34" charset="-122"/>
                <a:cs typeface="Calibri" pitchFamily="34" charset="-120"/>
              </a:rPr>
              <a:t>thống</a:t>
            </a:r>
            <a:r>
              <a:rPr lang="en-US" i="1" dirty="0">
                <a:solidFill>
                  <a:srgbClr val="6E6E78"/>
                </a:solidFill>
                <a:latin typeface="Calibri" pitchFamily="34" charset="0"/>
                <a:ea typeface="Calibri" pitchFamily="34" charset="-122"/>
                <a:cs typeface="Calibri" pitchFamily="34" charset="-120"/>
              </a:rPr>
              <a:t> </a:t>
            </a:r>
            <a:r>
              <a:rPr lang="en-US" i="1" dirty="0" err="1">
                <a:solidFill>
                  <a:srgbClr val="6E6E78"/>
                </a:solidFill>
                <a:latin typeface="Calibri" pitchFamily="34" charset="0"/>
                <a:ea typeface="Calibri" pitchFamily="34" charset="-122"/>
                <a:cs typeface="Calibri" pitchFamily="34" charset="-120"/>
              </a:rPr>
              <a:t>bằng</a:t>
            </a:r>
            <a:r>
              <a:rPr lang="en-US" i="1" dirty="0">
                <a:solidFill>
                  <a:srgbClr val="6E6E78"/>
                </a:solidFill>
                <a:latin typeface="Calibri" pitchFamily="34" charset="0"/>
                <a:ea typeface="Calibri" pitchFamily="34" charset="-122"/>
                <a:cs typeface="Calibri" pitchFamily="34" charset="-120"/>
              </a:rPr>
              <a:t> scripting </a:t>
            </a:r>
            <a:r>
              <a:rPr lang="en-US" i="1" dirty="0" err="1">
                <a:solidFill>
                  <a:srgbClr val="6E6E78"/>
                </a:solidFill>
                <a:latin typeface="Calibri" pitchFamily="34" charset="0"/>
                <a:ea typeface="Calibri" pitchFamily="34" charset="-122"/>
                <a:cs typeface="Calibri" pitchFamily="34" charset="-120"/>
              </a:rPr>
              <a:t>tcl</a:t>
            </a:r>
            <a:r>
              <a:rPr lang="en-US" i="1" dirty="0">
                <a:solidFill>
                  <a:srgbClr val="6E6E78"/>
                </a:solidFill>
                <a:latin typeface="Calibri" pitchFamily="34" charset="0"/>
                <a:ea typeface="Calibri" pitchFamily="34" charset="-122"/>
                <a:cs typeface="Calibri" pitchFamily="34" charset="-120"/>
              </a:rPr>
              <a:t> </a:t>
            </a:r>
            <a:r>
              <a:rPr lang="en-US" i="1" dirty="0" err="1">
                <a:solidFill>
                  <a:srgbClr val="6E6E78"/>
                </a:solidFill>
                <a:latin typeface="Calibri" pitchFamily="34" charset="0"/>
                <a:ea typeface="Calibri" pitchFamily="34" charset="-122"/>
                <a:cs typeface="Calibri" pitchFamily="34" charset="-120"/>
              </a:rPr>
              <a:t>trên</a:t>
            </a:r>
            <a:r>
              <a:rPr lang="en-US" i="1" dirty="0">
                <a:solidFill>
                  <a:srgbClr val="6E6E78"/>
                </a:solidFill>
                <a:latin typeface="Calibri" pitchFamily="34" charset="0"/>
                <a:ea typeface="Calibri" pitchFamily="34" charset="-122"/>
                <a:cs typeface="Calibri" pitchFamily="34" charset="-120"/>
              </a:rPr>
              <a:t> System Console</a:t>
            </a:r>
          </a:p>
          <a:p>
            <a:pPr marL="342900" indent="-342900">
              <a:buAutoNum type="arabicPeriod"/>
            </a:pPr>
            <a:r>
              <a:rPr lang="en-US" b="1" dirty="0" err="1">
                <a:solidFill>
                  <a:srgbClr val="1A1C22"/>
                </a:solidFill>
                <a:latin typeface="Calibri" pitchFamily="34" charset="0"/>
                <a:ea typeface="Calibri" pitchFamily="34" charset="-122"/>
                <a:cs typeface="Calibri" pitchFamily="34" charset="-120"/>
              </a:rPr>
              <a:t>Nạp</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cấu</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hình</a:t>
            </a:r>
            <a:r>
              <a:rPr lang="en-US" b="1" dirty="0">
                <a:solidFill>
                  <a:srgbClr val="1A1C22"/>
                </a:solidFill>
                <a:latin typeface="Calibri" pitchFamily="34" charset="0"/>
                <a:ea typeface="Calibri" pitchFamily="34" charset="-122"/>
                <a:cs typeface="Calibri" pitchFamily="34" charset="-120"/>
              </a:rPr>
              <a:t> : </a:t>
            </a:r>
            <a:r>
              <a:rPr lang="en-US" dirty="0" err="1">
                <a:solidFill>
                  <a:srgbClr val="6E6E78"/>
                </a:solidFill>
                <a:latin typeface="Calibri" pitchFamily="34" charset="0"/>
                <a:ea typeface="Calibri" pitchFamily="34" charset="-122"/>
                <a:cs typeface="Calibri" pitchFamily="34" charset="-120"/>
              </a:rPr>
              <a:t>Nạp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tệp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sof</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vào</a:t>
            </a:r>
            <a:r>
              <a:rPr lang="en-US" dirty="0">
                <a:solidFill>
                  <a:srgbClr val="6E6E78"/>
                </a:solidFill>
                <a:latin typeface="Calibri" pitchFamily="34" charset="0"/>
                <a:ea typeface="Calibri" pitchFamily="34" charset="-122"/>
                <a:cs typeface="Calibri" pitchFamily="34" charset="-120"/>
              </a:rPr>
              <a:t> FPGA qua </a:t>
            </a:r>
            <a:r>
              <a:rPr lang="en-US" dirty="0" err="1">
                <a:solidFill>
                  <a:srgbClr val="6E6E78"/>
                </a:solidFill>
                <a:latin typeface="Calibri" pitchFamily="34" charset="0"/>
                <a:ea typeface="Calibri" pitchFamily="34" charset="-122"/>
                <a:cs typeface="Calibri" pitchFamily="34" charset="-120"/>
              </a:rPr>
              <a:t>cáp</a:t>
            </a:r>
            <a:r>
              <a:rPr lang="en-US" dirty="0">
                <a:solidFill>
                  <a:srgbClr val="6E6E78"/>
                </a:solidFill>
                <a:latin typeface="Calibri" pitchFamily="34" charset="0"/>
                <a:ea typeface="Calibri" pitchFamily="34" charset="-122"/>
                <a:cs typeface="Calibri" pitchFamily="34" charset="-120"/>
              </a:rPr>
              <a:t> USB-Blaster.</a:t>
            </a:r>
          </a:p>
          <a:p>
            <a:r>
              <a:rPr lang="en-US" b="1" dirty="0">
                <a:solidFill>
                  <a:srgbClr val="6E6E78"/>
                </a:solidFill>
                <a:latin typeface="Calibri" pitchFamily="34" charset="0"/>
                <a:ea typeface="Calibri" pitchFamily="34" charset="-122"/>
                <a:cs typeface="Calibri" pitchFamily="34" charset="-120"/>
              </a:rPr>
              <a:t>2.   </a:t>
            </a:r>
            <a:r>
              <a:rPr lang="en-US" b="1" dirty="0" err="1">
                <a:solidFill>
                  <a:srgbClr val="1A1C22"/>
                </a:solidFill>
                <a:latin typeface="Calibri" pitchFamily="34" charset="0"/>
                <a:ea typeface="Calibri" pitchFamily="34" charset="-122"/>
                <a:cs typeface="Calibri" pitchFamily="34" charset="-120"/>
              </a:rPr>
              <a:t>Mở</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kênh</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giao</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tiếp</a:t>
            </a:r>
            <a:r>
              <a:rPr lang="en-US" b="1" dirty="0">
                <a:solidFill>
                  <a:srgbClr val="1A1C22"/>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Dò</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và</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mở</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thiết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bị</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chủ</a:t>
            </a:r>
            <a:r>
              <a:rPr lang="en-US" dirty="0">
                <a:solidFill>
                  <a:srgbClr val="6E6E78"/>
                </a:solidFill>
                <a:latin typeface="Calibri" pitchFamily="34" charset="0"/>
                <a:ea typeface="Calibri" pitchFamily="34" charset="-122"/>
                <a:cs typeface="Calibri" pitchFamily="34" charset="-120"/>
              </a:rPr>
              <a:t> JTAG-to-Avalon.</a:t>
            </a:r>
          </a:p>
          <a:p>
            <a:r>
              <a:rPr lang="en-US" dirty="0">
                <a:solidFill>
                  <a:srgbClr val="6E6E78"/>
                </a:solidFill>
                <a:latin typeface="Calibri" pitchFamily="34" charset="0"/>
                <a:ea typeface="Calibri" pitchFamily="34" charset="-122"/>
                <a:cs typeface="Calibri" pitchFamily="34" charset="-120"/>
              </a:rPr>
              <a:t>3.   </a:t>
            </a:r>
            <a:r>
              <a:rPr lang="en-US" b="1" dirty="0" err="1">
                <a:solidFill>
                  <a:srgbClr val="1A1C22"/>
                </a:solidFill>
                <a:latin typeface="Calibri" pitchFamily="34" charset="0"/>
                <a:ea typeface="Calibri" pitchFamily="34" charset="-122"/>
                <a:cs typeface="Calibri" pitchFamily="34" charset="-120"/>
              </a:rPr>
              <a:t>Nạp</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dữ</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liệu</a:t>
            </a:r>
            <a:r>
              <a:rPr lang="en-US" b="1" dirty="0">
                <a:solidFill>
                  <a:srgbClr val="1A1C22"/>
                </a:solidFill>
                <a:latin typeface="Calibri" pitchFamily="34" charset="0"/>
                <a:ea typeface="Calibri" pitchFamily="34" charset="-122"/>
                <a:cs typeface="Calibri" pitchFamily="34" charset="-120"/>
              </a:rPr>
              <a:t> &amp; </a:t>
            </a:r>
            <a:r>
              <a:rPr lang="en-US" b="1" dirty="0" err="1">
                <a:solidFill>
                  <a:srgbClr val="1A1C22"/>
                </a:solidFill>
                <a:latin typeface="Calibri" pitchFamily="34" charset="0"/>
                <a:ea typeface="Calibri" pitchFamily="34" charset="-122"/>
                <a:cs typeface="Calibri" pitchFamily="34" charset="-120"/>
              </a:rPr>
              <a:t>chạy</a:t>
            </a:r>
            <a:r>
              <a:rPr lang="en-US" b="1" dirty="0">
                <a:solidFill>
                  <a:srgbClr val="1A1C22"/>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Ghi</a:t>
            </a:r>
            <a:r>
              <a:rPr lang="en-US" dirty="0">
                <a:solidFill>
                  <a:srgbClr val="6E6E78"/>
                </a:solidFill>
                <a:latin typeface="Calibri" pitchFamily="34" charset="0"/>
                <a:ea typeface="Calibri" pitchFamily="34" charset="-122"/>
                <a:cs typeface="Calibri" pitchFamily="34" charset="-120"/>
              </a:rPr>
              <a:t> 2500 </a:t>
            </a:r>
            <a:r>
              <a:rPr lang="en-US" dirty="0" err="1">
                <a:solidFill>
                  <a:srgbClr val="6E6E78"/>
                </a:solidFill>
                <a:latin typeface="Calibri" pitchFamily="34" charset="0"/>
                <a:ea typeface="Calibri" pitchFamily="34" charset="-122"/>
                <a:cs typeface="Calibri" pitchFamily="34" charset="-120"/>
              </a:rPr>
              <a:t>mẫu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vào</a:t>
            </a:r>
            <a:r>
              <a:rPr lang="en-US" dirty="0">
                <a:solidFill>
                  <a:srgbClr val="6E6E78"/>
                </a:solidFill>
                <a:latin typeface="Calibri" pitchFamily="34" charset="0"/>
                <a:ea typeface="Calibri" pitchFamily="34" charset="-122"/>
                <a:cs typeface="Calibri" pitchFamily="34" charset="-120"/>
              </a:rPr>
              <a:t> 0x1000, </a:t>
            </a:r>
            <a:r>
              <a:rPr lang="en-US" dirty="0" err="1">
                <a:solidFill>
                  <a:srgbClr val="6E6E78"/>
                </a:solidFill>
                <a:latin typeface="Calibri" pitchFamily="34" charset="0"/>
                <a:ea typeface="Calibri" pitchFamily="34" charset="-122"/>
                <a:cs typeface="Calibri" pitchFamily="34" charset="-120"/>
              </a:rPr>
              <a:t>phát</a:t>
            </a:r>
            <a:r>
              <a:rPr lang="en-US" dirty="0">
                <a:solidFill>
                  <a:srgbClr val="6E6E78"/>
                </a:solidFill>
                <a:latin typeface="Calibri" pitchFamily="34" charset="0"/>
                <a:ea typeface="Calibri" pitchFamily="34" charset="-122"/>
                <a:cs typeface="Calibri" pitchFamily="34" charset="-120"/>
              </a:rPr>
              <a:t> bit start</a:t>
            </a:r>
            <a:endParaRPr lang="en-US" dirty="0"/>
          </a:p>
          <a:p>
            <a:r>
              <a:rPr lang="en-US" dirty="0"/>
              <a:t>4.   </a:t>
            </a:r>
            <a:r>
              <a:rPr lang="en-US" b="1" dirty="0" err="1">
                <a:solidFill>
                  <a:srgbClr val="1A1C22"/>
                </a:solidFill>
                <a:latin typeface="Calibri" pitchFamily="34" charset="0"/>
                <a:ea typeface="Calibri" pitchFamily="34" charset="-122"/>
                <a:cs typeface="Calibri" pitchFamily="34" charset="-120"/>
              </a:rPr>
              <a:t>Chờ</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và</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đọc</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kết</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quả</a:t>
            </a:r>
            <a:r>
              <a:rPr lang="en-US" b="1" dirty="0">
                <a:solidFill>
                  <a:srgbClr val="1A1C22"/>
                </a:solidFill>
                <a:latin typeface="Calibri" pitchFamily="34" charset="0"/>
                <a:ea typeface="Calibri" pitchFamily="34" charset="-122"/>
                <a:cs typeface="Calibri" pitchFamily="34" charset="-120"/>
              </a:rPr>
              <a:t> : </a:t>
            </a:r>
            <a:r>
              <a:rPr lang="en-US" dirty="0" err="1">
                <a:solidFill>
                  <a:srgbClr val="6E6E78"/>
                </a:solidFill>
                <a:latin typeface="Calibri" pitchFamily="34" charset="0"/>
                <a:ea typeface="Calibri" pitchFamily="34" charset="-122"/>
                <a:cs typeface="Calibri" pitchFamily="34" charset="-120"/>
              </a:rPr>
              <a:t>Đọc</a:t>
            </a:r>
            <a:r>
              <a:rPr lang="en-US" dirty="0">
                <a:solidFill>
                  <a:srgbClr val="6E6E78"/>
                </a:solidFill>
                <a:latin typeface="Calibri" pitchFamily="34" charset="0"/>
                <a:ea typeface="Calibri" pitchFamily="34" charset="-122"/>
                <a:cs typeface="Calibri" pitchFamily="34" charset="-120"/>
              </a:rPr>
              <a:t> status </a:t>
            </a:r>
            <a:r>
              <a:rPr lang="en-US" dirty="0" err="1">
                <a:solidFill>
                  <a:srgbClr val="6E6E78"/>
                </a:solidFill>
                <a:latin typeface="Calibri" pitchFamily="34" charset="0"/>
                <a:ea typeface="Calibri" pitchFamily="34" charset="-122"/>
                <a:cs typeface="Calibri" pitchFamily="34" charset="-120"/>
              </a:rPr>
              <a:t>tới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khi</a:t>
            </a:r>
            <a:r>
              <a:rPr lang="en-US" dirty="0">
                <a:solidFill>
                  <a:srgbClr val="6E6E78"/>
                </a:solidFill>
                <a:latin typeface="Calibri" pitchFamily="34" charset="0"/>
                <a:ea typeface="Calibri" pitchFamily="34" charset="-122"/>
                <a:cs typeface="Calibri" pitchFamily="34" charset="-120"/>
              </a:rPr>
              <a:t> done, </a:t>
            </a:r>
            <a:r>
              <a:rPr lang="en-US" dirty="0" err="1">
                <a:solidFill>
                  <a:srgbClr val="6E6E78"/>
                </a:solidFill>
                <a:latin typeface="Calibri" pitchFamily="34" charset="0"/>
                <a:ea typeface="Calibri" pitchFamily="34" charset="-122"/>
                <a:cs typeface="Calibri" pitchFamily="34" charset="-120"/>
              </a:rPr>
              <a:t>rồi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đọc</a:t>
            </a:r>
            <a:r>
              <a:rPr lang="en-US" dirty="0">
                <a:solidFill>
                  <a:srgbClr val="6E6E78"/>
                </a:solidFill>
                <a:latin typeface="Calibri" pitchFamily="34" charset="0"/>
                <a:ea typeface="Calibri" pitchFamily="34" charset="-122"/>
                <a:cs typeface="Calibri" pitchFamily="34" charset="-120"/>
              </a:rPr>
              <a:t> result</a:t>
            </a:r>
            <a:endParaRPr lang="en-US" dirty="0"/>
          </a:p>
          <a:p>
            <a:r>
              <a:rPr lang="en-US" dirty="0"/>
              <a:t>5.   </a:t>
            </a:r>
            <a:r>
              <a:rPr lang="en-US" b="1" dirty="0" err="1">
                <a:solidFill>
                  <a:srgbClr val="1A1C22"/>
                </a:solidFill>
                <a:latin typeface="Calibri" pitchFamily="34" charset="0"/>
                <a:ea typeface="Calibri" pitchFamily="34" charset="-122"/>
                <a:cs typeface="Calibri" pitchFamily="34" charset="-120"/>
              </a:rPr>
              <a:t>Lặp</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và</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đối</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chiếu</a:t>
            </a:r>
            <a:r>
              <a:rPr lang="en-US" b="1" dirty="0">
                <a:solidFill>
                  <a:srgbClr val="1A1C22"/>
                </a:solidFill>
                <a:latin typeface="Calibri" pitchFamily="34" charset="0"/>
                <a:ea typeface="Calibri" pitchFamily="34" charset="-122"/>
                <a:cs typeface="Calibri" pitchFamily="34" charset="-120"/>
              </a:rPr>
              <a:t> : </a:t>
            </a:r>
            <a:r>
              <a:rPr lang="en-US" dirty="0" err="1">
                <a:solidFill>
                  <a:srgbClr val="6E6E78"/>
                </a:solidFill>
                <a:latin typeface="Calibri" pitchFamily="34" charset="0"/>
                <a:ea typeface="Calibri" pitchFamily="34" charset="-122"/>
                <a:cs typeface="Calibri" pitchFamily="34" charset="-120"/>
              </a:rPr>
              <a:t>Lặp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cho</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toàn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bộ</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tập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kiểm</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tra</a:t>
            </a:r>
            <a:r>
              <a:rPr lang="en-US" dirty="0">
                <a:solidFill>
                  <a:srgbClr val="6E6E78"/>
                </a:solidFill>
                <a:latin typeface="Calibri" pitchFamily="34" charset="0"/>
                <a:ea typeface="Calibri" pitchFamily="34" charset="-122"/>
                <a:cs typeface="Calibri" pitchFamily="34" charset="-120"/>
              </a:rPr>
              <a:t>, so </a:t>
            </a:r>
            <a:r>
              <a:rPr lang="en-US" dirty="0" err="1">
                <a:solidFill>
                  <a:srgbClr val="6E6E78"/>
                </a:solidFill>
                <a:latin typeface="Calibri" pitchFamily="34" charset="0"/>
                <a:ea typeface="Calibri" pitchFamily="34" charset="-122"/>
                <a:cs typeface="Calibri" pitchFamily="34" charset="-120"/>
              </a:rPr>
              <a:t>với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nhãn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thật</a:t>
            </a:r>
            <a:endParaRPr lang="en-US" dirty="0"/>
          </a:p>
          <a:p>
            <a:endParaRPr lang="en-US" dirty="0"/>
          </a:p>
          <a:p>
            <a:endParaRPr lang="en-US" dirty="0"/>
          </a:p>
          <a:p>
            <a:endParaRPr lang="en-US" dirty="0"/>
          </a:p>
          <a:p>
            <a:endParaRPr lang="en-US" dirty="0"/>
          </a:p>
          <a:p>
            <a:endParaRPr lang="en-US" dirty="0"/>
          </a:p>
        </p:txBody>
      </p:sp>
      <p:sp>
        <p:nvSpPr>
          <p:cNvPr id="39" name="Text 0">
            <a:extLst>
              <a:ext uri="{FF2B5EF4-FFF2-40B4-BE49-F238E27FC236}">
                <a16:creationId xmlns:a16="http://schemas.microsoft.com/office/drawing/2014/main" id="{98F79744-1864-E954-1EAA-8363B7A5A3FB}"/>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1C2340"/>
        </a:solidFill>
        <a:effectLst/>
      </p:bgPr>
    </p:bg>
    <p:spTree>
      <p:nvGrpSpPr>
        <p:cNvPr id="1" name=""/>
        <p:cNvGrpSpPr/>
        <p:nvPr/>
      </p:nvGrpSpPr>
      <p:grpSpPr>
        <a:xfrm>
          <a:off x="0" y="0"/>
          <a:ext cx="0" cy="0"/>
          <a:chOff x="0" y="0"/>
          <a:chExt cx="0" cy="0"/>
        </a:xfrm>
      </p:grpSpPr>
      <p:pic>
        <p:nvPicPr>
          <p:cNvPr id="2" name="Image 0" descr="img/ecg_light.png"/>
          <p:cNvPicPr>
            <a:picLocks noChangeAspect="1"/>
          </p:cNvPicPr>
          <p:nvPr/>
        </p:nvPicPr>
        <p:blipFill>
          <a:blip r:embed="rId3">
            <a:alphaModFix amt="55000"/>
          </a:blip>
          <a:stretch>
            <a:fillRect/>
          </a:stretch>
        </p:blipFill>
        <p:spPr>
          <a:xfrm>
            <a:off x="0" y="5074920"/>
            <a:ext cx="12188952" cy="1600200"/>
          </a:xfrm>
          <a:prstGeom prst="rect">
            <a:avLst/>
          </a:prstGeom>
        </p:spPr>
      </p:pic>
      <p:sp>
        <p:nvSpPr>
          <p:cNvPr id="3" name="Text 0"/>
          <p:cNvSpPr/>
          <p:nvPr/>
        </p:nvSpPr>
        <p:spPr>
          <a:xfrm>
            <a:off x="566928" y="1051560"/>
            <a:ext cx="2926080" cy="1737360"/>
          </a:xfrm>
          <a:prstGeom prst="rect">
            <a:avLst/>
          </a:prstGeom>
          <a:noFill/>
          <a:ln/>
        </p:spPr>
        <p:txBody>
          <a:bodyPr wrap="square" lIns="0" tIns="0" rIns="0" bIns="0" rtlCol="0" anchor="ctr"/>
          <a:lstStyle/>
          <a:p>
            <a:pPr marL="0" indent="0">
              <a:buNone/>
            </a:pPr>
            <a:r>
              <a:rPr lang="en-US" sz="10800" b="1" dirty="0">
                <a:solidFill>
                  <a:srgbClr val="E23D4D"/>
                </a:solidFill>
                <a:latin typeface="Cambria" pitchFamily="34" charset="0"/>
                <a:ea typeface="Cambria" pitchFamily="34" charset="-122"/>
                <a:cs typeface="Cambria" pitchFamily="34" charset="-120"/>
              </a:rPr>
              <a:t>04</a:t>
            </a:r>
            <a:endParaRPr lang="en-US" sz="10800" dirty="0"/>
          </a:p>
        </p:txBody>
      </p:sp>
      <p:sp>
        <p:nvSpPr>
          <p:cNvPr id="4" name="Text 1"/>
          <p:cNvSpPr/>
          <p:nvPr/>
        </p:nvSpPr>
        <p:spPr>
          <a:xfrm>
            <a:off x="566928" y="2788920"/>
            <a:ext cx="8778240" cy="914400"/>
          </a:xfrm>
          <a:prstGeom prst="rect">
            <a:avLst/>
          </a:prstGeom>
          <a:noFill/>
          <a:ln/>
        </p:spPr>
        <p:txBody>
          <a:bodyPr wrap="square" lIns="0" tIns="0" rIns="0" bIns="0" rtlCol="0" anchor="ctr"/>
          <a:lstStyle/>
          <a:p>
            <a:pPr marL="0" indent="0">
              <a:buNone/>
            </a:pPr>
            <a:r>
              <a:rPr lang="en-US" sz="3400" b="1" dirty="0">
                <a:solidFill>
                  <a:srgbClr val="FCF6F5"/>
                </a:solidFill>
                <a:latin typeface="Cambria" pitchFamily="34" charset="0"/>
                <a:ea typeface="Cambria" pitchFamily="34" charset="-122"/>
                <a:cs typeface="Cambria" pitchFamily="34" charset="-120"/>
              </a:rPr>
              <a:t>KẾT QUẢ THỰC NGHIỆM</a:t>
            </a:r>
            <a:endParaRPr lang="en-US" sz="3400" dirty="0"/>
          </a:p>
        </p:txBody>
      </p:sp>
      <p:sp>
        <p:nvSpPr>
          <p:cNvPr id="5" name="Text 2"/>
          <p:cNvSpPr/>
          <p:nvPr/>
        </p:nvSpPr>
        <p:spPr>
          <a:xfrm>
            <a:off x="612648" y="3794760"/>
            <a:ext cx="8778240" cy="109728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9CCDD"/>
                </a:solidFill>
                <a:latin typeface="Calibri" pitchFamily="34" charset="0"/>
                <a:ea typeface="Calibri" pitchFamily="34" charset="-122"/>
                <a:cs typeface="Calibri" pitchFamily="34" charset="-120"/>
              </a:rPr>
              <a:t>Phương pháp đánh giá và kết quả huấn luyện mô hình</a:t>
            </a:r>
            <a:endParaRPr lang="en-US" sz="1400" dirty="0"/>
          </a:p>
          <a:p>
            <a:pPr marL="342900" indent="-342900">
              <a:spcAft>
                <a:spcPts val="600"/>
              </a:spcAft>
              <a:buSzPct val="100000"/>
              <a:buChar char="•"/>
            </a:pPr>
            <a:r>
              <a:rPr lang="en-US" sz="1400" dirty="0" err="1">
                <a:solidFill>
                  <a:srgbClr val="C9CCDD"/>
                </a:solidFill>
                <a:latin typeface="Calibri" pitchFamily="34" charset="0"/>
                <a:ea typeface="Calibri" pitchFamily="34" charset="-122"/>
                <a:cs typeface="Calibri" pitchFamily="34" charset="-120"/>
              </a:rPr>
              <a:t>Mô</a:t>
            </a:r>
            <a:r>
              <a:rPr lang="en-US" sz="1400" dirty="0">
                <a:solidFill>
                  <a:srgbClr val="C9CCDD"/>
                </a:solidFill>
                <a:latin typeface="Calibri" pitchFamily="34" charset="0"/>
                <a:ea typeface="Calibri" pitchFamily="34" charset="-122"/>
                <a:cs typeface="Calibri" pitchFamily="34" charset="-120"/>
              </a:rPr>
              <a:t> phỏng chức năng khớp bit và thực nghiệm trên board FPGA</a:t>
            </a:r>
            <a:endParaRPr lang="en-US" sz="1400" dirty="0"/>
          </a:p>
          <a:p>
            <a:pPr marL="342900" indent="-342900">
              <a:spcAft>
                <a:spcPts val="600"/>
              </a:spcAft>
              <a:buSzPct val="100000"/>
              <a:buChar char="•"/>
            </a:pPr>
            <a:r>
              <a:rPr lang="en-US" sz="1400" dirty="0">
                <a:solidFill>
                  <a:srgbClr val="C9CCDD"/>
                </a:solidFill>
                <a:latin typeface="Calibri" pitchFamily="34" charset="0"/>
                <a:ea typeface="Calibri" pitchFamily="34" charset="-122"/>
                <a:cs typeface="Calibri" pitchFamily="34" charset="-120"/>
              </a:rPr>
              <a:t>Tài nguyên, hiệu năng và so sánh với các nghiên cứu khác</a:t>
            </a:r>
            <a:endParaRPr lang="en-US" sz="1400" dirty="0"/>
          </a:p>
        </p:txBody>
      </p:sp>
      <p:sp>
        <p:nvSpPr>
          <p:cNvPr id="6" name="Text 3"/>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655320"/>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4.1 Phương pháp đánh giá</a:t>
            </a:r>
            <a:endParaRPr lang="en-US" sz="2700" dirty="0"/>
          </a:p>
        </p:txBody>
      </p:sp>
      <p:sp>
        <p:nvSpPr>
          <p:cNvPr id="4" name="Text 2"/>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30</a:t>
            </a:r>
            <a:endParaRPr lang="en-US" sz="1000" dirty="0"/>
          </a:p>
        </p:txBody>
      </p:sp>
      <p:sp>
        <p:nvSpPr>
          <p:cNvPr id="5" name="Shape 3"/>
          <p:cNvSpPr/>
          <p:nvPr/>
        </p:nvSpPr>
        <p:spPr>
          <a:xfrm>
            <a:off x="527370" y="1271016"/>
            <a:ext cx="5546980" cy="5479567"/>
          </a:xfrm>
          <a:prstGeom prst="roundRect">
            <a:avLst>
              <a:gd name="adj" fmla="val 1748"/>
            </a:avLst>
          </a:prstGeom>
          <a:solidFill>
            <a:srgbClr val="F7EFEF"/>
          </a:solidFill>
          <a:ln w="12700">
            <a:solidFill>
              <a:srgbClr val="F7EFEF"/>
            </a:solidFill>
            <a:prstDash val="solid"/>
          </a:ln>
          <a:effectLst>
            <a:outerShdw blurRad="101600" dist="25400" dir="5400000" algn="bl" rotWithShape="0">
              <a:srgbClr val="B9AFAF">
                <a:alpha val="25000"/>
              </a:srgbClr>
            </a:outerShdw>
          </a:effectLst>
        </p:spPr>
      </p:sp>
      <p:sp>
        <p:nvSpPr>
          <p:cNvPr id="6" name="Text 4"/>
          <p:cNvSpPr/>
          <p:nvPr/>
        </p:nvSpPr>
        <p:spPr>
          <a:xfrm>
            <a:off x="841248" y="1481328"/>
            <a:ext cx="4754880" cy="292608"/>
          </a:xfrm>
          <a:prstGeom prst="rect">
            <a:avLst/>
          </a:prstGeom>
          <a:noFill/>
          <a:ln/>
        </p:spPr>
        <p:txBody>
          <a:bodyPr wrap="square" lIns="0" tIns="0" rIns="0" bIns="0" rtlCol="0" anchor="ctr"/>
          <a:lstStyle/>
          <a:p>
            <a:pPr marL="0" indent="0">
              <a:buNone/>
            </a:pPr>
            <a:r>
              <a:rPr lang="en-US" sz="2000" b="1" dirty="0">
                <a:solidFill>
                  <a:srgbClr val="990011"/>
                </a:solidFill>
                <a:latin typeface="Calibri" pitchFamily="34" charset="0"/>
                <a:ea typeface="Calibri" pitchFamily="34" charset="-122"/>
                <a:cs typeface="Calibri" pitchFamily="34" charset="-120"/>
              </a:rPr>
              <a:t>Hiệu năng mô hình</a:t>
            </a:r>
            <a:endParaRPr lang="en-US" sz="2000" dirty="0"/>
          </a:p>
        </p:txBody>
      </p:sp>
      <p:sp>
        <p:nvSpPr>
          <p:cNvPr id="7" name="Shape 5"/>
          <p:cNvSpPr/>
          <p:nvPr/>
        </p:nvSpPr>
        <p:spPr>
          <a:xfrm>
            <a:off x="795883" y="1924653"/>
            <a:ext cx="274320" cy="274320"/>
          </a:xfrm>
          <a:prstGeom prst="ellipse">
            <a:avLst/>
          </a:prstGeom>
          <a:solidFill>
            <a:srgbClr val="990011"/>
          </a:solidFill>
          <a:ln w="12700">
            <a:solidFill>
              <a:srgbClr val="990011"/>
            </a:solidFill>
            <a:prstDash val="solid"/>
          </a:ln>
        </p:spPr>
        <p:txBody>
          <a:bodyPr/>
          <a:lstStyle/>
          <a:p>
            <a:endParaRPr lang="en-US" dirty="0"/>
          </a:p>
        </p:txBody>
      </p:sp>
      <p:sp>
        <p:nvSpPr>
          <p:cNvPr id="8" name="Text 6"/>
          <p:cNvSpPr/>
          <p:nvPr/>
        </p:nvSpPr>
        <p:spPr>
          <a:xfrm>
            <a:off x="795883" y="1921703"/>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61110" y="4401460"/>
            <a:ext cx="4572000" cy="274320"/>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Ma trận nhầm lẫn</a:t>
            </a:r>
            <a:endParaRPr lang="en-US" sz="2000" dirty="0"/>
          </a:p>
        </p:txBody>
      </p:sp>
      <p:sp>
        <p:nvSpPr>
          <p:cNvPr id="11" name="Shape 9"/>
          <p:cNvSpPr/>
          <p:nvPr/>
        </p:nvSpPr>
        <p:spPr>
          <a:xfrm>
            <a:off x="795697" y="2736339"/>
            <a:ext cx="274320" cy="274320"/>
          </a:xfrm>
          <a:prstGeom prst="ellipse">
            <a:avLst/>
          </a:prstGeom>
          <a:solidFill>
            <a:srgbClr val="990011"/>
          </a:solidFill>
          <a:ln w="12700">
            <a:solidFill>
              <a:srgbClr val="990011"/>
            </a:solidFill>
            <a:prstDash val="solid"/>
          </a:ln>
        </p:spPr>
      </p:sp>
      <p:sp>
        <p:nvSpPr>
          <p:cNvPr id="12" name="Text 10"/>
          <p:cNvSpPr/>
          <p:nvPr/>
        </p:nvSpPr>
        <p:spPr>
          <a:xfrm>
            <a:off x="795697" y="2733675"/>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243398" y="2724912"/>
            <a:ext cx="2185416" cy="274320"/>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Precision / Recall</a:t>
            </a:r>
            <a:endParaRPr lang="en-US" sz="2000" dirty="0"/>
          </a:p>
        </p:txBody>
      </p:sp>
      <p:sp>
        <p:nvSpPr>
          <p:cNvPr id="15" name="Shape 13"/>
          <p:cNvSpPr/>
          <p:nvPr/>
        </p:nvSpPr>
        <p:spPr>
          <a:xfrm>
            <a:off x="795883" y="3598005"/>
            <a:ext cx="274320" cy="274320"/>
          </a:xfrm>
          <a:prstGeom prst="ellipse">
            <a:avLst/>
          </a:prstGeom>
          <a:solidFill>
            <a:srgbClr val="990011"/>
          </a:solidFill>
          <a:ln w="12700">
            <a:solidFill>
              <a:srgbClr val="990011"/>
            </a:solidFill>
            <a:prstDash val="solid"/>
          </a:ln>
        </p:spPr>
      </p:sp>
      <p:sp>
        <p:nvSpPr>
          <p:cNvPr id="16" name="Text 14"/>
          <p:cNvSpPr/>
          <p:nvPr/>
        </p:nvSpPr>
        <p:spPr>
          <a:xfrm>
            <a:off x="795883" y="3598005"/>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198219" y="3579717"/>
            <a:ext cx="2394966" cy="274320"/>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F1-score </a:t>
            </a:r>
            <a:endParaRPr lang="en-US" sz="2000" dirty="0"/>
          </a:p>
        </p:txBody>
      </p:sp>
      <p:sp>
        <p:nvSpPr>
          <p:cNvPr id="19" name="Shape 17"/>
          <p:cNvSpPr/>
          <p:nvPr/>
        </p:nvSpPr>
        <p:spPr>
          <a:xfrm>
            <a:off x="795883" y="4413152"/>
            <a:ext cx="274320" cy="274320"/>
          </a:xfrm>
          <a:prstGeom prst="ellipse">
            <a:avLst/>
          </a:prstGeom>
          <a:solidFill>
            <a:srgbClr val="990011"/>
          </a:solidFill>
          <a:ln w="12700">
            <a:solidFill>
              <a:srgbClr val="990011"/>
            </a:solidFill>
            <a:prstDash val="solid"/>
          </a:ln>
        </p:spPr>
        <p:txBody>
          <a:bodyPr/>
          <a:lstStyle/>
          <a:p>
            <a:endParaRPr lang="en-US" dirty="0"/>
          </a:p>
        </p:txBody>
      </p:sp>
      <p:sp>
        <p:nvSpPr>
          <p:cNvPr id="20" name="Text 18"/>
          <p:cNvSpPr/>
          <p:nvPr/>
        </p:nvSpPr>
        <p:spPr>
          <a:xfrm>
            <a:off x="841248" y="527192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1384554" y="1902390"/>
            <a:ext cx="1537716" cy="274320"/>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Accuracy</a:t>
            </a:r>
            <a:endParaRPr lang="en-US" sz="2000" dirty="0"/>
          </a:p>
        </p:txBody>
      </p:sp>
      <p:sp>
        <p:nvSpPr>
          <p:cNvPr id="23" name="Shape 21"/>
          <p:cNvSpPr/>
          <p:nvPr/>
        </p:nvSpPr>
        <p:spPr>
          <a:xfrm>
            <a:off x="6265257" y="1271016"/>
            <a:ext cx="5349240" cy="4382982"/>
          </a:xfrm>
          <a:prstGeom prst="roundRect">
            <a:avLst>
              <a:gd name="adj" fmla="val 1748"/>
            </a:avLst>
          </a:prstGeom>
          <a:solidFill>
            <a:srgbClr val="EFF1F8"/>
          </a:solidFill>
          <a:ln w="12700">
            <a:solidFill>
              <a:srgbClr val="EFF1F8"/>
            </a:solidFill>
            <a:prstDash val="solid"/>
          </a:ln>
          <a:effectLst>
            <a:outerShdw blurRad="101600" dist="25400" dir="5400000" algn="bl" rotWithShape="0">
              <a:srgbClr val="B9AFAF">
                <a:alpha val="25000"/>
              </a:srgbClr>
            </a:outerShdw>
          </a:effectLst>
        </p:spPr>
      </p:sp>
      <p:sp>
        <p:nvSpPr>
          <p:cNvPr id="24" name="Text 22"/>
          <p:cNvSpPr/>
          <p:nvPr/>
        </p:nvSpPr>
        <p:spPr>
          <a:xfrm>
            <a:off x="6547104" y="1481328"/>
            <a:ext cx="4754880" cy="292608"/>
          </a:xfrm>
          <a:prstGeom prst="rect">
            <a:avLst/>
          </a:prstGeom>
          <a:noFill/>
          <a:ln/>
        </p:spPr>
        <p:txBody>
          <a:bodyPr wrap="square" lIns="0" tIns="0" rIns="0" bIns="0" rtlCol="0" anchor="ctr"/>
          <a:lstStyle/>
          <a:p>
            <a:pPr marL="0" indent="0">
              <a:buNone/>
            </a:pPr>
            <a:r>
              <a:rPr lang="en-US" sz="2000" b="1" dirty="0">
                <a:solidFill>
                  <a:srgbClr val="2F3C7E"/>
                </a:solidFill>
                <a:latin typeface="Calibri" pitchFamily="34" charset="0"/>
                <a:ea typeface="Calibri" pitchFamily="34" charset="-122"/>
                <a:cs typeface="Calibri" pitchFamily="34" charset="-120"/>
              </a:rPr>
              <a:t>Hiệu năng phần cứng</a:t>
            </a:r>
            <a:endParaRPr lang="en-US" sz="2000" dirty="0"/>
          </a:p>
        </p:txBody>
      </p:sp>
      <p:sp>
        <p:nvSpPr>
          <p:cNvPr id="25" name="Shape 23"/>
          <p:cNvSpPr/>
          <p:nvPr/>
        </p:nvSpPr>
        <p:spPr>
          <a:xfrm>
            <a:off x="6547104" y="2017949"/>
            <a:ext cx="274320" cy="274320"/>
          </a:xfrm>
          <a:prstGeom prst="ellipse">
            <a:avLst/>
          </a:prstGeom>
          <a:solidFill>
            <a:srgbClr val="2F3C7E"/>
          </a:solidFill>
          <a:ln w="12700">
            <a:solidFill>
              <a:srgbClr val="2F3C7E"/>
            </a:solidFill>
            <a:prstDash val="solid"/>
          </a:ln>
        </p:spPr>
      </p:sp>
      <p:sp>
        <p:nvSpPr>
          <p:cNvPr id="26" name="Text 24"/>
          <p:cNvSpPr/>
          <p:nvPr/>
        </p:nvSpPr>
        <p:spPr>
          <a:xfrm>
            <a:off x="6547104" y="2017949"/>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7" name="Text 25"/>
          <p:cNvSpPr/>
          <p:nvPr/>
        </p:nvSpPr>
        <p:spPr>
          <a:xfrm>
            <a:off x="6949440" y="1999661"/>
            <a:ext cx="948677" cy="274320"/>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Độ trễ</a:t>
            </a:r>
            <a:endParaRPr lang="en-US" sz="2000" dirty="0"/>
          </a:p>
        </p:txBody>
      </p:sp>
      <p:sp>
        <p:nvSpPr>
          <p:cNvPr id="29" name="Shape 27"/>
          <p:cNvSpPr/>
          <p:nvPr/>
        </p:nvSpPr>
        <p:spPr>
          <a:xfrm>
            <a:off x="6547104" y="2803897"/>
            <a:ext cx="274320" cy="274320"/>
          </a:xfrm>
          <a:prstGeom prst="ellipse">
            <a:avLst/>
          </a:prstGeom>
          <a:solidFill>
            <a:srgbClr val="2F3C7E"/>
          </a:solidFill>
          <a:ln w="12700">
            <a:solidFill>
              <a:srgbClr val="2F3C7E"/>
            </a:solidFill>
            <a:prstDash val="solid"/>
          </a:ln>
        </p:spPr>
      </p:sp>
      <p:sp>
        <p:nvSpPr>
          <p:cNvPr id="30" name="Text 28"/>
          <p:cNvSpPr/>
          <p:nvPr/>
        </p:nvSpPr>
        <p:spPr>
          <a:xfrm>
            <a:off x="6547104" y="2803897"/>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9"/>
          <p:cNvSpPr/>
          <p:nvPr/>
        </p:nvSpPr>
        <p:spPr>
          <a:xfrm>
            <a:off x="6949440" y="2785609"/>
            <a:ext cx="1584291" cy="274320"/>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Thông lượng</a:t>
            </a:r>
            <a:endParaRPr lang="en-US" sz="2000" dirty="0"/>
          </a:p>
        </p:txBody>
      </p:sp>
      <p:sp>
        <p:nvSpPr>
          <p:cNvPr id="33" name="Shape 31"/>
          <p:cNvSpPr/>
          <p:nvPr/>
        </p:nvSpPr>
        <p:spPr>
          <a:xfrm>
            <a:off x="6547104" y="3587496"/>
            <a:ext cx="274320" cy="274320"/>
          </a:xfrm>
          <a:prstGeom prst="ellipse">
            <a:avLst/>
          </a:prstGeom>
          <a:solidFill>
            <a:srgbClr val="2F3C7E"/>
          </a:solidFill>
          <a:ln w="12700">
            <a:solidFill>
              <a:srgbClr val="2F3C7E"/>
            </a:solidFill>
            <a:prstDash val="solid"/>
          </a:ln>
        </p:spPr>
      </p:sp>
      <p:sp>
        <p:nvSpPr>
          <p:cNvPr id="34" name="Text 32"/>
          <p:cNvSpPr/>
          <p:nvPr/>
        </p:nvSpPr>
        <p:spPr>
          <a:xfrm>
            <a:off x="6547104" y="358749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5" name="Text 33"/>
          <p:cNvSpPr/>
          <p:nvPr/>
        </p:nvSpPr>
        <p:spPr>
          <a:xfrm>
            <a:off x="6949440" y="3569208"/>
            <a:ext cx="3673736" cy="274320"/>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Tài </a:t>
            </a:r>
            <a:r>
              <a:rPr lang="en-US" sz="2000" b="1" dirty="0" err="1">
                <a:solidFill>
                  <a:srgbClr val="1A1C22"/>
                </a:solidFill>
                <a:latin typeface="Calibri" pitchFamily="34" charset="0"/>
                <a:ea typeface="Calibri" pitchFamily="34" charset="-122"/>
                <a:cs typeface="Calibri" pitchFamily="34" charset="-120"/>
              </a:rPr>
              <a:t>nguyên</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sử</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dụng</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trên</a:t>
            </a:r>
            <a:r>
              <a:rPr lang="en-US" sz="2000" b="1" dirty="0">
                <a:solidFill>
                  <a:srgbClr val="1A1C22"/>
                </a:solidFill>
                <a:latin typeface="Calibri" pitchFamily="34" charset="0"/>
                <a:ea typeface="Calibri" pitchFamily="34" charset="-122"/>
                <a:cs typeface="Calibri" pitchFamily="34" charset="-120"/>
              </a:rPr>
              <a:t> FPGA</a:t>
            </a:r>
            <a:endParaRPr lang="en-US" sz="2000" dirty="0"/>
          </a:p>
        </p:txBody>
      </p:sp>
      <p:sp>
        <p:nvSpPr>
          <p:cNvPr id="37" name="Shape 35"/>
          <p:cNvSpPr/>
          <p:nvPr/>
        </p:nvSpPr>
        <p:spPr>
          <a:xfrm>
            <a:off x="6549207" y="4069730"/>
            <a:ext cx="274320" cy="274320"/>
          </a:xfrm>
          <a:prstGeom prst="ellipse">
            <a:avLst/>
          </a:prstGeom>
          <a:solidFill>
            <a:srgbClr val="2F3C7E"/>
          </a:solidFill>
          <a:ln w="12700">
            <a:solidFill>
              <a:srgbClr val="2F3C7E"/>
            </a:solidFill>
            <a:prstDash val="solid"/>
          </a:ln>
        </p:spPr>
      </p:sp>
      <p:sp>
        <p:nvSpPr>
          <p:cNvPr id="38" name="Text 36"/>
          <p:cNvSpPr/>
          <p:nvPr/>
        </p:nvSpPr>
        <p:spPr>
          <a:xfrm>
            <a:off x="6549207" y="406973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Text 37"/>
          <p:cNvSpPr/>
          <p:nvPr/>
        </p:nvSpPr>
        <p:spPr>
          <a:xfrm>
            <a:off x="6949440" y="4044029"/>
            <a:ext cx="2665952" cy="274320"/>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Công suất &amp; năng lượng</a:t>
            </a:r>
            <a:endParaRPr lang="en-US" sz="2000" dirty="0"/>
          </a:p>
        </p:txBody>
      </p:sp>
      <p:sp>
        <p:nvSpPr>
          <p:cNvPr id="42" name="Text 0">
            <a:extLst>
              <a:ext uri="{FF2B5EF4-FFF2-40B4-BE49-F238E27FC236}">
                <a16:creationId xmlns:a16="http://schemas.microsoft.com/office/drawing/2014/main" id="{267FFF31-3802-9DB8-617E-524F0E5F55F5}"/>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4 · KẾT QUẢ THỰC NGHIỆM</a:t>
            </a:r>
            <a:endParaRPr lang="en-US" sz="2500" dirty="0"/>
          </a:p>
        </p:txBody>
      </p:sp>
      <p:pic>
        <p:nvPicPr>
          <p:cNvPr id="44" name="Picture 43">
            <a:extLst>
              <a:ext uri="{FF2B5EF4-FFF2-40B4-BE49-F238E27FC236}">
                <a16:creationId xmlns:a16="http://schemas.microsoft.com/office/drawing/2014/main" id="{6D40E077-7BF1-F796-FA10-D41DE75E9013}"/>
              </a:ext>
            </a:extLst>
          </p:cNvPr>
          <p:cNvPicPr>
            <a:picLocks noChangeAspect="1"/>
          </p:cNvPicPr>
          <p:nvPr/>
        </p:nvPicPr>
        <p:blipFill>
          <a:blip r:embed="rId3"/>
          <a:stretch>
            <a:fillRect/>
          </a:stretch>
        </p:blipFill>
        <p:spPr>
          <a:xfrm>
            <a:off x="1184080" y="4758136"/>
            <a:ext cx="2002474" cy="1911689"/>
          </a:xfrm>
          <a:prstGeom prst="rect">
            <a:avLst/>
          </a:prstGeom>
        </p:spPr>
      </p:pic>
      <p:pic>
        <p:nvPicPr>
          <p:cNvPr id="46" name="Picture 45">
            <a:extLst>
              <a:ext uri="{FF2B5EF4-FFF2-40B4-BE49-F238E27FC236}">
                <a16:creationId xmlns:a16="http://schemas.microsoft.com/office/drawing/2014/main" id="{29B36BD4-D89A-9A81-62E8-656E0B200F22}"/>
              </a:ext>
            </a:extLst>
          </p:cNvPr>
          <p:cNvPicPr>
            <a:picLocks noChangeAspect="1"/>
          </p:cNvPicPr>
          <p:nvPr/>
        </p:nvPicPr>
        <p:blipFill>
          <a:blip r:embed="rId4"/>
          <a:stretch>
            <a:fillRect/>
          </a:stretch>
        </p:blipFill>
        <p:spPr>
          <a:xfrm>
            <a:off x="3529398" y="4759732"/>
            <a:ext cx="2002474" cy="1910093"/>
          </a:xfrm>
          <a:prstGeom prst="rect">
            <a:avLst/>
          </a:prstGeom>
        </p:spPr>
      </p:pic>
      <p:pic>
        <p:nvPicPr>
          <p:cNvPr id="48" name="Picture 47">
            <a:extLst>
              <a:ext uri="{FF2B5EF4-FFF2-40B4-BE49-F238E27FC236}">
                <a16:creationId xmlns:a16="http://schemas.microsoft.com/office/drawing/2014/main" id="{75B618F8-069C-3E28-1015-B53AB7D888E3}"/>
              </a:ext>
            </a:extLst>
          </p:cNvPr>
          <p:cNvPicPr>
            <a:picLocks noChangeAspect="1"/>
          </p:cNvPicPr>
          <p:nvPr/>
        </p:nvPicPr>
        <p:blipFill>
          <a:blip r:embed="rId5"/>
          <a:srcRect t="12901" r="10007" b="1440"/>
          <a:stretch>
            <a:fillRect/>
          </a:stretch>
        </p:blipFill>
        <p:spPr>
          <a:xfrm>
            <a:off x="3015221" y="1755605"/>
            <a:ext cx="2708923" cy="463471"/>
          </a:xfrm>
          <a:prstGeom prst="rect">
            <a:avLst/>
          </a:prstGeom>
        </p:spPr>
      </p:pic>
      <p:pic>
        <p:nvPicPr>
          <p:cNvPr id="50" name="Picture 49">
            <a:extLst>
              <a:ext uri="{FF2B5EF4-FFF2-40B4-BE49-F238E27FC236}">
                <a16:creationId xmlns:a16="http://schemas.microsoft.com/office/drawing/2014/main" id="{A90FA472-1AA4-AA32-8144-91CC3224C7C2}"/>
              </a:ext>
            </a:extLst>
          </p:cNvPr>
          <p:cNvPicPr>
            <a:picLocks noChangeAspect="1"/>
          </p:cNvPicPr>
          <p:nvPr/>
        </p:nvPicPr>
        <p:blipFill>
          <a:blip r:embed="rId6"/>
          <a:stretch>
            <a:fillRect/>
          </a:stretch>
        </p:blipFill>
        <p:spPr>
          <a:xfrm>
            <a:off x="3529398" y="2341763"/>
            <a:ext cx="1889924" cy="883997"/>
          </a:xfrm>
          <a:prstGeom prst="rect">
            <a:avLst/>
          </a:prstGeom>
        </p:spPr>
      </p:pic>
      <p:pic>
        <p:nvPicPr>
          <p:cNvPr id="52" name="Picture 51">
            <a:extLst>
              <a:ext uri="{FF2B5EF4-FFF2-40B4-BE49-F238E27FC236}">
                <a16:creationId xmlns:a16="http://schemas.microsoft.com/office/drawing/2014/main" id="{761AD9C2-2DB0-7B29-CBB4-873FCB46E311}"/>
              </a:ext>
            </a:extLst>
          </p:cNvPr>
          <p:cNvPicPr>
            <a:picLocks noChangeAspect="1"/>
          </p:cNvPicPr>
          <p:nvPr/>
        </p:nvPicPr>
        <p:blipFill>
          <a:blip r:embed="rId7"/>
          <a:stretch>
            <a:fillRect/>
          </a:stretch>
        </p:blipFill>
        <p:spPr>
          <a:xfrm>
            <a:off x="2576608" y="3502336"/>
            <a:ext cx="2987299" cy="434378"/>
          </a:xfrm>
          <a:prstGeom prst="rect">
            <a:avLst/>
          </a:prstGeom>
        </p:spPr>
      </p:pic>
      <p:sp>
        <p:nvSpPr>
          <p:cNvPr id="54" name="Text 14">
            <a:extLst>
              <a:ext uri="{FF2B5EF4-FFF2-40B4-BE49-F238E27FC236}">
                <a16:creationId xmlns:a16="http://schemas.microsoft.com/office/drawing/2014/main" id="{AA62966B-0E18-4B69-81B4-8B4EF6B2F55E}"/>
              </a:ext>
            </a:extLst>
          </p:cNvPr>
          <p:cNvSpPr/>
          <p:nvPr/>
        </p:nvSpPr>
        <p:spPr>
          <a:xfrm>
            <a:off x="795883" y="443637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56" name="Picture 55">
            <a:extLst>
              <a:ext uri="{FF2B5EF4-FFF2-40B4-BE49-F238E27FC236}">
                <a16:creationId xmlns:a16="http://schemas.microsoft.com/office/drawing/2014/main" id="{C14E252C-AF67-9470-DDF0-ACC2C1D77B2F}"/>
              </a:ext>
            </a:extLst>
          </p:cNvPr>
          <p:cNvPicPr>
            <a:picLocks noChangeAspect="1"/>
          </p:cNvPicPr>
          <p:nvPr/>
        </p:nvPicPr>
        <p:blipFill>
          <a:blip r:embed="rId8"/>
          <a:stretch>
            <a:fillRect/>
          </a:stretch>
        </p:blipFill>
        <p:spPr>
          <a:xfrm>
            <a:off x="8421350" y="1825979"/>
            <a:ext cx="1615580" cy="586791"/>
          </a:xfrm>
          <a:prstGeom prst="rect">
            <a:avLst/>
          </a:prstGeom>
        </p:spPr>
      </p:pic>
      <p:pic>
        <p:nvPicPr>
          <p:cNvPr id="58" name="Picture 57">
            <a:extLst>
              <a:ext uri="{FF2B5EF4-FFF2-40B4-BE49-F238E27FC236}">
                <a16:creationId xmlns:a16="http://schemas.microsoft.com/office/drawing/2014/main" id="{63150ECC-A6FD-3E76-C661-E9B0A84F73DC}"/>
              </a:ext>
            </a:extLst>
          </p:cNvPr>
          <p:cNvPicPr>
            <a:picLocks noChangeAspect="1"/>
          </p:cNvPicPr>
          <p:nvPr/>
        </p:nvPicPr>
        <p:blipFill>
          <a:blip r:embed="rId9"/>
          <a:stretch>
            <a:fillRect/>
          </a:stretch>
        </p:blipFill>
        <p:spPr>
          <a:xfrm>
            <a:off x="8387284" y="2643875"/>
            <a:ext cx="2720576" cy="510584"/>
          </a:xfrm>
          <a:prstGeom prst="rect">
            <a:avLst/>
          </a:prstGeom>
        </p:spPr>
      </p:pic>
      <p:pic>
        <p:nvPicPr>
          <p:cNvPr id="60" name="Picture 59">
            <a:extLst>
              <a:ext uri="{FF2B5EF4-FFF2-40B4-BE49-F238E27FC236}">
                <a16:creationId xmlns:a16="http://schemas.microsoft.com/office/drawing/2014/main" id="{5CD278E8-C2B0-B675-41C0-0230E1AE8381}"/>
              </a:ext>
            </a:extLst>
          </p:cNvPr>
          <p:cNvPicPr>
            <a:picLocks noChangeAspect="1"/>
          </p:cNvPicPr>
          <p:nvPr/>
        </p:nvPicPr>
        <p:blipFill>
          <a:blip r:embed="rId10"/>
          <a:stretch>
            <a:fillRect/>
          </a:stretch>
        </p:blipFill>
        <p:spPr>
          <a:xfrm>
            <a:off x="8248574" y="4475424"/>
            <a:ext cx="2912633" cy="54667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661143"/>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4.1.1 </a:t>
            </a:r>
            <a:r>
              <a:rPr lang="en-US" sz="2700" b="1" dirty="0" err="1">
                <a:solidFill>
                  <a:srgbClr val="1A1C22"/>
                </a:solidFill>
                <a:latin typeface="Cambria" pitchFamily="34" charset="0"/>
                <a:ea typeface="Cambria" pitchFamily="34" charset="-122"/>
                <a:cs typeface="Cambria" pitchFamily="34" charset="-120"/>
              </a:rPr>
              <a:t>Kết</a:t>
            </a:r>
            <a:r>
              <a:rPr lang="en-US" sz="2700" b="1" dirty="0">
                <a:solidFill>
                  <a:srgbClr val="1A1C22"/>
                </a:solidFill>
                <a:latin typeface="Cambria" pitchFamily="34" charset="0"/>
                <a:ea typeface="Cambria" pitchFamily="34" charset="-122"/>
                <a:cs typeface="Cambria" pitchFamily="34" charset="-120"/>
              </a:rPr>
              <a:t> quả </a:t>
            </a:r>
            <a:r>
              <a:rPr lang="en-US" sz="2700" b="1" dirty="0" err="1">
                <a:solidFill>
                  <a:srgbClr val="1A1C22"/>
                </a:solidFill>
                <a:latin typeface="Cambria" pitchFamily="34" charset="0"/>
                <a:ea typeface="Cambria" pitchFamily="34" charset="-122"/>
                <a:cs typeface="Cambria" pitchFamily="34" charset="-120"/>
              </a:rPr>
              <a:t>huấn</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luyện</a:t>
            </a:r>
            <a:endParaRPr lang="en-US" sz="2700" dirty="0"/>
          </a:p>
        </p:txBody>
      </p:sp>
      <p:sp>
        <p:nvSpPr>
          <p:cNvPr id="4" name="Text 2"/>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31</a:t>
            </a:r>
            <a:endParaRPr lang="en-US" sz="1000" dirty="0"/>
          </a:p>
        </p:txBody>
      </p:sp>
      <p:pic>
        <p:nvPicPr>
          <p:cNvPr id="5" name="Image 0" descr="img/image14.png"/>
          <p:cNvPicPr>
            <a:picLocks noChangeAspect="1"/>
          </p:cNvPicPr>
          <p:nvPr/>
        </p:nvPicPr>
        <p:blipFill>
          <a:blip r:embed="rId3"/>
          <a:stretch>
            <a:fillRect/>
          </a:stretch>
        </p:blipFill>
        <p:spPr>
          <a:xfrm>
            <a:off x="485776" y="1272551"/>
            <a:ext cx="7697914" cy="2719929"/>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620870660"/>
              </p:ext>
            </p:extLst>
          </p:nvPr>
        </p:nvGraphicFramePr>
        <p:xfrm>
          <a:off x="3365372" y="4729734"/>
          <a:ext cx="6197726" cy="1755648"/>
        </p:xfrm>
        <a:graphic>
          <a:graphicData uri="http://schemas.openxmlformats.org/drawingml/2006/table">
            <a:tbl>
              <a:tblPr/>
              <a:tblGrid>
                <a:gridCol w="2694664">
                  <a:extLst>
                    <a:ext uri="{9D8B030D-6E8A-4147-A177-3AD203B41FA5}">
                      <a16:colId xmlns:a16="http://schemas.microsoft.com/office/drawing/2014/main" val="20000"/>
                    </a:ext>
                  </a:extLst>
                </a:gridCol>
                <a:gridCol w="1113013">
                  <a:extLst>
                    <a:ext uri="{9D8B030D-6E8A-4147-A177-3AD203B41FA5}">
                      <a16:colId xmlns:a16="http://schemas.microsoft.com/office/drawing/2014/main" val="20001"/>
                    </a:ext>
                  </a:extLst>
                </a:gridCol>
                <a:gridCol w="1113013">
                  <a:extLst>
                    <a:ext uri="{9D8B030D-6E8A-4147-A177-3AD203B41FA5}">
                      <a16:colId xmlns:a16="http://schemas.microsoft.com/office/drawing/2014/main" val="20002"/>
                    </a:ext>
                  </a:extLst>
                </a:gridCol>
                <a:gridCol w="1277036">
                  <a:extLst>
                    <a:ext uri="{9D8B030D-6E8A-4147-A177-3AD203B41FA5}">
                      <a16:colId xmlns:a16="http://schemas.microsoft.com/office/drawing/2014/main" val="20003"/>
                    </a:ext>
                  </a:extLst>
                </a:gridCol>
              </a:tblGrid>
              <a:tr h="438912">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Phiên bản mô hình</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Tham số</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Acc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F1-macro</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43891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Float32 đầy đủ</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1.244</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95,35</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0,9478</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Float32 sau tỉa kênh</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640</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95,03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0,9446</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438912">
                <a:tc>
                  <a:txBody>
                    <a:bodyPr/>
                    <a:lstStyle/>
                    <a:p>
                      <a:pPr marL="0" indent="0" algn="l">
                        <a:buNone/>
                      </a:pPr>
                      <a:r>
                        <a:rPr lang="en-US" sz="1800" b="1" dirty="0">
                          <a:solidFill>
                            <a:srgbClr val="1A1C22"/>
                          </a:solidFill>
                          <a:latin typeface="Calibri" pitchFamily="34" charset="0"/>
                          <a:ea typeface="Calibri" pitchFamily="34" charset="-122"/>
                          <a:cs typeface="Calibri" pitchFamily="34" charset="-120"/>
                        </a:rPr>
                        <a:t>INT8 </a:t>
                      </a:r>
                      <a:r>
                        <a:rPr lang="en-US" sz="1800" b="1" dirty="0" err="1">
                          <a:solidFill>
                            <a:srgbClr val="1A1C22"/>
                          </a:solidFill>
                          <a:latin typeface="Calibri" pitchFamily="34" charset="0"/>
                          <a:ea typeface="Calibri" pitchFamily="34" charset="-122"/>
                          <a:cs typeface="Calibri" pitchFamily="34" charset="-120"/>
                        </a:rPr>
                        <a:t>lượng</a:t>
                      </a:r>
                      <a:r>
                        <a:rPr lang="en-US" sz="1800" b="1" dirty="0">
                          <a:solidFill>
                            <a:srgbClr val="1A1C22"/>
                          </a:solidFill>
                          <a:latin typeface="Calibri" pitchFamily="34" charset="0"/>
                          <a:ea typeface="Calibri" pitchFamily="34" charset="-122"/>
                          <a:cs typeface="Calibri" pitchFamily="34" charset="-120"/>
                        </a:rPr>
                        <a:t> </a:t>
                      </a:r>
                      <a:r>
                        <a:rPr lang="en-US" sz="1800" b="1" dirty="0" err="1">
                          <a:solidFill>
                            <a:srgbClr val="1A1C22"/>
                          </a:solidFill>
                          <a:latin typeface="Calibri" pitchFamily="34" charset="0"/>
                          <a:ea typeface="Calibri" pitchFamily="34" charset="-122"/>
                          <a:cs typeface="Calibri" pitchFamily="34" charset="-120"/>
                        </a:rPr>
                        <a:t>tử</a:t>
                      </a:r>
                      <a:r>
                        <a:rPr lang="en-US" sz="1800" b="1" dirty="0">
                          <a:solidFill>
                            <a:srgbClr val="1A1C22"/>
                          </a:solidFill>
                          <a:latin typeface="Calibri" pitchFamily="34" charset="0"/>
                          <a:ea typeface="Calibri" pitchFamily="34" charset="-122"/>
                          <a:cs typeface="Calibri" pitchFamily="34" charset="-120"/>
                        </a:rPr>
                        <a:t> </a:t>
                      </a:r>
                      <a:r>
                        <a:rPr lang="en-US" sz="1800" b="1" dirty="0" err="1">
                          <a:solidFill>
                            <a:srgbClr val="1A1C22"/>
                          </a:solidFill>
                          <a:latin typeface="Calibri" pitchFamily="34" charset="0"/>
                          <a:ea typeface="Calibri" pitchFamily="34" charset="-122"/>
                          <a:cs typeface="Calibri" pitchFamily="34" charset="-120"/>
                        </a:rPr>
                        <a:t>hoá</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1A1C22"/>
                          </a:solidFill>
                          <a:latin typeface="Calibri" pitchFamily="34" charset="0"/>
                          <a:ea typeface="Calibri" pitchFamily="34" charset="-122"/>
                          <a:cs typeface="Calibri" pitchFamily="34" charset="-120"/>
                        </a:rPr>
                        <a:t>640</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90011"/>
                          </a:solidFill>
                          <a:latin typeface="Calibri" pitchFamily="34" charset="0"/>
                          <a:ea typeface="Calibri" pitchFamily="34" charset="-122"/>
                          <a:cs typeface="Calibri" pitchFamily="34" charset="-120"/>
                        </a:rPr>
                        <a:t>94,27</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90011"/>
                          </a:solidFill>
                          <a:latin typeface="Calibri" pitchFamily="34" charset="0"/>
                          <a:ea typeface="Calibri" pitchFamily="34" charset="-122"/>
                          <a:cs typeface="Calibri" pitchFamily="34" charset="-120"/>
                        </a:rPr>
                        <a:t>0,9356</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extBox 14">
            <a:extLst>
              <a:ext uri="{FF2B5EF4-FFF2-40B4-BE49-F238E27FC236}">
                <a16:creationId xmlns:a16="http://schemas.microsoft.com/office/drawing/2014/main" id="{06C62A6A-9867-5E31-B843-7BAD572AFC17}"/>
              </a:ext>
            </a:extLst>
          </p:cNvPr>
          <p:cNvSpPr txBox="1"/>
          <p:nvPr/>
        </p:nvSpPr>
        <p:spPr>
          <a:xfrm>
            <a:off x="2482405" y="4226595"/>
            <a:ext cx="8239125" cy="400110"/>
          </a:xfrm>
          <a:prstGeom prst="rect">
            <a:avLst/>
          </a:prstGeom>
          <a:noFill/>
        </p:spPr>
        <p:txBody>
          <a:bodyPr wrap="square">
            <a:spAutoFit/>
          </a:bodyPr>
          <a:lstStyle/>
          <a:p>
            <a:r>
              <a:rPr lang="en-US" sz="2000" i="1" dirty="0" err="1">
                <a:solidFill>
                  <a:schemeClr val="accent1"/>
                </a:solidFill>
                <a:latin typeface="Calibri" pitchFamily="34" charset="0"/>
                <a:ea typeface="Calibri" pitchFamily="34" charset="-122"/>
                <a:cs typeface="Calibri" pitchFamily="34" charset="-120"/>
              </a:rPr>
              <a:t>Độ</a:t>
            </a:r>
            <a:r>
              <a:rPr lang="en-US" sz="2000" i="1" dirty="0">
                <a:solidFill>
                  <a:schemeClr val="accent1"/>
                </a:solidFill>
                <a:latin typeface="Calibri" pitchFamily="34" charset="0"/>
                <a:ea typeface="Calibri" pitchFamily="34" charset="-122"/>
                <a:cs typeface="Calibri" pitchFamily="34" charset="-120"/>
              </a:rPr>
              <a:t> </a:t>
            </a:r>
            <a:r>
              <a:rPr lang="en-US" sz="2000" i="1" dirty="0" err="1">
                <a:solidFill>
                  <a:schemeClr val="accent1"/>
                </a:solidFill>
                <a:latin typeface="Calibri" pitchFamily="34" charset="0"/>
                <a:ea typeface="Calibri" pitchFamily="34" charset="-122"/>
                <a:cs typeface="Calibri" pitchFamily="34" charset="-120"/>
              </a:rPr>
              <a:t>chính</a:t>
            </a:r>
            <a:r>
              <a:rPr lang="en-US" sz="2000" i="1" dirty="0">
                <a:solidFill>
                  <a:schemeClr val="accent1"/>
                </a:solidFill>
                <a:latin typeface="Calibri" pitchFamily="34" charset="0"/>
                <a:ea typeface="Calibri" pitchFamily="34" charset="-122"/>
                <a:cs typeface="Calibri" pitchFamily="34" charset="-120"/>
              </a:rPr>
              <a:t> </a:t>
            </a:r>
            <a:r>
              <a:rPr lang="en-US" sz="2000" i="1" dirty="0" err="1">
                <a:solidFill>
                  <a:schemeClr val="accent1"/>
                </a:solidFill>
                <a:latin typeface="Calibri" pitchFamily="34" charset="0"/>
                <a:ea typeface="Calibri" pitchFamily="34" charset="-122"/>
                <a:cs typeface="Calibri" pitchFamily="34" charset="-120"/>
              </a:rPr>
              <a:t>xác</a:t>
            </a:r>
            <a:r>
              <a:rPr lang="en-US" sz="2000" i="1" dirty="0">
                <a:solidFill>
                  <a:schemeClr val="accent1"/>
                </a:solidFill>
                <a:latin typeface="Calibri" pitchFamily="34" charset="0"/>
                <a:ea typeface="Calibri" pitchFamily="34" charset="-122"/>
                <a:cs typeface="Calibri" pitchFamily="34" charset="-120"/>
              </a:rPr>
              <a:t> </a:t>
            </a:r>
            <a:r>
              <a:rPr lang="en-US" sz="2000" i="1" dirty="0" err="1">
                <a:solidFill>
                  <a:schemeClr val="accent1"/>
                </a:solidFill>
                <a:latin typeface="Calibri" pitchFamily="34" charset="0"/>
                <a:ea typeface="Calibri" pitchFamily="34" charset="-122"/>
                <a:cs typeface="Calibri" pitchFamily="34" charset="-120"/>
              </a:rPr>
              <a:t>theo</a:t>
            </a:r>
            <a:r>
              <a:rPr lang="en-US" sz="2000" i="1" dirty="0">
                <a:solidFill>
                  <a:schemeClr val="accent1"/>
                </a:solidFill>
                <a:latin typeface="Calibri" pitchFamily="34" charset="0"/>
                <a:ea typeface="Calibri" pitchFamily="34" charset="-122"/>
                <a:cs typeface="Calibri" pitchFamily="34" charset="-120"/>
              </a:rPr>
              <a:t> </a:t>
            </a:r>
            <a:r>
              <a:rPr lang="en-US" sz="2000" i="1" dirty="0" err="1">
                <a:solidFill>
                  <a:schemeClr val="accent1"/>
                </a:solidFill>
                <a:latin typeface="Calibri" pitchFamily="34" charset="0"/>
                <a:ea typeface="Calibri" pitchFamily="34" charset="-122"/>
                <a:cs typeface="Calibri" pitchFamily="34" charset="-120"/>
              </a:rPr>
              <a:t>từng</a:t>
            </a:r>
            <a:r>
              <a:rPr lang="en-US" sz="2000" i="1" dirty="0">
                <a:solidFill>
                  <a:schemeClr val="accent1"/>
                </a:solidFill>
                <a:latin typeface="Calibri" pitchFamily="34" charset="0"/>
                <a:ea typeface="Calibri" pitchFamily="34" charset="-122"/>
                <a:cs typeface="Calibri" pitchFamily="34" charset="-120"/>
              </a:rPr>
              <a:t> </a:t>
            </a:r>
            <a:r>
              <a:rPr lang="en-US" sz="2000" i="1" dirty="0" err="1">
                <a:solidFill>
                  <a:schemeClr val="accent1"/>
                </a:solidFill>
                <a:latin typeface="Calibri" pitchFamily="34" charset="0"/>
                <a:ea typeface="Calibri" pitchFamily="34" charset="-122"/>
                <a:cs typeface="Calibri" pitchFamily="34" charset="-120"/>
              </a:rPr>
              <a:t>bước</a:t>
            </a:r>
            <a:r>
              <a:rPr lang="en-US" sz="2000" i="1" dirty="0">
                <a:solidFill>
                  <a:schemeClr val="accent1"/>
                </a:solidFill>
                <a:latin typeface="Calibri" pitchFamily="34" charset="0"/>
                <a:ea typeface="Calibri" pitchFamily="34" charset="-122"/>
                <a:cs typeface="Calibri" pitchFamily="34" charset="-120"/>
              </a:rPr>
              <a:t> (</a:t>
            </a:r>
            <a:r>
              <a:rPr lang="en-US" sz="2000" i="1" dirty="0" err="1">
                <a:solidFill>
                  <a:schemeClr val="accent1"/>
                </a:solidFill>
                <a:latin typeface="Calibri" pitchFamily="34" charset="0"/>
                <a:ea typeface="Calibri" pitchFamily="34" charset="-122"/>
                <a:cs typeface="Calibri" pitchFamily="34" charset="-120"/>
              </a:rPr>
              <a:t>tập</a:t>
            </a:r>
            <a:r>
              <a:rPr lang="en-US" sz="2000" i="1" dirty="0">
                <a:solidFill>
                  <a:schemeClr val="accent1"/>
                </a:solidFill>
                <a:latin typeface="Calibri" pitchFamily="34" charset="0"/>
                <a:ea typeface="Calibri" pitchFamily="34" charset="-122"/>
                <a:cs typeface="Calibri" pitchFamily="34" charset="-120"/>
              </a:rPr>
              <a:t> </a:t>
            </a:r>
            <a:r>
              <a:rPr lang="en-US" sz="2000" i="1" dirty="0" err="1">
                <a:solidFill>
                  <a:schemeClr val="accent1"/>
                </a:solidFill>
                <a:latin typeface="Calibri" pitchFamily="34" charset="0"/>
                <a:ea typeface="Calibri" pitchFamily="34" charset="-122"/>
                <a:cs typeface="Calibri" pitchFamily="34" charset="-120"/>
              </a:rPr>
              <a:t>kiểm</a:t>
            </a:r>
            <a:r>
              <a:rPr lang="en-US" sz="2000" i="1" dirty="0">
                <a:solidFill>
                  <a:schemeClr val="accent1"/>
                </a:solidFill>
                <a:latin typeface="Calibri" pitchFamily="34" charset="0"/>
                <a:ea typeface="Calibri" pitchFamily="34" charset="-122"/>
                <a:cs typeface="Calibri" pitchFamily="34" charset="-120"/>
              </a:rPr>
              <a:t> </a:t>
            </a:r>
            <a:r>
              <a:rPr lang="en-US" sz="2000" i="1" dirty="0" err="1">
                <a:solidFill>
                  <a:schemeClr val="accent1"/>
                </a:solidFill>
                <a:latin typeface="Calibri" pitchFamily="34" charset="0"/>
                <a:ea typeface="Calibri" pitchFamily="34" charset="-122"/>
                <a:cs typeface="Calibri" pitchFamily="34" charset="-120"/>
              </a:rPr>
              <a:t>tra</a:t>
            </a:r>
            <a:r>
              <a:rPr lang="en-US" sz="2000" i="1" dirty="0">
                <a:solidFill>
                  <a:schemeClr val="accent1"/>
                </a:solidFill>
                <a:latin typeface="Calibri" pitchFamily="34" charset="0"/>
                <a:ea typeface="Calibri" pitchFamily="34" charset="-122"/>
                <a:cs typeface="Calibri" pitchFamily="34" charset="-120"/>
              </a:rPr>
              <a:t> Chapman, 4.973 </a:t>
            </a:r>
            <a:r>
              <a:rPr lang="en-US" sz="2000" i="1" dirty="0" err="1">
                <a:solidFill>
                  <a:schemeClr val="accent1"/>
                </a:solidFill>
                <a:latin typeface="Calibri" pitchFamily="34" charset="0"/>
                <a:ea typeface="Calibri" pitchFamily="34" charset="-122"/>
                <a:cs typeface="Calibri" pitchFamily="34" charset="-120"/>
              </a:rPr>
              <a:t>bản</a:t>
            </a:r>
            <a:r>
              <a:rPr lang="en-US" sz="2000" i="1" dirty="0">
                <a:solidFill>
                  <a:schemeClr val="accent1"/>
                </a:solidFill>
                <a:latin typeface="Calibri" pitchFamily="34" charset="0"/>
                <a:ea typeface="Calibri" pitchFamily="34" charset="-122"/>
                <a:cs typeface="Calibri" pitchFamily="34" charset="-120"/>
              </a:rPr>
              <a:t> </a:t>
            </a:r>
            <a:r>
              <a:rPr lang="en-US" sz="2000" i="1" dirty="0" err="1">
                <a:solidFill>
                  <a:schemeClr val="accent1"/>
                </a:solidFill>
                <a:latin typeface="Calibri" pitchFamily="34" charset="0"/>
                <a:ea typeface="Calibri" pitchFamily="34" charset="-122"/>
                <a:cs typeface="Calibri" pitchFamily="34" charset="-120"/>
              </a:rPr>
              <a:t>ghi</a:t>
            </a:r>
            <a:r>
              <a:rPr lang="en-US" sz="2000" i="1" dirty="0">
                <a:solidFill>
                  <a:schemeClr val="accent1"/>
                </a:solidFill>
                <a:latin typeface="Calibri" pitchFamily="34" charset="0"/>
                <a:ea typeface="Calibri" pitchFamily="34" charset="-122"/>
                <a:cs typeface="Calibri" pitchFamily="34" charset="-120"/>
              </a:rPr>
              <a:t>)</a:t>
            </a:r>
            <a:endParaRPr lang="en-US" sz="2000" dirty="0">
              <a:solidFill>
                <a:schemeClr val="accent1"/>
              </a:solidFill>
            </a:endParaRPr>
          </a:p>
        </p:txBody>
      </p:sp>
      <p:sp>
        <p:nvSpPr>
          <p:cNvPr id="17" name="Text 0">
            <a:extLst>
              <a:ext uri="{FF2B5EF4-FFF2-40B4-BE49-F238E27FC236}">
                <a16:creationId xmlns:a16="http://schemas.microsoft.com/office/drawing/2014/main" id="{DB9B496F-E79C-070E-E837-094A804E7BED}"/>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4 · KẾT QUẢ THỰC NGHIỆM</a:t>
            </a:r>
            <a:endParaRPr lang="en-US" sz="2500" dirty="0"/>
          </a:p>
        </p:txBody>
      </p:sp>
      <p:pic>
        <p:nvPicPr>
          <p:cNvPr id="19" name="Picture 18">
            <a:extLst>
              <a:ext uri="{FF2B5EF4-FFF2-40B4-BE49-F238E27FC236}">
                <a16:creationId xmlns:a16="http://schemas.microsoft.com/office/drawing/2014/main" id="{5C7800EA-90DC-F7CE-2DAA-28148EDE3722}"/>
              </a:ext>
            </a:extLst>
          </p:cNvPr>
          <p:cNvPicPr>
            <a:picLocks noChangeAspect="1"/>
          </p:cNvPicPr>
          <p:nvPr/>
        </p:nvPicPr>
        <p:blipFill>
          <a:blip r:embed="rId4"/>
          <a:stretch>
            <a:fillRect/>
          </a:stretch>
        </p:blipFill>
        <p:spPr>
          <a:xfrm>
            <a:off x="8342185" y="1572334"/>
            <a:ext cx="3590735" cy="233762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1BC86-0FE4-1DF2-357B-509653A5649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89DF391-F700-1FA3-8C23-49D1A39CBB9D}"/>
              </a:ext>
            </a:extLst>
          </p:cNvPr>
          <p:cNvSpPr/>
          <p:nvPr/>
        </p:nvSpPr>
        <p:spPr>
          <a:xfrm>
            <a:off x="566928" y="636854"/>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4.1.2 </a:t>
            </a:r>
            <a:r>
              <a:rPr lang="en-US" sz="2700" b="1" dirty="0" err="1">
                <a:solidFill>
                  <a:srgbClr val="1A1C22"/>
                </a:solidFill>
                <a:latin typeface="Cambria" pitchFamily="34" charset="0"/>
                <a:ea typeface="Cambria" pitchFamily="34" charset="-122"/>
                <a:cs typeface="Cambria" pitchFamily="34" charset="-120"/>
              </a:rPr>
              <a:t>Kết</a:t>
            </a:r>
            <a:r>
              <a:rPr lang="en-US" sz="2700" b="1" dirty="0">
                <a:solidFill>
                  <a:srgbClr val="1A1C22"/>
                </a:solidFill>
                <a:latin typeface="Cambria" pitchFamily="34" charset="0"/>
                <a:ea typeface="Cambria" pitchFamily="34" charset="-122"/>
                <a:cs typeface="Cambria" pitchFamily="34" charset="-120"/>
              </a:rPr>
              <a:t> quả chi tiết </a:t>
            </a:r>
            <a:r>
              <a:rPr lang="en-US" sz="2700" b="1" dirty="0" err="1">
                <a:solidFill>
                  <a:srgbClr val="1A1C22"/>
                </a:solidFill>
                <a:latin typeface="Cambria" pitchFamily="34" charset="0"/>
                <a:ea typeface="Cambria" pitchFamily="34" charset="-122"/>
                <a:cs typeface="Cambria" pitchFamily="34" charset="-120"/>
              </a:rPr>
              <a:t>theo</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lớp</a:t>
            </a:r>
            <a:r>
              <a:rPr lang="en-US" sz="2700" b="1" dirty="0">
                <a:solidFill>
                  <a:srgbClr val="1A1C22"/>
                </a:solidFill>
                <a:latin typeface="Cambria" pitchFamily="34" charset="0"/>
                <a:ea typeface="Cambria" pitchFamily="34" charset="-122"/>
                <a:cs typeface="Cambria" pitchFamily="34" charset="-120"/>
              </a:rPr>
              <a:t> – </a:t>
            </a:r>
            <a:r>
              <a:rPr lang="en-US" sz="2700" b="1" dirty="0" err="1">
                <a:solidFill>
                  <a:srgbClr val="1A1C22"/>
                </a:solidFill>
                <a:latin typeface="Cambria" pitchFamily="34" charset="0"/>
                <a:ea typeface="Cambria" pitchFamily="34" charset="-122"/>
                <a:cs typeface="Cambria" pitchFamily="34" charset="-120"/>
              </a:rPr>
              <a:t>tập</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dữ</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liệu</a:t>
            </a:r>
            <a:r>
              <a:rPr lang="en-US" sz="2700" b="1" dirty="0">
                <a:solidFill>
                  <a:srgbClr val="1A1C22"/>
                </a:solidFill>
                <a:latin typeface="Cambria" pitchFamily="34" charset="0"/>
                <a:ea typeface="Cambria" pitchFamily="34" charset="-122"/>
                <a:cs typeface="Cambria" pitchFamily="34" charset="-120"/>
              </a:rPr>
              <a:t> Chapman </a:t>
            </a:r>
            <a:r>
              <a:rPr lang="en-US" sz="2700" b="1" dirty="0" err="1">
                <a:solidFill>
                  <a:srgbClr val="1A1C22"/>
                </a:solidFill>
                <a:latin typeface="Cambria" pitchFamily="34" charset="0"/>
                <a:ea typeface="Cambria" pitchFamily="34" charset="-122"/>
                <a:cs typeface="Cambria" pitchFamily="34" charset="-120"/>
              </a:rPr>
              <a:t>và</a:t>
            </a:r>
            <a:r>
              <a:rPr lang="en-US" sz="2700" b="1" dirty="0">
                <a:solidFill>
                  <a:srgbClr val="1A1C22"/>
                </a:solidFill>
                <a:latin typeface="Cambria" pitchFamily="34" charset="0"/>
                <a:ea typeface="Cambria" pitchFamily="34" charset="-122"/>
                <a:cs typeface="Cambria" pitchFamily="34" charset="-120"/>
              </a:rPr>
              <a:t> Georgia</a:t>
            </a:r>
            <a:endParaRPr lang="en-US" sz="2700" dirty="0"/>
          </a:p>
        </p:txBody>
      </p:sp>
      <p:pic>
        <p:nvPicPr>
          <p:cNvPr id="5" name="Image 0" descr="img/image15.png">
            <a:extLst>
              <a:ext uri="{FF2B5EF4-FFF2-40B4-BE49-F238E27FC236}">
                <a16:creationId xmlns:a16="http://schemas.microsoft.com/office/drawing/2014/main" id="{8743160B-3568-B7B7-7F4C-EC6A614835BA}"/>
              </a:ext>
            </a:extLst>
          </p:cNvPr>
          <p:cNvPicPr>
            <a:picLocks noChangeAspect="1"/>
          </p:cNvPicPr>
          <p:nvPr/>
        </p:nvPicPr>
        <p:blipFill>
          <a:blip r:embed="rId3"/>
          <a:stretch>
            <a:fillRect/>
          </a:stretch>
        </p:blipFill>
        <p:spPr>
          <a:xfrm>
            <a:off x="0" y="1044949"/>
            <a:ext cx="3454399" cy="3071008"/>
          </a:xfrm>
          <a:prstGeom prst="rect">
            <a:avLst/>
          </a:prstGeom>
        </p:spPr>
      </p:pic>
      <p:graphicFrame>
        <p:nvGraphicFramePr>
          <p:cNvPr id="24" name="Table 0">
            <a:extLst>
              <a:ext uri="{FF2B5EF4-FFF2-40B4-BE49-F238E27FC236}">
                <a16:creationId xmlns:a16="http://schemas.microsoft.com/office/drawing/2014/main" id="{8A5397F1-6FA9-7788-D725-20B5CA2962CE}"/>
              </a:ext>
            </a:extLst>
          </p:cNvPr>
          <p:cNvGraphicFramePr>
            <a:graphicFrameLocks noGrp="1"/>
          </p:cNvGraphicFramePr>
          <p:nvPr>
            <p:extLst>
              <p:ext uri="{D42A27DB-BD31-4B8C-83A1-F6EECF244321}">
                <p14:modId xmlns:p14="http://schemas.microsoft.com/office/powerpoint/2010/main" val="281850267"/>
              </p:ext>
            </p:extLst>
          </p:nvPr>
        </p:nvGraphicFramePr>
        <p:xfrm>
          <a:off x="6739429" y="1466073"/>
          <a:ext cx="5086752" cy="2194560"/>
        </p:xfrm>
        <a:graphic>
          <a:graphicData uri="http://schemas.openxmlformats.org/drawingml/2006/table">
            <a:tbl>
              <a:tblPr/>
              <a:tblGrid>
                <a:gridCol w="937905">
                  <a:extLst>
                    <a:ext uri="{9D8B030D-6E8A-4147-A177-3AD203B41FA5}">
                      <a16:colId xmlns:a16="http://schemas.microsoft.com/office/drawing/2014/main" val="20000"/>
                    </a:ext>
                  </a:extLst>
                </a:gridCol>
                <a:gridCol w="993075">
                  <a:extLst>
                    <a:ext uri="{9D8B030D-6E8A-4147-A177-3AD203B41FA5}">
                      <a16:colId xmlns:a16="http://schemas.microsoft.com/office/drawing/2014/main" val="20001"/>
                    </a:ext>
                  </a:extLst>
                </a:gridCol>
                <a:gridCol w="993075">
                  <a:extLst>
                    <a:ext uri="{9D8B030D-6E8A-4147-A177-3AD203B41FA5}">
                      <a16:colId xmlns:a16="http://schemas.microsoft.com/office/drawing/2014/main" val="20002"/>
                    </a:ext>
                  </a:extLst>
                </a:gridCol>
                <a:gridCol w="1059280">
                  <a:extLst>
                    <a:ext uri="{9D8B030D-6E8A-4147-A177-3AD203B41FA5}">
                      <a16:colId xmlns:a16="http://schemas.microsoft.com/office/drawing/2014/main" val="20003"/>
                    </a:ext>
                  </a:extLst>
                </a:gridCol>
                <a:gridCol w="1103417">
                  <a:extLst>
                    <a:ext uri="{9D8B030D-6E8A-4147-A177-3AD203B41FA5}">
                      <a16:colId xmlns:a16="http://schemas.microsoft.com/office/drawing/2014/main" val="20004"/>
                    </a:ext>
                  </a:extLst>
                </a:gridCol>
              </a:tblGrid>
              <a:tr h="347472">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Lớp</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Prec.</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F1</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Mẫu</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34747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AFIB</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0,9267</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0,9062</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0,9163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1.130</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GSVT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0,8698</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0,9459</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0,9063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869</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34747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SB</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0,9756</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0,9810</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0,9783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1.791</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SR</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0,9670</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0,9172</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0,9414</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1.183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r h="347472">
                <a:tc>
                  <a:txBody>
                    <a:bodyPr/>
                    <a:lstStyle/>
                    <a:p>
                      <a:pPr marL="0" indent="0" algn="l">
                        <a:buNone/>
                      </a:pPr>
                      <a:r>
                        <a:rPr lang="en-US" sz="1800" b="1" dirty="0">
                          <a:solidFill>
                            <a:srgbClr val="1A1C22"/>
                          </a:solidFill>
                          <a:latin typeface="Calibri" pitchFamily="34" charset="0"/>
                          <a:ea typeface="Calibri" pitchFamily="34" charset="-122"/>
                          <a:cs typeface="Calibri" pitchFamily="34" charset="-120"/>
                        </a:rPr>
                        <a:t>Macro</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90011"/>
                          </a:solidFill>
                          <a:latin typeface="Calibri" pitchFamily="34" charset="0"/>
                          <a:ea typeface="Calibri" pitchFamily="34" charset="-122"/>
                          <a:cs typeface="Calibri" pitchFamily="34" charset="-120"/>
                        </a:rPr>
                        <a:t>0,9356</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1A1C22"/>
                          </a:solidFill>
                          <a:latin typeface="Calibri" pitchFamily="34" charset="0"/>
                          <a:ea typeface="Calibri" pitchFamily="34" charset="-122"/>
                          <a:cs typeface="Calibri" pitchFamily="34" charset="-120"/>
                        </a:rPr>
                        <a:t>4.973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7">
            <a:extLst>
              <a:ext uri="{FF2B5EF4-FFF2-40B4-BE49-F238E27FC236}">
                <a16:creationId xmlns:a16="http://schemas.microsoft.com/office/drawing/2014/main" id="{C4232476-867D-447F-65AB-2AF51CA6622B}"/>
              </a:ext>
            </a:extLst>
          </p:cNvPr>
          <p:cNvSpPr/>
          <p:nvPr/>
        </p:nvSpPr>
        <p:spPr>
          <a:xfrm>
            <a:off x="7769890" y="2814201"/>
            <a:ext cx="3749040" cy="292608"/>
          </a:xfrm>
          <a:prstGeom prst="rect">
            <a:avLst/>
          </a:prstGeom>
          <a:noFill/>
          <a:ln/>
        </p:spPr>
        <p:txBody>
          <a:bodyPr wrap="square" lIns="0" tIns="0" rIns="0" bIns="0" rtlCol="0" anchor="ctr"/>
          <a:lstStyle/>
          <a:p>
            <a:pPr marL="0" indent="0">
              <a:buNone/>
            </a:pPr>
            <a:endParaRPr lang="en-US" sz="1400" dirty="0"/>
          </a:p>
        </p:txBody>
      </p:sp>
      <p:sp>
        <p:nvSpPr>
          <p:cNvPr id="13" name="Text 8">
            <a:extLst>
              <a:ext uri="{FF2B5EF4-FFF2-40B4-BE49-F238E27FC236}">
                <a16:creationId xmlns:a16="http://schemas.microsoft.com/office/drawing/2014/main" id="{02AD1921-8DE0-A296-6781-4A12EBBD4F23}"/>
              </a:ext>
            </a:extLst>
          </p:cNvPr>
          <p:cNvSpPr/>
          <p:nvPr/>
        </p:nvSpPr>
        <p:spPr>
          <a:xfrm>
            <a:off x="7644384" y="4133088"/>
            <a:ext cx="3749040" cy="1783080"/>
          </a:xfrm>
          <a:prstGeom prst="rect">
            <a:avLst/>
          </a:prstGeom>
          <a:noFill/>
          <a:ln/>
        </p:spPr>
        <p:txBody>
          <a:bodyPr wrap="square" lIns="0" tIns="0" rIns="0" bIns="0" rtlCol="0" anchor="t"/>
          <a:lstStyle/>
          <a:p>
            <a:pPr marL="342900" indent="-342900">
              <a:spcAft>
                <a:spcPts val="700"/>
              </a:spcAft>
              <a:buSzPct val="100000"/>
              <a:buChar char="•"/>
            </a:pPr>
            <a:endParaRPr lang="en-US" sz="1100" dirty="0"/>
          </a:p>
        </p:txBody>
      </p:sp>
      <p:sp>
        <p:nvSpPr>
          <p:cNvPr id="14" name="Shape 9">
            <a:extLst>
              <a:ext uri="{FF2B5EF4-FFF2-40B4-BE49-F238E27FC236}">
                <a16:creationId xmlns:a16="http://schemas.microsoft.com/office/drawing/2014/main" id="{81D04FB7-C92F-441B-F0C4-27A568A243C2}"/>
              </a:ext>
            </a:extLst>
          </p:cNvPr>
          <p:cNvSpPr/>
          <p:nvPr/>
        </p:nvSpPr>
        <p:spPr>
          <a:xfrm>
            <a:off x="275706" y="4317186"/>
            <a:ext cx="6208221" cy="2005110"/>
          </a:xfrm>
          <a:prstGeom prst="roundRect">
            <a:avLst>
              <a:gd name="adj" fmla="val 8571"/>
            </a:avLst>
          </a:prstGeom>
          <a:solidFill>
            <a:srgbClr val="EFF1F8"/>
          </a:solidFill>
          <a:ln w="12700">
            <a:solidFill>
              <a:srgbClr val="EFF1F8"/>
            </a:solidFill>
            <a:prstDash val="solid"/>
          </a:ln>
        </p:spPr>
        <p:txBody>
          <a:bodyPr/>
          <a:lstStyle/>
          <a:p>
            <a:pPr algn="just">
              <a:spcBef>
                <a:spcPts val="300"/>
              </a:spcBef>
              <a:spcAft>
                <a:spcPts val="300"/>
              </a:spcAft>
            </a:pPr>
            <a:r>
              <a:rPr lang="en-US" dirty="0" err="1">
                <a:solidFill>
                  <a:srgbClr val="1A1C22"/>
                </a:solidFill>
                <a:latin typeface="Calibri" pitchFamily="34" charset="0"/>
                <a:ea typeface="Calibri" pitchFamily="34" charset="-122"/>
                <a:cs typeface="Calibri" pitchFamily="34" charset="-120"/>
              </a:rPr>
              <a:t>Nhận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xét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Mô</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hình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phiên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bản</a:t>
            </a:r>
            <a:r>
              <a:rPr lang="en-US" dirty="0">
                <a:solidFill>
                  <a:srgbClr val="1A1C22"/>
                </a:solidFill>
                <a:latin typeface="Calibri" pitchFamily="34" charset="0"/>
                <a:ea typeface="Calibri" pitchFamily="34" charset="-122"/>
                <a:cs typeface="Calibri" pitchFamily="34" charset="-120"/>
              </a:rPr>
              <a:t> INT8 </a:t>
            </a:r>
            <a:r>
              <a:rPr lang="en-US" dirty="0" err="1">
                <a:solidFill>
                  <a:srgbClr val="1A1C22"/>
                </a:solidFill>
                <a:latin typeface="Calibri" pitchFamily="34" charset="0"/>
                <a:ea typeface="Calibri" pitchFamily="34" charset="-122"/>
                <a:cs typeface="Calibri" pitchFamily="34" charset="-120"/>
              </a:rPr>
              <a:t>chỉ</a:t>
            </a:r>
            <a:r>
              <a:rPr lang="en-US" dirty="0">
                <a:solidFill>
                  <a:srgbClr val="1A1C22"/>
                </a:solidFill>
                <a:latin typeface="Calibri" pitchFamily="34" charset="0"/>
                <a:ea typeface="Calibri" pitchFamily="34" charset="-122"/>
                <a:cs typeface="Calibri" pitchFamily="34" charset="-120"/>
              </a:rPr>
              <a:t> 640 </a:t>
            </a:r>
            <a:r>
              <a:rPr lang="en-US" dirty="0" err="1">
                <a:solidFill>
                  <a:srgbClr val="1A1C22"/>
                </a:solidFill>
                <a:latin typeface="Calibri" pitchFamily="34" charset="0"/>
                <a:ea typeface="Calibri" pitchFamily="34" charset="-122"/>
                <a:cs typeface="Calibri" pitchFamily="34" charset="-120"/>
              </a:rPr>
              <a:t>tham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đạt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chính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xác</a:t>
            </a:r>
            <a:r>
              <a:rPr lang="en-US" dirty="0">
                <a:solidFill>
                  <a:srgbClr val="1A1C22"/>
                </a:solidFill>
                <a:latin typeface="Calibri" pitchFamily="34" charset="0"/>
                <a:ea typeface="Calibri" pitchFamily="34" charset="-122"/>
                <a:cs typeface="Calibri" pitchFamily="34" charset="-120"/>
              </a:rPr>
              <a:t> 94,27 %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F1-macro 0,9356 </a:t>
            </a:r>
            <a:r>
              <a:rPr lang="en-US" dirty="0" err="1">
                <a:solidFill>
                  <a:srgbClr val="1A1C22"/>
                </a:solidFill>
                <a:latin typeface="Calibri" pitchFamily="34" charset="0"/>
                <a:ea typeface="Calibri" pitchFamily="34" charset="-122"/>
                <a:cs typeface="Calibri" pitchFamily="34" charset="-120"/>
              </a:rPr>
              <a:t>trên</a:t>
            </a:r>
            <a:r>
              <a:rPr lang="en-US" dirty="0">
                <a:solidFill>
                  <a:srgbClr val="1A1C22"/>
                </a:solidFill>
                <a:latin typeface="Calibri" pitchFamily="34" charset="0"/>
                <a:ea typeface="Calibri" pitchFamily="34" charset="-122"/>
                <a:cs typeface="Calibri" pitchFamily="34" charset="-120"/>
              </a:rPr>
              <a:t> 4.973 </a:t>
            </a:r>
            <a:r>
              <a:rPr lang="en-US" dirty="0" err="1">
                <a:solidFill>
                  <a:srgbClr val="1A1C22"/>
                </a:solidFill>
                <a:latin typeface="Calibri" pitchFamily="34" charset="0"/>
                <a:ea typeface="Calibri" pitchFamily="34" charset="-122"/>
                <a:cs typeface="Calibri" pitchFamily="34" charset="-120"/>
              </a:rPr>
              <a:t>bản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kiểm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tra</a:t>
            </a:r>
            <a:r>
              <a:rPr lang="en-US" dirty="0">
                <a:solidFill>
                  <a:srgbClr val="1A1C22"/>
                </a:solidFill>
                <a:latin typeface="Calibri" pitchFamily="34" charset="0"/>
                <a:ea typeface="Calibri" pitchFamily="34" charset="-122"/>
                <a:cs typeface="Calibri" pitchFamily="34" charset="-120"/>
              </a:rPr>
              <a:t> Chapman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đạt</a:t>
            </a:r>
            <a:r>
              <a:rPr lang="en-US" dirty="0">
                <a:solidFill>
                  <a:srgbClr val="1A1C22"/>
                </a:solidFill>
                <a:latin typeface="Calibri" pitchFamily="34" charset="0"/>
                <a:ea typeface="Calibri" pitchFamily="34" charset="-122"/>
                <a:cs typeface="Calibri" pitchFamily="34" charset="-120"/>
              </a:rPr>
              <a:t> 93,00 %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F1-macro 0,9151 </a:t>
            </a:r>
            <a:r>
              <a:rPr lang="en-US" dirty="0" err="1">
                <a:solidFill>
                  <a:srgbClr val="1A1C22"/>
                </a:solidFill>
                <a:latin typeface="Calibri" pitchFamily="34" charset="0"/>
                <a:ea typeface="Calibri" pitchFamily="34" charset="-122"/>
                <a:cs typeface="Calibri" pitchFamily="34" charset="-120"/>
              </a:rPr>
              <a:t>trên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bản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ghi</a:t>
            </a:r>
            <a:r>
              <a:rPr lang="en-US" dirty="0">
                <a:solidFill>
                  <a:srgbClr val="1A1C22"/>
                </a:solidFill>
                <a:latin typeface="Calibri" pitchFamily="34" charset="0"/>
                <a:ea typeface="Calibri" pitchFamily="34" charset="-122"/>
                <a:cs typeface="Calibri" pitchFamily="34" charset="-120"/>
              </a:rPr>
              <a:t> Georgia </a:t>
            </a:r>
          </a:p>
          <a:p>
            <a:pPr algn="just">
              <a:spcBef>
                <a:spcPts val="300"/>
              </a:spcBef>
              <a:spcAft>
                <a:spcPts val="300"/>
              </a:spcAft>
            </a:pPr>
            <a:r>
              <a:rPr lang="en-US" dirty="0">
                <a:solidFill>
                  <a:srgbClr val="1A1C22"/>
                </a:solidFill>
                <a:latin typeface="Calibri" pitchFamily="34" charset="0"/>
                <a:ea typeface="Calibri" pitchFamily="34" charset="-122"/>
                <a:cs typeface="Calibri" pitchFamily="34" charset="-120"/>
                <a:sym typeface="Wingdings" panose="05000000000000000000" pitchFamily="2" charset="2"/>
              </a:rPr>
              <a: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chỉ</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thấp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hơn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khoảng</a:t>
            </a:r>
            <a:r>
              <a:rPr lang="en-US" dirty="0">
                <a:solidFill>
                  <a:srgbClr val="1A1C22"/>
                </a:solidFill>
                <a:latin typeface="Calibri" pitchFamily="34" charset="0"/>
                <a:ea typeface="Calibri" pitchFamily="34" charset="-122"/>
                <a:cs typeface="Calibri" pitchFamily="34" charset="-120"/>
              </a:rPr>
              <a:t> </a:t>
            </a:r>
            <a:r>
              <a:rPr lang="en-US" b="1" dirty="0">
                <a:solidFill>
                  <a:srgbClr val="1A1C22"/>
                </a:solidFill>
                <a:latin typeface="Calibri" pitchFamily="34" charset="0"/>
                <a:ea typeface="Calibri" pitchFamily="34" charset="-122"/>
                <a:cs typeface="Calibri" pitchFamily="34" charset="-120"/>
              </a:rPr>
              <a:t>1,3 </a:t>
            </a:r>
            <a:r>
              <a:rPr lang="en-US" b="1" dirty="0" err="1">
                <a:solidFill>
                  <a:srgbClr val="1A1C22"/>
                </a:solidFill>
                <a:latin typeface="Calibri" pitchFamily="34" charset="0"/>
                <a:ea typeface="Calibri" pitchFamily="34" charset="-122"/>
                <a:cs typeface="Calibri" pitchFamily="34" charset="-120"/>
              </a:rPr>
              <a:t>điểm</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phần</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trăm</a:t>
            </a:r>
            <a:r>
              <a:rPr lang="en-US" b="1" dirty="0">
                <a:solidFill>
                  <a:srgbClr val="1A1C22"/>
                </a:solidFill>
                <a:latin typeface="Calibri" pitchFamily="34" charset="0"/>
                <a:ea typeface="Calibri" pitchFamily="34" charset="-122"/>
                <a:cs typeface="Calibri" pitchFamily="34" charset="-120"/>
              </a:rPr>
              <a:t> </a:t>
            </a:r>
            <a:r>
              <a:rPr lang="en-US" dirty="0">
                <a:solidFill>
                  <a:srgbClr val="1A1C22"/>
                </a:solidFill>
                <a:latin typeface="Calibri" pitchFamily="34" charset="0"/>
                <a:ea typeface="Calibri" pitchFamily="34" charset="-122"/>
                <a:cs typeface="Calibri" pitchFamily="34" charset="-120"/>
              </a:rPr>
              <a:t>so </a:t>
            </a:r>
            <a:r>
              <a:rPr lang="en-US" dirty="0" err="1">
                <a:solidFill>
                  <a:srgbClr val="1A1C22"/>
                </a:solidFill>
                <a:latin typeface="Calibri" pitchFamily="34" charset="0"/>
                <a:ea typeface="Calibri" pitchFamily="34" charset="-122"/>
                <a:cs typeface="Calibri" pitchFamily="34" charset="-120"/>
              </a:rPr>
              <a:t>với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kết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quả</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trong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phân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bố</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mức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suy</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giảm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nhỏ</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với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phép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chuyển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giao</a:t>
            </a:r>
            <a:r>
              <a:rPr lang="en-US" dirty="0">
                <a:solidFill>
                  <a:srgbClr val="1A1C22"/>
                </a:solidFill>
                <a:latin typeface="Calibri" pitchFamily="34" charset="0"/>
                <a:ea typeface="Calibri" pitchFamily="34" charset="-122"/>
                <a:cs typeface="Calibri" pitchFamily="34" charset="-120"/>
              </a:rPr>
              <a:t> xa.</a:t>
            </a:r>
            <a:endParaRPr lang="en-US" dirty="0"/>
          </a:p>
          <a:p>
            <a:endParaRPr lang="en-US" dirty="0"/>
          </a:p>
          <a:p>
            <a:endParaRPr lang="en-US" dirty="0"/>
          </a:p>
        </p:txBody>
      </p:sp>
      <p:sp>
        <p:nvSpPr>
          <p:cNvPr id="17" name="Text 0">
            <a:extLst>
              <a:ext uri="{FF2B5EF4-FFF2-40B4-BE49-F238E27FC236}">
                <a16:creationId xmlns:a16="http://schemas.microsoft.com/office/drawing/2014/main" id="{BA01D673-8CD8-C920-66FC-2FD7BE1E2AC9}"/>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4 · KẾT QUẢ THỰC NGHIỆM</a:t>
            </a:r>
            <a:endParaRPr lang="en-US" sz="2500" dirty="0"/>
          </a:p>
        </p:txBody>
      </p:sp>
      <p:pic>
        <p:nvPicPr>
          <p:cNvPr id="6" name="Image 0" descr="img/image17.png">
            <a:extLst>
              <a:ext uri="{FF2B5EF4-FFF2-40B4-BE49-F238E27FC236}">
                <a16:creationId xmlns:a16="http://schemas.microsoft.com/office/drawing/2014/main" id="{7CAFE501-DCF1-9DAE-A588-32877E3169E7}"/>
              </a:ext>
            </a:extLst>
          </p:cNvPr>
          <p:cNvPicPr>
            <a:picLocks noChangeAspect="1"/>
          </p:cNvPicPr>
          <p:nvPr/>
        </p:nvPicPr>
        <p:blipFill>
          <a:blip r:embed="rId4"/>
          <a:stretch>
            <a:fillRect/>
          </a:stretch>
        </p:blipFill>
        <p:spPr>
          <a:xfrm>
            <a:off x="3262111" y="1044949"/>
            <a:ext cx="3373176" cy="2998597"/>
          </a:xfrm>
          <a:prstGeom prst="rect">
            <a:avLst/>
          </a:prstGeom>
        </p:spPr>
      </p:pic>
      <p:graphicFrame>
        <p:nvGraphicFramePr>
          <p:cNvPr id="8" name="Table 0">
            <a:extLst>
              <a:ext uri="{FF2B5EF4-FFF2-40B4-BE49-F238E27FC236}">
                <a16:creationId xmlns:a16="http://schemas.microsoft.com/office/drawing/2014/main" id="{A470C605-4456-83E1-3ABE-435C2C23050A}"/>
              </a:ext>
            </a:extLst>
          </p:cNvPr>
          <p:cNvGraphicFramePr>
            <a:graphicFrameLocks noGrp="1"/>
          </p:cNvGraphicFramePr>
          <p:nvPr>
            <p:extLst>
              <p:ext uri="{D42A27DB-BD31-4B8C-83A1-F6EECF244321}">
                <p14:modId xmlns:p14="http://schemas.microsoft.com/office/powerpoint/2010/main" val="2828403300"/>
              </p:ext>
            </p:extLst>
          </p:nvPr>
        </p:nvGraphicFramePr>
        <p:xfrm>
          <a:off x="6873900" y="4317186"/>
          <a:ext cx="4952281" cy="2377440"/>
        </p:xfrm>
        <a:graphic>
          <a:graphicData uri="http://schemas.openxmlformats.org/drawingml/2006/table">
            <a:tbl>
              <a:tblPr/>
              <a:tblGrid>
                <a:gridCol w="913110">
                  <a:extLst>
                    <a:ext uri="{9D8B030D-6E8A-4147-A177-3AD203B41FA5}">
                      <a16:colId xmlns:a16="http://schemas.microsoft.com/office/drawing/2014/main" val="20000"/>
                    </a:ext>
                  </a:extLst>
                </a:gridCol>
                <a:gridCol w="966823">
                  <a:extLst>
                    <a:ext uri="{9D8B030D-6E8A-4147-A177-3AD203B41FA5}">
                      <a16:colId xmlns:a16="http://schemas.microsoft.com/office/drawing/2014/main" val="20001"/>
                    </a:ext>
                  </a:extLst>
                </a:gridCol>
                <a:gridCol w="966823">
                  <a:extLst>
                    <a:ext uri="{9D8B030D-6E8A-4147-A177-3AD203B41FA5}">
                      <a16:colId xmlns:a16="http://schemas.microsoft.com/office/drawing/2014/main" val="20002"/>
                    </a:ext>
                  </a:extLst>
                </a:gridCol>
                <a:gridCol w="1031277">
                  <a:extLst>
                    <a:ext uri="{9D8B030D-6E8A-4147-A177-3AD203B41FA5}">
                      <a16:colId xmlns:a16="http://schemas.microsoft.com/office/drawing/2014/main" val="20003"/>
                    </a:ext>
                  </a:extLst>
                </a:gridCol>
                <a:gridCol w="1074248">
                  <a:extLst>
                    <a:ext uri="{9D8B030D-6E8A-4147-A177-3AD203B41FA5}">
                      <a16:colId xmlns:a16="http://schemas.microsoft.com/office/drawing/2014/main" val="20004"/>
                    </a:ext>
                  </a:extLst>
                </a:gridCol>
              </a:tblGrid>
              <a:tr h="329184">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Lớp</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Prec.</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Recall</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F1</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Mẫu</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329184">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AFIB</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0,8309</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0,8237</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0,8273</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692</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GSVT</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0,9208</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0,9455</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0,9329</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1.192</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329184">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SB</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0,9537</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0,9625</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0,9581</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1.521</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2000" dirty="0">
                          <a:solidFill>
                            <a:srgbClr val="1A1C22"/>
                          </a:solidFill>
                          <a:latin typeface="Calibri" pitchFamily="34" charset="0"/>
                          <a:ea typeface="Calibri" pitchFamily="34" charset="-122"/>
                          <a:cs typeface="Calibri" pitchFamily="34" charset="-120"/>
                        </a:rPr>
                        <a:t>SR</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0,9513</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0,9328</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0,9420</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2.054</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r h="329184">
                <a:tc>
                  <a:txBody>
                    <a:bodyPr/>
                    <a:lstStyle/>
                    <a:p>
                      <a:pPr marL="0" indent="0" algn="l">
                        <a:buNone/>
                      </a:pPr>
                      <a:r>
                        <a:rPr lang="en-US" sz="2000" b="1" dirty="0">
                          <a:solidFill>
                            <a:srgbClr val="1A1C22"/>
                          </a:solidFill>
                          <a:latin typeface="Calibri" pitchFamily="34" charset="0"/>
                          <a:ea typeface="Calibri" pitchFamily="34" charset="-122"/>
                          <a:cs typeface="Calibri" pitchFamily="34" charset="-120"/>
                        </a:rPr>
                        <a:t>Macro</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A1C22"/>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990011"/>
                          </a:solidFill>
                          <a:latin typeface="Calibri" pitchFamily="34" charset="0"/>
                          <a:ea typeface="Calibri" pitchFamily="34" charset="-122"/>
                          <a:cs typeface="Calibri" pitchFamily="34" charset="-120"/>
                        </a:rPr>
                        <a:t>0,9151</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A1C22"/>
                          </a:solidFill>
                          <a:latin typeface="Calibri" pitchFamily="34" charset="0"/>
                          <a:ea typeface="Calibri" pitchFamily="34" charset="-122"/>
                          <a:cs typeface="Calibri" pitchFamily="34" charset="-120"/>
                        </a:rPr>
                        <a:t>5.459</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Box 9">
            <a:extLst>
              <a:ext uri="{FF2B5EF4-FFF2-40B4-BE49-F238E27FC236}">
                <a16:creationId xmlns:a16="http://schemas.microsoft.com/office/drawing/2014/main" id="{15604326-E673-FB3B-2687-E447ED83E6A8}"/>
              </a:ext>
            </a:extLst>
          </p:cNvPr>
          <p:cNvSpPr txBox="1"/>
          <p:nvPr/>
        </p:nvSpPr>
        <p:spPr>
          <a:xfrm>
            <a:off x="8774976" y="1111171"/>
            <a:ext cx="1191491" cy="369332"/>
          </a:xfrm>
          <a:prstGeom prst="rect">
            <a:avLst/>
          </a:prstGeom>
          <a:noFill/>
        </p:spPr>
        <p:txBody>
          <a:bodyPr wrap="square">
            <a:spAutoFit/>
          </a:bodyPr>
          <a:lstStyle/>
          <a:p>
            <a:r>
              <a:rPr lang="en-US" b="1" dirty="0">
                <a:solidFill>
                  <a:schemeClr val="accent1"/>
                </a:solidFill>
                <a:latin typeface="Cambria" pitchFamily="34" charset="0"/>
                <a:ea typeface="Cambria" pitchFamily="34" charset="-122"/>
                <a:cs typeface="Cambria" pitchFamily="34" charset="-120"/>
              </a:rPr>
              <a:t>Chapman</a:t>
            </a:r>
            <a:endParaRPr lang="en-US" dirty="0">
              <a:solidFill>
                <a:schemeClr val="accent1"/>
              </a:solidFill>
            </a:endParaRPr>
          </a:p>
        </p:txBody>
      </p:sp>
      <p:sp>
        <p:nvSpPr>
          <p:cNvPr id="16" name="TextBox 15">
            <a:extLst>
              <a:ext uri="{FF2B5EF4-FFF2-40B4-BE49-F238E27FC236}">
                <a16:creationId xmlns:a16="http://schemas.microsoft.com/office/drawing/2014/main" id="{7BEC4AFD-98D9-F24C-8518-413FC02B836A}"/>
              </a:ext>
            </a:extLst>
          </p:cNvPr>
          <p:cNvSpPr txBox="1"/>
          <p:nvPr/>
        </p:nvSpPr>
        <p:spPr>
          <a:xfrm>
            <a:off x="8774976" y="3941212"/>
            <a:ext cx="1094713" cy="369332"/>
          </a:xfrm>
          <a:prstGeom prst="rect">
            <a:avLst/>
          </a:prstGeom>
          <a:noFill/>
        </p:spPr>
        <p:txBody>
          <a:bodyPr wrap="square">
            <a:spAutoFit/>
          </a:bodyPr>
          <a:lstStyle/>
          <a:p>
            <a:r>
              <a:rPr lang="en-US" b="1" dirty="0">
                <a:solidFill>
                  <a:schemeClr val="accent1"/>
                </a:solidFill>
                <a:latin typeface="Cambria" pitchFamily="34" charset="0"/>
                <a:ea typeface="Cambria" pitchFamily="34" charset="-122"/>
                <a:cs typeface="Cambria" pitchFamily="34" charset="-120"/>
              </a:rPr>
              <a:t>Georgia</a:t>
            </a:r>
            <a:endParaRPr lang="en-US" dirty="0">
              <a:solidFill>
                <a:schemeClr val="accent1"/>
              </a:solidFill>
            </a:endParaRPr>
          </a:p>
        </p:txBody>
      </p:sp>
    </p:spTree>
    <p:extLst>
      <p:ext uri="{BB962C8B-B14F-4D97-AF65-F5344CB8AC3E}">
        <p14:creationId xmlns:p14="http://schemas.microsoft.com/office/powerpoint/2010/main" val="16413066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020E8E-8CB1-F1CB-DFAF-B7583BBDFDF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EF49F6F-A68C-3733-0A80-C43DEA077C58}"/>
              </a:ext>
            </a:extLst>
          </p:cNvPr>
          <p:cNvSpPr/>
          <p:nvPr/>
        </p:nvSpPr>
        <p:spPr>
          <a:xfrm>
            <a:off x="566928" y="646266"/>
            <a:ext cx="11055096" cy="548640"/>
          </a:xfrm>
          <a:prstGeom prst="rect">
            <a:avLst/>
          </a:prstGeom>
          <a:noFill/>
          <a:ln/>
        </p:spPr>
        <p:txBody>
          <a:bodyPr wrap="square" lIns="0" tIns="0" rIns="0" bIns="0" rtlCol="0" anchor="t"/>
          <a:lstStyle/>
          <a:p>
            <a:pPr marL="0" indent="0">
              <a:buNone/>
            </a:pPr>
            <a:r>
              <a:rPr lang="en-US" sz="2700" b="1" dirty="0" err="1">
                <a:solidFill>
                  <a:srgbClr val="1A1C22"/>
                </a:solidFill>
                <a:latin typeface="Cambria" pitchFamily="34" charset="0"/>
                <a:ea typeface="Cambria" pitchFamily="34" charset="-122"/>
                <a:cs typeface="Cambria" pitchFamily="34" charset="-120"/>
              </a:rPr>
              <a:t>Kết</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quả</a:t>
            </a:r>
            <a:r>
              <a:rPr lang="en-US" sz="2700" b="1" dirty="0">
                <a:solidFill>
                  <a:srgbClr val="1A1C22"/>
                </a:solidFill>
                <a:latin typeface="Cambria" pitchFamily="34" charset="0"/>
                <a:ea typeface="Cambria" pitchFamily="34" charset="-122"/>
                <a:cs typeface="Cambria" pitchFamily="34" charset="-120"/>
              </a:rPr>
              <a:t> ROC – AUC </a:t>
            </a:r>
            <a:r>
              <a:rPr lang="en-US" sz="2700" b="1" dirty="0" err="1">
                <a:solidFill>
                  <a:srgbClr val="1A1C22"/>
                </a:solidFill>
                <a:latin typeface="Cambria" pitchFamily="34" charset="0"/>
                <a:ea typeface="Cambria" pitchFamily="34" charset="-122"/>
                <a:cs typeface="Cambria" pitchFamily="34" charset="-120"/>
              </a:rPr>
              <a:t>của</a:t>
            </a:r>
            <a:r>
              <a:rPr lang="en-US" sz="2700" b="1" dirty="0">
                <a:solidFill>
                  <a:srgbClr val="1A1C22"/>
                </a:solidFill>
                <a:latin typeface="Cambria" pitchFamily="34" charset="0"/>
                <a:ea typeface="Cambria" pitchFamily="34" charset="-122"/>
                <a:cs typeface="Cambria" pitchFamily="34" charset="-120"/>
              </a:rPr>
              <a:t> 2 </a:t>
            </a:r>
            <a:r>
              <a:rPr lang="en-US" sz="2700" b="1" dirty="0" err="1">
                <a:solidFill>
                  <a:srgbClr val="1A1C22"/>
                </a:solidFill>
                <a:latin typeface="Cambria" pitchFamily="34" charset="0"/>
                <a:ea typeface="Cambria" pitchFamily="34" charset="-122"/>
                <a:cs typeface="Cambria" pitchFamily="34" charset="-120"/>
              </a:rPr>
              <a:t>tập</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dữ</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liệu</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kiểm</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tra</a:t>
            </a:r>
            <a:endParaRPr lang="en-US" sz="2700" dirty="0"/>
          </a:p>
        </p:txBody>
      </p:sp>
      <p:graphicFrame>
        <p:nvGraphicFramePr>
          <p:cNvPr id="49" name="Table 1">
            <a:extLst>
              <a:ext uri="{FF2B5EF4-FFF2-40B4-BE49-F238E27FC236}">
                <a16:creationId xmlns:a16="http://schemas.microsoft.com/office/drawing/2014/main" id="{FF6B662E-85CF-29B4-F5EC-3C1CC416C5A2}"/>
              </a:ext>
            </a:extLst>
          </p:cNvPr>
          <p:cNvGraphicFramePr>
            <a:graphicFrameLocks noGrp="1"/>
          </p:cNvGraphicFramePr>
          <p:nvPr>
            <p:extLst>
              <p:ext uri="{D42A27DB-BD31-4B8C-83A1-F6EECF244321}">
                <p14:modId xmlns:p14="http://schemas.microsoft.com/office/powerpoint/2010/main" val="3638718724"/>
              </p:ext>
            </p:extLst>
          </p:nvPr>
        </p:nvGraphicFramePr>
        <p:xfrm>
          <a:off x="2386404" y="4663440"/>
          <a:ext cx="7223761" cy="1828800"/>
        </p:xfrm>
        <a:graphic>
          <a:graphicData uri="http://schemas.openxmlformats.org/drawingml/2006/table">
            <a:tbl>
              <a:tblPr/>
              <a:tblGrid>
                <a:gridCol w="3619715">
                  <a:extLst>
                    <a:ext uri="{9D8B030D-6E8A-4147-A177-3AD203B41FA5}">
                      <a16:colId xmlns:a16="http://schemas.microsoft.com/office/drawing/2014/main" val="20000"/>
                    </a:ext>
                  </a:extLst>
                </a:gridCol>
                <a:gridCol w="1802023">
                  <a:extLst>
                    <a:ext uri="{9D8B030D-6E8A-4147-A177-3AD203B41FA5}">
                      <a16:colId xmlns:a16="http://schemas.microsoft.com/office/drawing/2014/main" val="20001"/>
                    </a:ext>
                  </a:extLst>
                </a:gridCol>
                <a:gridCol w="1802023">
                  <a:extLst>
                    <a:ext uri="{9D8B030D-6E8A-4147-A177-3AD203B41FA5}">
                      <a16:colId xmlns:a16="http://schemas.microsoft.com/office/drawing/2014/main" val="20002"/>
                    </a:ext>
                  </a:extLst>
                </a:gridCol>
              </a:tblGrid>
              <a:tr h="329184">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Độ đo</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Float32</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INT8</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329184">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Accuracy</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0,9291</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0,9300</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F1-macro</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0,9142</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0,9151</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329184">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macro-AUC</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0,9813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0,9580</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Nhất quán INT8 ↔ float32</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0,9749</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bl>
          </a:graphicData>
        </a:graphic>
      </p:graphicFrame>
      <p:sp>
        <p:nvSpPr>
          <p:cNvPr id="14" name="Text 8">
            <a:extLst>
              <a:ext uri="{FF2B5EF4-FFF2-40B4-BE49-F238E27FC236}">
                <a16:creationId xmlns:a16="http://schemas.microsoft.com/office/drawing/2014/main" id="{2AC2B032-A7C0-7E1E-2350-173F140878AC}"/>
              </a:ext>
            </a:extLst>
          </p:cNvPr>
          <p:cNvSpPr/>
          <p:nvPr/>
        </p:nvSpPr>
        <p:spPr>
          <a:xfrm>
            <a:off x="822960" y="4425696"/>
            <a:ext cx="6217920" cy="292608"/>
          </a:xfrm>
          <a:prstGeom prst="rect">
            <a:avLst/>
          </a:prstGeom>
          <a:noFill/>
          <a:ln/>
        </p:spPr>
        <p:txBody>
          <a:bodyPr wrap="square" lIns="0" tIns="0" rIns="0" bIns="0" rtlCol="0" anchor="ctr"/>
          <a:lstStyle/>
          <a:p>
            <a:pPr marL="0" indent="0">
              <a:buNone/>
            </a:pPr>
            <a:endParaRPr lang="en-US" sz="1400" dirty="0"/>
          </a:p>
        </p:txBody>
      </p:sp>
      <p:sp>
        <p:nvSpPr>
          <p:cNvPr id="9" name="Text 0">
            <a:extLst>
              <a:ext uri="{FF2B5EF4-FFF2-40B4-BE49-F238E27FC236}">
                <a16:creationId xmlns:a16="http://schemas.microsoft.com/office/drawing/2014/main" id="{EC7C9686-A5B3-5D56-5309-47CCFB540A92}"/>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4 · KẾT QUẢ THỰC NGHIỆM</a:t>
            </a:r>
            <a:endParaRPr lang="en-US" sz="2500" dirty="0"/>
          </a:p>
        </p:txBody>
      </p:sp>
      <p:pic>
        <p:nvPicPr>
          <p:cNvPr id="10" name="Image 1">
            <a:extLst>
              <a:ext uri="{FF2B5EF4-FFF2-40B4-BE49-F238E27FC236}">
                <a16:creationId xmlns:a16="http://schemas.microsoft.com/office/drawing/2014/main" id="{7E83D745-92BF-3AD9-8393-1FC95E3E380E}"/>
              </a:ext>
            </a:extLst>
          </p:cNvPr>
          <p:cNvPicPr>
            <a:picLocks noChangeAspect="1"/>
          </p:cNvPicPr>
          <p:nvPr/>
        </p:nvPicPr>
        <p:blipFill>
          <a:blip r:embed="rId3"/>
          <a:stretch>
            <a:fillRect/>
          </a:stretch>
        </p:blipFill>
        <p:spPr>
          <a:xfrm>
            <a:off x="1388089" y="1071686"/>
            <a:ext cx="3937299" cy="3500314"/>
          </a:xfrm>
          <a:prstGeom prst="rect">
            <a:avLst/>
          </a:prstGeom>
        </p:spPr>
      </p:pic>
      <p:pic>
        <p:nvPicPr>
          <p:cNvPr id="11" name="Image 1">
            <a:extLst>
              <a:ext uri="{FF2B5EF4-FFF2-40B4-BE49-F238E27FC236}">
                <a16:creationId xmlns:a16="http://schemas.microsoft.com/office/drawing/2014/main" id="{3D9D205A-C73F-43AF-039E-54A796657866}"/>
              </a:ext>
            </a:extLst>
          </p:cNvPr>
          <p:cNvPicPr>
            <a:picLocks noChangeAspect="1"/>
          </p:cNvPicPr>
          <p:nvPr/>
        </p:nvPicPr>
        <p:blipFill>
          <a:blip r:embed="rId4"/>
          <a:stretch>
            <a:fillRect/>
          </a:stretch>
        </p:blipFill>
        <p:spPr>
          <a:xfrm>
            <a:off x="6248570" y="1194906"/>
            <a:ext cx="4038430" cy="3275031"/>
          </a:xfrm>
          <a:prstGeom prst="rect">
            <a:avLst/>
          </a:prstGeom>
        </p:spPr>
      </p:pic>
    </p:spTree>
    <p:extLst>
      <p:ext uri="{BB962C8B-B14F-4D97-AF65-F5344CB8AC3E}">
        <p14:creationId xmlns:p14="http://schemas.microsoft.com/office/powerpoint/2010/main" val="1775665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6" name="Shape 11">
            <a:extLst>
              <a:ext uri="{FF2B5EF4-FFF2-40B4-BE49-F238E27FC236}">
                <a16:creationId xmlns:a16="http://schemas.microsoft.com/office/drawing/2014/main" id="{0D2B0FC6-ED41-9206-B947-5A18CA82995B}"/>
              </a:ext>
            </a:extLst>
          </p:cNvPr>
          <p:cNvSpPr/>
          <p:nvPr/>
        </p:nvSpPr>
        <p:spPr>
          <a:xfrm>
            <a:off x="566927" y="3927323"/>
            <a:ext cx="11359001" cy="2825790"/>
          </a:xfrm>
          <a:prstGeom prst="roundRect">
            <a:avLst>
              <a:gd name="adj" fmla="val 4737"/>
            </a:avLst>
          </a:prstGeom>
          <a:solidFill>
            <a:srgbClr val="F7EFEF"/>
          </a:solidFill>
          <a:ln w="12700">
            <a:solidFill>
              <a:srgbClr val="F7EFEF"/>
            </a:solidFill>
            <a:prstDash val="solid"/>
          </a:ln>
          <a:effectLst>
            <a:outerShdw blurRad="101600" dist="25400" dir="5400000" algn="bl" rotWithShape="0">
              <a:srgbClr val="B9AFAF">
                <a:alpha val="25000"/>
              </a:srgbClr>
            </a:outerShdw>
          </a:effectLst>
        </p:spPr>
        <p:txBody>
          <a:bodyPr/>
          <a:lstStyle/>
          <a:p>
            <a:endParaRPr/>
          </a:p>
        </p:txBody>
      </p:sp>
      <p:sp>
        <p:nvSpPr>
          <p:cNvPr id="3" name="Text 1"/>
          <p:cNvSpPr/>
          <p:nvPr/>
        </p:nvSpPr>
        <p:spPr>
          <a:xfrm>
            <a:off x="566927" y="614262"/>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4.2 </a:t>
            </a:r>
            <a:r>
              <a:rPr lang="en-US" sz="2700" b="1" dirty="0" err="1">
                <a:solidFill>
                  <a:srgbClr val="1A1C22"/>
                </a:solidFill>
                <a:latin typeface="Cambria" pitchFamily="34" charset="0"/>
                <a:ea typeface="Cambria" pitchFamily="34" charset="-122"/>
                <a:cs typeface="Cambria" pitchFamily="34" charset="-120"/>
              </a:rPr>
              <a:t>Kiểm</a:t>
            </a:r>
            <a:r>
              <a:rPr lang="en-US" sz="2700" b="1" dirty="0">
                <a:solidFill>
                  <a:srgbClr val="1A1C22"/>
                </a:solidFill>
                <a:latin typeface="Cambria" pitchFamily="34" charset="0"/>
                <a:ea typeface="Cambria" pitchFamily="34" charset="-122"/>
                <a:cs typeface="Cambria" pitchFamily="34" charset="-120"/>
              </a:rPr>
              <a:t> chứng </a:t>
            </a:r>
            <a:r>
              <a:rPr lang="en-US" sz="2700" b="1" dirty="0" err="1">
                <a:solidFill>
                  <a:srgbClr val="1A1C22"/>
                </a:solidFill>
                <a:latin typeface="Cambria" pitchFamily="34" charset="0"/>
                <a:ea typeface="Cambria" pitchFamily="34" charset="-122"/>
                <a:cs typeface="Cambria" pitchFamily="34" charset="-120"/>
              </a:rPr>
              <a:t>chức</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năng</a:t>
            </a:r>
            <a:endParaRPr lang="en-US" sz="2700" dirty="0"/>
          </a:p>
        </p:txBody>
      </p:sp>
      <p:sp>
        <p:nvSpPr>
          <p:cNvPr id="5" name="Shape 3"/>
          <p:cNvSpPr/>
          <p:nvPr/>
        </p:nvSpPr>
        <p:spPr>
          <a:xfrm>
            <a:off x="573919" y="1162902"/>
            <a:ext cx="11365992" cy="2661197"/>
          </a:xfrm>
          <a:prstGeom prst="roundRect">
            <a:avLst>
              <a:gd name="adj" fmla="val 4737"/>
            </a:avLst>
          </a:prstGeom>
          <a:solidFill>
            <a:srgbClr val="EFF1F8"/>
          </a:solidFill>
          <a:ln w="12700">
            <a:solidFill>
              <a:srgbClr val="EFF1F8"/>
            </a:solidFill>
            <a:prstDash val="solid"/>
          </a:ln>
        </p:spPr>
      </p:sp>
      <p:sp>
        <p:nvSpPr>
          <p:cNvPr id="6" name="Text 4"/>
          <p:cNvSpPr/>
          <p:nvPr/>
        </p:nvSpPr>
        <p:spPr>
          <a:xfrm>
            <a:off x="768095" y="1198759"/>
            <a:ext cx="3218688" cy="310896"/>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Mức khối</a:t>
            </a:r>
            <a:endParaRPr lang="en-US" sz="2000" dirty="0"/>
          </a:p>
        </p:txBody>
      </p:sp>
      <p:sp>
        <p:nvSpPr>
          <p:cNvPr id="7" name="Text 5"/>
          <p:cNvSpPr/>
          <p:nvPr/>
        </p:nvSpPr>
        <p:spPr>
          <a:xfrm>
            <a:off x="1942471" y="1131166"/>
            <a:ext cx="3218688" cy="420624"/>
          </a:xfrm>
          <a:prstGeom prst="rect">
            <a:avLst/>
          </a:prstGeom>
          <a:noFill/>
          <a:ln/>
        </p:spPr>
        <p:txBody>
          <a:bodyPr wrap="square" lIns="0" tIns="0" rIns="0" bIns="0" rtlCol="0" anchor="ctr"/>
          <a:lstStyle/>
          <a:p>
            <a:pPr marL="0" indent="0">
              <a:buNone/>
            </a:pPr>
            <a:r>
              <a:rPr lang="en-US" sz="2100" b="1" dirty="0">
                <a:solidFill>
                  <a:srgbClr val="990011"/>
                </a:solidFill>
                <a:latin typeface="Cambria" pitchFamily="34" charset="0"/>
                <a:ea typeface="Cambria" pitchFamily="34" charset="-122"/>
                <a:cs typeface="Cambria" pitchFamily="34" charset="-120"/>
              </a:rPr>
              <a:t>23/23 đạt</a:t>
            </a:r>
            <a:endParaRPr lang="en-US" sz="2100" dirty="0"/>
          </a:p>
        </p:txBody>
      </p:sp>
      <p:sp>
        <p:nvSpPr>
          <p:cNvPr id="8" name="Text 6"/>
          <p:cNvSpPr/>
          <p:nvPr/>
        </p:nvSpPr>
        <p:spPr>
          <a:xfrm>
            <a:off x="768094" y="1627631"/>
            <a:ext cx="2476932" cy="256032"/>
          </a:xfrm>
          <a:prstGeom prst="rect">
            <a:avLst/>
          </a:prstGeom>
          <a:noFill/>
          <a:ln/>
        </p:spPr>
        <p:txBody>
          <a:bodyPr wrap="square" lIns="0" tIns="0" rIns="0" bIns="0" rtlCol="0" anchor="t"/>
          <a:lstStyle/>
          <a:p>
            <a:pPr marL="0" indent="0">
              <a:buNone/>
            </a:pPr>
            <a:r>
              <a:rPr lang="en-US" dirty="0">
                <a:solidFill>
                  <a:srgbClr val="6E6E78"/>
                </a:solidFill>
                <a:latin typeface="Calibri" pitchFamily="34" charset="0"/>
                <a:ea typeface="Calibri" pitchFamily="34" charset="-122"/>
                <a:cs typeface="Calibri" pitchFamily="34" charset="-120"/>
              </a:rPr>
              <a:t>convolution-pool unit đơn lẻ: đường dữ liệu, làm tròn nửa lên, bão hoà ±127, ReLU, max-pool, tích luỹ 4 và 8 kênh, khởi động lại.</a:t>
            </a:r>
            <a:endParaRPr lang="en-US" dirty="0"/>
          </a:p>
        </p:txBody>
      </p:sp>
      <p:sp>
        <p:nvSpPr>
          <p:cNvPr id="10" name="Text 8"/>
          <p:cNvSpPr/>
          <p:nvPr/>
        </p:nvSpPr>
        <p:spPr>
          <a:xfrm>
            <a:off x="716279" y="3885187"/>
            <a:ext cx="3218688" cy="310896"/>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Mức vận hành lớp</a:t>
            </a:r>
            <a:endParaRPr lang="en-US" sz="2000" dirty="0"/>
          </a:p>
        </p:txBody>
      </p:sp>
      <p:sp>
        <p:nvSpPr>
          <p:cNvPr id="11" name="Text 9"/>
          <p:cNvSpPr/>
          <p:nvPr/>
        </p:nvSpPr>
        <p:spPr>
          <a:xfrm>
            <a:off x="2875786" y="3837252"/>
            <a:ext cx="3218688" cy="420624"/>
          </a:xfrm>
          <a:prstGeom prst="rect">
            <a:avLst/>
          </a:prstGeom>
          <a:noFill/>
          <a:ln/>
        </p:spPr>
        <p:txBody>
          <a:bodyPr wrap="square" lIns="0" tIns="0" rIns="0" bIns="0" rtlCol="0" anchor="ctr"/>
          <a:lstStyle/>
          <a:p>
            <a:pPr marL="0" indent="0">
              <a:buNone/>
            </a:pPr>
            <a:r>
              <a:rPr lang="en-US" sz="2100" b="1" dirty="0">
                <a:solidFill>
                  <a:srgbClr val="2F3C7E"/>
                </a:solidFill>
                <a:latin typeface="Cambria" pitchFamily="34" charset="0"/>
                <a:ea typeface="Cambria" pitchFamily="34" charset="-122"/>
                <a:cs typeface="Cambria" pitchFamily="34" charset="-120"/>
              </a:rPr>
              <a:t>8/8 đạt</a:t>
            </a:r>
            <a:endParaRPr lang="en-US" sz="2100" dirty="0"/>
          </a:p>
        </p:txBody>
      </p:sp>
      <p:sp>
        <p:nvSpPr>
          <p:cNvPr id="12" name="Text 10"/>
          <p:cNvSpPr/>
          <p:nvPr/>
        </p:nvSpPr>
        <p:spPr>
          <a:xfrm>
            <a:off x="716279" y="4238913"/>
            <a:ext cx="11081273" cy="786384"/>
          </a:xfrm>
          <a:prstGeom prst="rect">
            <a:avLst/>
          </a:prstGeom>
          <a:noFill/>
          <a:ln/>
        </p:spPr>
        <p:txBody>
          <a:bodyPr wrap="square" lIns="0" tIns="0" rIns="0" bIns="0" rtlCol="0" anchor="t"/>
          <a:lstStyle/>
          <a:p>
            <a:pPr marL="0" indent="0">
              <a:buNone/>
            </a:pPr>
            <a:r>
              <a:rPr lang="en-US" dirty="0">
                <a:solidFill>
                  <a:srgbClr val="6E6E78"/>
                </a:solidFill>
                <a:latin typeface="Calibri" pitchFamily="34" charset="0"/>
                <a:ea typeface="Calibri" pitchFamily="34" charset="-122"/>
                <a:cs typeface="Calibri" pitchFamily="34" charset="-120"/>
              </a:rPr>
              <a:t>engine + controller + ping-pong: thời điểm, địa chỉ và điều kiện cho phép ghi khi chạy Conv1 và chuyển tiếp sang Conv2, Conv3.</a:t>
            </a:r>
            <a:endParaRPr lang="en-US" dirty="0"/>
          </a:p>
        </p:txBody>
      </p:sp>
      <p:sp>
        <p:nvSpPr>
          <p:cNvPr id="22" name="Text 0">
            <a:extLst>
              <a:ext uri="{FF2B5EF4-FFF2-40B4-BE49-F238E27FC236}">
                <a16:creationId xmlns:a16="http://schemas.microsoft.com/office/drawing/2014/main" id="{B4B5B4EE-4F4D-9151-F8A1-4B3B0631B26D}"/>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4 · KẾT QUẢ THỰC NGHIỆM</a:t>
            </a:r>
            <a:endParaRPr lang="en-US" sz="2500" dirty="0"/>
          </a:p>
        </p:txBody>
      </p:sp>
      <p:pic>
        <p:nvPicPr>
          <p:cNvPr id="23" name="Picture 22">
            <a:extLst>
              <a:ext uri="{FF2B5EF4-FFF2-40B4-BE49-F238E27FC236}">
                <a16:creationId xmlns:a16="http://schemas.microsoft.com/office/drawing/2014/main" id="{78E8E8FD-5B86-FFFE-E746-A0087403A578}"/>
              </a:ext>
            </a:extLst>
          </p:cNvPr>
          <p:cNvPicPr>
            <a:picLocks noChangeAspect="1"/>
          </p:cNvPicPr>
          <p:nvPr/>
        </p:nvPicPr>
        <p:blipFill>
          <a:blip r:embed="rId3"/>
          <a:stretch>
            <a:fillRect/>
          </a:stretch>
        </p:blipFill>
        <p:spPr>
          <a:xfrm>
            <a:off x="3387384" y="1287823"/>
            <a:ext cx="8410168" cy="2371707"/>
          </a:xfrm>
          <a:prstGeom prst="rect">
            <a:avLst/>
          </a:prstGeom>
        </p:spPr>
      </p:pic>
      <p:pic>
        <p:nvPicPr>
          <p:cNvPr id="24" name="Picture 23">
            <a:extLst>
              <a:ext uri="{FF2B5EF4-FFF2-40B4-BE49-F238E27FC236}">
                <a16:creationId xmlns:a16="http://schemas.microsoft.com/office/drawing/2014/main" id="{D635052F-4F15-AFA9-4654-8A33942A8529}"/>
              </a:ext>
            </a:extLst>
          </p:cNvPr>
          <p:cNvPicPr>
            <a:picLocks noChangeAspect="1"/>
          </p:cNvPicPr>
          <p:nvPr/>
        </p:nvPicPr>
        <p:blipFill>
          <a:blip r:embed="rId4"/>
          <a:stretch>
            <a:fillRect/>
          </a:stretch>
        </p:blipFill>
        <p:spPr>
          <a:xfrm>
            <a:off x="2095856" y="4614203"/>
            <a:ext cx="9681834" cy="206714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747C6-CA5E-7311-304F-EDE2C864DEB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D264331-D0AA-EC39-5B26-9EF136D9967E}"/>
              </a:ext>
            </a:extLst>
          </p:cNvPr>
          <p:cNvSpPr/>
          <p:nvPr/>
        </p:nvSpPr>
        <p:spPr>
          <a:xfrm>
            <a:off x="566927" y="614262"/>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4.2.1 </a:t>
            </a:r>
            <a:r>
              <a:rPr lang="en-US" sz="2700" b="1" dirty="0" err="1">
                <a:solidFill>
                  <a:srgbClr val="1A1C22"/>
                </a:solidFill>
                <a:latin typeface="Cambria" pitchFamily="34" charset="0"/>
                <a:ea typeface="Cambria" pitchFamily="34" charset="-122"/>
                <a:cs typeface="Cambria" pitchFamily="34" charset="-120"/>
              </a:rPr>
              <a:t>Kiểm</a:t>
            </a:r>
            <a:r>
              <a:rPr lang="en-US" sz="2700" b="1" dirty="0">
                <a:solidFill>
                  <a:srgbClr val="1A1C22"/>
                </a:solidFill>
                <a:latin typeface="Cambria" pitchFamily="34" charset="0"/>
                <a:ea typeface="Cambria" pitchFamily="34" charset="-122"/>
                <a:cs typeface="Cambria" pitchFamily="34" charset="-120"/>
              </a:rPr>
              <a:t> chứng </a:t>
            </a:r>
            <a:r>
              <a:rPr lang="en-US" sz="2700" b="1" dirty="0" err="1">
                <a:solidFill>
                  <a:srgbClr val="1A1C22"/>
                </a:solidFill>
                <a:latin typeface="Cambria" pitchFamily="34" charset="0"/>
                <a:ea typeface="Cambria" pitchFamily="34" charset="-122"/>
                <a:cs typeface="Cambria" pitchFamily="34" charset="-120"/>
              </a:rPr>
              <a:t>chức</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năng</a:t>
            </a:r>
            <a:r>
              <a:rPr lang="en-US" sz="2700" b="1" dirty="0">
                <a:solidFill>
                  <a:srgbClr val="1A1C22"/>
                </a:solidFill>
                <a:latin typeface="Cambria" pitchFamily="34" charset="0"/>
                <a:ea typeface="Cambria" pitchFamily="34" charset="-122"/>
                <a:cs typeface="Cambria" pitchFamily="34" charset="-120"/>
              </a:rPr>
              <a:t> (Chapman)</a:t>
            </a:r>
            <a:endParaRPr lang="en-US" sz="2700" dirty="0"/>
          </a:p>
        </p:txBody>
      </p:sp>
      <p:sp>
        <p:nvSpPr>
          <p:cNvPr id="13" name="Shape 11">
            <a:extLst>
              <a:ext uri="{FF2B5EF4-FFF2-40B4-BE49-F238E27FC236}">
                <a16:creationId xmlns:a16="http://schemas.microsoft.com/office/drawing/2014/main" id="{AF8112F3-8572-708E-1809-9577EF5B382C}"/>
              </a:ext>
            </a:extLst>
          </p:cNvPr>
          <p:cNvSpPr/>
          <p:nvPr/>
        </p:nvSpPr>
        <p:spPr>
          <a:xfrm>
            <a:off x="762108" y="1158876"/>
            <a:ext cx="11170812" cy="1004888"/>
          </a:xfrm>
          <a:prstGeom prst="roundRect">
            <a:avLst>
              <a:gd name="adj" fmla="val 4737"/>
            </a:avLst>
          </a:prstGeom>
          <a:solidFill>
            <a:srgbClr val="F7EFEF"/>
          </a:solidFill>
          <a:ln w="12700">
            <a:solidFill>
              <a:srgbClr val="F7EFEF"/>
            </a:solidFill>
            <a:prstDash val="solid"/>
          </a:ln>
          <a:effectLst>
            <a:outerShdw blurRad="101600" dist="25400" dir="5400000" algn="bl" rotWithShape="0">
              <a:srgbClr val="B9AFAF">
                <a:alpha val="25000"/>
              </a:srgbClr>
            </a:outerShdw>
          </a:effectLst>
        </p:spPr>
        <p:txBody>
          <a:bodyPr/>
          <a:lstStyle/>
          <a:p>
            <a:r>
              <a:rPr lang="en-US" b="1" dirty="0" err="1">
                <a:solidFill>
                  <a:srgbClr val="1A1C22"/>
                </a:solidFill>
                <a:latin typeface="Calibri" pitchFamily="34" charset="0"/>
                <a:ea typeface="Calibri" pitchFamily="34" charset="-122"/>
                <a:cs typeface="Calibri" pitchFamily="34" charset="-120"/>
              </a:rPr>
              <a:t>Mức</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hệ</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thống</a:t>
            </a:r>
            <a:r>
              <a:rPr lang="en-US" b="1" dirty="0">
                <a:solidFill>
                  <a:srgbClr val="1A1C22"/>
                </a:solidFill>
                <a:latin typeface="Calibri" pitchFamily="34" charset="0"/>
                <a:ea typeface="Calibri" pitchFamily="34" charset="-122"/>
                <a:cs typeface="Calibri" pitchFamily="34" charset="-120"/>
              </a:rPr>
              <a:t> </a:t>
            </a:r>
            <a:r>
              <a:rPr lang="en-US" b="1" dirty="0">
                <a:solidFill>
                  <a:srgbClr val="990011"/>
                </a:solidFill>
                <a:latin typeface="Cambria" pitchFamily="34" charset="0"/>
                <a:ea typeface="Cambria" pitchFamily="34" charset="-122"/>
                <a:cs typeface="Cambria" pitchFamily="34" charset="-120"/>
              </a:rPr>
              <a:t>7/7  </a:t>
            </a:r>
            <a:r>
              <a:rPr lang="en-US" b="1" dirty="0" err="1">
                <a:solidFill>
                  <a:srgbClr val="990011"/>
                </a:solidFill>
                <a:latin typeface="Cambria" pitchFamily="34" charset="0"/>
                <a:ea typeface="Cambria" pitchFamily="34" charset="-122"/>
                <a:cs typeface="Cambria" pitchFamily="34" charset="-120"/>
              </a:rPr>
              <a:t>đạt</a:t>
            </a:r>
            <a:endParaRPr lang="en-US" dirty="0"/>
          </a:p>
          <a:p>
            <a:r>
              <a:rPr lang="en-US" dirty="0" err="1">
                <a:solidFill>
                  <a:srgbClr val="6E6E78"/>
                </a:solidFill>
                <a:latin typeface="Calibri" pitchFamily="34" charset="0"/>
                <a:ea typeface="Calibri" pitchFamily="34" charset="-122"/>
                <a:cs typeface="Calibri" pitchFamily="34" charset="-120"/>
              </a:rPr>
              <a:t>Một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mẫu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tín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hiệu</a:t>
            </a:r>
            <a:r>
              <a:rPr lang="en-US" dirty="0">
                <a:solidFill>
                  <a:srgbClr val="6E6E78"/>
                </a:solidFill>
                <a:latin typeface="Calibri" pitchFamily="34" charset="0"/>
                <a:ea typeface="Calibri" pitchFamily="34" charset="-122"/>
                <a:cs typeface="Calibri" pitchFamily="34" charset="-120"/>
              </a:rPr>
              <a:t> ECG </a:t>
            </a:r>
            <a:r>
              <a:rPr lang="en-US" dirty="0" err="1">
                <a:solidFill>
                  <a:srgbClr val="6E6E78"/>
                </a:solidFill>
                <a:latin typeface="Calibri" pitchFamily="34" charset="0"/>
                <a:ea typeface="Calibri" pitchFamily="34" charset="-122"/>
                <a:cs typeface="Calibri" pitchFamily="34" charset="-120"/>
              </a:rPr>
              <a:t>chạy</a:t>
            </a:r>
            <a:r>
              <a:rPr lang="en-US" dirty="0">
                <a:solidFill>
                  <a:srgbClr val="6E6E78"/>
                </a:solidFill>
                <a:latin typeface="Calibri" pitchFamily="34" charset="0"/>
                <a:ea typeface="Calibri" pitchFamily="34" charset="-122"/>
                <a:cs typeface="Calibri" pitchFamily="34" charset="-120"/>
              </a:rPr>
              <a:t> qua </a:t>
            </a:r>
            <a:r>
              <a:rPr lang="en-US" dirty="0" err="1">
                <a:solidFill>
                  <a:srgbClr val="6E6E78"/>
                </a:solidFill>
                <a:latin typeface="Calibri" pitchFamily="34" charset="0"/>
                <a:ea typeface="Calibri" pitchFamily="34" charset="-122"/>
                <a:cs typeface="Calibri" pitchFamily="34" charset="-120"/>
              </a:rPr>
              <a:t>toàn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hệ</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thống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đối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chiếu</a:t>
            </a:r>
            <a:r>
              <a:rPr lang="en-US" dirty="0">
                <a:solidFill>
                  <a:srgbClr val="6E6E78"/>
                </a:solidFill>
                <a:latin typeface="Calibri" pitchFamily="34" charset="0"/>
                <a:ea typeface="Calibri" pitchFamily="34" charset="-122"/>
                <a:cs typeface="Calibri" pitchFamily="34" charset="-120"/>
              </a:rPr>
              <a:t> 7 </a:t>
            </a:r>
            <a:r>
              <a:rPr lang="en-US" dirty="0" err="1">
                <a:solidFill>
                  <a:srgbClr val="6E6E78"/>
                </a:solidFill>
                <a:latin typeface="Calibri" pitchFamily="34" charset="0"/>
                <a:ea typeface="Calibri" pitchFamily="34" charset="-122"/>
                <a:cs typeface="Calibri" pitchFamily="34" charset="-120"/>
              </a:rPr>
              <a:t>điểm</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chính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xác</a:t>
            </a:r>
            <a:r>
              <a:rPr lang="en-US" dirty="0">
                <a:solidFill>
                  <a:srgbClr val="6E6E78"/>
                </a:solidFill>
                <a:latin typeface="Calibri" pitchFamily="34" charset="0"/>
                <a:ea typeface="Calibri" pitchFamily="34" charset="-122"/>
                <a:cs typeface="Calibri" pitchFamily="34" charset="-120"/>
              </a:rPr>
              <a:t> bit </a:t>
            </a:r>
            <a:r>
              <a:rPr lang="en-US" dirty="0" err="1">
                <a:solidFill>
                  <a:srgbClr val="6E6E78"/>
                </a:solidFill>
                <a:latin typeface="Calibri" pitchFamily="34" charset="0"/>
                <a:ea typeface="Calibri" pitchFamily="34" charset="-122"/>
                <a:cs typeface="Calibri" pitchFamily="34" charset="-120"/>
              </a:rPr>
              <a:t>kiểm</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tra</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với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mô</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hình</a:t>
            </a:r>
            <a:r>
              <a:rPr lang="en-US" dirty="0">
                <a:solidFill>
                  <a:srgbClr val="6E6E78"/>
                </a:solidFill>
                <a:latin typeface="Calibri" pitchFamily="34" charset="0"/>
                <a:ea typeface="Calibri" pitchFamily="34" charset="-122"/>
                <a:cs typeface="Calibri" pitchFamily="34" charset="-120"/>
              </a:rPr>
              <a:t> Python </a:t>
            </a:r>
            <a:r>
              <a:rPr lang="en-US" dirty="0" err="1">
                <a:solidFill>
                  <a:srgbClr val="6E6E78"/>
                </a:solidFill>
                <a:latin typeface="Calibri" pitchFamily="34" charset="0"/>
                <a:ea typeface="Calibri" pitchFamily="34" charset="-122"/>
                <a:cs typeface="Calibri" pitchFamily="34" charset="-120"/>
              </a:rPr>
              <a:t>sai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lệch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tuyệt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đối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lớn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nhất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bằng</a:t>
            </a:r>
            <a:r>
              <a:rPr lang="en-US" dirty="0">
                <a:solidFill>
                  <a:srgbClr val="6E6E78"/>
                </a:solidFill>
                <a:latin typeface="Calibri" pitchFamily="34" charset="0"/>
                <a:ea typeface="Calibri" pitchFamily="34" charset="-122"/>
                <a:cs typeface="Calibri" pitchFamily="34" charset="-120"/>
              </a:rPr>
              <a:t> 0</a:t>
            </a:r>
            <a:endParaRPr lang="en-US" dirty="0"/>
          </a:p>
        </p:txBody>
      </p:sp>
      <p:sp>
        <p:nvSpPr>
          <p:cNvPr id="22" name="Text 0">
            <a:extLst>
              <a:ext uri="{FF2B5EF4-FFF2-40B4-BE49-F238E27FC236}">
                <a16:creationId xmlns:a16="http://schemas.microsoft.com/office/drawing/2014/main" id="{FBC74697-55D4-64E3-1237-158BF52C6AB9}"/>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4 · KẾT QUẢ THỰC NGHIỆM</a:t>
            </a:r>
            <a:endParaRPr lang="en-US" sz="2500" dirty="0"/>
          </a:p>
        </p:txBody>
      </p:sp>
      <p:pic>
        <p:nvPicPr>
          <p:cNvPr id="30" name="Picture 29">
            <a:extLst>
              <a:ext uri="{FF2B5EF4-FFF2-40B4-BE49-F238E27FC236}">
                <a16:creationId xmlns:a16="http://schemas.microsoft.com/office/drawing/2014/main" id="{8D48DAB0-3506-B633-C528-193135B6D5AD}"/>
              </a:ext>
            </a:extLst>
          </p:cNvPr>
          <p:cNvPicPr>
            <a:picLocks noChangeAspect="1"/>
          </p:cNvPicPr>
          <p:nvPr/>
        </p:nvPicPr>
        <p:blipFill>
          <a:blip r:embed="rId3"/>
          <a:stretch>
            <a:fillRect/>
          </a:stretch>
        </p:blipFill>
        <p:spPr>
          <a:xfrm>
            <a:off x="864140" y="5070544"/>
            <a:ext cx="5191460" cy="1531354"/>
          </a:xfrm>
          <a:prstGeom prst="rect">
            <a:avLst/>
          </a:prstGeom>
        </p:spPr>
      </p:pic>
      <p:pic>
        <p:nvPicPr>
          <p:cNvPr id="31" name="Picture 30">
            <a:extLst>
              <a:ext uri="{FF2B5EF4-FFF2-40B4-BE49-F238E27FC236}">
                <a16:creationId xmlns:a16="http://schemas.microsoft.com/office/drawing/2014/main" id="{C6BC8827-12D0-5D4B-0DFD-ABD45BEA8B47}"/>
              </a:ext>
            </a:extLst>
          </p:cNvPr>
          <p:cNvPicPr>
            <a:picLocks noChangeAspect="1"/>
          </p:cNvPicPr>
          <p:nvPr/>
        </p:nvPicPr>
        <p:blipFill>
          <a:blip r:embed="rId4"/>
          <a:stretch>
            <a:fillRect/>
          </a:stretch>
        </p:blipFill>
        <p:spPr>
          <a:xfrm>
            <a:off x="6554559" y="5094911"/>
            <a:ext cx="5067463" cy="1607609"/>
          </a:xfrm>
          <a:prstGeom prst="rect">
            <a:avLst/>
          </a:prstGeom>
          <a:ln w="28575">
            <a:solidFill>
              <a:srgbClr val="FF0000"/>
            </a:solidFill>
          </a:ln>
        </p:spPr>
      </p:pic>
      <p:pic>
        <p:nvPicPr>
          <p:cNvPr id="32" name="Picture 31">
            <a:extLst>
              <a:ext uri="{FF2B5EF4-FFF2-40B4-BE49-F238E27FC236}">
                <a16:creationId xmlns:a16="http://schemas.microsoft.com/office/drawing/2014/main" id="{FA349E0E-F82F-9E10-8291-E3FF68D8533B}"/>
              </a:ext>
            </a:extLst>
          </p:cNvPr>
          <p:cNvPicPr>
            <a:picLocks noChangeAspect="1"/>
          </p:cNvPicPr>
          <p:nvPr/>
        </p:nvPicPr>
        <p:blipFill>
          <a:blip r:embed="rId5"/>
          <a:stretch>
            <a:fillRect/>
          </a:stretch>
        </p:blipFill>
        <p:spPr>
          <a:xfrm>
            <a:off x="725423" y="2269884"/>
            <a:ext cx="9548579" cy="2713807"/>
          </a:xfrm>
          <a:prstGeom prst="rect">
            <a:avLst/>
          </a:prstGeom>
        </p:spPr>
      </p:pic>
      <p:sp>
        <p:nvSpPr>
          <p:cNvPr id="33" name="Oval 32">
            <a:extLst>
              <a:ext uri="{FF2B5EF4-FFF2-40B4-BE49-F238E27FC236}">
                <a16:creationId xmlns:a16="http://schemas.microsoft.com/office/drawing/2014/main" id="{F4FA84CA-D9AC-4B3A-B6EE-43B45EFC3FC4}"/>
              </a:ext>
            </a:extLst>
          </p:cNvPr>
          <p:cNvSpPr/>
          <p:nvPr/>
        </p:nvSpPr>
        <p:spPr>
          <a:xfrm>
            <a:off x="11377231" y="5607379"/>
            <a:ext cx="264795" cy="25603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2F5F02EC-45B9-112A-9617-3ECB4778B7DC}"/>
              </a:ext>
            </a:extLst>
          </p:cNvPr>
          <p:cNvCxnSpPr>
            <a:cxnSpLocks/>
          </p:cNvCxnSpPr>
          <p:nvPr/>
        </p:nvCxnSpPr>
        <p:spPr>
          <a:xfrm flipH="1" flipV="1">
            <a:off x="11106150" y="4343400"/>
            <a:ext cx="403478" cy="1263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2DADD0F-4F9A-18E8-4BB4-D5C1BAA9861A}"/>
              </a:ext>
            </a:extLst>
          </p:cNvPr>
          <p:cNvSpPr txBox="1"/>
          <p:nvPr/>
        </p:nvSpPr>
        <p:spPr>
          <a:xfrm>
            <a:off x="10483192" y="3143071"/>
            <a:ext cx="1649393" cy="1200329"/>
          </a:xfrm>
          <a:prstGeom prst="rect">
            <a:avLst/>
          </a:prstGeom>
          <a:noFill/>
        </p:spPr>
        <p:txBody>
          <a:bodyPr wrap="square" rtlCol="0">
            <a:spAutoFit/>
          </a:bodyPr>
          <a:lstStyle/>
          <a:p>
            <a:r>
              <a:rPr lang="en-US" dirty="0" err="1"/>
              <a:t>Kết</a:t>
            </a:r>
            <a:r>
              <a:rPr lang="en-US" dirty="0"/>
              <a:t> </a:t>
            </a:r>
            <a:r>
              <a:rPr lang="en-US" dirty="0" err="1"/>
              <a:t>quả</a:t>
            </a:r>
            <a:r>
              <a:rPr lang="en-US" dirty="0"/>
              <a:t> </a:t>
            </a:r>
            <a:r>
              <a:rPr lang="en-US" dirty="0" err="1"/>
              <a:t>phân</a:t>
            </a:r>
            <a:r>
              <a:rPr lang="en-US" dirty="0"/>
              <a:t> </a:t>
            </a:r>
            <a:r>
              <a:rPr lang="en-US" dirty="0" err="1"/>
              <a:t>loại</a:t>
            </a:r>
            <a:r>
              <a:rPr lang="en-US" dirty="0"/>
              <a:t> </a:t>
            </a:r>
            <a:r>
              <a:rPr lang="en-US" dirty="0" err="1"/>
              <a:t>nhãn</a:t>
            </a:r>
            <a:r>
              <a:rPr lang="en-US" dirty="0"/>
              <a:t> 0 : AFIB </a:t>
            </a:r>
            <a:r>
              <a:rPr lang="en-US" dirty="0" err="1"/>
              <a:t>trùng</a:t>
            </a:r>
            <a:r>
              <a:rPr lang="en-US" dirty="0"/>
              <a:t> </a:t>
            </a:r>
            <a:r>
              <a:rPr lang="en-US" dirty="0" err="1"/>
              <a:t>nhãn</a:t>
            </a:r>
            <a:r>
              <a:rPr lang="en-US" dirty="0"/>
              <a:t> record</a:t>
            </a:r>
          </a:p>
        </p:txBody>
      </p:sp>
    </p:spTree>
    <p:extLst>
      <p:ext uri="{BB962C8B-B14F-4D97-AF65-F5344CB8AC3E}">
        <p14:creationId xmlns:p14="http://schemas.microsoft.com/office/powerpoint/2010/main" val="62403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C4244-3C45-CB50-DA50-BE3647ED2C1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910C9C2-8965-CE72-4CFA-CD6248793B52}"/>
              </a:ext>
            </a:extLst>
          </p:cNvPr>
          <p:cNvPicPr>
            <a:picLocks noChangeAspect="1"/>
          </p:cNvPicPr>
          <p:nvPr/>
        </p:nvPicPr>
        <p:blipFill>
          <a:blip r:embed="rId3"/>
          <a:stretch>
            <a:fillRect/>
          </a:stretch>
        </p:blipFill>
        <p:spPr>
          <a:xfrm>
            <a:off x="7624255" y="5173989"/>
            <a:ext cx="4080065" cy="1526283"/>
          </a:xfrm>
          <a:prstGeom prst="rect">
            <a:avLst/>
          </a:prstGeom>
          <a:ln w="28575">
            <a:solidFill>
              <a:srgbClr val="FF0000"/>
            </a:solidFill>
          </a:ln>
        </p:spPr>
      </p:pic>
      <p:sp>
        <p:nvSpPr>
          <p:cNvPr id="3" name="Text 1">
            <a:extLst>
              <a:ext uri="{FF2B5EF4-FFF2-40B4-BE49-F238E27FC236}">
                <a16:creationId xmlns:a16="http://schemas.microsoft.com/office/drawing/2014/main" id="{19CE9624-3552-186B-8A71-F12A57EC566D}"/>
              </a:ext>
            </a:extLst>
          </p:cNvPr>
          <p:cNvSpPr/>
          <p:nvPr/>
        </p:nvSpPr>
        <p:spPr>
          <a:xfrm>
            <a:off x="566927" y="614262"/>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4.2.2 </a:t>
            </a:r>
            <a:r>
              <a:rPr lang="en-US" sz="2700" b="1" dirty="0" err="1">
                <a:solidFill>
                  <a:srgbClr val="1A1C22"/>
                </a:solidFill>
                <a:latin typeface="Cambria" pitchFamily="34" charset="0"/>
                <a:ea typeface="Cambria" pitchFamily="34" charset="-122"/>
                <a:cs typeface="Cambria" pitchFamily="34" charset="-120"/>
              </a:rPr>
              <a:t>Kiểm</a:t>
            </a:r>
            <a:r>
              <a:rPr lang="en-US" sz="2700" b="1" dirty="0">
                <a:solidFill>
                  <a:srgbClr val="1A1C22"/>
                </a:solidFill>
                <a:latin typeface="Cambria" pitchFamily="34" charset="0"/>
                <a:ea typeface="Cambria" pitchFamily="34" charset="-122"/>
                <a:cs typeface="Cambria" pitchFamily="34" charset="-120"/>
              </a:rPr>
              <a:t> chứng </a:t>
            </a:r>
            <a:r>
              <a:rPr lang="en-US" sz="2700" b="1" dirty="0" err="1">
                <a:solidFill>
                  <a:srgbClr val="1A1C22"/>
                </a:solidFill>
                <a:latin typeface="Cambria" pitchFamily="34" charset="0"/>
                <a:ea typeface="Cambria" pitchFamily="34" charset="-122"/>
                <a:cs typeface="Cambria" pitchFamily="34" charset="-120"/>
              </a:rPr>
              <a:t>chức</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năng</a:t>
            </a:r>
            <a:r>
              <a:rPr lang="en-US" sz="2700" b="1" dirty="0">
                <a:solidFill>
                  <a:srgbClr val="1A1C22"/>
                </a:solidFill>
                <a:latin typeface="Cambria" pitchFamily="34" charset="0"/>
                <a:ea typeface="Cambria" pitchFamily="34" charset="-122"/>
                <a:cs typeface="Cambria" pitchFamily="34" charset="-120"/>
              </a:rPr>
              <a:t> (Georgia)</a:t>
            </a:r>
            <a:endParaRPr lang="en-US" sz="2700" dirty="0"/>
          </a:p>
        </p:txBody>
      </p:sp>
      <p:sp>
        <p:nvSpPr>
          <p:cNvPr id="22" name="Text 0">
            <a:extLst>
              <a:ext uri="{FF2B5EF4-FFF2-40B4-BE49-F238E27FC236}">
                <a16:creationId xmlns:a16="http://schemas.microsoft.com/office/drawing/2014/main" id="{901B05F5-6518-3656-8DC8-CE37A53CC898}"/>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4 · KẾT QUẢ THỰC NGHIỆM</a:t>
            </a:r>
            <a:endParaRPr lang="en-US" sz="2500" dirty="0"/>
          </a:p>
        </p:txBody>
      </p:sp>
      <p:sp>
        <p:nvSpPr>
          <p:cNvPr id="33" name="Oval 32">
            <a:extLst>
              <a:ext uri="{FF2B5EF4-FFF2-40B4-BE49-F238E27FC236}">
                <a16:creationId xmlns:a16="http://schemas.microsoft.com/office/drawing/2014/main" id="{186170DB-5EFA-819A-299D-FD24709DC160}"/>
              </a:ext>
            </a:extLst>
          </p:cNvPr>
          <p:cNvSpPr/>
          <p:nvPr/>
        </p:nvSpPr>
        <p:spPr>
          <a:xfrm>
            <a:off x="11377231" y="5607379"/>
            <a:ext cx="264795" cy="25603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9AF0B692-BB86-590E-5669-E83427023482}"/>
              </a:ext>
            </a:extLst>
          </p:cNvPr>
          <p:cNvCxnSpPr>
            <a:cxnSpLocks/>
          </p:cNvCxnSpPr>
          <p:nvPr/>
        </p:nvCxnSpPr>
        <p:spPr>
          <a:xfrm flipH="1" flipV="1">
            <a:off x="11106150" y="4343400"/>
            <a:ext cx="403478" cy="12639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6E08917-2014-5679-D403-EF4D44CFD4B0}"/>
              </a:ext>
            </a:extLst>
          </p:cNvPr>
          <p:cNvSpPr txBox="1"/>
          <p:nvPr/>
        </p:nvSpPr>
        <p:spPr>
          <a:xfrm>
            <a:off x="10483192" y="3143071"/>
            <a:ext cx="1649393" cy="1200329"/>
          </a:xfrm>
          <a:prstGeom prst="rect">
            <a:avLst/>
          </a:prstGeom>
          <a:noFill/>
        </p:spPr>
        <p:txBody>
          <a:bodyPr wrap="square" rtlCol="0">
            <a:spAutoFit/>
          </a:bodyPr>
          <a:lstStyle/>
          <a:p>
            <a:r>
              <a:rPr lang="en-US" dirty="0" err="1"/>
              <a:t>Kết</a:t>
            </a:r>
            <a:r>
              <a:rPr lang="en-US" dirty="0"/>
              <a:t> </a:t>
            </a:r>
            <a:r>
              <a:rPr lang="en-US" dirty="0" err="1"/>
              <a:t>quả</a:t>
            </a:r>
            <a:r>
              <a:rPr lang="en-US" dirty="0"/>
              <a:t> </a:t>
            </a:r>
            <a:r>
              <a:rPr lang="en-US" dirty="0" err="1"/>
              <a:t>phân</a:t>
            </a:r>
            <a:r>
              <a:rPr lang="en-US" dirty="0"/>
              <a:t> </a:t>
            </a:r>
            <a:r>
              <a:rPr lang="en-US" dirty="0" err="1"/>
              <a:t>loại</a:t>
            </a:r>
            <a:r>
              <a:rPr lang="en-US" dirty="0"/>
              <a:t> </a:t>
            </a:r>
            <a:r>
              <a:rPr lang="en-US" dirty="0" err="1"/>
              <a:t>nhãn</a:t>
            </a:r>
            <a:r>
              <a:rPr lang="en-US" dirty="0"/>
              <a:t> 0 : AFIB </a:t>
            </a:r>
            <a:r>
              <a:rPr lang="en-US" dirty="0" err="1"/>
              <a:t>trùng</a:t>
            </a:r>
            <a:r>
              <a:rPr lang="en-US" dirty="0"/>
              <a:t> </a:t>
            </a:r>
            <a:r>
              <a:rPr lang="en-US" dirty="0" err="1"/>
              <a:t>nhãn</a:t>
            </a:r>
            <a:r>
              <a:rPr lang="en-US" dirty="0"/>
              <a:t> record</a:t>
            </a:r>
          </a:p>
        </p:txBody>
      </p:sp>
      <p:pic>
        <p:nvPicPr>
          <p:cNvPr id="2" name="Picture 1">
            <a:extLst>
              <a:ext uri="{FF2B5EF4-FFF2-40B4-BE49-F238E27FC236}">
                <a16:creationId xmlns:a16="http://schemas.microsoft.com/office/drawing/2014/main" id="{188FE4DD-F74D-C010-61E6-51B834FE6A39}"/>
              </a:ext>
            </a:extLst>
          </p:cNvPr>
          <p:cNvPicPr>
            <a:picLocks noChangeAspect="1"/>
          </p:cNvPicPr>
          <p:nvPr/>
        </p:nvPicPr>
        <p:blipFill>
          <a:blip r:embed="rId4"/>
          <a:stretch>
            <a:fillRect/>
          </a:stretch>
        </p:blipFill>
        <p:spPr>
          <a:xfrm>
            <a:off x="841249" y="2257165"/>
            <a:ext cx="9509546" cy="2669177"/>
          </a:xfrm>
          <a:prstGeom prst="rect">
            <a:avLst/>
          </a:prstGeom>
        </p:spPr>
      </p:pic>
      <p:pic>
        <p:nvPicPr>
          <p:cNvPr id="6" name="Picture 5">
            <a:extLst>
              <a:ext uri="{FF2B5EF4-FFF2-40B4-BE49-F238E27FC236}">
                <a16:creationId xmlns:a16="http://schemas.microsoft.com/office/drawing/2014/main" id="{D89696D8-A128-026C-82A1-F01D5B784A81}"/>
              </a:ext>
            </a:extLst>
          </p:cNvPr>
          <p:cNvPicPr>
            <a:picLocks noChangeAspect="1"/>
          </p:cNvPicPr>
          <p:nvPr/>
        </p:nvPicPr>
        <p:blipFill>
          <a:blip r:embed="rId5"/>
          <a:stretch>
            <a:fillRect/>
          </a:stretch>
        </p:blipFill>
        <p:spPr>
          <a:xfrm>
            <a:off x="447389" y="5016304"/>
            <a:ext cx="5679004" cy="1696326"/>
          </a:xfrm>
          <a:prstGeom prst="rect">
            <a:avLst/>
          </a:prstGeom>
        </p:spPr>
      </p:pic>
      <p:sp>
        <p:nvSpPr>
          <p:cNvPr id="7" name="Shape 11">
            <a:extLst>
              <a:ext uri="{FF2B5EF4-FFF2-40B4-BE49-F238E27FC236}">
                <a16:creationId xmlns:a16="http://schemas.microsoft.com/office/drawing/2014/main" id="{5A35E56C-7CD0-586C-6F85-D8A465CB02C3}"/>
              </a:ext>
            </a:extLst>
          </p:cNvPr>
          <p:cNvSpPr/>
          <p:nvPr/>
        </p:nvSpPr>
        <p:spPr>
          <a:xfrm>
            <a:off x="762108" y="1158876"/>
            <a:ext cx="11170812" cy="1004888"/>
          </a:xfrm>
          <a:prstGeom prst="roundRect">
            <a:avLst>
              <a:gd name="adj" fmla="val 4737"/>
            </a:avLst>
          </a:prstGeom>
          <a:solidFill>
            <a:srgbClr val="F7EFEF"/>
          </a:solidFill>
          <a:ln w="12700">
            <a:solidFill>
              <a:srgbClr val="F7EFEF"/>
            </a:solidFill>
            <a:prstDash val="solid"/>
          </a:ln>
          <a:effectLst>
            <a:outerShdw blurRad="101600" dist="25400" dir="5400000" algn="bl" rotWithShape="0">
              <a:srgbClr val="B9AFAF">
                <a:alpha val="25000"/>
              </a:srgbClr>
            </a:outerShdw>
          </a:effectLst>
        </p:spPr>
        <p:txBody>
          <a:bodyPr/>
          <a:lstStyle/>
          <a:p>
            <a:r>
              <a:rPr lang="en-US" b="1" dirty="0" err="1">
                <a:solidFill>
                  <a:srgbClr val="1A1C22"/>
                </a:solidFill>
                <a:latin typeface="Calibri" pitchFamily="34" charset="0"/>
                <a:ea typeface="Calibri" pitchFamily="34" charset="-122"/>
                <a:cs typeface="Calibri" pitchFamily="34" charset="-120"/>
              </a:rPr>
              <a:t>Mức</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hệ</a:t>
            </a:r>
            <a:r>
              <a:rPr lang="en-US" b="1" dirty="0">
                <a:solidFill>
                  <a:srgbClr val="1A1C22"/>
                </a:solidFill>
                <a:latin typeface="Calibri" pitchFamily="34" charset="0"/>
                <a:ea typeface="Calibri" pitchFamily="34" charset="-122"/>
                <a:cs typeface="Calibri" pitchFamily="34" charset="-120"/>
              </a:rPr>
              <a:t> </a:t>
            </a:r>
            <a:r>
              <a:rPr lang="en-US" b="1" dirty="0" err="1">
                <a:solidFill>
                  <a:srgbClr val="1A1C22"/>
                </a:solidFill>
                <a:latin typeface="Calibri" pitchFamily="34" charset="0"/>
                <a:ea typeface="Calibri" pitchFamily="34" charset="-122"/>
                <a:cs typeface="Calibri" pitchFamily="34" charset="-120"/>
              </a:rPr>
              <a:t>thống</a:t>
            </a:r>
            <a:r>
              <a:rPr lang="en-US" b="1" dirty="0">
                <a:solidFill>
                  <a:srgbClr val="1A1C22"/>
                </a:solidFill>
                <a:latin typeface="Calibri" pitchFamily="34" charset="0"/>
                <a:ea typeface="Calibri" pitchFamily="34" charset="-122"/>
                <a:cs typeface="Calibri" pitchFamily="34" charset="-120"/>
              </a:rPr>
              <a:t> </a:t>
            </a:r>
            <a:r>
              <a:rPr lang="en-US" b="1" dirty="0">
                <a:solidFill>
                  <a:srgbClr val="990011"/>
                </a:solidFill>
                <a:latin typeface="Cambria" pitchFamily="34" charset="0"/>
                <a:ea typeface="Cambria" pitchFamily="34" charset="-122"/>
                <a:cs typeface="Cambria" pitchFamily="34" charset="-120"/>
              </a:rPr>
              <a:t>7/7 </a:t>
            </a:r>
            <a:r>
              <a:rPr lang="en-US" b="1" dirty="0" err="1">
                <a:solidFill>
                  <a:srgbClr val="990011"/>
                </a:solidFill>
                <a:latin typeface="Cambria" pitchFamily="34" charset="0"/>
                <a:ea typeface="Cambria" pitchFamily="34" charset="-122"/>
                <a:cs typeface="Cambria" pitchFamily="34" charset="-120"/>
              </a:rPr>
              <a:t>đạt</a:t>
            </a:r>
            <a:endParaRPr lang="en-US" dirty="0"/>
          </a:p>
          <a:p>
            <a:r>
              <a:rPr lang="en-US" dirty="0" err="1">
                <a:solidFill>
                  <a:srgbClr val="6E6E78"/>
                </a:solidFill>
                <a:latin typeface="Calibri" pitchFamily="34" charset="0"/>
                <a:ea typeface="Calibri" pitchFamily="34" charset="-122"/>
                <a:cs typeface="Calibri" pitchFamily="34" charset="-120"/>
              </a:rPr>
              <a:t>Một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mẫu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tín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hiệu</a:t>
            </a:r>
            <a:r>
              <a:rPr lang="en-US" dirty="0">
                <a:solidFill>
                  <a:srgbClr val="6E6E78"/>
                </a:solidFill>
                <a:latin typeface="Calibri" pitchFamily="34" charset="0"/>
                <a:ea typeface="Calibri" pitchFamily="34" charset="-122"/>
                <a:cs typeface="Calibri" pitchFamily="34" charset="-120"/>
              </a:rPr>
              <a:t> ECG </a:t>
            </a:r>
            <a:r>
              <a:rPr lang="en-US" dirty="0" err="1">
                <a:solidFill>
                  <a:srgbClr val="6E6E78"/>
                </a:solidFill>
                <a:latin typeface="Calibri" pitchFamily="34" charset="0"/>
                <a:ea typeface="Calibri" pitchFamily="34" charset="-122"/>
                <a:cs typeface="Calibri" pitchFamily="34" charset="-120"/>
              </a:rPr>
              <a:t>chạy</a:t>
            </a:r>
            <a:r>
              <a:rPr lang="en-US" dirty="0">
                <a:solidFill>
                  <a:srgbClr val="6E6E78"/>
                </a:solidFill>
                <a:latin typeface="Calibri" pitchFamily="34" charset="0"/>
                <a:ea typeface="Calibri" pitchFamily="34" charset="-122"/>
                <a:cs typeface="Calibri" pitchFamily="34" charset="-120"/>
              </a:rPr>
              <a:t> qua </a:t>
            </a:r>
            <a:r>
              <a:rPr lang="en-US" dirty="0" err="1">
                <a:solidFill>
                  <a:srgbClr val="6E6E78"/>
                </a:solidFill>
                <a:latin typeface="Calibri" pitchFamily="34" charset="0"/>
                <a:ea typeface="Calibri" pitchFamily="34" charset="-122"/>
                <a:cs typeface="Calibri" pitchFamily="34" charset="-120"/>
              </a:rPr>
              <a:t>toàn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hệ</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thống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đối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chiếu</a:t>
            </a:r>
            <a:r>
              <a:rPr lang="en-US" dirty="0">
                <a:solidFill>
                  <a:srgbClr val="6E6E78"/>
                </a:solidFill>
                <a:latin typeface="Calibri" pitchFamily="34" charset="0"/>
                <a:ea typeface="Calibri" pitchFamily="34" charset="-122"/>
                <a:cs typeface="Calibri" pitchFamily="34" charset="-120"/>
              </a:rPr>
              <a:t> 7  </a:t>
            </a:r>
            <a:r>
              <a:rPr lang="en-US" dirty="0" err="1">
                <a:solidFill>
                  <a:srgbClr val="6E6E78"/>
                </a:solidFill>
                <a:latin typeface="Calibri" pitchFamily="34" charset="0"/>
                <a:ea typeface="Calibri" pitchFamily="34" charset="-122"/>
                <a:cs typeface="Calibri" pitchFamily="34" charset="-120"/>
              </a:rPr>
              <a:t>điểm</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chính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xác</a:t>
            </a:r>
            <a:r>
              <a:rPr lang="en-US" dirty="0">
                <a:solidFill>
                  <a:srgbClr val="6E6E78"/>
                </a:solidFill>
                <a:latin typeface="Calibri" pitchFamily="34" charset="0"/>
                <a:ea typeface="Calibri" pitchFamily="34" charset="-122"/>
                <a:cs typeface="Calibri" pitchFamily="34" charset="-120"/>
              </a:rPr>
              <a:t> bit </a:t>
            </a:r>
            <a:r>
              <a:rPr lang="en-US" dirty="0" err="1">
                <a:solidFill>
                  <a:srgbClr val="6E6E78"/>
                </a:solidFill>
                <a:latin typeface="Calibri" pitchFamily="34" charset="0"/>
                <a:ea typeface="Calibri" pitchFamily="34" charset="-122"/>
                <a:cs typeface="Calibri" pitchFamily="34" charset="-120"/>
              </a:rPr>
              <a:t>kiểm</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tra</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với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mô</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hình</a:t>
            </a:r>
            <a:r>
              <a:rPr lang="en-US" dirty="0">
                <a:solidFill>
                  <a:srgbClr val="6E6E78"/>
                </a:solidFill>
                <a:latin typeface="Calibri" pitchFamily="34" charset="0"/>
                <a:ea typeface="Calibri" pitchFamily="34" charset="-122"/>
                <a:cs typeface="Calibri" pitchFamily="34" charset="-120"/>
              </a:rPr>
              <a:t> Python </a:t>
            </a:r>
            <a:r>
              <a:rPr lang="en-US" dirty="0" err="1">
                <a:solidFill>
                  <a:srgbClr val="6E6E78"/>
                </a:solidFill>
                <a:latin typeface="Calibri" pitchFamily="34" charset="0"/>
                <a:ea typeface="Calibri" pitchFamily="34" charset="-122"/>
                <a:cs typeface="Calibri" pitchFamily="34" charset="-120"/>
              </a:rPr>
              <a:t>sai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lệch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tuyệt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đối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lớn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nhất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bằng</a:t>
            </a:r>
            <a:r>
              <a:rPr lang="en-US" dirty="0">
                <a:solidFill>
                  <a:srgbClr val="6E6E78"/>
                </a:solidFill>
                <a:latin typeface="Calibri" pitchFamily="34" charset="0"/>
                <a:ea typeface="Calibri" pitchFamily="34" charset="-122"/>
                <a:cs typeface="Calibri" pitchFamily="34" charset="-120"/>
              </a:rPr>
              <a:t> 0.</a:t>
            </a:r>
            <a:endParaRPr lang="en-US" dirty="0"/>
          </a:p>
        </p:txBody>
      </p:sp>
    </p:spTree>
    <p:extLst>
      <p:ext uri="{BB962C8B-B14F-4D97-AF65-F5344CB8AC3E}">
        <p14:creationId xmlns:p14="http://schemas.microsoft.com/office/powerpoint/2010/main" val="1726201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CF4F5FDF-707E-A9AD-0B7B-75ABB8E6034B}"/>
              </a:ext>
            </a:extLst>
          </p:cNvPr>
          <p:cNvPicPr>
            <a:picLocks noChangeAspect="1"/>
          </p:cNvPicPr>
          <p:nvPr/>
        </p:nvPicPr>
        <p:blipFill>
          <a:blip r:embed="rId3"/>
          <a:stretch>
            <a:fillRect/>
          </a:stretch>
        </p:blipFill>
        <p:spPr>
          <a:xfrm>
            <a:off x="7853144" y="3674436"/>
            <a:ext cx="3376812" cy="1106888"/>
          </a:xfrm>
          <a:prstGeom prst="rect">
            <a:avLst/>
          </a:prstGeom>
          <a:ln w="38100">
            <a:solidFill>
              <a:srgbClr val="FF0000"/>
            </a:solidFill>
          </a:ln>
        </p:spPr>
      </p:pic>
      <p:sp>
        <p:nvSpPr>
          <p:cNvPr id="3" name="Text 1"/>
          <p:cNvSpPr/>
          <p:nvPr/>
        </p:nvSpPr>
        <p:spPr>
          <a:xfrm>
            <a:off x="566928" y="609219"/>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4.3 </a:t>
            </a:r>
            <a:r>
              <a:rPr lang="en-US" sz="2700" b="1" dirty="0" err="1">
                <a:solidFill>
                  <a:srgbClr val="1A1C22"/>
                </a:solidFill>
                <a:latin typeface="Cambria" pitchFamily="34" charset="0"/>
                <a:ea typeface="Cambria" pitchFamily="34" charset="-122"/>
                <a:cs typeface="Cambria" pitchFamily="34" charset="-120"/>
              </a:rPr>
              <a:t>Kết</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quả</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thực</a:t>
            </a:r>
            <a:r>
              <a:rPr lang="en-US" sz="2700" b="1" dirty="0">
                <a:solidFill>
                  <a:srgbClr val="1A1C22"/>
                </a:solidFill>
                <a:latin typeface="Cambria" pitchFamily="34" charset="0"/>
                <a:ea typeface="Cambria" pitchFamily="34" charset="-122"/>
                <a:cs typeface="Cambria" pitchFamily="34" charset="-120"/>
              </a:rPr>
              <a:t> nghiệm trên kit DE10-Standard</a:t>
            </a:r>
            <a:endParaRPr lang="en-US" sz="2700" dirty="0"/>
          </a:p>
        </p:txBody>
      </p:sp>
      <p:graphicFrame>
        <p:nvGraphicFramePr>
          <p:cNvPr id="27" name="Table 0"/>
          <p:cNvGraphicFramePr>
            <a:graphicFrameLocks noGrp="1"/>
          </p:cNvGraphicFramePr>
          <p:nvPr>
            <p:extLst>
              <p:ext uri="{D42A27DB-BD31-4B8C-83A1-F6EECF244321}">
                <p14:modId xmlns:p14="http://schemas.microsoft.com/office/powerpoint/2010/main" val="1481696519"/>
              </p:ext>
            </p:extLst>
          </p:nvPr>
        </p:nvGraphicFramePr>
        <p:xfrm>
          <a:off x="7268038" y="4919472"/>
          <a:ext cx="4762037" cy="1444752"/>
        </p:xfrm>
        <a:graphic>
          <a:graphicData uri="http://schemas.openxmlformats.org/drawingml/2006/table">
            <a:tbl>
              <a:tblPr/>
              <a:tblGrid>
                <a:gridCol w="1233629">
                  <a:extLst>
                    <a:ext uri="{9D8B030D-6E8A-4147-A177-3AD203B41FA5}">
                      <a16:colId xmlns:a16="http://schemas.microsoft.com/office/drawing/2014/main" val="20000"/>
                    </a:ext>
                  </a:extLst>
                </a:gridCol>
                <a:gridCol w="809935">
                  <a:extLst>
                    <a:ext uri="{9D8B030D-6E8A-4147-A177-3AD203B41FA5}">
                      <a16:colId xmlns:a16="http://schemas.microsoft.com/office/drawing/2014/main" val="20001"/>
                    </a:ext>
                  </a:extLst>
                </a:gridCol>
                <a:gridCol w="751114">
                  <a:extLst>
                    <a:ext uri="{9D8B030D-6E8A-4147-A177-3AD203B41FA5}">
                      <a16:colId xmlns:a16="http://schemas.microsoft.com/office/drawing/2014/main" val="20002"/>
                    </a:ext>
                  </a:extLst>
                </a:gridCol>
                <a:gridCol w="979714">
                  <a:extLst>
                    <a:ext uri="{9D8B030D-6E8A-4147-A177-3AD203B41FA5}">
                      <a16:colId xmlns:a16="http://schemas.microsoft.com/office/drawing/2014/main" val="20003"/>
                    </a:ext>
                  </a:extLst>
                </a:gridCol>
                <a:gridCol w="987645">
                  <a:extLst>
                    <a:ext uri="{9D8B030D-6E8A-4147-A177-3AD203B41FA5}">
                      <a16:colId xmlns:a16="http://schemas.microsoft.com/office/drawing/2014/main" val="20004"/>
                    </a:ext>
                  </a:extLst>
                </a:gridCol>
              </a:tblGrid>
              <a:tr h="402336">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Tập dữ liệu</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Số mẫu</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Đúng</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Trên board</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Phần mềm</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402336">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Chapman</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4.973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4.688</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990011"/>
                          </a:solidFill>
                          <a:latin typeface="Calibri" pitchFamily="34" charset="0"/>
                          <a:ea typeface="Calibri" pitchFamily="34" charset="-122"/>
                          <a:cs typeface="Calibri" pitchFamily="34" charset="-120"/>
                        </a:rPr>
                        <a:t>94,27 %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94,27 %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800" dirty="0">
                          <a:solidFill>
                            <a:srgbClr val="1A1C22"/>
                          </a:solidFill>
                          <a:latin typeface="Calibri" pitchFamily="34" charset="0"/>
                          <a:ea typeface="Calibri" pitchFamily="34" charset="-122"/>
                          <a:cs typeface="Calibri" pitchFamily="34" charset="-120"/>
                        </a:rPr>
                        <a:t>Georgia</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5.459</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5.077</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b="1" dirty="0">
                          <a:solidFill>
                            <a:srgbClr val="990011"/>
                          </a:solidFill>
                          <a:latin typeface="Calibri" pitchFamily="34" charset="0"/>
                          <a:ea typeface="Calibri" pitchFamily="34" charset="-122"/>
                          <a:cs typeface="Calibri" pitchFamily="34" charset="-120"/>
                        </a:rPr>
                        <a:t>93,00 %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800" dirty="0">
                          <a:solidFill>
                            <a:srgbClr val="1A1C22"/>
                          </a:solidFill>
                          <a:latin typeface="Calibri" pitchFamily="34" charset="0"/>
                          <a:ea typeface="Calibri" pitchFamily="34" charset="-122"/>
                          <a:cs typeface="Calibri" pitchFamily="34" charset="-120"/>
                        </a:rPr>
                        <a:t>93,00 %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bl>
          </a:graphicData>
        </a:graphic>
      </p:graphicFrame>
      <p:sp>
        <p:nvSpPr>
          <p:cNvPr id="14" name="Text 10"/>
          <p:cNvSpPr/>
          <p:nvPr/>
        </p:nvSpPr>
        <p:spPr>
          <a:xfrm>
            <a:off x="6614160" y="3602736"/>
            <a:ext cx="5007864" cy="1446466"/>
          </a:xfrm>
          <a:prstGeom prst="rect">
            <a:avLst/>
          </a:prstGeom>
          <a:noFill/>
          <a:ln/>
        </p:spPr>
        <p:txBody>
          <a:bodyPr wrap="square" lIns="0" tIns="0" rIns="0" bIns="0" rtlCol="0" anchor="t"/>
          <a:lstStyle/>
          <a:p>
            <a:pPr>
              <a:spcAft>
                <a:spcPts val="700"/>
              </a:spcAft>
              <a:buSzPct val="100000"/>
            </a:pPr>
            <a:endParaRPr lang="en-US" dirty="0"/>
          </a:p>
        </p:txBody>
      </p:sp>
      <p:sp>
        <p:nvSpPr>
          <p:cNvPr id="11" name="Text 0">
            <a:extLst>
              <a:ext uri="{FF2B5EF4-FFF2-40B4-BE49-F238E27FC236}">
                <a16:creationId xmlns:a16="http://schemas.microsoft.com/office/drawing/2014/main" id="{AF65A562-A293-4F53-D1DD-D0525620D688}"/>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4 · KẾT QUẢ THỰC NGHIỆM</a:t>
            </a:r>
            <a:endParaRPr lang="en-US" sz="2500" dirty="0"/>
          </a:p>
        </p:txBody>
      </p:sp>
      <p:pic>
        <p:nvPicPr>
          <p:cNvPr id="21" name="Picture 20">
            <a:extLst>
              <a:ext uri="{FF2B5EF4-FFF2-40B4-BE49-F238E27FC236}">
                <a16:creationId xmlns:a16="http://schemas.microsoft.com/office/drawing/2014/main" id="{4B26816D-7AD7-EA0E-23A3-E21DC75CBC30}"/>
              </a:ext>
            </a:extLst>
          </p:cNvPr>
          <p:cNvPicPr>
            <a:picLocks noChangeAspect="1"/>
          </p:cNvPicPr>
          <p:nvPr/>
        </p:nvPicPr>
        <p:blipFill>
          <a:blip r:embed="rId4"/>
          <a:stretch>
            <a:fillRect/>
          </a:stretch>
        </p:blipFill>
        <p:spPr>
          <a:xfrm>
            <a:off x="88454" y="1047369"/>
            <a:ext cx="3414238" cy="5524500"/>
          </a:xfrm>
          <a:prstGeom prst="rect">
            <a:avLst/>
          </a:prstGeom>
        </p:spPr>
      </p:pic>
      <p:pic>
        <p:nvPicPr>
          <p:cNvPr id="19" name="Picture 18">
            <a:extLst>
              <a:ext uri="{FF2B5EF4-FFF2-40B4-BE49-F238E27FC236}">
                <a16:creationId xmlns:a16="http://schemas.microsoft.com/office/drawing/2014/main" id="{FF3A41BC-4CD5-2FC3-8FDF-5D0E7BED0164}"/>
              </a:ext>
            </a:extLst>
          </p:cNvPr>
          <p:cNvPicPr>
            <a:picLocks noChangeAspect="1"/>
          </p:cNvPicPr>
          <p:nvPr/>
        </p:nvPicPr>
        <p:blipFill>
          <a:blip r:embed="rId5"/>
          <a:srcRect b="13779"/>
          <a:stretch>
            <a:fillRect/>
          </a:stretch>
        </p:blipFill>
        <p:spPr>
          <a:xfrm>
            <a:off x="3305175" y="1047369"/>
            <a:ext cx="3085339" cy="5524500"/>
          </a:xfrm>
          <a:prstGeom prst="rect">
            <a:avLst/>
          </a:prstGeom>
        </p:spPr>
      </p:pic>
      <p:sp>
        <p:nvSpPr>
          <p:cNvPr id="24" name="Rectangle 23">
            <a:extLst>
              <a:ext uri="{FF2B5EF4-FFF2-40B4-BE49-F238E27FC236}">
                <a16:creationId xmlns:a16="http://schemas.microsoft.com/office/drawing/2014/main" id="{CA89DFBB-0CCA-6102-6CA1-BE202890B221}"/>
              </a:ext>
            </a:extLst>
          </p:cNvPr>
          <p:cNvSpPr/>
          <p:nvPr/>
        </p:nvSpPr>
        <p:spPr>
          <a:xfrm>
            <a:off x="161925" y="5143500"/>
            <a:ext cx="2114550" cy="1220724"/>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8F1F74E-08B5-60FE-FD2D-F8E6A83B4BF3}"/>
              </a:ext>
            </a:extLst>
          </p:cNvPr>
          <p:cNvSpPr/>
          <p:nvPr/>
        </p:nvSpPr>
        <p:spPr>
          <a:xfrm>
            <a:off x="3344563" y="5056631"/>
            <a:ext cx="1894187" cy="1192149"/>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12E9A6E-A46D-1336-A238-71D54C0C5955}"/>
              </a:ext>
            </a:extLst>
          </p:cNvPr>
          <p:cNvPicPr>
            <a:picLocks noChangeAspect="1"/>
          </p:cNvPicPr>
          <p:nvPr/>
        </p:nvPicPr>
        <p:blipFill>
          <a:blip r:embed="rId6"/>
          <a:srcRect t="14135"/>
          <a:stretch>
            <a:fillRect/>
          </a:stretch>
        </p:blipFill>
        <p:spPr>
          <a:xfrm>
            <a:off x="7500622" y="1104023"/>
            <a:ext cx="4206964" cy="2438728"/>
          </a:xfrm>
          <a:prstGeom prst="rect">
            <a:avLst/>
          </a:prstGeom>
          <a:ln>
            <a:solidFill>
              <a:srgbClr val="FF0000"/>
            </a:solidFill>
          </a:ln>
        </p:spPr>
      </p:pic>
      <p:cxnSp>
        <p:nvCxnSpPr>
          <p:cNvPr id="7" name="Straight Connector 6">
            <a:extLst>
              <a:ext uri="{FF2B5EF4-FFF2-40B4-BE49-F238E27FC236}">
                <a16:creationId xmlns:a16="http://schemas.microsoft.com/office/drawing/2014/main" id="{62EB650B-CA03-B72A-2DDF-B46B02953B33}"/>
              </a:ext>
            </a:extLst>
          </p:cNvPr>
          <p:cNvCxnSpPr>
            <a:cxnSpLocks/>
          </p:cNvCxnSpPr>
          <p:nvPr/>
        </p:nvCxnSpPr>
        <p:spPr>
          <a:xfrm flipH="1" flipV="1">
            <a:off x="6324829" y="1047368"/>
            <a:ext cx="1296754" cy="5486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E062950-0BA7-48AF-E90E-373935123792}"/>
              </a:ext>
            </a:extLst>
          </p:cNvPr>
          <p:cNvCxnSpPr>
            <a:cxnSpLocks/>
          </p:cNvCxnSpPr>
          <p:nvPr/>
        </p:nvCxnSpPr>
        <p:spPr>
          <a:xfrm flipH="1">
            <a:off x="6336849" y="2217966"/>
            <a:ext cx="1453103" cy="435390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9E057CE-7F8A-6392-44D2-155350CA4F07}"/>
              </a:ext>
            </a:extLst>
          </p:cNvPr>
          <p:cNvSpPr/>
          <p:nvPr/>
        </p:nvSpPr>
        <p:spPr>
          <a:xfrm>
            <a:off x="76434" y="1047368"/>
            <a:ext cx="6248395" cy="55244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9CE8B86-5294-D02B-00D4-C73300387ADC}"/>
              </a:ext>
            </a:extLst>
          </p:cNvPr>
          <p:cNvSpPr/>
          <p:nvPr/>
        </p:nvSpPr>
        <p:spPr>
          <a:xfrm rot="20552972">
            <a:off x="7705329" y="1571613"/>
            <a:ext cx="335733" cy="6100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682914"/>
            <a:ext cx="8228709"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4.4 </a:t>
            </a:r>
            <a:r>
              <a:rPr lang="en-US" sz="2700" b="1" dirty="0" err="1">
                <a:solidFill>
                  <a:srgbClr val="1A1C22"/>
                </a:solidFill>
                <a:latin typeface="Cambria" pitchFamily="34" charset="0"/>
                <a:ea typeface="Cambria" pitchFamily="34" charset="-122"/>
                <a:cs typeface="Cambria" pitchFamily="34" charset="-120"/>
              </a:rPr>
              <a:t>Kết</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quả</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tài</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nguyên</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trên</a:t>
            </a:r>
            <a:r>
              <a:rPr lang="en-US" sz="2700" b="1" dirty="0">
                <a:solidFill>
                  <a:srgbClr val="1A1C22"/>
                </a:solidFill>
                <a:latin typeface="Cambria" pitchFamily="34" charset="0"/>
                <a:ea typeface="Cambria" pitchFamily="34" charset="-122"/>
                <a:cs typeface="Cambria" pitchFamily="34" charset="-120"/>
              </a:rPr>
              <a:t> board De10-Standard</a:t>
            </a:r>
            <a:endParaRPr lang="en-US" sz="2700" dirty="0"/>
          </a:p>
        </p:txBody>
      </p:sp>
      <p:graphicFrame>
        <p:nvGraphicFramePr>
          <p:cNvPr id="28" name="Table 0"/>
          <p:cNvGraphicFramePr>
            <a:graphicFrameLocks noGrp="1"/>
          </p:cNvGraphicFramePr>
          <p:nvPr>
            <p:extLst>
              <p:ext uri="{D42A27DB-BD31-4B8C-83A1-F6EECF244321}">
                <p14:modId xmlns:p14="http://schemas.microsoft.com/office/powerpoint/2010/main" val="1626578065"/>
              </p:ext>
            </p:extLst>
          </p:nvPr>
        </p:nvGraphicFramePr>
        <p:xfrm>
          <a:off x="1070409" y="3546127"/>
          <a:ext cx="7248526" cy="3076904"/>
        </p:xfrm>
        <a:graphic>
          <a:graphicData uri="http://schemas.openxmlformats.org/drawingml/2006/table">
            <a:tbl>
              <a:tblPr/>
              <a:tblGrid>
                <a:gridCol w="1900650">
                  <a:extLst>
                    <a:ext uri="{9D8B030D-6E8A-4147-A177-3AD203B41FA5}">
                      <a16:colId xmlns:a16="http://schemas.microsoft.com/office/drawing/2014/main" val="20000"/>
                    </a:ext>
                  </a:extLst>
                </a:gridCol>
                <a:gridCol w="1089891">
                  <a:extLst>
                    <a:ext uri="{9D8B030D-6E8A-4147-A177-3AD203B41FA5}">
                      <a16:colId xmlns:a16="http://schemas.microsoft.com/office/drawing/2014/main" val="20001"/>
                    </a:ext>
                  </a:extLst>
                </a:gridCol>
                <a:gridCol w="932873">
                  <a:extLst>
                    <a:ext uri="{9D8B030D-6E8A-4147-A177-3AD203B41FA5}">
                      <a16:colId xmlns:a16="http://schemas.microsoft.com/office/drawing/2014/main" val="20002"/>
                    </a:ext>
                  </a:extLst>
                </a:gridCol>
                <a:gridCol w="1450109">
                  <a:extLst>
                    <a:ext uri="{9D8B030D-6E8A-4147-A177-3AD203B41FA5}">
                      <a16:colId xmlns:a16="http://schemas.microsoft.com/office/drawing/2014/main" val="20003"/>
                    </a:ext>
                  </a:extLst>
                </a:gridCol>
                <a:gridCol w="932872">
                  <a:extLst>
                    <a:ext uri="{9D8B030D-6E8A-4147-A177-3AD203B41FA5}">
                      <a16:colId xmlns:a16="http://schemas.microsoft.com/office/drawing/2014/main" val="20004"/>
                    </a:ext>
                  </a:extLst>
                </a:gridCol>
                <a:gridCol w="942131">
                  <a:extLst>
                    <a:ext uri="{9D8B030D-6E8A-4147-A177-3AD203B41FA5}">
                      <a16:colId xmlns:a16="http://schemas.microsoft.com/office/drawing/2014/main" val="20005"/>
                    </a:ext>
                  </a:extLst>
                </a:gridCol>
              </a:tblGrid>
              <a:tr h="394664">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Khối</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ALM</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ALUT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Thanh ghi</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M10K</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DSP</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334048">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avalon_slave</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10,5</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23</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4048">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cnn_controller</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71,8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122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83</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334048">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engine unit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1.691,9</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2.281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2.418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4048">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ROM weight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230,7</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309</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147</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r h="334048">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GAP-FC-argmax unit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342,2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567</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374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4048">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Ping-pong RAM</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25,1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16</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6"/>
                  </a:ext>
                </a:extLst>
              </a:tr>
              <a:tr h="334048">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Input RAM</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4048">
                <a:tc>
                  <a:txBody>
                    <a:bodyPr/>
                    <a:lstStyle/>
                    <a:p>
                      <a:pPr marL="0" indent="0" algn="l">
                        <a:buNone/>
                      </a:pPr>
                      <a:r>
                        <a:rPr lang="en-US" sz="1600" b="1" dirty="0">
                          <a:solidFill>
                            <a:srgbClr val="1A1C22"/>
                          </a:solidFill>
                          <a:latin typeface="Calibri" pitchFamily="34" charset="0"/>
                          <a:ea typeface="Calibri" pitchFamily="34" charset="-122"/>
                          <a:cs typeface="Calibri" pitchFamily="34" charset="-120"/>
                        </a:rPr>
                        <a:t>Toàn thiết kế</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2.148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1A1C22"/>
                          </a:solidFill>
                          <a:latin typeface="Calibri" pitchFamily="34" charset="0"/>
                          <a:ea typeface="Calibri" pitchFamily="34" charset="-122"/>
                          <a:cs typeface="Calibri" pitchFamily="34" charset="-120"/>
                        </a:rPr>
                        <a:t>3.069</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1A1C22"/>
                          </a:solidFill>
                          <a:latin typeface="Calibri" pitchFamily="34" charset="0"/>
                          <a:ea typeface="Calibri" pitchFamily="34" charset="-122"/>
                          <a:cs typeface="Calibri" pitchFamily="34" charset="-120"/>
                        </a:rPr>
                        <a:t>2.902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1A1C22"/>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28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8"/>
                  </a:ext>
                </a:extLst>
              </a:tr>
            </a:tbl>
          </a:graphicData>
        </a:graphic>
      </p:graphicFrame>
      <p:sp>
        <p:nvSpPr>
          <p:cNvPr id="12" name="Text 0">
            <a:extLst>
              <a:ext uri="{FF2B5EF4-FFF2-40B4-BE49-F238E27FC236}">
                <a16:creationId xmlns:a16="http://schemas.microsoft.com/office/drawing/2014/main" id="{FBB447D6-8DE6-D0A8-781F-2627668B07D0}"/>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4 · KẾT QUẢ THỰC NGHIỆM</a:t>
            </a:r>
            <a:endParaRPr lang="en-US" sz="2500" dirty="0"/>
          </a:p>
        </p:txBody>
      </p:sp>
      <p:pic>
        <p:nvPicPr>
          <p:cNvPr id="13" name="Picture 12">
            <a:extLst>
              <a:ext uri="{FF2B5EF4-FFF2-40B4-BE49-F238E27FC236}">
                <a16:creationId xmlns:a16="http://schemas.microsoft.com/office/drawing/2014/main" id="{5EA199C5-6537-39E1-E0BF-1C882E854CA8}"/>
              </a:ext>
            </a:extLst>
          </p:cNvPr>
          <p:cNvPicPr>
            <a:picLocks noChangeAspect="1"/>
          </p:cNvPicPr>
          <p:nvPr/>
        </p:nvPicPr>
        <p:blipFill>
          <a:blip r:embed="rId3"/>
          <a:stretch>
            <a:fillRect/>
          </a:stretch>
        </p:blipFill>
        <p:spPr>
          <a:xfrm>
            <a:off x="792002" y="1135028"/>
            <a:ext cx="5205677" cy="2175937"/>
          </a:xfrm>
          <a:prstGeom prst="rect">
            <a:avLst/>
          </a:prstGeom>
          <a:ln>
            <a:solidFill>
              <a:schemeClr val="tx1"/>
            </a:solidFill>
          </a:ln>
        </p:spPr>
      </p:pic>
      <p:pic>
        <p:nvPicPr>
          <p:cNvPr id="14" name="Picture 13">
            <a:extLst>
              <a:ext uri="{FF2B5EF4-FFF2-40B4-BE49-F238E27FC236}">
                <a16:creationId xmlns:a16="http://schemas.microsoft.com/office/drawing/2014/main" id="{A935529F-7359-6CF3-90C1-6D6B26E206FE}"/>
              </a:ext>
            </a:extLst>
          </p:cNvPr>
          <p:cNvPicPr>
            <a:picLocks noChangeAspect="1"/>
          </p:cNvPicPr>
          <p:nvPr/>
        </p:nvPicPr>
        <p:blipFill>
          <a:blip r:embed="rId4"/>
          <a:stretch>
            <a:fillRect/>
          </a:stretch>
        </p:blipFill>
        <p:spPr>
          <a:xfrm>
            <a:off x="6113023" y="1135027"/>
            <a:ext cx="5312661" cy="2175937"/>
          </a:xfrm>
          <a:prstGeom prst="rect">
            <a:avLst/>
          </a:prstGeom>
          <a:ln>
            <a:solidFill>
              <a:schemeClr val="tx1"/>
            </a:solidFill>
          </a:ln>
        </p:spPr>
      </p:pic>
      <p:sp>
        <p:nvSpPr>
          <p:cNvPr id="5" name="Shape 3">
            <a:extLst>
              <a:ext uri="{FF2B5EF4-FFF2-40B4-BE49-F238E27FC236}">
                <a16:creationId xmlns:a16="http://schemas.microsoft.com/office/drawing/2014/main" id="{2FCA49ED-5AF0-7B5A-6693-717C67AC8046}"/>
              </a:ext>
            </a:extLst>
          </p:cNvPr>
          <p:cNvSpPr/>
          <p:nvPr/>
        </p:nvSpPr>
        <p:spPr>
          <a:xfrm>
            <a:off x="8711739" y="3546127"/>
            <a:ext cx="2551176" cy="482980"/>
          </a:xfrm>
          <a:prstGeom prst="roundRect">
            <a:avLst>
              <a:gd name="adj" fmla="val 5806"/>
            </a:avLst>
          </a:prstGeom>
          <a:solidFill>
            <a:srgbClr val="F7EFEF"/>
          </a:solidFill>
          <a:ln w="12700">
            <a:solidFill>
              <a:srgbClr val="F7EFEF"/>
            </a:solidFill>
            <a:prstDash val="solid"/>
          </a:ln>
        </p:spPr>
        <p:txBody>
          <a:bodyPr/>
          <a:lstStyle/>
          <a:p>
            <a:pPr algn="ctr"/>
            <a:r>
              <a:rPr lang="en-US" sz="2500" b="1" dirty="0">
                <a:solidFill>
                  <a:srgbClr val="990011"/>
                </a:solidFill>
                <a:latin typeface="Cambria" pitchFamily="34" charset="0"/>
                <a:ea typeface="Cambria" pitchFamily="34" charset="-122"/>
                <a:cs typeface="Cambria" pitchFamily="34" charset="-120"/>
              </a:rPr>
              <a:t>108,86 MHz</a:t>
            </a:r>
            <a:endParaRPr lang="en-US" sz="2500" dirty="0"/>
          </a:p>
        </p:txBody>
      </p:sp>
      <p:sp>
        <p:nvSpPr>
          <p:cNvPr id="8" name="Text 4">
            <a:extLst>
              <a:ext uri="{FF2B5EF4-FFF2-40B4-BE49-F238E27FC236}">
                <a16:creationId xmlns:a16="http://schemas.microsoft.com/office/drawing/2014/main" id="{06D6670B-7A9C-0E4D-6152-B3A74C94243B}"/>
              </a:ext>
            </a:extLst>
          </p:cNvPr>
          <p:cNvSpPr/>
          <p:nvPr/>
        </p:nvSpPr>
        <p:spPr>
          <a:xfrm>
            <a:off x="8805513" y="3366769"/>
            <a:ext cx="2395728" cy="708660"/>
          </a:xfrm>
          <a:prstGeom prst="rect">
            <a:avLst/>
          </a:prstGeom>
          <a:noFill/>
          <a:ln/>
        </p:spPr>
        <p:txBody>
          <a:bodyPr wrap="square" lIns="0" tIns="0" rIns="0" bIns="0" rtlCol="0" anchor="ctr"/>
          <a:lstStyle/>
          <a:p>
            <a:pPr marL="0" indent="0" algn="ctr">
              <a:buNone/>
            </a:pPr>
            <a:endParaRPr lang="en-US" sz="3000" dirty="0"/>
          </a:p>
        </p:txBody>
      </p:sp>
      <p:sp>
        <p:nvSpPr>
          <p:cNvPr id="10" name="Shape 6">
            <a:extLst>
              <a:ext uri="{FF2B5EF4-FFF2-40B4-BE49-F238E27FC236}">
                <a16:creationId xmlns:a16="http://schemas.microsoft.com/office/drawing/2014/main" id="{66A24BE5-8703-8F10-1B9F-D7411AD1F3D5}"/>
              </a:ext>
            </a:extLst>
          </p:cNvPr>
          <p:cNvSpPr/>
          <p:nvPr/>
        </p:nvSpPr>
        <p:spPr>
          <a:xfrm>
            <a:off x="8711739" y="4166489"/>
            <a:ext cx="2551176" cy="802404"/>
          </a:xfrm>
          <a:prstGeom prst="roundRect">
            <a:avLst>
              <a:gd name="adj" fmla="val 5806"/>
            </a:avLst>
          </a:prstGeom>
          <a:solidFill>
            <a:srgbClr val="EFF1F8"/>
          </a:solidFill>
          <a:ln w="12700">
            <a:solidFill>
              <a:srgbClr val="EFF1F8"/>
            </a:solidFill>
            <a:prstDash val="solid"/>
          </a:ln>
        </p:spPr>
        <p:txBody>
          <a:bodyPr/>
          <a:lstStyle/>
          <a:p>
            <a:pPr algn="ctr"/>
            <a:r>
              <a:rPr lang="en-US" sz="2500" b="1" dirty="0">
                <a:solidFill>
                  <a:srgbClr val="2F3C7E"/>
                </a:solidFill>
                <a:latin typeface="Cambria" pitchFamily="34" charset="0"/>
                <a:ea typeface="Cambria" pitchFamily="34" charset="-122"/>
                <a:cs typeface="Cambria" pitchFamily="34" charset="-120"/>
              </a:rPr>
              <a:t>52,16 µs</a:t>
            </a:r>
          </a:p>
          <a:p>
            <a:pPr algn="ctr"/>
            <a:r>
              <a:rPr lang="en-US" dirty="0" err="1">
                <a:solidFill>
                  <a:srgbClr val="6E6E78"/>
                </a:solidFill>
                <a:latin typeface="Calibri" pitchFamily="34" charset="0"/>
                <a:ea typeface="Calibri" pitchFamily="34" charset="-122"/>
                <a:cs typeface="Calibri" pitchFamily="34" charset="-120"/>
              </a:rPr>
              <a:t>độ</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trễ</a:t>
            </a:r>
            <a:r>
              <a:rPr lang="en-US" dirty="0">
                <a:solidFill>
                  <a:srgbClr val="6E6E78"/>
                </a:solidFill>
                <a:latin typeface="Calibri" pitchFamily="34" charset="0"/>
                <a:ea typeface="Calibri" pitchFamily="34" charset="-122"/>
                <a:cs typeface="Calibri" pitchFamily="34" charset="-120"/>
              </a:rPr>
              <a:t> ở 100 MHz</a:t>
            </a:r>
            <a:endParaRPr lang="en-US" dirty="0"/>
          </a:p>
          <a:p>
            <a:pPr algn="ctr"/>
            <a:endParaRPr lang="en-US" sz="2500" dirty="0"/>
          </a:p>
          <a:p>
            <a:pPr algn="ctr"/>
            <a:endParaRPr lang="en-US" sz="2500" dirty="0"/>
          </a:p>
        </p:txBody>
      </p:sp>
      <p:sp>
        <p:nvSpPr>
          <p:cNvPr id="15" name="Text 7">
            <a:extLst>
              <a:ext uri="{FF2B5EF4-FFF2-40B4-BE49-F238E27FC236}">
                <a16:creationId xmlns:a16="http://schemas.microsoft.com/office/drawing/2014/main" id="{DD050B67-DBDF-0A47-A8A5-095A8F080952}"/>
              </a:ext>
            </a:extLst>
          </p:cNvPr>
          <p:cNvSpPr/>
          <p:nvPr/>
        </p:nvSpPr>
        <p:spPr>
          <a:xfrm>
            <a:off x="8821467" y="4211711"/>
            <a:ext cx="2337091" cy="392959"/>
          </a:xfrm>
          <a:prstGeom prst="rect">
            <a:avLst/>
          </a:prstGeom>
          <a:noFill/>
          <a:ln/>
        </p:spPr>
        <p:txBody>
          <a:bodyPr wrap="square" lIns="0" tIns="0" rIns="0" bIns="0" rtlCol="0" anchor="ctr"/>
          <a:lstStyle/>
          <a:p>
            <a:pPr marL="0" indent="0" algn="ctr">
              <a:buNone/>
            </a:pPr>
            <a:endParaRPr lang="en-US" sz="3000" dirty="0"/>
          </a:p>
        </p:txBody>
      </p:sp>
      <p:sp>
        <p:nvSpPr>
          <p:cNvPr id="17" name="Text 8">
            <a:extLst>
              <a:ext uri="{FF2B5EF4-FFF2-40B4-BE49-F238E27FC236}">
                <a16:creationId xmlns:a16="http://schemas.microsoft.com/office/drawing/2014/main" id="{9CD3AD01-ECFD-B699-C8AD-AFEF7977234C}"/>
              </a:ext>
            </a:extLst>
          </p:cNvPr>
          <p:cNvSpPr/>
          <p:nvPr/>
        </p:nvSpPr>
        <p:spPr>
          <a:xfrm>
            <a:off x="8803179" y="4378341"/>
            <a:ext cx="2372772" cy="392959"/>
          </a:xfrm>
          <a:prstGeom prst="rect">
            <a:avLst/>
          </a:prstGeom>
          <a:noFill/>
          <a:ln/>
        </p:spPr>
        <p:txBody>
          <a:bodyPr wrap="square" lIns="0" tIns="0" rIns="0" bIns="0" rtlCol="0" anchor="t"/>
          <a:lstStyle/>
          <a:p>
            <a:pPr marL="0" indent="0" algn="ctr">
              <a:buNone/>
            </a:pPr>
            <a:endParaRPr lang="en-US" dirty="0"/>
          </a:p>
        </p:txBody>
      </p:sp>
      <p:sp>
        <p:nvSpPr>
          <p:cNvPr id="19" name="Shape 9">
            <a:extLst>
              <a:ext uri="{FF2B5EF4-FFF2-40B4-BE49-F238E27FC236}">
                <a16:creationId xmlns:a16="http://schemas.microsoft.com/office/drawing/2014/main" id="{BD16EF9A-859B-3EDA-E9A1-E48923B6D167}"/>
              </a:ext>
            </a:extLst>
          </p:cNvPr>
          <p:cNvSpPr/>
          <p:nvPr/>
        </p:nvSpPr>
        <p:spPr>
          <a:xfrm>
            <a:off x="8711739" y="5084579"/>
            <a:ext cx="2551176" cy="724462"/>
          </a:xfrm>
          <a:prstGeom prst="roundRect">
            <a:avLst>
              <a:gd name="adj" fmla="val 5806"/>
            </a:avLst>
          </a:prstGeom>
          <a:solidFill>
            <a:srgbClr val="F7EFEF"/>
          </a:solidFill>
          <a:ln w="12700">
            <a:solidFill>
              <a:srgbClr val="F7EFEF"/>
            </a:solidFill>
            <a:prstDash val="solid"/>
          </a:ln>
        </p:spPr>
        <p:txBody>
          <a:bodyPr/>
          <a:lstStyle/>
          <a:p>
            <a:pPr algn="ctr"/>
            <a:r>
              <a:rPr lang="en-US" sz="2500" b="1" dirty="0">
                <a:solidFill>
                  <a:srgbClr val="990011"/>
                </a:solidFill>
                <a:latin typeface="Cambria" pitchFamily="34" charset="0"/>
                <a:ea typeface="Cambria" pitchFamily="34" charset="-122"/>
                <a:cs typeface="Cambria" pitchFamily="34" charset="-120"/>
              </a:rPr>
              <a:t>19.172 inf/s</a:t>
            </a:r>
          </a:p>
          <a:p>
            <a:pPr algn="ctr"/>
            <a:r>
              <a:rPr lang="en-US" dirty="0">
                <a:solidFill>
                  <a:srgbClr val="6E6E78"/>
                </a:solidFill>
                <a:latin typeface="Calibri" pitchFamily="34" charset="0"/>
                <a:ea typeface="Calibri" pitchFamily="34" charset="-122"/>
                <a:cs typeface="Calibri" pitchFamily="34" charset="-120"/>
              </a:rPr>
              <a:t>inference/s</a:t>
            </a:r>
            <a:endParaRPr lang="en-US" dirty="0"/>
          </a:p>
          <a:p>
            <a:pPr algn="ctr"/>
            <a:endParaRPr lang="en-US" sz="2500" dirty="0"/>
          </a:p>
          <a:p>
            <a:pPr algn="ctr"/>
            <a:endParaRPr lang="en-US" sz="2500" dirty="0"/>
          </a:p>
        </p:txBody>
      </p:sp>
      <p:sp>
        <p:nvSpPr>
          <p:cNvPr id="21" name="Text 10">
            <a:extLst>
              <a:ext uri="{FF2B5EF4-FFF2-40B4-BE49-F238E27FC236}">
                <a16:creationId xmlns:a16="http://schemas.microsoft.com/office/drawing/2014/main" id="{1B7C65F4-BBD1-B4EA-BF25-32A086254275}"/>
              </a:ext>
            </a:extLst>
          </p:cNvPr>
          <p:cNvSpPr/>
          <p:nvPr/>
        </p:nvSpPr>
        <p:spPr>
          <a:xfrm>
            <a:off x="8816095" y="5150523"/>
            <a:ext cx="2337091" cy="373192"/>
          </a:xfrm>
          <a:prstGeom prst="rect">
            <a:avLst/>
          </a:prstGeom>
          <a:noFill/>
          <a:ln/>
        </p:spPr>
        <p:txBody>
          <a:bodyPr wrap="square" lIns="0" tIns="0" rIns="0" bIns="0" rtlCol="0" anchor="ctr"/>
          <a:lstStyle/>
          <a:p>
            <a:pPr marL="0" indent="0" algn="ctr">
              <a:buNone/>
            </a:pPr>
            <a:endParaRPr lang="en-US" sz="3000" dirty="0"/>
          </a:p>
        </p:txBody>
      </p:sp>
      <p:sp>
        <p:nvSpPr>
          <p:cNvPr id="23" name="Text 11">
            <a:extLst>
              <a:ext uri="{FF2B5EF4-FFF2-40B4-BE49-F238E27FC236}">
                <a16:creationId xmlns:a16="http://schemas.microsoft.com/office/drawing/2014/main" id="{DAD46638-D00B-7BB7-3B99-931D5AB2071E}"/>
              </a:ext>
            </a:extLst>
          </p:cNvPr>
          <p:cNvSpPr/>
          <p:nvPr/>
        </p:nvSpPr>
        <p:spPr>
          <a:xfrm>
            <a:off x="8816991" y="5448802"/>
            <a:ext cx="2372772" cy="304993"/>
          </a:xfrm>
          <a:prstGeom prst="rect">
            <a:avLst/>
          </a:prstGeom>
          <a:noFill/>
          <a:ln/>
        </p:spPr>
        <p:txBody>
          <a:bodyPr wrap="square" lIns="0" tIns="0" rIns="0" bIns="0" rtlCol="0" anchor="t"/>
          <a:lstStyle/>
          <a:p>
            <a:pPr marL="0" indent="0" algn="ctr">
              <a:buNone/>
            </a:pPr>
            <a:endParaRPr lang="en-US" dirty="0"/>
          </a:p>
        </p:txBody>
      </p:sp>
      <p:sp>
        <p:nvSpPr>
          <p:cNvPr id="25" name="Shape 12">
            <a:extLst>
              <a:ext uri="{FF2B5EF4-FFF2-40B4-BE49-F238E27FC236}">
                <a16:creationId xmlns:a16="http://schemas.microsoft.com/office/drawing/2014/main" id="{0865D8A5-1AF8-4C4E-4635-E7211E89762C}"/>
              </a:ext>
            </a:extLst>
          </p:cNvPr>
          <p:cNvSpPr/>
          <p:nvPr/>
        </p:nvSpPr>
        <p:spPr>
          <a:xfrm>
            <a:off x="8711739" y="5900100"/>
            <a:ext cx="2551176" cy="749527"/>
          </a:xfrm>
          <a:prstGeom prst="roundRect">
            <a:avLst>
              <a:gd name="adj" fmla="val 5806"/>
            </a:avLst>
          </a:prstGeom>
          <a:solidFill>
            <a:srgbClr val="EFF1F8"/>
          </a:solidFill>
          <a:ln w="12700">
            <a:solidFill>
              <a:srgbClr val="EFF1F8"/>
            </a:solidFill>
            <a:prstDash val="solid"/>
          </a:ln>
        </p:spPr>
        <p:txBody>
          <a:bodyPr/>
          <a:lstStyle/>
          <a:p>
            <a:pPr algn="ctr"/>
            <a:r>
              <a:rPr lang="en-US" sz="2500" b="1" dirty="0">
                <a:solidFill>
                  <a:srgbClr val="2F3C7E"/>
                </a:solidFill>
                <a:latin typeface="Cambria" pitchFamily="34" charset="0"/>
                <a:ea typeface="Cambria" pitchFamily="34" charset="-122"/>
                <a:cs typeface="Cambria" pitchFamily="34" charset="-120"/>
              </a:rPr>
              <a:t>27,96 µJ</a:t>
            </a:r>
          </a:p>
          <a:p>
            <a:pPr algn="ctr"/>
            <a:r>
              <a:rPr lang="en-US" dirty="0">
                <a:solidFill>
                  <a:srgbClr val="6E6E78"/>
                </a:solidFill>
                <a:latin typeface="Calibri" pitchFamily="34" charset="0"/>
                <a:ea typeface="Calibri" pitchFamily="34" charset="-122"/>
                <a:cs typeface="Calibri" pitchFamily="34" charset="-120"/>
              </a:rPr>
              <a:t>536,08 </a:t>
            </a:r>
            <a:r>
              <a:rPr lang="en-US" dirty="0" err="1">
                <a:solidFill>
                  <a:srgbClr val="6E6E78"/>
                </a:solidFill>
                <a:latin typeface="Calibri" pitchFamily="34" charset="0"/>
                <a:ea typeface="Calibri" pitchFamily="34" charset="-122"/>
                <a:cs typeface="Calibri" pitchFamily="34" charset="-120"/>
              </a:rPr>
              <a:t>mW</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ước</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lượng</a:t>
            </a:r>
            <a:endParaRPr lang="en-US" dirty="0"/>
          </a:p>
          <a:p>
            <a:pPr algn="ctr"/>
            <a:endParaRPr lang="en-US" dirty="0"/>
          </a:p>
        </p:txBody>
      </p:sp>
      <p:sp>
        <p:nvSpPr>
          <p:cNvPr id="30" name="Text 14">
            <a:extLst>
              <a:ext uri="{FF2B5EF4-FFF2-40B4-BE49-F238E27FC236}">
                <a16:creationId xmlns:a16="http://schemas.microsoft.com/office/drawing/2014/main" id="{6B01135A-4B93-FE9F-CA7E-8E1F64EEF2F7}"/>
              </a:ext>
            </a:extLst>
          </p:cNvPr>
          <p:cNvSpPr/>
          <p:nvPr/>
        </p:nvSpPr>
        <p:spPr>
          <a:xfrm>
            <a:off x="8795637" y="6173265"/>
            <a:ext cx="2375837" cy="385304"/>
          </a:xfrm>
          <a:prstGeom prst="rect">
            <a:avLst/>
          </a:prstGeom>
          <a:noFill/>
          <a:ln/>
        </p:spPr>
        <p:txBody>
          <a:bodyPr wrap="square" lIns="0" tIns="0" rIns="0" bIns="0" rtlCol="0" anchor="t"/>
          <a:lstStyle/>
          <a:p>
            <a:pPr marL="0" indent="0" algn="ctr">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C2340"/>
        </a:solidFill>
        <a:effectLst/>
      </p:bgPr>
    </p:bg>
    <p:spTree>
      <p:nvGrpSpPr>
        <p:cNvPr id="1" name="">
          <a:extLst>
            <a:ext uri="{FF2B5EF4-FFF2-40B4-BE49-F238E27FC236}">
              <a16:creationId xmlns:a16="http://schemas.microsoft.com/office/drawing/2014/main" id="{BFFFDD69-2AA5-7E59-D147-D5A0E81D5E6E}"/>
            </a:ext>
          </a:extLst>
        </p:cNvPr>
        <p:cNvGrpSpPr/>
        <p:nvPr/>
      </p:nvGrpSpPr>
      <p:grpSpPr>
        <a:xfrm>
          <a:off x="0" y="0"/>
          <a:ext cx="0" cy="0"/>
          <a:chOff x="0" y="0"/>
          <a:chExt cx="0" cy="0"/>
        </a:xfrm>
      </p:grpSpPr>
      <p:pic>
        <p:nvPicPr>
          <p:cNvPr id="2" name="Image 0" descr="img/ecg_light.png">
            <a:extLst>
              <a:ext uri="{FF2B5EF4-FFF2-40B4-BE49-F238E27FC236}">
                <a16:creationId xmlns:a16="http://schemas.microsoft.com/office/drawing/2014/main" id="{BDD5DCAF-9274-3191-6090-C726B365252B}"/>
              </a:ext>
            </a:extLst>
          </p:cNvPr>
          <p:cNvPicPr>
            <a:picLocks noChangeAspect="1"/>
          </p:cNvPicPr>
          <p:nvPr/>
        </p:nvPicPr>
        <p:blipFill>
          <a:blip r:embed="rId3">
            <a:alphaModFix amt="55000"/>
          </a:blip>
          <a:stretch>
            <a:fillRect/>
          </a:stretch>
        </p:blipFill>
        <p:spPr>
          <a:xfrm>
            <a:off x="0" y="5074920"/>
            <a:ext cx="12188952" cy="1600200"/>
          </a:xfrm>
          <a:prstGeom prst="rect">
            <a:avLst/>
          </a:prstGeom>
        </p:spPr>
      </p:pic>
      <p:sp>
        <p:nvSpPr>
          <p:cNvPr id="3" name="Text 0">
            <a:extLst>
              <a:ext uri="{FF2B5EF4-FFF2-40B4-BE49-F238E27FC236}">
                <a16:creationId xmlns:a16="http://schemas.microsoft.com/office/drawing/2014/main" id="{60E366A0-DCFC-A28A-5324-3005AACF030B}"/>
              </a:ext>
            </a:extLst>
          </p:cNvPr>
          <p:cNvSpPr/>
          <p:nvPr/>
        </p:nvSpPr>
        <p:spPr>
          <a:xfrm>
            <a:off x="566928" y="1051560"/>
            <a:ext cx="2926080" cy="1737360"/>
          </a:xfrm>
          <a:prstGeom prst="rect">
            <a:avLst/>
          </a:prstGeom>
          <a:noFill/>
          <a:ln/>
        </p:spPr>
        <p:txBody>
          <a:bodyPr wrap="square" lIns="0" tIns="0" rIns="0" bIns="0" rtlCol="0" anchor="ctr"/>
          <a:lstStyle/>
          <a:p>
            <a:pPr marL="0" indent="0">
              <a:buNone/>
            </a:pPr>
            <a:r>
              <a:rPr lang="en-US" sz="10800" b="1" dirty="0">
                <a:solidFill>
                  <a:srgbClr val="E23D4D"/>
                </a:solidFill>
                <a:latin typeface="Cambria" pitchFamily="34" charset="0"/>
                <a:ea typeface="Cambria" pitchFamily="34" charset="-122"/>
                <a:cs typeface="Cambria" pitchFamily="34" charset="-120"/>
              </a:rPr>
              <a:t>05</a:t>
            </a:r>
            <a:endParaRPr lang="en-US" sz="10800" dirty="0"/>
          </a:p>
        </p:txBody>
      </p:sp>
      <p:sp>
        <p:nvSpPr>
          <p:cNvPr id="4" name="Text 1">
            <a:extLst>
              <a:ext uri="{FF2B5EF4-FFF2-40B4-BE49-F238E27FC236}">
                <a16:creationId xmlns:a16="http://schemas.microsoft.com/office/drawing/2014/main" id="{463133AA-3F5E-79FB-387A-C7B35BA0B731}"/>
              </a:ext>
            </a:extLst>
          </p:cNvPr>
          <p:cNvSpPr/>
          <p:nvPr/>
        </p:nvSpPr>
        <p:spPr>
          <a:xfrm>
            <a:off x="612648" y="2776975"/>
            <a:ext cx="8778240" cy="914400"/>
          </a:xfrm>
          <a:prstGeom prst="rect">
            <a:avLst/>
          </a:prstGeom>
          <a:noFill/>
          <a:ln/>
        </p:spPr>
        <p:txBody>
          <a:bodyPr wrap="square" lIns="0" tIns="0" rIns="0" bIns="0" rtlCol="0" anchor="ctr"/>
          <a:lstStyle/>
          <a:p>
            <a:pPr marL="0" indent="0">
              <a:buNone/>
            </a:pPr>
            <a:r>
              <a:rPr lang="en-US" sz="3400" b="1" dirty="0">
                <a:solidFill>
                  <a:srgbClr val="FCF6F5"/>
                </a:solidFill>
                <a:latin typeface="Cambria" pitchFamily="34" charset="0"/>
                <a:ea typeface="Cambria" pitchFamily="34" charset="-122"/>
                <a:cs typeface="Cambria" pitchFamily="34" charset="-120"/>
              </a:rPr>
              <a:t>KẾT LUẬN</a:t>
            </a:r>
            <a:endParaRPr lang="en-US" sz="3400" dirty="0"/>
          </a:p>
        </p:txBody>
      </p:sp>
      <p:sp>
        <p:nvSpPr>
          <p:cNvPr id="5" name="Text 2">
            <a:extLst>
              <a:ext uri="{FF2B5EF4-FFF2-40B4-BE49-F238E27FC236}">
                <a16:creationId xmlns:a16="http://schemas.microsoft.com/office/drawing/2014/main" id="{028F2EF5-633C-8DA2-8558-C4D8EB396CBD}"/>
              </a:ext>
            </a:extLst>
          </p:cNvPr>
          <p:cNvSpPr/>
          <p:nvPr/>
        </p:nvSpPr>
        <p:spPr>
          <a:xfrm>
            <a:off x="612648" y="3794760"/>
            <a:ext cx="8778240" cy="1097280"/>
          </a:xfrm>
          <a:prstGeom prst="rect">
            <a:avLst/>
          </a:prstGeom>
          <a:noFill/>
          <a:ln/>
        </p:spPr>
        <p:txBody>
          <a:bodyPr wrap="square" lIns="0" tIns="0" rIns="0" bIns="0" rtlCol="0" anchor="ctr"/>
          <a:lstStyle/>
          <a:p>
            <a:pPr marL="342900" indent="-342900">
              <a:spcAft>
                <a:spcPts val="600"/>
              </a:spcAft>
              <a:buSzPct val="100000"/>
              <a:buChar char="•"/>
            </a:pPr>
            <a:endParaRPr lang="en-US" sz="1400" dirty="0"/>
          </a:p>
        </p:txBody>
      </p:sp>
    </p:spTree>
    <p:extLst>
      <p:ext uri="{BB962C8B-B14F-4D97-AF65-F5344CB8AC3E}">
        <p14:creationId xmlns:p14="http://schemas.microsoft.com/office/powerpoint/2010/main" val="2330821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5 · KẾT LUẬN</a:t>
            </a:r>
            <a:endParaRPr lang="en-US" sz="2500" dirty="0"/>
          </a:p>
        </p:txBody>
      </p:sp>
      <p:sp>
        <p:nvSpPr>
          <p:cNvPr id="3" name="Text 1"/>
          <p:cNvSpPr/>
          <p:nvPr/>
        </p:nvSpPr>
        <p:spPr>
          <a:xfrm>
            <a:off x="568452" y="628078"/>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Kết quả </a:t>
            </a:r>
            <a:r>
              <a:rPr lang="en-US" sz="2700" b="1" dirty="0" err="1">
                <a:solidFill>
                  <a:srgbClr val="1A1C22"/>
                </a:solidFill>
                <a:latin typeface="Cambria" pitchFamily="34" charset="0"/>
                <a:ea typeface="Cambria" pitchFamily="34" charset="-122"/>
                <a:cs typeface="Cambria" pitchFamily="34" charset="-120"/>
              </a:rPr>
              <a:t>đạt</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được</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và</a:t>
            </a:r>
            <a:r>
              <a:rPr lang="en-US" sz="2700" b="1" dirty="0">
                <a:solidFill>
                  <a:srgbClr val="1A1C22"/>
                </a:solidFill>
                <a:latin typeface="Cambria" pitchFamily="34" charset="0"/>
                <a:ea typeface="Cambria" pitchFamily="34" charset="-122"/>
                <a:cs typeface="Cambria" pitchFamily="34" charset="-120"/>
              </a:rPr>
              <a:t> hướng phát triển</a:t>
            </a:r>
            <a:endParaRPr lang="en-US" sz="2700" dirty="0"/>
          </a:p>
        </p:txBody>
      </p:sp>
      <p:sp>
        <p:nvSpPr>
          <p:cNvPr id="5" name="Shape 3"/>
          <p:cNvSpPr/>
          <p:nvPr/>
        </p:nvSpPr>
        <p:spPr>
          <a:xfrm>
            <a:off x="553212" y="1292732"/>
            <a:ext cx="10908792" cy="2353628"/>
          </a:xfrm>
          <a:prstGeom prst="roundRect">
            <a:avLst>
              <a:gd name="adj" fmla="val 2273"/>
            </a:avLst>
          </a:prstGeom>
          <a:solidFill>
            <a:srgbClr val="F7EFEF"/>
          </a:solidFill>
          <a:ln w="12700">
            <a:solidFill>
              <a:srgbClr val="F7EFEF"/>
            </a:solidFill>
            <a:prstDash val="solid"/>
          </a:ln>
          <a:effectLst>
            <a:outerShdw blurRad="101600" dist="25400" dir="5400000" algn="bl" rotWithShape="0">
              <a:srgbClr val="B9AFAF">
                <a:alpha val="25000"/>
              </a:srgbClr>
            </a:outerShdw>
          </a:effectLst>
        </p:spPr>
        <p:txBody>
          <a:bodyPr/>
          <a:lstStyle/>
          <a:p>
            <a:pPr>
              <a:spcAft>
                <a:spcPts val="600"/>
              </a:spcAft>
            </a:pPr>
            <a:r>
              <a:rPr lang="en-US" b="1" dirty="0" err="1">
                <a:solidFill>
                  <a:srgbClr val="990011"/>
                </a:solidFill>
                <a:latin typeface="Calibri" pitchFamily="34" charset="0"/>
                <a:ea typeface="Calibri" pitchFamily="34" charset="-122"/>
                <a:cs typeface="Calibri" pitchFamily="34" charset="-120"/>
              </a:rPr>
              <a:t>Kết</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quả</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đạt</a:t>
            </a:r>
            <a:r>
              <a:rPr lang="en-US" b="1" dirty="0">
                <a:solidFill>
                  <a:srgbClr val="990011"/>
                </a:solidFill>
                <a:latin typeface="Calibri" pitchFamily="34" charset="0"/>
                <a:ea typeface="Calibri" pitchFamily="34" charset="-122"/>
                <a:cs typeface="Calibri" pitchFamily="34" charset="-120"/>
              </a:rPr>
              <a:t> </a:t>
            </a:r>
            <a:r>
              <a:rPr lang="en-US" b="1" dirty="0" err="1">
                <a:solidFill>
                  <a:srgbClr val="990011"/>
                </a:solidFill>
                <a:latin typeface="Calibri" pitchFamily="34" charset="0"/>
                <a:ea typeface="Calibri" pitchFamily="34" charset="-122"/>
                <a:cs typeface="Calibri" pitchFamily="34" charset="-120"/>
              </a:rPr>
              <a:t>được</a:t>
            </a:r>
            <a:endParaRPr lang="en-US" b="1" dirty="0">
              <a:solidFill>
                <a:srgbClr val="990011"/>
              </a:solidFill>
              <a:latin typeface="Calibri" pitchFamily="34" charset="0"/>
              <a:ea typeface="Calibri" pitchFamily="34" charset="-122"/>
              <a:cs typeface="Calibri" pitchFamily="34" charset="-120"/>
            </a:endParaRPr>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Mạng</a:t>
            </a:r>
            <a:r>
              <a:rPr lang="en-US" dirty="0">
                <a:solidFill>
                  <a:srgbClr val="1A1C22"/>
                </a:solidFill>
                <a:latin typeface="Calibri" pitchFamily="34" charset="0"/>
                <a:ea typeface="Calibri" pitchFamily="34" charset="-122"/>
                <a:cs typeface="Calibri" pitchFamily="34" charset="-120"/>
              </a:rPr>
              <a:t> 1D-CNN 4 </a:t>
            </a:r>
            <a:r>
              <a:rPr lang="en-US" dirty="0" err="1">
                <a:solidFill>
                  <a:srgbClr val="1A1C22"/>
                </a:solidFill>
                <a:latin typeface="Calibri" pitchFamily="34" charset="0"/>
                <a:ea typeface="Calibri" pitchFamily="34" charset="-122"/>
                <a:cs typeface="Calibri" pitchFamily="34" charset="-120"/>
              </a:rPr>
              <a:t>tầng</a:t>
            </a:r>
            <a:r>
              <a:rPr lang="en-US" dirty="0">
                <a:solidFill>
                  <a:srgbClr val="1A1C22"/>
                </a:solidFill>
                <a:latin typeface="Calibri" pitchFamily="34" charset="0"/>
                <a:ea typeface="Calibri" pitchFamily="34" charset="-122"/>
                <a:cs typeface="Calibri" pitchFamily="34" charset="-120"/>
              </a:rPr>
              <a:t>, pruning </a:t>
            </a:r>
            <a:r>
              <a:rPr lang="en-US" dirty="0" err="1">
                <a:solidFill>
                  <a:srgbClr val="1A1C22"/>
                </a:solidFill>
                <a:latin typeface="Calibri" pitchFamily="34" charset="0"/>
                <a:ea typeface="Calibri" pitchFamily="34" charset="-122"/>
                <a:cs typeface="Calibri" pitchFamily="34" charset="-120"/>
              </a:rPr>
              <a:t>còn</a:t>
            </a:r>
            <a:r>
              <a:rPr lang="en-US" dirty="0">
                <a:solidFill>
                  <a:srgbClr val="1A1C22"/>
                </a:solidFill>
                <a:latin typeface="Calibri" pitchFamily="34" charset="0"/>
                <a:ea typeface="Calibri" pitchFamily="34" charset="-122"/>
                <a:cs typeface="Calibri" pitchFamily="34" charset="-120"/>
              </a:rPr>
              <a:t> 640 </a:t>
            </a:r>
            <a:r>
              <a:rPr lang="en-US" dirty="0" err="1">
                <a:solidFill>
                  <a:srgbClr val="1A1C22"/>
                </a:solidFill>
                <a:latin typeface="Calibri" pitchFamily="34" charset="0"/>
                <a:ea typeface="Calibri" pitchFamily="34" charset="-122"/>
                <a:cs typeface="Calibri" pitchFamily="34" charset="-120"/>
              </a:rPr>
              <a:t>tham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số</a:t>
            </a:r>
            <a:r>
              <a:rPr lang="en-US" dirty="0">
                <a:solidFill>
                  <a:srgbClr val="1A1C22"/>
                </a:solidFill>
                <a:latin typeface="Calibri" pitchFamily="34" charset="0"/>
                <a:ea typeface="Calibri" pitchFamily="34" charset="-122"/>
                <a:cs typeface="Calibri" pitchFamily="34" charset="-120"/>
              </a:rPr>
              <a:t> (−48,55 %) </a:t>
            </a:r>
            <a:r>
              <a:rPr lang="en-US" dirty="0" err="1">
                <a:solidFill>
                  <a:srgbClr val="1A1C22"/>
                </a:solidFill>
                <a:latin typeface="Calibri" pitchFamily="34" charset="0"/>
                <a:ea typeface="Calibri" pitchFamily="34" charset="-122"/>
                <a:cs typeface="Calibri" pitchFamily="34" charset="-120"/>
              </a:rPr>
              <a:t>với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chỉ</a:t>
            </a:r>
            <a:r>
              <a:rPr lang="en-US" dirty="0">
                <a:solidFill>
                  <a:srgbClr val="1A1C22"/>
                </a:solidFill>
                <a:latin typeface="Calibri" pitchFamily="34" charset="0"/>
                <a:ea typeface="Calibri" pitchFamily="34" charset="-122"/>
                <a:cs typeface="Calibri" pitchFamily="34" charset="-120"/>
              </a:rPr>
              <a:t> 0,32 % </a:t>
            </a:r>
            <a:r>
              <a:rPr lang="en-US" dirty="0" err="1">
                <a:solidFill>
                  <a:srgbClr val="1A1C22"/>
                </a:solidFill>
                <a:latin typeface="Calibri" pitchFamily="34" charset="0"/>
                <a:ea typeface="Calibri" pitchFamily="34" charset="-122"/>
                <a:cs typeface="Calibri" pitchFamily="34" charset="-120"/>
              </a:rPr>
              <a:t>mất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mát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chính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xác</a:t>
            </a:r>
            <a:r>
              <a:rPr lang="en-US" dirty="0">
                <a:solidFill>
                  <a:srgbClr val="1A1C22"/>
                </a:solidFill>
                <a:latin typeface="Calibri" pitchFamily="34" charset="0"/>
                <a:ea typeface="Calibri" pitchFamily="34" charset="-122"/>
                <a:cs typeface="Calibri" pitchFamily="34" charset="-120"/>
              </a:rPr>
              <a:t>.</a:t>
            </a:r>
            <a:endParaRPr lang="en-US"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Lượng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tử</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hoá</a:t>
            </a:r>
            <a:r>
              <a:rPr lang="en-US" dirty="0">
                <a:solidFill>
                  <a:srgbClr val="1A1C22"/>
                </a:solidFill>
                <a:latin typeface="Calibri" pitchFamily="34" charset="0"/>
                <a:ea typeface="Calibri" pitchFamily="34" charset="-122"/>
                <a:cs typeface="Calibri" pitchFamily="34" charset="-120"/>
              </a:rPr>
              <a:t> INT8 thang </a:t>
            </a:r>
            <a:r>
              <a:rPr lang="en-US" dirty="0" err="1">
                <a:solidFill>
                  <a:srgbClr val="1A1C22"/>
                </a:solidFill>
                <a:latin typeface="Calibri" pitchFamily="34" charset="0"/>
                <a:ea typeface="Calibri" pitchFamily="34" charset="-122"/>
                <a:cs typeface="Calibri" pitchFamily="34" charset="-120"/>
              </a:rPr>
              <a:t>luỹ</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thừa</a:t>
            </a:r>
            <a:r>
              <a:rPr lang="en-US" dirty="0">
                <a:solidFill>
                  <a:srgbClr val="1A1C22"/>
                </a:solidFill>
                <a:latin typeface="Calibri" pitchFamily="34" charset="0"/>
                <a:ea typeface="Calibri" pitchFamily="34" charset="-122"/>
                <a:cs typeface="Calibri" pitchFamily="34" charset="-120"/>
              </a:rPr>
              <a:t> 2 + </a:t>
            </a:r>
            <a:r>
              <a:rPr lang="en-US" dirty="0" err="1">
                <a:solidFill>
                  <a:srgbClr val="1A1C22"/>
                </a:solidFill>
                <a:latin typeface="Calibri" pitchFamily="34" charset="0"/>
                <a:ea typeface="Calibri" pitchFamily="34" charset="-122"/>
                <a:cs typeface="Calibri" pitchFamily="34" charset="-120"/>
              </a:rPr>
              <a:t>làm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tròn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nửa</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lên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tỉ</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lệ</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chỉ</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còn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phép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cộng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một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phép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dịch</a:t>
            </a:r>
            <a:r>
              <a:rPr lang="en-US" dirty="0">
                <a:solidFill>
                  <a:srgbClr val="1A1C22"/>
                </a:solidFill>
                <a:latin typeface="Calibri" pitchFamily="34" charset="0"/>
                <a:ea typeface="Calibri" pitchFamily="34" charset="-122"/>
                <a:cs typeface="Calibri" pitchFamily="34" charset="-120"/>
              </a:rPr>
              <a:t>.</a:t>
            </a:r>
            <a:endParaRPr lang="en-US"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Kiểm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chứng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ba</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tầng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đều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đạt</a:t>
            </a:r>
            <a:r>
              <a:rPr lang="en-US" dirty="0">
                <a:solidFill>
                  <a:srgbClr val="1A1C22"/>
                </a:solidFill>
                <a:latin typeface="Calibri" pitchFamily="34" charset="0"/>
                <a:ea typeface="Calibri" pitchFamily="34" charset="-122"/>
                <a:cs typeface="Calibri" pitchFamily="34" charset="-120"/>
              </a:rPr>
              <a:t>: 23 + 8 </a:t>
            </a:r>
            <a:r>
              <a:rPr lang="en-US" dirty="0" err="1">
                <a:solidFill>
                  <a:srgbClr val="1A1C22"/>
                </a:solidFill>
                <a:latin typeface="Calibri" pitchFamily="34" charset="0"/>
                <a:ea typeface="Calibri" pitchFamily="34" charset="-122"/>
                <a:cs typeface="Calibri" pitchFamily="34" charset="-120"/>
              </a:rPr>
              <a:t>trường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hợp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7/7 </a:t>
            </a:r>
            <a:r>
              <a:rPr lang="en-US" dirty="0" err="1">
                <a:solidFill>
                  <a:srgbClr val="1A1C22"/>
                </a:solidFill>
                <a:latin typeface="Calibri" pitchFamily="34" charset="0"/>
                <a:ea typeface="Calibri" pitchFamily="34" charset="-122"/>
                <a:cs typeface="Calibri" pitchFamily="34" charset="-120"/>
              </a:rPr>
              <a:t>điểm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chính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xác</a:t>
            </a:r>
            <a:r>
              <a:rPr lang="en-US" dirty="0">
                <a:solidFill>
                  <a:srgbClr val="1A1C22"/>
                </a:solidFill>
                <a:latin typeface="Calibri" pitchFamily="34" charset="0"/>
                <a:ea typeface="Calibri" pitchFamily="34" charset="-122"/>
                <a:cs typeface="Calibri" pitchFamily="34" charset="-120"/>
              </a:rPr>
              <a:t> bit </a:t>
            </a:r>
            <a:r>
              <a:rPr lang="en-US" dirty="0" err="1">
                <a:solidFill>
                  <a:srgbClr val="1A1C22"/>
                </a:solidFill>
                <a:latin typeface="Calibri" pitchFamily="34" charset="0"/>
                <a:ea typeface="Calibri" pitchFamily="34" charset="-122"/>
                <a:cs typeface="Calibri" pitchFamily="34" charset="-120"/>
              </a:rPr>
              <a:t>với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sai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lệch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tuyệt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đối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bằng</a:t>
            </a:r>
            <a:r>
              <a:rPr lang="en-US" dirty="0">
                <a:solidFill>
                  <a:srgbClr val="1A1C22"/>
                </a:solidFill>
                <a:latin typeface="Calibri" pitchFamily="34" charset="0"/>
                <a:ea typeface="Calibri" pitchFamily="34" charset="-122"/>
                <a:cs typeface="Calibri" pitchFamily="34" charset="-120"/>
              </a:rPr>
              <a:t> 0.</a:t>
            </a:r>
            <a:endParaRPr lang="en-US"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Chạy</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thực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trên</a:t>
            </a:r>
            <a:r>
              <a:rPr lang="en-US" dirty="0">
                <a:solidFill>
                  <a:srgbClr val="1A1C22"/>
                </a:solidFill>
                <a:latin typeface="Calibri" pitchFamily="34" charset="0"/>
                <a:ea typeface="Calibri" pitchFamily="34" charset="-122"/>
                <a:cs typeface="Calibri" pitchFamily="34" charset="-120"/>
              </a:rPr>
              <a:t> DE10-Standard: 94,27 % (Chapman)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93,00 % (Georgia), </a:t>
            </a:r>
            <a:r>
              <a:rPr lang="en-US" dirty="0" err="1">
                <a:solidFill>
                  <a:srgbClr val="1A1C22"/>
                </a:solidFill>
                <a:latin typeface="Calibri" pitchFamily="34" charset="0"/>
                <a:ea typeface="Calibri" pitchFamily="34" charset="-122"/>
                <a:cs typeface="Calibri" pitchFamily="34" charset="-120"/>
              </a:rPr>
              <a:t>khớp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tuyệt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đối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với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phần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mềm</a:t>
            </a:r>
            <a:r>
              <a:rPr lang="en-US" dirty="0">
                <a:solidFill>
                  <a:srgbClr val="1A1C22"/>
                </a:solidFill>
                <a:latin typeface="Calibri" pitchFamily="34" charset="0"/>
                <a:ea typeface="Calibri" pitchFamily="34" charset="-122"/>
                <a:cs typeface="Calibri" pitchFamily="34" charset="-120"/>
              </a:rPr>
              <a:t>.</a:t>
            </a:r>
            <a:endParaRPr lang="en-US" dirty="0"/>
          </a:p>
          <a:p>
            <a:pPr marL="342900" indent="-342900">
              <a:spcAft>
                <a:spcPts val="700"/>
              </a:spcAft>
              <a:buSzPct val="100000"/>
              <a:buChar char="•"/>
            </a:pPr>
            <a:r>
              <a:rPr lang="en-US" dirty="0">
                <a:solidFill>
                  <a:srgbClr val="1A1C22"/>
                </a:solidFill>
                <a:latin typeface="Calibri" pitchFamily="34" charset="0"/>
                <a:ea typeface="Calibri" pitchFamily="34" charset="-122"/>
                <a:cs typeface="Calibri" pitchFamily="34" charset="-120"/>
              </a:rPr>
              <a:t>Tài </a:t>
            </a:r>
            <a:r>
              <a:rPr lang="en-US" dirty="0" err="1">
                <a:solidFill>
                  <a:srgbClr val="1A1C22"/>
                </a:solidFill>
                <a:latin typeface="Calibri" pitchFamily="34" charset="0"/>
                <a:ea typeface="Calibri" pitchFamily="34" charset="-122"/>
                <a:cs typeface="Calibri" pitchFamily="34" charset="-120"/>
              </a:rPr>
              <a:t>nguyên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sử</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dụng</a:t>
            </a:r>
            <a:r>
              <a:rPr lang="en-US" dirty="0">
                <a:solidFill>
                  <a:srgbClr val="1A1C22"/>
                </a:solidFill>
                <a:latin typeface="Calibri" pitchFamily="34" charset="0"/>
                <a:ea typeface="Calibri" pitchFamily="34" charset="-122"/>
                <a:cs typeface="Calibri" pitchFamily="34" charset="-120"/>
              </a:rPr>
              <a:t> 2.148 ALM (5 %), 28 DSP (25 %), Fmax 108,86 MHz, 52,16 µs </a:t>
            </a:r>
            <a:r>
              <a:rPr lang="en-US" dirty="0" err="1">
                <a:solidFill>
                  <a:srgbClr val="1A1C22"/>
                </a:solidFill>
                <a:latin typeface="Calibri" pitchFamily="34" charset="0"/>
                <a:ea typeface="Calibri" pitchFamily="34" charset="-122"/>
                <a:cs typeface="Calibri" pitchFamily="34" charset="-120"/>
              </a:rPr>
              <a:t>và</a:t>
            </a:r>
            <a:r>
              <a:rPr lang="en-US" dirty="0">
                <a:solidFill>
                  <a:srgbClr val="1A1C22"/>
                </a:solidFill>
                <a:latin typeface="Calibri" pitchFamily="34" charset="0"/>
                <a:ea typeface="Calibri" pitchFamily="34" charset="-122"/>
                <a:cs typeface="Calibri" pitchFamily="34" charset="-120"/>
              </a:rPr>
              <a:t> 27,96 µJ </a:t>
            </a:r>
            <a:r>
              <a:rPr lang="en-US" dirty="0" err="1">
                <a:solidFill>
                  <a:srgbClr val="1A1C22"/>
                </a:solidFill>
                <a:latin typeface="Calibri" pitchFamily="34" charset="0"/>
                <a:ea typeface="Calibri" pitchFamily="34" charset="-122"/>
                <a:cs typeface="Calibri" pitchFamily="34" charset="-120"/>
              </a:rPr>
              <a:t>mỗi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lần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suy</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luận</a:t>
            </a:r>
            <a:r>
              <a:rPr lang="en-US" dirty="0">
                <a:solidFill>
                  <a:srgbClr val="1A1C22"/>
                </a:solidFill>
                <a:latin typeface="Calibri" pitchFamily="34" charset="0"/>
                <a:ea typeface="Calibri" pitchFamily="34" charset="-122"/>
                <a:cs typeface="Calibri" pitchFamily="34" charset="-120"/>
              </a:rPr>
              <a:t>.</a:t>
            </a:r>
            <a:endParaRPr lang="en-US" dirty="0"/>
          </a:p>
          <a:p>
            <a:endParaRPr lang="en-US" dirty="0"/>
          </a:p>
          <a:p>
            <a:endParaRPr lang="en-US" dirty="0"/>
          </a:p>
        </p:txBody>
      </p:sp>
      <p:sp>
        <p:nvSpPr>
          <p:cNvPr id="6" name="Text 4"/>
          <p:cNvSpPr/>
          <p:nvPr/>
        </p:nvSpPr>
        <p:spPr>
          <a:xfrm>
            <a:off x="804672" y="1417320"/>
            <a:ext cx="3200400" cy="292608"/>
          </a:xfrm>
          <a:prstGeom prst="rect">
            <a:avLst/>
          </a:prstGeom>
          <a:noFill/>
          <a:ln/>
        </p:spPr>
        <p:txBody>
          <a:bodyPr wrap="square" lIns="0" tIns="0" rIns="0" bIns="0" rtlCol="0" anchor="ctr"/>
          <a:lstStyle/>
          <a:p>
            <a:pPr marL="0" indent="0">
              <a:buNone/>
            </a:pPr>
            <a:endParaRPr lang="en-US" sz="2000" dirty="0"/>
          </a:p>
        </p:txBody>
      </p:sp>
      <p:sp>
        <p:nvSpPr>
          <p:cNvPr id="7" name="Text 5"/>
          <p:cNvSpPr/>
          <p:nvPr/>
        </p:nvSpPr>
        <p:spPr>
          <a:xfrm>
            <a:off x="804671" y="1783080"/>
            <a:ext cx="10406253" cy="1645920"/>
          </a:xfrm>
          <a:prstGeom prst="rect">
            <a:avLst/>
          </a:prstGeom>
          <a:noFill/>
          <a:ln/>
        </p:spPr>
        <p:txBody>
          <a:bodyPr wrap="square" lIns="0" tIns="0" rIns="0" bIns="0" rtlCol="0" anchor="t"/>
          <a:lstStyle/>
          <a:p>
            <a:pPr marL="342900" indent="-342900">
              <a:spcAft>
                <a:spcPts val="700"/>
              </a:spcAft>
              <a:buSzPct val="100000"/>
              <a:buChar char="•"/>
            </a:pPr>
            <a:endParaRPr lang="en-US" dirty="0"/>
          </a:p>
        </p:txBody>
      </p:sp>
      <p:sp>
        <p:nvSpPr>
          <p:cNvPr id="8" name="Shape 6"/>
          <p:cNvSpPr/>
          <p:nvPr/>
        </p:nvSpPr>
        <p:spPr>
          <a:xfrm>
            <a:off x="566928" y="3983450"/>
            <a:ext cx="10881360" cy="2020186"/>
          </a:xfrm>
          <a:prstGeom prst="roundRect">
            <a:avLst>
              <a:gd name="adj" fmla="val 2273"/>
            </a:avLst>
          </a:prstGeom>
          <a:solidFill>
            <a:srgbClr val="EFF1F8"/>
          </a:solidFill>
          <a:ln w="12700">
            <a:solidFill>
              <a:srgbClr val="EFF1F8"/>
            </a:solidFill>
            <a:prstDash val="solid"/>
          </a:ln>
          <a:effectLst>
            <a:outerShdw blurRad="101600" dist="25400" dir="5400000" algn="bl" rotWithShape="0">
              <a:srgbClr val="B9AFAF">
                <a:alpha val="25000"/>
              </a:srgbClr>
            </a:outerShdw>
          </a:effectLst>
        </p:spPr>
        <p:txBody>
          <a:bodyPr/>
          <a:lstStyle/>
          <a:p>
            <a:pPr>
              <a:spcAft>
                <a:spcPts val="600"/>
              </a:spcAft>
            </a:pPr>
            <a:r>
              <a:rPr lang="en-US" b="1" dirty="0" err="1">
                <a:solidFill>
                  <a:srgbClr val="2F3C7E"/>
                </a:solidFill>
                <a:latin typeface="Calibri" pitchFamily="34" charset="0"/>
                <a:ea typeface="Calibri" pitchFamily="34" charset="-122"/>
                <a:cs typeface="Calibri" pitchFamily="34" charset="-120"/>
              </a:rPr>
              <a:t>Hướng</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phát</a:t>
            </a:r>
            <a:r>
              <a:rPr lang="en-US" b="1" dirty="0">
                <a:solidFill>
                  <a:srgbClr val="2F3C7E"/>
                </a:solidFill>
                <a:latin typeface="Calibri" pitchFamily="34" charset="0"/>
                <a:ea typeface="Calibri" pitchFamily="34" charset="-122"/>
                <a:cs typeface="Calibri" pitchFamily="34" charset="-120"/>
              </a:rPr>
              <a:t> </a:t>
            </a:r>
            <a:r>
              <a:rPr lang="en-US" b="1" dirty="0" err="1">
                <a:solidFill>
                  <a:srgbClr val="2F3C7E"/>
                </a:solidFill>
                <a:latin typeface="Calibri" pitchFamily="34" charset="0"/>
                <a:ea typeface="Calibri" pitchFamily="34" charset="-122"/>
                <a:cs typeface="Calibri" pitchFamily="34" charset="-120"/>
              </a:rPr>
              <a:t>triển</a:t>
            </a:r>
            <a:endParaRPr lang="en-US" b="1" dirty="0">
              <a:solidFill>
                <a:srgbClr val="2F3C7E"/>
              </a:solidFill>
              <a:latin typeface="Calibri" pitchFamily="34" charset="0"/>
              <a:ea typeface="Calibri" pitchFamily="34" charset="-122"/>
              <a:cs typeface="Calibri" pitchFamily="34" charset="-120"/>
            </a:endParaRPr>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Tăng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độ</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chính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xác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phân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loại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mô</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hình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bằng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các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mạng</a:t>
            </a:r>
            <a:r>
              <a:rPr lang="en-US" dirty="0">
                <a:solidFill>
                  <a:srgbClr val="1A1C22"/>
                </a:solidFill>
                <a:latin typeface="Calibri" pitchFamily="34" charset="0"/>
                <a:ea typeface="Calibri" pitchFamily="34" charset="-122"/>
                <a:cs typeface="Calibri" pitchFamily="34" charset="-120"/>
              </a:rPr>
              <a:t> hay </a:t>
            </a:r>
            <a:r>
              <a:rPr lang="en-US" dirty="0" err="1">
                <a:solidFill>
                  <a:srgbClr val="1A1C22"/>
                </a:solidFill>
                <a:latin typeface="Calibri" pitchFamily="34" charset="0"/>
                <a:ea typeface="Calibri" pitchFamily="34" charset="-122"/>
                <a:cs typeface="Calibri" pitchFamily="34" charset="-120"/>
              </a:rPr>
              <a:t>các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kỹ</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thuật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tối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ưu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hơn</a:t>
            </a:r>
            <a:r>
              <a:rPr lang="en-US" dirty="0">
                <a:solidFill>
                  <a:srgbClr val="1A1C22"/>
                </a:solidFill>
                <a:latin typeface="Calibri" pitchFamily="34" charset="0"/>
                <a:ea typeface="Calibri" pitchFamily="34" charset="-122"/>
                <a:cs typeface="Calibri" pitchFamily="34" charset="-120"/>
              </a:rPr>
              <a:t>.</a:t>
            </a:r>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Phân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loại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theo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cửa</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sổ</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trượt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để</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định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vị</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thời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điểm</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bất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thường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hiệu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chỉnh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ngưỡng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quyết</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định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trên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tập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đích</a:t>
            </a:r>
            <a:r>
              <a:rPr lang="en-US" dirty="0">
                <a:solidFill>
                  <a:srgbClr val="1A1C22"/>
                </a:solidFill>
                <a:latin typeface="Calibri" pitchFamily="34" charset="0"/>
                <a:ea typeface="Calibri" pitchFamily="34" charset="-122"/>
                <a:cs typeface="Calibri" pitchFamily="34" charset="-120"/>
              </a:rPr>
              <a:t>.</a:t>
            </a:r>
            <a:endParaRPr lang="en-US" dirty="0"/>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Ghép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với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mạch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thu</a:t>
            </a:r>
            <a:r>
              <a:rPr lang="en-US" dirty="0">
                <a:solidFill>
                  <a:srgbClr val="1A1C22"/>
                </a:solidFill>
                <a:latin typeface="Calibri" pitchFamily="34" charset="0"/>
                <a:ea typeface="Calibri" pitchFamily="34" charset="-122"/>
                <a:cs typeface="Calibri" pitchFamily="34" charset="-120"/>
              </a:rPr>
              <a:t> ECG, </a:t>
            </a:r>
            <a:r>
              <a:rPr lang="en-US" dirty="0" err="1">
                <a:solidFill>
                  <a:srgbClr val="1A1C22"/>
                </a:solidFill>
                <a:latin typeface="Calibri" pitchFamily="34" charset="0"/>
                <a:ea typeface="Calibri" pitchFamily="34" charset="-122"/>
                <a:cs typeface="Calibri" pitchFamily="34" charset="-120"/>
              </a:rPr>
              <a:t>hoàn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thiện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hệ</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thống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phân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loại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trên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môi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trường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thực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tế</a:t>
            </a:r>
            <a:r>
              <a:rPr lang="en-US" dirty="0">
                <a:solidFill>
                  <a:srgbClr val="1A1C22"/>
                </a:solidFill>
                <a:latin typeface="Calibri" pitchFamily="34" charset="0"/>
                <a:ea typeface="Calibri" pitchFamily="34" charset="-122"/>
                <a:cs typeface="Calibri" pitchFamily="34" charset="-120"/>
              </a:rPr>
              <a:t>.</a:t>
            </a:r>
          </a:p>
          <a:p>
            <a:pPr marL="342900" indent="-342900">
              <a:spcAft>
                <a:spcPts val="700"/>
              </a:spcAft>
              <a:buSzPct val="100000"/>
              <a:buChar char="•"/>
            </a:pPr>
            <a:r>
              <a:rPr lang="en-US" dirty="0" err="1">
                <a:solidFill>
                  <a:srgbClr val="1A1C22"/>
                </a:solidFill>
                <a:latin typeface="Calibri" pitchFamily="34" charset="0"/>
                <a:ea typeface="Calibri" pitchFamily="34" charset="-122"/>
                <a:cs typeface="Calibri" pitchFamily="34" charset="-120"/>
              </a:rPr>
              <a:t>Áp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dụng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các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kiến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trúc</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tiên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tiến</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theo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hướng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tái</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cấu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hình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kênh</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áp</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dụng</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cho</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nhiều</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mô</a:t>
            </a:r>
            <a:r>
              <a:rPr lang="en-US" dirty="0">
                <a:solidFill>
                  <a:srgbClr val="1A1C22"/>
                </a:solidFill>
                <a:latin typeface="Calibri" pitchFamily="34" charset="0"/>
                <a:ea typeface="Calibri" pitchFamily="34" charset="-122"/>
                <a:cs typeface="Calibri" pitchFamily="34" charset="-120"/>
              </a:rPr>
              <a:t> </a:t>
            </a:r>
            <a:r>
              <a:rPr lang="en-US" dirty="0" err="1">
                <a:solidFill>
                  <a:srgbClr val="1A1C22"/>
                </a:solidFill>
                <a:latin typeface="Calibri" pitchFamily="34" charset="0"/>
                <a:ea typeface="Calibri" pitchFamily="34" charset="-122"/>
                <a:cs typeface="Calibri" pitchFamily="34" charset="-120"/>
              </a:rPr>
              <a:t>hình</a:t>
            </a:r>
            <a:r>
              <a:rPr lang="en-US" dirty="0">
                <a:solidFill>
                  <a:srgbClr val="1A1C22"/>
                </a:solidFill>
                <a:latin typeface="Calibri" pitchFamily="34" charset="0"/>
                <a:ea typeface="Calibri" pitchFamily="34" charset="-122"/>
                <a:cs typeface="Calibri" pitchFamily="34" charset="-120"/>
              </a:rPr>
              <a:t>.</a:t>
            </a:r>
          </a:p>
          <a:p>
            <a:pPr marL="342900" indent="-342900">
              <a:spcAft>
                <a:spcPts val="700"/>
              </a:spcAft>
              <a:buSzPct val="100000"/>
              <a:buChar char="•"/>
            </a:pPr>
            <a:endParaRPr lang="en-US" dirty="0">
              <a:solidFill>
                <a:srgbClr val="1A1C22"/>
              </a:solidFill>
              <a:latin typeface="Calibri" pitchFamily="34" charset="0"/>
              <a:ea typeface="Calibri" pitchFamily="34" charset="-122"/>
              <a:cs typeface="Calibri" pitchFamily="34" charset="-120"/>
            </a:endParaRPr>
          </a:p>
          <a:p>
            <a:pPr marL="342900" indent="-342900">
              <a:spcAft>
                <a:spcPts val="700"/>
              </a:spcAft>
              <a:buSzPct val="100000"/>
              <a:buChar char="•"/>
            </a:pPr>
            <a:endParaRPr lang="en-US" dirty="0"/>
          </a:p>
          <a:p>
            <a:endParaRPr lang="en-US" dirty="0"/>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530352"/>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So sánh với các nghiên cứu tăng tốc phân loại ECG trên FPGA</a:t>
            </a:r>
            <a:endParaRPr lang="en-US" sz="2700" dirty="0"/>
          </a:p>
        </p:txBody>
      </p:sp>
      <p:sp>
        <p:nvSpPr>
          <p:cNvPr id="4" name="Text 2"/>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42</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442698579"/>
              </p:ext>
            </p:extLst>
          </p:nvPr>
        </p:nvGraphicFramePr>
        <p:xfrm>
          <a:off x="566928" y="1298448"/>
          <a:ext cx="11055096" cy="4907280"/>
        </p:xfrm>
        <a:graphic>
          <a:graphicData uri="http://schemas.openxmlformats.org/drawingml/2006/table">
            <a:tbl>
              <a:tblPr/>
              <a:tblGrid>
                <a:gridCol w="26060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1956816">
                  <a:extLst>
                    <a:ext uri="{9D8B030D-6E8A-4147-A177-3AD203B41FA5}">
                      <a16:colId xmlns:a16="http://schemas.microsoft.com/office/drawing/2014/main" val="20004"/>
                    </a:ext>
                  </a:extLst>
                </a:gridCol>
              </a:tblGrid>
              <a:tr h="274320">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Tiêu chí</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Đề tài này</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Liu </a:t>
                      </a:r>
                      <a:r>
                        <a:rPr lang="en-US" sz="2000" b="1" dirty="0" err="1">
                          <a:solidFill>
                            <a:srgbClr val="FFFFFF"/>
                          </a:solidFill>
                          <a:latin typeface="Calibri" pitchFamily="34" charset="0"/>
                          <a:ea typeface="Calibri" pitchFamily="34" charset="-122"/>
                          <a:cs typeface="Calibri" pitchFamily="34" charset="-120"/>
                        </a:rPr>
                        <a:t>và</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cộng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sự</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Pham </a:t>
                      </a:r>
                      <a:r>
                        <a:rPr lang="en-US" sz="2000" b="1" dirty="0" err="1">
                          <a:solidFill>
                            <a:srgbClr val="FFFFFF"/>
                          </a:solidFill>
                          <a:latin typeface="Calibri" pitchFamily="34" charset="0"/>
                          <a:ea typeface="Calibri" pitchFamily="34" charset="-122"/>
                          <a:cs typeface="Calibri" pitchFamily="34" charset="-120"/>
                        </a:rPr>
                        <a:t>và</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cộng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sự</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Tran </a:t>
                      </a:r>
                      <a:r>
                        <a:rPr lang="en-US" sz="2000" b="1" dirty="0" err="1">
                          <a:solidFill>
                            <a:srgbClr val="FFFFFF"/>
                          </a:solidFill>
                          <a:latin typeface="Calibri" pitchFamily="34" charset="0"/>
                          <a:ea typeface="Calibri" pitchFamily="34" charset="-122"/>
                          <a:cs typeface="Calibri" pitchFamily="34" charset="-120"/>
                        </a:rPr>
                        <a:t>và</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cộng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sự</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Board thực hiện</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Cyclone V 5CSXFC6D6F31</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Cyclone V 5CSEBA6U23I7</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Zynq UltraScale+ ZCU102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Zynq-7000 Pynq-Z2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Kiến trúc</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1D-CNN</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1D-CNN</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1D-CNN (Mini-InceptionNet)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LDC (siêu vectơ)</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2"/>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Số tham số</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640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6.457</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Lượng tử hoá</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INT8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INT8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Fixed 16 bit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4"/>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Tập dữ liệu · mức phân loại</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Chapman · Rhythm</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Chapman · Rhythm</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MIT-BIH · Beat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MIT-BIH · Beat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Độ chính xác</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94,27 %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92,95 %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99,37 %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97,18 %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6"/>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ALM / LUT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2.148 ALM (5 %)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51 %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24.685 LUT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8.255 LUT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Thanh ghi</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2.902 (3 %)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86 %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11.180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8.296</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08"/>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Khối DSP</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28 DSP (25 %)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39 %</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40 DSP</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0 DSP</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Tần số</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100 MHz</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50 MHz</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250 MHz</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50 MHz</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10"/>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Độ trễ</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52,16 µs</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66 µs</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34,45 µs</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23,9 µs (core)</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marL="0" indent="0" algn="l">
                        <a:buNone/>
                      </a:pPr>
                      <a:r>
                        <a:rPr lang="en-US" sz="1600" dirty="0">
                          <a:solidFill>
                            <a:srgbClr val="1A1C22"/>
                          </a:solidFill>
                          <a:latin typeface="Calibri" pitchFamily="34" charset="0"/>
                          <a:ea typeface="Calibri" pitchFamily="34" charset="-122"/>
                          <a:cs typeface="Calibri" pitchFamily="34" charset="-120"/>
                        </a:rPr>
                        <a:t>Thông lượng (lần/s)</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b="1" dirty="0">
                          <a:solidFill>
                            <a:srgbClr val="990011"/>
                          </a:solidFill>
                          <a:latin typeface="Calibri" pitchFamily="34" charset="0"/>
                          <a:ea typeface="Calibri" pitchFamily="34" charset="-122"/>
                          <a:cs typeface="Calibri" pitchFamily="34" charset="-120"/>
                        </a:rPr>
                        <a:t>19.172</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BF2F3"/>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15.150</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29.028</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tc>
                  <a:txBody>
                    <a:bodyPr/>
                    <a:lstStyle/>
                    <a:p>
                      <a:pPr marL="0" indent="0" algn="ctr">
                        <a:buNone/>
                      </a:pPr>
                      <a:r>
                        <a:rPr lang="en-US" sz="1600" dirty="0">
                          <a:solidFill>
                            <a:srgbClr val="1A1C22"/>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AF6F6"/>
                    </a:solidFill>
                  </a:tcPr>
                </a:tc>
                <a:extLst>
                  <a:ext uri="{0D108BD9-81ED-4DB2-BD59-A6C34878D82A}">
                    <a16:rowId xmlns:a16="http://schemas.microsoft.com/office/drawing/2014/main" val="10012"/>
                  </a:ext>
                </a:extLst>
              </a:tr>
            </a:tbl>
          </a:graphicData>
        </a:graphic>
      </p:graphicFrame>
      <p:sp>
        <p:nvSpPr>
          <p:cNvPr id="8" name="Text 0">
            <a:extLst>
              <a:ext uri="{FF2B5EF4-FFF2-40B4-BE49-F238E27FC236}">
                <a16:creationId xmlns:a16="http://schemas.microsoft.com/office/drawing/2014/main" id="{C909D73B-44F4-DA5D-07DD-2BD841525B7D}"/>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500" b="1" kern="0" spc="200" dirty="0">
                <a:solidFill>
                  <a:srgbClr val="990011"/>
                </a:solidFill>
                <a:latin typeface="Calibri" pitchFamily="34" charset="0"/>
                <a:ea typeface="Calibri" pitchFamily="34" charset="-122"/>
                <a:cs typeface="Calibri" pitchFamily="34" charset="-120"/>
              </a:rPr>
              <a:t>CHƯƠNG 5 · KẾT LUẬN</a:t>
            </a:r>
            <a:endParaRPr lang="en-US" sz="2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1">
    <p:bg>
      <p:bgPr>
        <a:solidFill>
          <a:srgbClr val="1C2340"/>
        </a:solidFill>
        <a:effectLst/>
      </p:bgPr>
    </p:bg>
    <p:spTree>
      <p:nvGrpSpPr>
        <p:cNvPr id="1" name=""/>
        <p:cNvGrpSpPr/>
        <p:nvPr/>
      </p:nvGrpSpPr>
      <p:grpSpPr>
        <a:xfrm>
          <a:off x="0" y="0"/>
          <a:ext cx="0" cy="0"/>
          <a:chOff x="0" y="0"/>
          <a:chExt cx="0" cy="0"/>
        </a:xfrm>
      </p:grpSpPr>
      <p:pic>
        <p:nvPicPr>
          <p:cNvPr id="2" name="Image 0" descr="img/ecg_light.png"/>
          <p:cNvPicPr>
            <a:picLocks noChangeAspect="1"/>
          </p:cNvPicPr>
          <p:nvPr/>
        </p:nvPicPr>
        <p:blipFill>
          <a:blip r:embed="rId3">
            <a:alphaModFix amt="60000"/>
          </a:blip>
          <a:stretch>
            <a:fillRect/>
          </a:stretch>
        </p:blipFill>
        <p:spPr>
          <a:xfrm>
            <a:off x="0" y="4754880"/>
            <a:ext cx="12188952" cy="1828800"/>
          </a:xfrm>
          <a:prstGeom prst="rect">
            <a:avLst/>
          </a:prstGeom>
        </p:spPr>
      </p:pic>
      <p:sp>
        <p:nvSpPr>
          <p:cNvPr id="3" name="Text 0"/>
          <p:cNvSpPr/>
          <p:nvPr/>
        </p:nvSpPr>
        <p:spPr>
          <a:xfrm>
            <a:off x="566928" y="2057400"/>
            <a:ext cx="10424160" cy="777240"/>
          </a:xfrm>
          <a:prstGeom prst="rect">
            <a:avLst/>
          </a:prstGeom>
          <a:noFill/>
          <a:ln/>
        </p:spPr>
        <p:txBody>
          <a:bodyPr wrap="square" lIns="0" tIns="0" rIns="0" bIns="0" rtlCol="0" anchor="ctr"/>
          <a:lstStyle/>
          <a:p>
            <a:pPr marL="0" indent="0">
              <a:buNone/>
            </a:pPr>
            <a:r>
              <a:rPr lang="en-US" sz="4000" b="1" dirty="0">
                <a:solidFill>
                  <a:srgbClr val="FCF6F5"/>
                </a:solidFill>
                <a:latin typeface="Cambria" pitchFamily="34" charset="0"/>
                <a:ea typeface="Cambria" pitchFamily="34" charset="-122"/>
                <a:cs typeface="Cambria" pitchFamily="34" charset="-120"/>
              </a:rPr>
              <a:t>CÁM ƠN QUÝ THẦY CÔ ĐÃ LẮNG NGHE</a:t>
            </a:r>
            <a:endParaRPr lang="en-US" sz="4000" dirty="0"/>
          </a:p>
        </p:txBody>
      </p:sp>
      <p:sp>
        <p:nvSpPr>
          <p:cNvPr id="4" name="Text 1"/>
          <p:cNvSpPr/>
          <p:nvPr/>
        </p:nvSpPr>
        <p:spPr>
          <a:xfrm>
            <a:off x="566928" y="2926080"/>
            <a:ext cx="10424160" cy="411480"/>
          </a:xfrm>
          <a:prstGeom prst="rect">
            <a:avLst/>
          </a:prstGeom>
          <a:noFill/>
          <a:ln/>
        </p:spPr>
        <p:txBody>
          <a:bodyPr wrap="square" lIns="0" tIns="0" rIns="0" bIns="0" rtlCol="0" anchor="ctr"/>
          <a:lstStyle/>
          <a:p>
            <a:pPr marL="0" indent="0">
              <a:buNone/>
            </a:pPr>
            <a:r>
              <a:rPr lang="en-US" dirty="0">
                <a:solidFill>
                  <a:srgbClr val="9AA1BC"/>
                </a:solidFill>
                <a:latin typeface="Calibri" pitchFamily="34" charset="0"/>
                <a:ea typeface="Calibri" pitchFamily="34" charset="-122"/>
                <a:cs typeface="Calibri" pitchFamily="34" charset="-120"/>
              </a:rPr>
              <a:t>Kính mong nhận được ý kiến đóng góp của quý thầy cô trong hội đồng.</a:t>
            </a:r>
            <a:endParaRPr lang="en-US" dirty="0"/>
          </a:p>
        </p:txBody>
      </p:sp>
      <p:sp>
        <p:nvSpPr>
          <p:cNvPr id="5" name="Shape 2"/>
          <p:cNvSpPr/>
          <p:nvPr/>
        </p:nvSpPr>
        <p:spPr>
          <a:xfrm>
            <a:off x="566928" y="3611880"/>
            <a:ext cx="1463040" cy="54864"/>
          </a:xfrm>
          <a:prstGeom prst="rect">
            <a:avLst/>
          </a:prstGeom>
          <a:solidFill>
            <a:srgbClr val="E23D4D"/>
          </a:solidFill>
          <a:ln w="12700">
            <a:solidFill>
              <a:srgbClr val="E23D4D"/>
            </a:solidFill>
            <a:prstDash val="solid"/>
          </a:ln>
        </p:spPr>
        <p:txBody>
          <a:bodyPr/>
          <a:lstStyle/>
          <a:p>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6FCAE7E-6A89-2322-AC4D-A885B42565E1}"/>
              </a:ext>
            </a:extLst>
          </p:cNvPr>
          <p:cNvSpPr/>
          <p:nvPr/>
        </p:nvSpPr>
        <p:spPr>
          <a:xfrm>
            <a:off x="566928" y="2057400"/>
            <a:ext cx="10424160" cy="77724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CÁM ƠN QUÝ THẦY CÔ ĐÃ LẮNG NGHE </a:t>
            </a:r>
            <a:endParaRPr lang="en-US" sz="4000" dirty="0">
              <a:solidFill>
                <a:schemeClr val="accent1"/>
              </a:solidFill>
            </a:endParaRPr>
          </a:p>
        </p:txBody>
      </p:sp>
      <p:sp>
        <p:nvSpPr>
          <p:cNvPr id="5" name="Text 1">
            <a:extLst>
              <a:ext uri="{FF2B5EF4-FFF2-40B4-BE49-F238E27FC236}">
                <a16:creationId xmlns:a16="http://schemas.microsoft.com/office/drawing/2014/main" id="{FBDA4A47-3410-C4C8-F324-D64E1F00ACDB}"/>
              </a:ext>
            </a:extLst>
          </p:cNvPr>
          <p:cNvSpPr/>
          <p:nvPr/>
        </p:nvSpPr>
        <p:spPr>
          <a:xfrm>
            <a:off x="566928" y="2926080"/>
            <a:ext cx="10424160" cy="411480"/>
          </a:xfrm>
          <a:prstGeom prst="rect">
            <a:avLst/>
          </a:prstGeom>
          <a:noFill/>
          <a:ln/>
        </p:spPr>
        <p:txBody>
          <a:bodyPr wrap="square" lIns="0" tIns="0" rIns="0" bIns="0" rtlCol="0" anchor="ctr"/>
          <a:lstStyle/>
          <a:p>
            <a:pPr marL="0" indent="0">
              <a:buNone/>
            </a:pPr>
            <a:r>
              <a:rPr lang="en-US" dirty="0">
                <a:latin typeface="Calibri" pitchFamily="34" charset="0"/>
                <a:ea typeface="Calibri" pitchFamily="34" charset="-122"/>
                <a:cs typeface="Calibri" pitchFamily="34" charset="-120"/>
              </a:rPr>
              <a:t>Kính mong nhận được ý kiến đóng góp của quý thầy cô trong hội đồng.</a:t>
            </a:r>
            <a:endParaRPr lang="en-US" dirty="0"/>
          </a:p>
        </p:txBody>
      </p:sp>
      <p:sp>
        <p:nvSpPr>
          <p:cNvPr id="7" name="Shape 2">
            <a:extLst>
              <a:ext uri="{FF2B5EF4-FFF2-40B4-BE49-F238E27FC236}">
                <a16:creationId xmlns:a16="http://schemas.microsoft.com/office/drawing/2014/main" id="{D72F1AF9-F99C-5B04-3B59-C012D6D0A44D}"/>
              </a:ext>
            </a:extLst>
          </p:cNvPr>
          <p:cNvSpPr/>
          <p:nvPr/>
        </p:nvSpPr>
        <p:spPr>
          <a:xfrm>
            <a:off x="566928" y="3611880"/>
            <a:ext cx="1463040" cy="54864"/>
          </a:xfrm>
          <a:prstGeom prst="rect">
            <a:avLst/>
          </a:prstGeom>
          <a:solidFill>
            <a:srgbClr val="E23D4D"/>
          </a:solidFill>
          <a:ln w="12700">
            <a:solidFill>
              <a:srgbClr val="E23D4D"/>
            </a:solidFill>
            <a:prstDash val="solid"/>
          </a:ln>
        </p:spPr>
        <p:txBody>
          <a:bodyPr/>
          <a:lstStyle/>
          <a:p>
            <a:endParaRPr/>
          </a:p>
        </p:txBody>
      </p:sp>
    </p:spTree>
    <p:extLst>
      <p:ext uri="{BB962C8B-B14F-4D97-AF65-F5344CB8AC3E}">
        <p14:creationId xmlns:p14="http://schemas.microsoft.com/office/powerpoint/2010/main" val="2224129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1"/>
          <p:cNvSpPr/>
          <p:nvPr/>
        </p:nvSpPr>
        <p:spPr>
          <a:xfrm>
            <a:off x="629031" y="793242"/>
            <a:ext cx="11055096" cy="548640"/>
          </a:xfrm>
          <a:prstGeom prst="rect">
            <a:avLst/>
          </a:prstGeom>
          <a:noFill/>
          <a:ln/>
        </p:spPr>
        <p:txBody>
          <a:bodyPr wrap="square" lIns="0" tIns="0" rIns="0" bIns="0" rtlCol="0" anchor="t"/>
          <a:lstStyle/>
          <a:p>
            <a:pPr marL="0" indent="0">
              <a:buNone/>
            </a:pPr>
            <a:r>
              <a:rPr lang="en-US" sz="2700" b="1" dirty="0" err="1">
                <a:solidFill>
                  <a:srgbClr val="1A1C22"/>
                </a:solidFill>
                <a:latin typeface="Cambria" pitchFamily="34" charset="0"/>
                <a:ea typeface="Cambria" pitchFamily="34" charset="-122"/>
              </a:rPr>
              <a:t>Khảo</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sát</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các</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nghiên</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cứu</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phân</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loại</a:t>
            </a:r>
            <a:r>
              <a:rPr lang="en-US" sz="2700" b="1" dirty="0">
                <a:solidFill>
                  <a:srgbClr val="1A1C22"/>
                </a:solidFill>
                <a:latin typeface="Cambria" pitchFamily="34" charset="0"/>
                <a:ea typeface="Cambria" pitchFamily="34" charset="-122"/>
              </a:rPr>
              <a:t> ECG </a:t>
            </a:r>
            <a:r>
              <a:rPr lang="en-US" sz="2700" b="1" dirty="0" err="1">
                <a:solidFill>
                  <a:srgbClr val="1A1C22"/>
                </a:solidFill>
                <a:latin typeface="Cambria" pitchFamily="34" charset="0"/>
                <a:ea typeface="Cambria" pitchFamily="34" charset="-122"/>
              </a:rPr>
              <a:t>hiện</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có</a:t>
            </a:r>
            <a:endParaRPr lang="en-US" sz="2700" dirty="0"/>
          </a:p>
        </p:txBody>
      </p:sp>
      <p:sp>
        <p:nvSpPr>
          <p:cNvPr id="4" name="Text 2"/>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6</a:t>
            </a:r>
            <a:endParaRPr lang="en-US" sz="1000" dirty="0"/>
          </a:p>
        </p:txBody>
      </p:sp>
      <p:sp>
        <p:nvSpPr>
          <p:cNvPr id="26" name="Text 0">
            <a:extLst>
              <a:ext uri="{FF2B5EF4-FFF2-40B4-BE49-F238E27FC236}">
                <a16:creationId xmlns:a16="http://schemas.microsoft.com/office/drawing/2014/main" id="{E06361AE-08BE-7C1B-59FE-3DAB42AB9F82}"/>
              </a:ext>
            </a:extLst>
          </p:cNvPr>
          <p:cNvSpPr/>
          <p:nvPr/>
        </p:nvSpPr>
        <p:spPr>
          <a:xfrm>
            <a:off x="719328" y="4267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2 · KHOẢNG TRỐNG NGHIÊN CỨU &amp; ĐÓNG GÓP ĐỀ TÀI</a:t>
            </a:r>
            <a:endParaRPr lang="en-US" sz="2000" dirty="0"/>
          </a:p>
        </p:txBody>
      </p:sp>
      <p:graphicFrame>
        <p:nvGraphicFramePr>
          <p:cNvPr id="28" name="Table 0">
            <a:extLst>
              <a:ext uri="{FF2B5EF4-FFF2-40B4-BE49-F238E27FC236}">
                <a16:creationId xmlns:a16="http://schemas.microsoft.com/office/drawing/2014/main" id="{B20F1DE2-2B24-59E9-D7D1-22966844A6B0}"/>
              </a:ext>
            </a:extLst>
          </p:cNvPr>
          <p:cNvGraphicFramePr>
            <a:graphicFrameLocks noGrp="1"/>
          </p:cNvGraphicFramePr>
          <p:nvPr/>
        </p:nvGraphicFramePr>
        <p:xfrm>
          <a:off x="299524" y="1411049"/>
          <a:ext cx="11592951" cy="4267200"/>
        </p:xfrm>
        <a:graphic>
          <a:graphicData uri="http://schemas.openxmlformats.org/drawingml/2006/table">
            <a:tbl>
              <a:tblPr/>
              <a:tblGrid>
                <a:gridCol w="2086731">
                  <a:extLst>
                    <a:ext uri="{9D8B030D-6E8A-4147-A177-3AD203B41FA5}">
                      <a16:colId xmlns:a16="http://schemas.microsoft.com/office/drawing/2014/main" val="20000"/>
                    </a:ext>
                  </a:extLst>
                </a:gridCol>
                <a:gridCol w="2666378">
                  <a:extLst>
                    <a:ext uri="{9D8B030D-6E8A-4147-A177-3AD203B41FA5}">
                      <a16:colId xmlns:a16="http://schemas.microsoft.com/office/drawing/2014/main" val="20001"/>
                    </a:ext>
                  </a:extLst>
                </a:gridCol>
                <a:gridCol w="1970802">
                  <a:extLst>
                    <a:ext uri="{9D8B030D-6E8A-4147-A177-3AD203B41FA5}">
                      <a16:colId xmlns:a16="http://schemas.microsoft.com/office/drawing/2014/main" val="20002"/>
                    </a:ext>
                  </a:extLst>
                </a:gridCol>
                <a:gridCol w="3477886">
                  <a:extLst>
                    <a:ext uri="{9D8B030D-6E8A-4147-A177-3AD203B41FA5}">
                      <a16:colId xmlns:a16="http://schemas.microsoft.com/office/drawing/2014/main" val="20003"/>
                    </a:ext>
                  </a:extLst>
                </a:gridCol>
                <a:gridCol w="1391154">
                  <a:extLst>
                    <a:ext uri="{9D8B030D-6E8A-4147-A177-3AD203B41FA5}">
                      <a16:colId xmlns:a16="http://schemas.microsoft.com/office/drawing/2014/main" val="3684773502"/>
                    </a:ext>
                  </a:extLst>
                </a:gridCol>
              </a:tblGrid>
              <a:tr h="638967">
                <a:tc>
                  <a:txBody>
                    <a:bodyPr/>
                    <a:lstStyle/>
                    <a:p>
                      <a:pPr marL="0" indent="0" algn="ctr">
                        <a:buNone/>
                      </a:pPr>
                      <a:r>
                        <a:rPr sz="2000" b="1" dirty="0">
                          <a:solidFill>
                            <a:srgbClr val="FFFFFF"/>
                          </a:solidFill>
                          <a:latin typeface="Calibri"/>
                        </a:rPr>
                        <a:t>Công </a:t>
                      </a:r>
                      <a:r>
                        <a:rPr sz="2000" b="1" dirty="0" err="1">
                          <a:solidFill>
                            <a:srgbClr val="FFFFFF"/>
                          </a:solidFill>
                          <a:latin typeface="Calibri"/>
                        </a:rPr>
                        <a:t>trình</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sz="2000" b="1" dirty="0" err="1">
                          <a:solidFill>
                            <a:srgbClr val="FFFFFF"/>
                          </a:solidFill>
                          <a:latin typeface="Calibri"/>
                        </a:rPr>
                        <a:t>Mô</a:t>
                      </a:r>
                      <a:r>
                        <a:rPr sz="2000" b="1" dirty="0">
                          <a:solidFill>
                            <a:srgbClr val="FFFFFF"/>
                          </a:solidFill>
                          <a:latin typeface="Calibri"/>
                        </a:rPr>
                        <a:t> </a:t>
                      </a:r>
                      <a:r>
                        <a:rPr sz="2000" b="1" dirty="0" err="1">
                          <a:solidFill>
                            <a:srgbClr val="FFFFFF"/>
                          </a:solidFill>
                          <a:latin typeface="Calibri"/>
                        </a:rPr>
                        <a:t>hình</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sz="2000" b="1" dirty="0" err="1">
                          <a:solidFill>
                            <a:srgbClr val="FFFFFF"/>
                          </a:solidFill>
                          <a:latin typeface="Calibri"/>
                        </a:rPr>
                        <a:t>Lượng</a:t>
                      </a:r>
                      <a:r>
                        <a:rPr sz="2000" b="1" dirty="0">
                          <a:solidFill>
                            <a:srgbClr val="FFFFFF"/>
                          </a:solidFill>
                          <a:latin typeface="Calibri"/>
                        </a:rPr>
                        <a:t> </a:t>
                      </a:r>
                      <a:r>
                        <a:rPr sz="2000" b="1" dirty="0" err="1">
                          <a:solidFill>
                            <a:srgbClr val="FFFFFF"/>
                          </a:solidFill>
                          <a:latin typeface="Calibri"/>
                        </a:rPr>
                        <a:t>tử</a:t>
                      </a:r>
                      <a:r>
                        <a:rPr sz="2000" b="1" dirty="0">
                          <a:solidFill>
                            <a:srgbClr val="FFFFFF"/>
                          </a:solidFill>
                          <a:latin typeface="Calibri"/>
                        </a:rPr>
                        <a:t> </a:t>
                      </a:r>
                      <a:r>
                        <a:rPr sz="2000" b="1" dirty="0" err="1">
                          <a:solidFill>
                            <a:srgbClr val="FFFFFF"/>
                          </a:solidFill>
                          <a:latin typeface="Calibri"/>
                        </a:rPr>
                        <a:t>hoá</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sz="2000" b="1" dirty="0" err="1">
                          <a:solidFill>
                            <a:srgbClr val="FFFFFF"/>
                          </a:solidFill>
                          <a:latin typeface="Calibri"/>
                        </a:rPr>
                        <a:t>Phần</a:t>
                      </a:r>
                      <a:r>
                        <a:rPr sz="2000" b="1" dirty="0">
                          <a:solidFill>
                            <a:srgbClr val="FFFFFF"/>
                          </a:solidFill>
                          <a:latin typeface="Calibri"/>
                        </a:rPr>
                        <a:t> </a:t>
                      </a:r>
                      <a:r>
                        <a:rPr sz="2000" b="1" dirty="0" err="1">
                          <a:solidFill>
                            <a:srgbClr val="FFFFFF"/>
                          </a:solidFill>
                          <a:latin typeface="Calibri"/>
                        </a:rPr>
                        <a:t>cứng</a:t>
                      </a:r>
                      <a:r>
                        <a:rPr sz="2000" b="1" dirty="0">
                          <a:solidFill>
                            <a:srgbClr val="FFFFFF"/>
                          </a:solidFill>
                          <a:latin typeface="Calibri"/>
                        </a:rPr>
                        <a:t> </a:t>
                      </a:r>
                      <a:r>
                        <a:rPr sz="2000" b="1" dirty="0" err="1">
                          <a:solidFill>
                            <a:srgbClr val="FFFFFF"/>
                          </a:solidFill>
                          <a:latin typeface="Calibri"/>
                        </a:rPr>
                        <a:t>triển</a:t>
                      </a:r>
                      <a:r>
                        <a:rPr sz="2000" b="1" dirty="0">
                          <a:solidFill>
                            <a:srgbClr val="FFFFFF"/>
                          </a:solidFill>
                          <a:latin typeface="Calibri"/>
                        </a:rPr>
                        <a:t> </a:t>
                      </a:r>
                      <a:r>
                        <a:rPr sz="2000" b="1" dirty="0" err="1">
                          <a:solidFill>
                            <a:srgbClr val="FFFFFF"/>
                          </a:solidFill>
                          <a:latin typeface="Calibri"/>
                        </a:rPr>
                        <a:t>khai</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sz="2000" b="1" dirty="0" err="1">
                          <a:solidFill>
                            <a:srgbClr val="FFFFFF"/>
                          </a:solidFill>
                          <a:latin typeface="Calibri"/>
                        </a:rPr>
                        <a:t>Độ</a:t>
                      </a:r>
                      <a:r>
                        <a:rPr sz="2000" b="1" dirty="0">
                          <a:solidFill>
                            <a:srgbClr val="FFFFFF"/>
                          </a:solidFill>
                          <a:latin typeface="Calibri"/>
                        </a:rPr>
                        <a:t> </a:t>
                      </a:r>
                      <a:r>
                        <a:rPr sz="2000" b="1" dirty="0" err="1">
                          <a:solidFill>
                            <a:srgbClr val="FFFFFF"/>
                          </a:solidFill>
                          <a:latin typeface="Calibri"/>
                        </a:rPr>
                        <a:t>chính</a:t>
                      </a:r>
                      <a:r>
                        <a:rPr sz="2000" b="1" dirty="0">
                          <a:solidFill>
                            <a:srgbClr val="FFFFFF"/>
                          </a:solidFill>
                          <a:latin typeface="Calibri"/>
                        </a:rPr>
                        <a:t> </a:t>
                      </a:r>
                      <a:r>
                        <a:rPr sz="2000" b="1" dirty="0" err="1">
                          <a:solidFill>
                            <a:srgbClr val="FFFFFF"/>
                          </a:solidFill>
                          <a:latin typeface="Calibri"/>
                        </a:rPr>
                        <a:t>xác</a:t>
                      </a:r>
                      <a:endParaRPr lang="en-US" sz="2000" b="1" dirty="0">
                        <a:solidFill>
                          <a:schemeClr val="bg1"/>
                        </a:solidFill>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583405">
                <a:tc>
                  <a:txBody>
                    <a:bodyPr/>
                    <a:lstStyle/>
                    <a:p>
                      <a:pPr marL="0" indent="0" algn="l">
                        <a:buNone/>
                      </a:pPr>
                      <a:r>
                        <a:rPr sz="1800" b="1">
                          <a:solidFill>
                            <a:srgbClr val="1A1C22"/>
                          </a:solidFill>
                          <a:latin typeface="Calibri"/>
                        </a:rPr>
                        <a:t>Liu (2023)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7F3F4"/>
                    </a:solidFill>
                  </a:tcPr>
                </a:tc>
                <a:tc>
                  <a:txBody>
                    <a:bodyPr/>
                    <a:lstStyle/>
                    <a:p>
                      <a:pPr marL="0" indent="0" algn="l">
                        <a:buNone/>
                      </a:pPr>
                      <a:r>
                        <a:rPr sz="1800" b="1" dirty="0">
                          <a:solidFill>
                            <a:srgbClr val="1A1C22"/>
                          </a:solidFill>
                          <a:latin typeface="Calibri"/>
                        </a:rPr>
                        <a:t>1D-CNN + </a:t>
                      </a:r>
                      <a:r>
                        <a:rPr sz="1800" b="1" dirty="0" err="1">
                          <a:solidFill>
                            <a:srgbClr val="1A1C22"/>
                          </a:solidFill>
                          <a:latin typeface="Calibri"/>
                        </a:rPr>
                        <a:t>nhịp</a:t>
                      </a:r>
                      <a:r>
                        <a:rPr sz="1800" b="1" dirty="0">
                          <a:solidFill>
                            <a:srgbClr val="1A1C22"/>
                          </a:solidFill>
                          <a:latin typeface="Calibri"/>
                        </a:rPr>
                        <a:t> </a:t>
                      </a:r>
                      <a:r>
                        <a:rPr sz="1800" b="1" dirty="0" err="1">
                          <a:solidFill>
                            <a:srgbClr val="1A1C22"/>
                          </a:solidFill>
                          <a:latin typeface="Calibri"/>
                        </a:rPr>
                        <a:t>tim</a:t>
                      </a:r>
                      <a:r>
                        <a:rPr sz="1800" b="1" dirty="0">
                          <a:solidFill>
                            <a:srgbClr val="1A1C22"/>
                          </a:solidFill>
                          <a:latin typeface="Calibri"/>
                        </a:rPr>
                        <a:t>, </a:t>
                      </a:r>
                      <a:r>
                        <a:rPr sz="1800" b="1" dirty="0" err="1">
                          <a:solidFill>
                            <a:srgbClr val="1A1C22"/>
                          </a:solidFill>
                          <a:latin typeface="Calibri"/>
                        </a:rPr>
                        <a:t>ánh</a:t>
                      </a:r>
                      <a:r>
                        <a:rPr sz="1800" b="1" dirty="0">
                          <a:solidFill>
                            <a:srgbClr val="1A1C22"/>
                          </a:solidFill>
                          <a:latin typeface="Calibri"/>
                        </a:rPr>
                        <a:t> </a:t>
                      </a:r>
                      <a:r>
                        <a:rPr sz="1800" b="1" dirty="0" err="1">
                          <a:solidFill>
                            <a:srgbClr val="1A1C22"/>
                          </a:solidFill>
                          <a:latin typeface="Calibri"/>
                        </a:rPr>
                        <a:t>xạ</a:t>
                      </a:r>
                      <a:r>
                        <a:rPr sz="1800" b="1" dirty="0">
                          <a:solidFill>
                            <a:srgbClr val="1A1C22"/>
                          </a:solidFill>
                          <a:latin typeface="Calibri"/>
                        </a:rPr>
                        <a:t> </a:t>
                      </a:r>
                      <a:r>
                        <a:rPr sz="1800" b="1" dirty="0" err="1">
                          <a:solidFill>
                            <a:srgbClr val="1A1C22"/>
                          </a:solidFill>
                          <a:latin typeface="Calibri"/>
                        </a:rPr>
                        <a:t>toàn</a:t>
                      </a:r>
                      <a:r>
                        <a:rPr sz="1800" b="1" dirty="0">
                          <a:solidFill>
                            <a:srgbClr val="1A1C22"/>
                          </a:solidFill>
                          <a:latin typeface="Calibri"/>
                        </a:rPr>
                        <a:t> </a:t>
                      </a:r>
                      <a:r>
                        <a:rPr sz="1800" b="1" dirty="0" err="1">
                          <a:solidFill>
                            <a:srgbClr val="1A1C22"/>
                          </a:solidFill>
                          <a:latin typeface="Calibri"/>
                        </a:rPr>
                        <a:t>phần</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7F3F4"/>
                    </a:solidFill>
                  </a:tcPr>
                </a:tc>
                <a:tc>
                  <a:txBody>
                    <a:bodyPr/>
                    <a:lstStyle/>
                    <a:p>
                      <a:pPr marL="0" indent="0" algn="l">
                        <a:buNone/>
                      </a:pPr>
                      <a:r>
                        <a:rPr sz="1800" b="1">
                          <a:solidFill>
                            <a:srgbClr val="1A1C22"/>
                          </a:solidFill>
                          <a:latin typeface="Calibri"/>
                        </a:rPr>
                        <a:t>INT8 luỹ thừa hai, cắt bỏ</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7F3F4"/>
                    </a:solidFill>
                  </a:tcPr>
                </a:tc>
                <a:tc>
                  <a:txBody>
                    <a:bodyPr/>
                    <a:lstStyle/>
                    <a:p>
                      <a:pPr marL="0" indent="0" algn="l">
                        <a:buNone/>
                      </a:pPr>
                      <a:r>
                        <a:rPr sz="1800" b="1">
                          <a:solidFill>
                            <a:srgbClr val="1A1C22"/>
                          </a:solidFill>
                          <a:latin typeface="Calibri"/>
                        </a:rPr>
                        <a:t>Cyclone V 5CSEBA6 — 51 % ALM, 86 % thanh ghi</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7F3F4"/>
                    </a:solidFill>
                  </a:tcPr>
                </a:tc>
                <a:tc>
                  <a:txBody>
                    <a:bodyPr/>
                    <a:lstStyle/>
                    <a:p>
                      <a:pPr marL="0" indent="0" algn="ctr">
                        <a:buNone/>
                      </a:pPr>
                      <a:r>
                        <a:rPr sz="1800" b="1">
                          <a:solidFill>
                            <a:srgbClr val="1A1C22"/>
                          </a:solidFill>
                          <a:latin typeface="Calibri"/>
                        </a:rPr>
                        <a:t>92,95 %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7F3F4"/>
                    </a:solidFill>
                  </a:tcPr>
                </a:tc>
                <a:extLst>
                  <a:ext uri="{0D108BD9-81ED-4DB2-BD59-A6C34878D82A}">
                    <a16:rowId xmlns:a16="http://schemas.microsoft.com/office/drawing/2014/main" val="10001"/>
                  </a:ext>
                </a:extLst>
              </a:tr>
              <a:tr h="583405">
                <a:tc>
                  <a:txBody>
                    <a:bodyPr/>
                    <a:lstStyle/>
                    <a:p>
                      <a:pPr marL="0" indent="0" algn="l">
                        <a:buNone/>
                      </a:pPr>
                      <a:r>
                        <a:rPr sz="1800" b="0" dirty="0">
                          <a:solidFill>
                            <a:srgbClr val="1A1C22"/>
                          </a:solidFill>
                          <a:latin typeface="Calibri"/>
                        </a:rPr>
                        <a:t>Pham (2025) — MINA</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Mini-InceptionNet, 6.457 tham số</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INT8</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Zynq UltraScale+ — 24.685 LUT, 40 DSP</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sz="1800" b="0" dirty="0">
                          <a:solidFill>
                            <a:srgbClr val="1A1C22"/>
                          </a:solidFill>
                          <a:latin typeface="Calibri"/>
                        </a:rPr>
                        <a:t>99,37 %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3405">
                <a:tc>
                  <a:txBody>
                    <a:bodyPr/>
                    <a:lstStyle/>
                    <a:p>
                      <a:pPr marL="0" indent="0" algn="l">
                        <a:buNone/>
                      </a:pPr>
                      <a:r>
                        <a:rPr sz="1800" b="0">
                          <a:solidFill>
                            <a:srgbClr val="1A1C22"/>
                          </a:solidFill>
                          <a:latin typeface="Calibri"/>
                        </a:rPr>
                        <a:t>Tran (2026) — ECG-LDC</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Tính toán chiều thấp</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Không dùng khối nhân</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Pynq-Z2 — 8.255 LUT, 0 DSP</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sz="1800" b="0">
                          <a:solidFill>
                            <a:srgbClr val="1A1C22"/>
                          </a:solidFill>
                          <a:latin typeface="Calibri"/>
                        </a:rPr>
                        <a:t>97,18 %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3374">
                <a:tc>
                  <a:txBody>
                    <a:bodyPr/>
                    <a:lstStyle/>
                    <a:p>
                      <a:pPr marL="0" indent="0" algn="l">
                        <a:buNone/>
                      </a:pPr>
                      <a:r>
                        <a:rPr sz="1800" b="0">
                          <a:solidFill>
                            <a:srgbClr val="1A1C22"/>
                          </a:solidFill>
                          <a:latin typeface="Calibri"/>
                        </a:rPr>
                        <a:t>Rawal (2023)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1D-CNN cắt tỉa</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Số nguyên</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Zynq UltraScale — 628 mW</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sz="1800" b="0">
                          <a:solidFill>
                            <a:srgbClr val="1A1C22"/>
                          </a:solidFill>
                          <a:latin typeface="Calibri"/>
                        </a:rPr>
                        <a:t>86,37 %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4120907412"/>
                  </a:ext>
                </a:extLst>
              </a:tr>
              <a:tr h="583405">
                <a:tc>
                  <a:txBody>
                    <a:bodyPr/>
                    <a:lstStyle/>
                    <a:p>
                      <a:pPr marL="0" indent="0" algn="l">
                        <a:buNone/>
                      </a:pPr>
                      <a:r>
                        <a:rPr sz="1800" b="0">
                          <a:solidFill>
                            <a:srgbClr val="1A1C22"/>
                          </a:solidFill>
                          <a:latin typeface="Calibri"/>
                        </a:rPr>
                        <a:t>Wess (2017)</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dirty="0">
                          <a:solidFill>
                            <a:srgbClr val="1A1C22"/>
                          </a:solidFill>
                          <a:latin typeface="Calibri"/>
                        </a:rPr>
                        <a:t>MLP + PCA</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Dấu phẩy tĩnh</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Zynq-7020 — 3,6 % LUT, 14,5 % DSP</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sz="1800" b="0">
                          <a:solidFill>
                            <a:srgbClr val="1A1C22"/>
                          </a:solidFill>
                          <a:latin typeface="Calibri"/>
                        </a:rPr>
                        <a:t>99,82 %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4124112196"/>
                  </a:ext>
                </a:extLst>
              </a:tr>
              <a:tr h="583405">
                <a:tc>
                  <a:txBody>
                    <a:bodyPr/>
                    <a:lstStyle/>
                    <a:p>
                      <a:pPr marL="0" indent="0" algn="l">
                        <a:buNone/>
                      </a:pPr>
                      <a:r>
                        <a:rPr sz="1800" b="0">
                          <a:solidFill>
                            <a:srgbClr val="1A1C22"/>
                          </a:solidFill>
                          <a:latin typeface="Calibri"/>
                        </a:rPr>
                        <a:t>Srivastava (2022)</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Mạng nơ-ron xác suất</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Số nguyên</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a:solidFill>
                            <a:srgbClr val="1A1C22"/>
                          </a:solidFill>
                          <a:latin typeface="Calibri"/>
                        </a:rPr>
                        <a:t>Artix-7 — 1,5 % thanh ghi, 89 % chân</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sz="1800" b="0" dirty="0">
                          <a:solidFill>
                            <a:srgbClr val="1A1C22"/>
                          </a:solidFill>
                          <a:latin typeface="Calibri"/>
                        </a:rPr>
                        <a:t>98,27 %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501401272"/>
                  </a:ext>
                </a:extLst>
              </a:tr>
            </a:tbl>
          </a:graphicData>
        </a:graphic>
      </p:graphicFrame>
    </p:spTree>
    <p:extLst>
      <p:ext uri="{BB962C8B-B14F-4D97-AF65-F5344CB8AC3E}">
        <p14:creationId xmlns:p14="http://schemas.microsoft.com/office/powerpoint/2010/main" val="1976383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A22E90-7FEE-4297-AB76-FE6A3C0FBE5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4E032B5-1DC1-305B-A895-C4406C897D29}"/>
              </a:ext>
            </a:extLst>
          </p:cNvPr>
          <p:cNvSpPr/>
          <p:nvPr/>
        </p:nvSpPr>
        <p:spPr>
          <a:xfrm>
            <a:off x="629031" y="793242"/>
            <a:ext cx="11055096" cy="548640"/>
          </a:xfrm>
          <a:prstGeom prst="rect">
            <a:avLst/>
          </a:prstGeom>
          <a:noFill/>
          <a:ln/>
        </p:spPr>
        <p:txBody>
          <a:bodyPr wrap="square" lIns="0" tIns="0" rIns="0" bIns="0" rtlCol="0" anchor="t"/>
          <a:lstStyle/>
          <a:p>
            <a:pPr marL="0" indent="0">
              <a:buNone/>
            </a:pPr>
            <a:r>
              <a:rPr lang="en-US" sz="2700" b="1" dirty="0" err="1">
                <a:solidFill>
                  <a:srgbClr val="1A1C22"/>
                </a:solidFill>
                <a:latin typeface="Cambria" pitchFamily="34" charset="0"/>
                <a:ea typeface="Cambria" pitchFamily="34" charset="-122"/>
              </a:rPr>
              <a:t>Khảo</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sát</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các</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nghiên</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cứu</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phân</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loại</a:t>
            </a:r>
            <a:r>
              <a:rPr lang="en-US" sz="2700" b="1" dirty="0">
                <a:solidFill>
                  <a:srgbClr val="1A1C22"/>
                </a:solidFill>
                <a:latin typeface="Cambria" pitchFamily="34" charset="0"/>
                <a:ea typeface="Cambria" pitchFamily="34" charset="-122"/>
              </a:rPr>
              <a:t> ECG </a:t>
            </a:r>
            <a:r>
              <a:rPr lang="en-US" sz="2700" b="1" dirty="0" err="1">
                <a:solidFill>
                  <a:srgbClr val="1A1C22"/>
                </a:solidFill>
                <a:latin typeface="Cambria" pitchFamily="34" charset="0"/>
                <a:ea typeface="Cambria" pitchFamily="34" charset="-122"/>
              </a:rPr>
              <a:t>hiện</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có</a:t>
            </a:r>
            <a:endParaRPr lang="en-US" sz="2700" dirty="0"/>
          </a:p>
        </p:txBody>
      </p:sp>
      <p:sp>
        <p:nvSpPr>
          <p:cNvPr id="4" name="Text 2">
            <a:extLst>
              <a:ext uri="{FF2B5EF4-FFF2-40B4-BE49-F238E27FC236}">
                <a16:creationId xmlns:a16="http://schemas.microsoft.com/office/drawing/2014/main" id="{1032006B-72B8-F9B9-9494-58839F81D8AD}"/>
              </a:ext>
            </a:extLst>
          </p:cNvPr>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7</a:t>
            </a:r>
            <a:endParaRPr lang="en-US" sz="1000" dirty="0"/>
          </a:p>
        </p:txBody>
      </p:sp>
      <p:sp>
        <p:nvSpPr>
          <p:cNvPr id="26" name="Text 0">
            <a:extLst>
              <a:ext uri="{FF2B5EF4-FFF2-40B4-BE49-F238E27FC236}">
                <a16:creationId xmlns:a16="http://schemas.microsoft.com/office/drawing/2014/main" id="{1E33BE79-B58D-E5E9-3975-8F489A44DC71}"/>
              </a:ext>
            </a:extLst>
          </p:cNvPr>
          <p:cNvSpPr/>
          <p:nvPr/>
        </p:nvSpPr>
        <p:spPr>
          <a:xfrm>
            <a:off x="719328" y="4267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2 · KHOẢNG TRỐNG NGHIÊN CỨU &amp; ĐÓNG GÓP ĐỀ TÀI</a:t>
            </a:r>
            <a:endParaRPr lang="en-US" sz="2000" dirty="0"/>
          </a:p>
        </p:txBody>
      </p:sp>
      <p:graphicFrame>
        <p:nvGraphicFramePr>
          <p:cNvPr id="28" name="Table 0">
            <a:extLst>
              <a:ext uri="{FF2B5EF4-FFF2-40B4-BE49-F238E27FC236}">
                <a16:creationId xmlns:a16="http://schemas.microsoft.com/office/drawing/2014/main" id="{FAE034DD-7C1F-8D43-AC5A-AB2CB1276BCD}"/>
              </a:ext>
            </a:extLst>
          </p:cNvPr>
          <p:cNvGraphicFramePr>
            <a:graphicFrameLocks noGrp="1"/>
          </p:cNvGraphicFramePr>
          <p:nvPr/>
        </p:nvGraphicFramePr>
        <p:xfrm>
          <a:off x="1331976" y="1544955"/>
          <a:ext cx="8849516" cy="3261360"/>
        </p:xfrm>
        <a:graphic>
          <a:graphicData uri="http://schemas.openxmlformats.org/drawingml/2006/table">
            <a:tbl>
              <a:tblPr/>
              <a:tblGrid>
                <a:gridCol w="2808847">
                  <a:extLst>
                    <a:ext uri="{9D8B030D-6E8A-4147-A177-3AD203B41FA5}">
                      <a16:colId xmlns:a16="http://schemas.microsoft.com/office/drawing/2014/main" val="20000"/>
                    </a:ext>
                  </a:extLst>
                </a:gridCol>
                <a:gridCol w="4626677">
                  <a:extLst>
                    <a:ext uri="{9D8B030D-6E8A-4147-A177-3AD203B41FA5}">
                      <a16:colId xmlns:a16="http://schemas.microsoft.com/office/drawing/2014/main" val="20001"/>
                    </a:ext>
                  </a:extLst>
                </a:gridCol>
                <a:gridCol w="1413992">
                  <a:extLst>
                    <a:ext uri="{9D8B030D-6E8A-4147-A177-3AD203B41FA5}">
                      <a16:colId xmlns:a16="http://schemas.microsoft.com/office/drawing/2014/main" val="3684773502"/>
                    </a:ext>
                  </a:extLst>
                </a:gridCol>
              </a:tblGrid>
              <a:tr h="366932">
                <a:tc>
                  <a:txBody>
                    <a:bodyPr/>
                    <a:lstStyle/>
                    <a:p>
                      <a:pPr marL="0" indent="0" algn="ctr">
                        <a:buNone/>
                      </a:pPr>
                      <a:r>
                        <a:rPr sz="2000" b="1" dirty="0">
                          <a:solidFill>
                            <a:srgbClr val="FFFFFF"/>
                          </a:solidFill>
                          <a:latin typeface="Calibri"/>
                        </a:rPr>
                        <a:t>Công </a:t>
                      </a:r>
                      <a:r>
                        <a:rPr sz="2000" b="1" dirty="0" err="1">
                          <a:solidFill>
                            <a:srgbClr val="FFFFFF"/>
                          </a:solidFill>
                          <a:latin typeface="Calibri"/>
                        </a:rPr>
                        <a:t>trình</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sz="2000" b="1" dirty="0" err="1">
                          <a:solidFill>
                            <a:srgbClr val="FFFFFF"/>
                          </a:solidFill>
                          <a:latin typeface="Calibri"/>
                        </a:rPr>
                        <a:t>Mô</a:t>
                      </a:r>
                      <a:r>
                        <a:rPr sz="2000" b="1" dirty="0">
                          <a:solidFill>
                            <a:srgbClr val="FFFFFF"/>
                          </a:solidFill>
                          <a:latin typeface="Calibri"/>
                        </a:rPr>
                        <a:t> </a:t>
                      </a:r>
                      <a:r>
                        <a:rPr sz="2000" b="1" dirty="0" err="1">
                          <a:solidFill>
                            <a:srgbClr val="FFFFFF"/>
                          </a:solidFill>
                          <a:latin typeface="Calibri"/>
                        </a:rPr>
                        <a:t>hình</a:t>
                      </a:r>
                      <a:endParaRPr lang="en-US" sz="20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tc>
                  <a:txBody>
                    <a:bodyPr/>
                    <a:lstStyle/>
                    <a:p>
                      <a:pPr marL="0" indent="0" algn="ctr">
                        <a:buNone/>
                      </a:pPr>
                      <a:r>
                        <a:rPr sz="2000" b="1" dirty="0" err="1">
                          <a:solidFill>
                            <a:srgbClr val="FFFFFF"/>
                          </a:solidFill>
                          <a:latin typeface="Calibri"/>
                        </a:rPr>
                        <a:t>Độ</a:t>
                      </a:r>
                      <a:r>
                        <a:rPr sz="2000" b="1" dirty="0">
                          <a:solidFill>
                            <a:srgbClr val="FFFFFF"/>
                          </a:solidFill>
                          <a:latin typeface="Calibri"/>
                        </a:rPr>
                        <a:t> </a:t>
                      </a:r>
                      <a:r>
                        <a:rPr sz="2000" b="1" dirty="0" err="1">
                          <a:solidFill>
                            <a:srgbClr val="FFFFFF"/>
                          </a:solidFill>
                          <a:latin typeface="Calibri"/>
                        </a:rPr>
                        <a:t>chính</a:t>
                      </a:r>
                      <a:r>
                        <a:rPr sz="2000" b="1" dirty="0">
                          <a:solidFill>
                            <a:srgbClr val="FFFFFF"/>
                          </a:solidFill>
                          <a:latin typeface="Calibri"/>
                        </a:rPr>
                        <a:t> </a:t>
                      </a:r>
                      <a:r>
                        <a:rPr sz="2000" b="1" dirty="0" err="1">
                          <a:solidFill>
                            <a:srgbClr val="FFFFFF"/>
                          </a:solidFill>
                          <a:latin typeface="Calibri"/>
                        </a:rPr>
                        <a:t>xác</a:t>
                      </a:r>
                      <a:endParaRPr lang="en-US" sz="2000" b="1" dirty="0">
                        <a:solidFill>
                          <a:schemeClr val="bg1"/>
                        </a:solidFill>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375138">
                <a:tc>
                  <a:txBody>
                    <a:bodyPr/>
                    <a:lstStyle/>
                    <a:p>
                      <a:pPr marL="0" indent="0" algn="l">
                        <a:buNone/>
                      </a:pPr>
                      <a:r>
                        <a:rPr sz="1800" b="0" dirty="0">
                          <a:solidFill>
                            <a:srgbClr val="1A1C22"/>
                          </a:solidFill>
                          <a:latin typeface="Calibri"/>
                        </a:rPr>
                        <a:t>Zheng (2020) — </a:t>
                      </a:r>
                      <a:r>
                        <a:rPr sz="1800" b="0" dirty="0" err="1">
                          <a:solidFill>
                            <a:srgbClr val="1A1C22"/>
                          </a:solidFill>
                          <a:latin typeface="Calibri"/>
                        </a:rPr>
                        <a:t>tác</a:t>
                      </a:r>
                      <a:r>
                        <a:rPr sz="1800" b="0" dirty="0">
                          <a:solidFill>
                            <a:srgbClr val="1A1C22"/>
                          </a:solidFill>
                          <a:latin typeface="Calibri"/>
                        </a:rPr>
                        <a:t> </a:t>
                      </a:r>
                      <a:r>
                        <a:rPr sz="1800" b="0" dirty="0" err="1">
                          <a:solidFill>
                            <a:srgbClr val="1A1C22"/>
                          </a:solidFill>
                          <a:latin typeface="Calibri"/>
                        </a:rPr>
                        <a:t>giả</a:t>
                      </a:r>
                      <a:r>
                        <a:rPr sz="1800" b="0" dirty="0">
                          <a:solidFill>
                            <a:srgbClr val="1A1C22"/>
                          </a:solidFill>
                          <a:latin typeface="Calibri"/>
                        </a:rPr>
                        <a:t> </a:t>
                      </a:r>
                      <a:r>
                        <a:rPr sz="1800" b="0" dirty="0" err="1">
                          <a:solidFill>
                            <a:srgbClr val="1A1C22"/>
                          </a:solidFill>
                          <a:latin typeface="Calibri"/>
                        </a:rPr>
                        <a:t>tập</a:t>
                      </a:r>
                      <a:r>
                        <a:rPr sz="1800" b="0" dirty="0">
                          <a:solidFill>
                            <a:srgbClr val="1A1C22"/>
                          </a:solidFill>
                          <a:latin typeface="Calibri"/>
                        </a:rPr>
                        <a:t> Chapman</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dirty="0" err="1">
                          <a:solidFill>
                            <a:srgbClr val="1A1C22"/>
                          </a:solidFill>
                          <a:latin typeface="Calibri"/>
                        </a:rPr>
                        <a:t>XGBoost</a:t>
                      </a:r>
                      <a:r>
                        <a:rPr sz="1800" b="0" dirty="0">
                          <a:solidFill>
                            <a:srgbClr val="1A1C22"/>
                          </a:solidFill>
                          <a:latin typeface="Calibri"/>
                        </a:rPr>
                        <a:t> </a:t>
                      </a:r>
                      <a:r>
                        <a:rPr sz="1800" b="0" dirty="0" err="1">
                          <a:solidFill>
                            <a:srgbClr val="1A1C22"/>
                          </a:solidFill>
                          <a:latin typeface="Calibri"/>
                        </a:rPr>
                        <a:t>trên</a:t>
                      </a:r>
                      <a:r>
                        <a:rPr sz="1800" b="0" dirty="0">
                          <a:solidFill>
                            <a:srgbClr val="1A1C22"/>
                          </a:solidFill>
                          <a:latin typeface="Calibri"/>
                        </a:rPr>
                        <a:t> </a:t>
                      </a:r>
                      <a:r>
                        <a:rPr sz="1800" b="0" dirty="0" err="1">
                          <a:solidFill>
                            <a:srgbClr val="1A1C22"/>
                          </a:solidFill>
                          <a:latin typeface="Calibri"/>
                        </a:rPr>
                        <a:t>đặc</a:t>
                      </a:r>
                      <a:r>
                        <a:rPr sz="1800" b="0" dirty="0">
                          <a:solidFill>
                            <a:srgbClr val="1A1C22"/>
                          </a:solidFill>
                          <a:latin typeface="Calibri"/>
                        </a:rPr>
                        <a:t> </a:t>
                      </a:r>
                      <a:r>
                        <a:rPr sz="1800" b="0" dirty="0" err="1">
                          <a:solidFill>
                            <a:srgbClr val="1A1C22"/>
                          </a:solidFill>
                          <a:latin typeface="Calibri"/>
                        </a:rPr>
                        <a:t>trưng</a:t>
                      </a:r>
                      <a:r>
                        <a:rPr sz="1800" b="0" dirty="0">
                          <a:solidFill>
                            <a:srgbClr val="1A1C22"/>
                          </a:solidFill>
                          <a:latin typeface="Calibri"/>
                        </a:rPr>
                        <a:t> </a:t>
                      </a:r>
                      <a:r>
                        <a:rPr sz="1800" b="0" dirty="0" err="1">
                          <a:solidFill>
                            <a:srgbClr val="1A1C22"/>
                          </a:solidFill>
                          <a:latin typeface="Calibri"/>
                        </a:rPr>
                        <a:t>trích</a:t>
                      </a:r>
                      <a:r>
                        <a:rPr sz="1800" b="0" dirty="0">
                          <a:solidFill>
                            <a:srgbClr val="1A1C22"/>
                          </a:solidFill>
                          <a:latin typeface="Calibri"/>
                        </a:rPr>
                        <a:t> </a:t>
                      </a:r>
                      <a:r>
                        <a:rPr sz="1800" b="0" dirty="0" err="1">
                          <a:solidFill>
                            <a:srgbClr val="1A1C22"/>
                          </a:solidFill>
                          <a:latin typeface="Calibri"/>
                        </a:rPr>
                        <a:t>tay</a:t>
                      </a:r>
                      <a:r>
                        <a:rPr sz="1800" b="0" dirty="0">
                          <a:solidFill>
                            <a:srgbClr val="1A1C22"/>
                          </a:solidFill>
                          <a:latin typeface="Calibri"/>
                        </a:rPr>
                        <a:t> 12 </a:t>
                      </a:r>
                      <a:r>
                        <a:rPr sz="1800" b="0" dirty="0" err="1">
                          <a:solidFill>
                            <a:srgbClr val="1A1C22"/>
                          </a:solidFill>
                          <a:latin typeface="Calibri"/>
                        </a:rPr>
                        <a:t>chuyển</a:t>
                      </a:r>
                      <a:r>
                        <a:rPr sz="1800" b="0" dirty="0">
                          <a:solidFill>
                            <a:srgbClr val="1A1C22"/>
                          </a:solidFill>
                          <a:latin typeface="Calibri"/>
                        </a:rPr>
                        <a:t> </a:t>
                      </a:r>
                      <a:r>
                        <a:rPr sz="1800" b="0" dirty="0" err="1">
                          <a:solidFill>
                            <a:srgbClr val="1A1C22"/>
                          </a:solidFill>
                          <a:latin typeface="Calibri"/>
                        </a:rPr>
                        <a:t>đạo</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sz="1800" b="0" dirty="0">
                          <a:solidFill>
                            <a:srgbClr val="1A1C22"/>
                          </a:solidFill>
                          <a:latin typeface="Calibri"/>
                        </a:rPr>
                        <a:t>F1 0,97</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5503">
                <a:tc>
                  <a:txBody>
                    <a:bodyPr/>
                    <a:lstStyle/>
                    <a:p>
                      <a:pPr marL="0" indent="0" algn="l">
                        <a:buNone/>
                      </a:pPr>
                      <a:r>
                        <a:rPr sz="1800" b="0">
                          <a:solidFill>
                            <a:srgbClr val="1A1C22"/>
                          </a:solidFill>
                          <a:latin typeface="Calibri"/>
                        </a:rPr>
                        <a:t>Le (2023) — LightX3ECG</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dirty="0">
                          <a:solidFill>
                            <a:srgbClr val="1A1C22"/>
                          </a:solidFill>
                          <a:latin typeface="Calibri"/>
                        </a:rPr>
                        <a:t>1D-SEResNet </a:t>
                      </a:r>
                      <a:r>
                        <a:rPr sz="1800" b="0" dirty="0" err="1">
                          <a:solidFill>
                            <a:srgbClr val="1A1C22"/>
                          </a:solidFill>
                          <a:latin typeface="Calibri"/>
                        </a:rPr>
                        <a:t>cắt</a:t>
                      </a:r>
                      <a:r>
                        <a:rPr sz="1800" b="0" dirty="0">
                          <a:solidFill>
                            <a:srgbClr val="1A1C22"/>
                          </a:solidFill>
                          <a:latin typeface="Calibri"/>
                        </a:rPr>
                        <a:t> </a:t>
                      </a:r>
                      <a:r>
                        <a:rPr sz="1800" b="0" dirty="0" err="1">
                          <a:solidFill>
                            <a:srgbClr val="1A1C22"/>
                          </a:solidFill>
                          <a:latin typeface="Calibri"/>
                        </a:rPr>
                        <a:t>tỉa</a:t>
                      </a:r>
                      <a:r>
                        <a:rPr sz="1800" b="0" dirty="0">
                          <a:solidFill>
                            <a:srgbClr val="1A1C22"/>
                          </a:solidFill>
                          <a:latin typeface="Calibri"/>
                        </a:rPr>
                        <a:t> 80 % </a:t>
                      </a:r>
                      <a:r>
                        <a:rPr lang="en-US" sz="1800" b="0" dirty="0">
                          <a:solidFill>
                            <a:srgbClr val="1A1C22"/>
                          </a:solidFill>
                          <a:latin typeface="Calibri"/>
                        </a:rPr>
                        <a:t>, </a:t>
                      </a:r>
                      <a:r>
                        <a:rPr sz="1800" b="1" dirty="0">
                          <a:solidFill>
                            <a:srgbClr val="1A1C22"/>
                          </a:solidFill>
                          <a:latin typeface="Calibri"/>
                        </a:rPr>
                        <a:t>5,31 </a:t>
                      </a:r>
                      <a:r>
                        <a:rPr sz="1800" b="1" dirty="0" err="1">
                          <a:solidFill>
                            <a:srgbClr val="1A1C22"/>
                          </a:solidFill>
                          <a:latin typeface="Calibri"/>
                        </a:rPr>
                        <a:t>triệu</a:t>
                      </a:r>
                      <a:r>
                        <a:rPr sz="1800" b="0" dirty="0">
                          <a:solidFill>
                            <a:srgbClr val="1A1C22"/>
                          </a:solidFill>
                          <a:latin typeface="Calibri"/>
                        </a:rPr>
                        <a:t> </a:t>
                      </a:r>
                      <a:r>
                        <a:rPr sz="1800" b="0" dirty="0" err="1">
                          <a:solidFill>
                            <a:srgbClr val="1A1C22"/>
                          </a:solidFill>
                          <a:latin typeface="Calibri"/>
                        </a:rPr>
                        <a:t>tham</a:t>
                      </a:r>
                      <a:r>
                        <a:rPr sz="1800" b="0" dirty="0">
                          <a:solidFill>
                            <a:srgbClr val="1A1C22"/>
                          </a:solidFill>
                          <a:latin typeface="Calibri"/>
                        </a:rPr>
                        <a:t> </a:t>
                      </a:r>
                      <a:r>
                        <a:rPr sz="1800" b="0" dirty="0" err="1">
                          <a:solidFill>
                            <a:srgbClr val="1A1C22"/>
                          </a:solidFill>
                          <a:latin typeface="Calibri"/>
                        </a:rPr>
                        <a:t>số</a:t>
                      </a:r>
                      <a:r>
                        <a:rPr sz="1800" b="0" dirty="0">
                          <a:solidFill>
                            <a:srgbClr val="1A1C22"/>
                          </a:solidFill>
                          <a:latin typeface="Calibri"/>
                        </a:rPr>
                        <a:t>, 3 </a:t>
                      </a:r>
                      <a:r>
                        <a:rPr sz="1800" b="0" dirty="0" err="1">
                          <a:solidFill>
                            <a:srgbClr val="1A1C22"/>
                          </a:solidFill>
                          <a:latin typeface="Calibri"/>
                        </a:rPr>
                        <a:t>chuyển</a:t>
                      </a:r>
                      <a:r>
                        <a:rPr sz="1800" b="0" dirty="0">
                          <a:solidFill>
                            <a:srgbClr val="1A1C22"/>
                          </a:solidFill>
                          <a:latin typeface="Calibri"/>
                        </a:rPr>
                        <a:t> </a:t>
                      </a:r>
                      <a:r>
                        <a:rPr sz="1800" b="0" dirty="0" err="1">
                          <a:solidFill>
                            <a:srgbClr val="1A1C22"/>
                          </a:solidFill>
                          <a:latin typeface="Calibri"/>
                        </a:rPr>
                        <a:t>đạo</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sz="1800" b="0" dirty="0">
                          <a:solidFill>
                            <a:srgbClr val="1A1C22"/>
                          </a:solidFill>
                          <a:latin typeface="Calibri"/>
                        </a:rPr>
                        <a:t>98,73 %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5503">
                <a:tc>
                  <a:txBody>
                    <a:bodyPr/>
                    <a:lstStyle/>
                    <a:p>
                      <a:pPr marL="0" indent="0" algn="l">
                        <a:buNone/>
                      </a:pPr>
                      <a:r>
                        <a:rPr sz="1800" b="0">
                          <a:solidFill>
                            <a:srgbClr val="1A1C22"/>
                          </a:solidFill>
                          <a:latin typeface="Calibri"/>
                        </a:rPr>
                        <a:t>Bimodal CNN (2023)</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dirty="0">
                          <a:solidFill>
                            <a:srgbClr val="1A1C22"/>
                          </a:solidFill>
                          <a:latin typeface="Calibri"/>
                        </a:rPr>
                        <a:t>Inception-v3 </a:t>
                      </a:r>
                      <a:r>
                        <a:rPr sz="1800" b="0" dirty="0" err="1">
                          <a:solidFill>
                            <a:srgbClr val="1A1C22"/>
                          </a:solidFill>
                          <a:latin typeface="Calibri"/>
                        </a:rPr>
                        <a:t>hai</a:t>
                      </a:r>
                      <a:r>
                        <a:rPr sz="1800" b="0" dirty="0">
                          <a:solidFill>
                            <a:srgbClr val="1A1C22"/>
                          </a:solidFill>
                          <a:latin typeface="Calibri"/>
                        </a:rPr>
                        <a:t> </a:t>
                      </a:r>
                      <a:r>
                        <a:rPr sz="1800" b="0" dirty="0" err="1">
                          <a:solidFill>
                            <a:srgbClr val="1A1C22"/>
                          </a:solidFill>
                          <a:latin typeface="Calibri"/>
                        </a:rPr>
                        <a:t>nhánh</a:t>
                      </a:r>
                      <a:r>
                        <a:rPr sz="1800" b="0" dirty="0">
                          <a:solidFill>
                            <a:srgbClr val="1A1C22"/>
                          </a:solidFill>
                          <a:latin typeface="Calibri"/>
                        </a:rPr>
                        <a:t> </a:t>
                      </a:r>
                      <a:r>
                        <a:rPr sz="1800" b="0" dirty="0" err="1">
                          <a:solidFill>
                            <a:srgbClr val="1A1C22"/>
                          </a:solidFill>
                          <a:latin typeface="Calibri"/>
                        </a:rPr>
                        <a:t>ảnh</a:t>
                      </a:r>
                      <a:r>
                        <a:rPr sz="1800" b="0" dirty="0">
                          <a:solidFill>
                            <a:srgbClr val="1A1C22"/>
                          </a:solidFill>
                          <a:latin typeface="Calibri"/>
                        </a:rPr>
                        <a:t> </a:t>
                      </a:r>
                      <a:r>
                        <a:rPr lang="en-US" sz="1800" b="0" dirty="0">
                          <a:solidFill>
                            <a:srgbClr val="1A1C22"/>
                          </a:solidFill>
                          <a:latin typeface="Calibri"/>
                        </a:rPr>
                        <a:t>,</a:t>
                      </a:r>
                      <a:r>
                        <a:rPr sz="1800" b="1" dirty="0">
                          <a:solidFill>
                            <a:srgbClr val="1A1C22"/>
                          </a:solidFill>
                          <a:latin typeface="Calibri"/>
                        </a:rPr>
                        <a:t>~23 </a:t>
                      </a:r>
                      <a:r>
                        <a:rPr sz="1800" b="1" dirty="0" err="1">
                          <a:solidFill>
                            <a:srgbClr val="1A1C22"/>
                          </a:solidFill>
                          <a:latin typeface="Calibri"/>
                        </a:rPr>
                        <a:t>triệu</a:t>
                      </a:r>
                      <a:r>
                        <a:rPr sz="1800" b="0" dirty="0">
                          <a:solidFill>
                            <a:srgbClr val="1A1C22"/>
                          </a:solidFill>
                          <a:latin typeface="Calibri"/>
                        </a:rPr>
                        <a:t> </a:t>
                      </a:r>
                      <a:r>
                        <a:rPr sz="1800" b="0" dirty="0" err="1">
                          <a:solidFill>
                            <a:srgbClr val="1A1C22"/>
                          </a:solidFill>
                          <a:latin typeface="Calibri"/>
                        </a:rPr>
                        <a:t>tham</a:t>
                      </a:r>
                      <a:r>
                        <a:rPr sz="1800" b="0" dirty="0">
                          <a:solidFill>
                            <a:srgbClr val="1A1C22"/>
                          </a:solidFill>
                          <a:latin typeface="Calibri"/>
                        </a:rPr>
                        <a:t> </a:t>
                      </a:r>
                      <a:r>
                        <a:rPr sz="1800" b="0" dirty="0" err="1">
                          <a:solidFill>
                            <a:srgbClr val="1A1C22"/>
                          </a:solidFill>
                          <a:latin typeface="Calibri"/>
                        </a:rPr>
                        <a:t>số</a:t>
                      </a:r>
                      <a:r>
                        <a:rPr sz="1800" b="0" dirty="0">
                          <a:solidFill>
                            <a:srgbClr val="1A1C22"/>
                          </a:solidFill>
                          <a:latin typeface="Calibri"/>
                        </a:rPr>
                        <a:t>, 12 </a:t>
                      </a:r>
                      <a:r>
                        <a:rPr sz="1800" b="0" dirty="0" err="1">
                          <a:solidFill>
                            <a:srgbClr val="1A1C22"/>
                          </a:solidFill>
                          <a:latin typeface="Calibri"/>
                        </a:rPr>
                        <a:t>chuyển</a:t>
                      </a:r>
                      <a:r>
                        <a:rPr sz="1800" b="0" dirty="0">
                          <a:solidFill>
                            <a:srgbClr val="1A1C22"/>
                          </a:solidFill>
                          <a:latin typeface="Calibri"/>
                        </a:rPr>
                        <a:t> </a:t>
                      </a:r>
                      <a:r>
                        <a:rPr sz="1800" b="0" dirty="0" err="1">
                          <a:solidFill>
                            <a:srgbClr val="1A1C22"/>
                          </a:solidFill>
                          <a:latin typeface="Calibri"/>
                        </a:rPr>
                        <a:t>đạo</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sz="1800" b="0" dirty="0">
                          <a:solidFill>
                            <a:srgbClr val="1A1C22"/>
                          </a:solidFill>
                          <a:latin typeface="Calibri"/>
                        </a:rPr>
                        <a:t>95,08 %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5503">
                <a:tc>
                  <a:txBody>
                    <a:bodyPr/>
                    <a:lstStyle/>
                    <a:p>
                      <a:pPr marL="0" indent="0" algn="l">
                        <a:buNone/>
                      </a:pPr>
                      <a:r>
                        <a:rPr sz="1800" b="0">
                          <a:solidFill>
                            <a:srgbClr val="1A1C22"/>
                          </a:solidFill>
                          <a:latin typeface="Calibri"/>
                        </a:rPr>
                        <a:t>CardioPatternFormer (2025)</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l">
                        <a:buNone/>
                      </a:pPr>
                      <a:r>
                        <a:rPr sz="1800" b="0" dirty="0">
                          <a:solidFill>
                            <a:srgbClr val="1A1C22"/>
                          </a:solidFill>
                          <a:latin typeface="Calibri"/>
                        </a:rPr>
                        <a:t>Transformer 4 </a:t>
                      </a:r>
                      <a:r>
                        <a:rPr sz="1800" b="0" dirty="0" err="1">
                          <a:solidFill>
                            <a:srgbClr val="1A1C22"/>
                          </a:solidFill>
                          <a:latin typeface="Calibri"/>
                        </a:rPr>
                        <a:t>tầng</a:t>
                      </a:r>
                      <a:r>
                        <a:rPr sz="1800" b="0" dirty="0">
                          <a:solidFill>
                            <a:srgbClr val="1A1C22"/>
                          </a:solidFill>
                          <a:latin typeface="Calibri"/>
                        </a:rPr>
                        <a:t> </a:t>
                      </a:r>
                      <a:r>
                        <a:rPr sz="1800" b="0" dirty="0" err="1">
                          <a:solidFill>
                            <a:srgbClr val="1A1C22"/>
                          </a:solidFill>
                          <a:latin typeface="Calibri"/>
                        </a:rPr>
                        <a:t>mã</a:t>
                      </a:r>
                      <a:r>
                        <a:rPr sz="1800" b="0" dirty="0">
                          <a:solidFill>
                            <a:srgbClr val="1A1C22"/>
                          </a:solidFill>
                          <a:latin typeface="Calibri"/>
                        </a:rPr>
                        <a:t> </a:t>
                      </a:r>
                      <a:r>
                        <a:rPr sz="1800" b="0" dirty="0" err="1">
                          <a:solidFill>
                            <a:srgbClr val="1A1C22"/>
                          </a:solidFill>
                          <a:latin typeface="Calibri"/>
                        </a:rPr>
                        <a:t>hoá</a:t>
                      </a:r>
                      <a:r>
                        <a:rPr sz="1800" b="0" dirty="0">
                          <a:solidFill>
                            <a:srgbClr val="1A1C22"/>
                          </a:solidFill>
                          <a:latin typeface="Calibri"/>
                        </a:rPr>
                        <a:t> </a:t>
                      </a:r>
                      <a:r>
                        <a:rPr lang="en-US" sz="1800" b="0" dirty="0">
                          <a:solidFill>
                            <a:srgbClr val="1A1C22"/>
                          </a:solidFill>
                          <a:latin typeface="Calibri"/>
                        </a:rPr>
                        <a:t>,</a:t>
                      </a:r>
                      <a:r>
                        <a:rPr sz="1800" b="1" dirty="0">
                          <a:solidFill>
                            <a:srgbClr val="1A1C22"/>
                          </a:solidFill>
                          <a:latin typeface="Calibri"/>
                        </a:rPr>
                        <a:t>~3–4 </a:t>
                      </a:r>
                      <a:r>
                        <a:rPr sz="1800" b="1" dirty="0" err="1">
                          <a:solidFill>
                            <a:srgbClr val="1A1C22"/>
                          </a:solidFill>
                          <a:latin typeface="Calibri"/>
                        </a:rPr>
                        <a:t>triệu</a:t>
                      </a:r>
                      <a:r>
                        <a:rPr sz="1800" b="0" dirty="0">
                          <a:solidFill>
                            <a:srgbClr val="1A1C22"/>
                          </a:solidFill>
                          <a:latin typeface="Calibri"/>
                        </a:rPr>
                        <a:t> </a:t>
                      </a:r>
                      <a:r>
                        <a:rPr sz="1800" b="0" dirty="0" err="1">
                          <a:solidFill>
                            <a:srgbClr val="1A1C22"/>
                          </a:solidFill>
                          <a:latin typeface="Calibri"/>
                        </a:rPr>
                        <a:t>tham</a:t>
                      </a:r>
                      <a:r>
                        <a:rPr sz="1800" b="0" dirty="0">
                          <a:solidFill>
                            <a:srgbClr val="1A1C22"/>
                          </a:solidFill>
                          <a:latin typeface="Calibri"/>
                        </a:rPr>
                        <a:t> </a:t>
                      </a:r>
                      <a:r>
                        <a:rPr sz="1800" b="0" dirty="0" err="1">
                          <a:solidFill>
                            <a:srgbClr val="1A1C22"/>
                          </a:solidFill>
                          <a:latin typeface="Calibri"/>
                        </a:rPr>
                        <a:t>số</a:t>
                      </a:r>
                      <a:r>
                        <a:rPr sz="1800" b="0" dirty="0">
                          <a:solidFill>
                            <a:srgbClr val="1A1C22"/>
                          </a:solidFill>
                          <a:latin typeface="Calibri"/>
                        </a:rPr>
                        <a:t>, 12 </a:t>
                      </a:r>
                      <a:r>
                        <a:rPr sz="1800" b="0" dirty="0" err="1">
                          <a:solidFill>
                            <a:srgbClr val="1A1C22"/>
                          </a:solidFill>
                          <a:latin typeface="Calibri"/>
                        </a:rPr>
                        <a:t>chuyển</a:t>
                      </a:r>
                      <a:r>
                        <a:rPr sz="1800" b="0" dirty="0">
                          <a:solidFill>
                            <a:srgbClr val="1A1C22"/>
                          </a:solidFill>
                          <a:latin typeface="Calibri"/>
                        </a:rPr>
                        <a:t> </a:t>
                      </a:r>
                      <a:r>
                        <a:rPr sz="1800" b="0" dirty="0" err="1">
                          <a:solidFill>
                            <a:srgbClr val="1A1C22"/>
                          </a:solidFill>
                          <a:latin typeface="Calibri"/>
                        </a:rPr>
                        <a:t>đạo</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tc>
                  <a:txBody>
                    <a:bodyPr/>
                    <a:lstStyle/>
                    <a:p>
                      <a:pPr marL="0" indent="0" algn="ctr">
                        <a:buNone/>
                      </a:pPr>
                      <a:r>
                        <a:rPr sz="1800" b="0" dirty="0">
                          <a:solidFill>
                            <a:srgbClr val="1A1C22"/>
                          </a:solidFill>
                          <a:latin typeface="Calibri"/>
                        </a:rPr>
                        <a:t>91,84 %</a:t>
                      </a:r>
                      <a:endParaRPr lang="en-US" sz="1800" dirty="0">
                        <a:latin typeface="Calibri" charset="0"/>
                        <a:ea typeface="Calibri" charset="0"/>
                        <a:cs typeface="Calibri" charset="0"/>
                      </a:endParaRPr>
                    </a:p>
                  </a:txBody>
                  <a:tcPr anchor="ctr">
                    <a:lnL w="6350" cap="flat" cmpd="sng" algn="ctr">
                      <a:solidFill>
                        <a:srgbClr val="E3D9D9"/>
                      </a:solidFill>
                      <a:prstDash val="solid"/>
                      <a:round/>
                      <a:headEnd type="none" w="med" len="med"/>
                      <a:tailEnd type="none" w="med" len="med"/>
                    </a:lnL>
                    <a:lnR w="6350" cap="flat" cmpd="sng" algn="ctr">
                      <a:solidFill>
                        <a:srgbClr val="E3D9D9"/>
                      </a:solidFill>
                      <a:prstDash val="solid"/>
                      <a:round/>
                      <a:headEnd type="none" w="med" len="med"/>
                      <a:tailEnd type="none" w="med" len="med"/>
                    </a:lnR>
                    <a:lnT w="6350" cap="flat" cmpd="sng" algn="ctr">
                      <a:solidFill>
                        <a:srgbClr val="E3D9D9"/>
                      </a:solidFill>
                      <a:prstDash val="solid"/>
                      <a:round/>
                      <a:headEnd type="none" w="med" len="med"/>
                      <a:tailEnd type="none" w="med" len="med"/>
                    </a:lnT>
                    <a:lnB w="6350" cap="flat" cmpd="sng" algn="ctr">
                      <a:solidFill>
                        <a:srgbClr val="E3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83947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F02603-8C15-1CE9-4901-7A7DE546C58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A19FF94-8FAC-0C66-F27B-B48A67B1622A}"/>
              </a:ext>
            </a:extLst>
          </p:cNvPr>
          <p:cNvSpPr/>
          <p:nvPr/>
        </p:nvSpPr>
        <p:spPr>
          <a:xfrm>
            <a:off x="629031" y="793242"/>
            <a:ext cx="11055096" cy="548640"/>
          </a:xfrm>
          <a:prstGeom prst="rect">
            <a:avLst/>
          </a:prstGeom>
          <a:noFill/>
          <a:ln/>
        </p:spPr>
        <p:txBody>
          <a:bodyPr wrap="square" lIns="0" tIns="0" rIns="0" bIns="0" rtlCol="0" anchor="t"/>
          <a:lstStyle/>
          <a:p>
            <a:pPr marL="0" indent="0">
              <a:buNone/>
            </a:pPr>
            <a:r>
              <a:rPr lang="en-US" sz="2700" b="1" dirty="0" err="1">
                <a:solidFill>
                  <a:srgbClr val="1A1C22"/>
                </a:solidFill>
                <a:latin typeface="Cambria" pitchFamily="34" charset="0"/>
                <a:ea typeface="Cambria" pitchFamily="34" charset="-122"/>
              </a:rPr>
              <a:t>Nhận</a:t>
            </a:r>
            <a:r>
              <a:rPr lang="en-US" sz="2700" b="1" dirty="0">
                <a:solidFill>
                  <a:srgbClr val="1A1C22"/>
                </a:solidFill>
                <a:latin typeface="Cambria" pitchFamily="34" charset="0"/>
                <a:ea typeface="Cambria" pitchFamily="34" charset="-122"/>
              </a:rPr>
              <a:t> </a:t>
            </a:r>
            <a:r>
              <a:rPr lang="en-US" sz="2700" b="1" dirty="0" err="1">
                <a:solidFill>
                  <a:srgbClr val="1A1C22"/>
                </a:solidFill>
                <a:latin typeface="Cambria" pitchFamily="34" charset="0"/>
                <a:ea typeface="Cambria" pitchFamily="34" charset="-122"/>
              </a:rPr>
              <a:t>xét</a:t>
            </a:r>
            <a:r>
              <a:rPr lang="en-US" sz="2700" b="1" dirty="0">
                <a:solidFill>
                  <a:srgbClr val="1A1C22"/>
                </a:solidFill>
                <a:latin typeface="Cambria" pitchFamily="34" charset="0"/>
                <a:ea typeface="Cambria" pitchFamily="34" charset="-122"/>
              </a:rPr>
              <a:t> </a:t>
            </a:r>
            <a:endParaRPr lang="en-US" sz="2700" dirty="0"/>
          </a:p>
        </p:txBody>
      </p:sp>
      <p:sp>
        <p:nvSpPr>
          <p:cNvPr id="4" name="Text 2">
            <a:extLst>
              <a:ext uri="{FF2B5EF4-FFF2-40B4-BE49-F238E27FC236}">
                <a16:creationId xmlns:a16="http://schemas.microsoft.com/office/drawing/2014/main" id="{CA83EFBE-5648-D3BE-F2AE-867288049CDB}"/>
              </a:ext>
            </a:extLst>
          </p:cNvPr>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8</a:t>
            </a:r>
            <a:endParaRPr lang="en-US" sz="1000" dirty="0"/>
          </a:p>
        </p:txBody>
      </p:sp>
      <p:sp>
        <p:nvSpPr>
          <p:cNvPr id="26" name="Text 0">
            <a:extLst>
              <a:ext uri="{FF2B5EF4-FFF2-40B4-BE49-F238E27FC236}">
                <a16:creationId xmlns:a16="http://schemas.microsoft.com/office/drawing/2014/main" id="{6A5C8ED9-D340-5E80-6720-3515BB756C24}"/>
              </a:ext>
            </a:extLst>
          </p:cNvPr>
          <p:cNvSpPr/>
          <p:nvPr/>
        </p:nvSpPr>
        <p:spPr>
          <a:xfrm>
            <a:off x="719328" y="4267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2 · KHOẢNG TRỐNG NGHIÊN CỨU &amp; ĐÓNG GÓP ĐỀ TÀI</a:t>
            </a:r>
            <a:endParaRPr lang="en-US" sz="2000" dirty="0"/>
          </a:p>
        </p:txBody>
      </p:sp>
      <p:sp>
        <p:nvSpPr>
          <p:cNvPr id="28" name="TextBox 27"/>
          <p:cNvSpPr txBox="1"/>
          <p:nvPr/>
        </p:nvSpPr>
        <p:spPr>
          <a:xfrm>
            <a:off x="395097" y="1421170"/>
            <a:ext cx="5315331" cy="2043573"/>
          </a:xfrm>
          <a:prstGeom prst="rect">
            <a:avLst/>
          </a:prstGeom>
          <a:noFill/>
        </p:spPr>
        <p:txBody>
          <a:bodyPr wrap="square" lIns="0" tIns="0" rIns="0" bIns="0">
            <a:spAutoFit/>
          </a:bodyPr>
          <a:lstStyle/>
          <a:p>
            <a:pPr algn="just">
              <a:spcAft>
                <a:spcPts val="400"/>
              </a:spcAft>
            </a:pPr>
            <a:r>
              <a:rPr b="1" dirty="0">
                <a:solidFill>
                  <a:srgbClr val="990011"/>
                </a:solidFill>
                <a:latin typeface="Calibri"/>
              </a:rPr>
              <a:t>KHOẢNG TRỐNG 1</a:t>
            </a:r>
          </a:p>
          <a:p>
            <a:pPr algn="just">
              <a:lnSpc>
                <a:spcPct val="112000"/>
              </a:lnSpc>
              <a:spcAft>
                <a:spcPts val="600"/>
              </a:spcAft>
            </a:pPr>
            <a:r>
              <a:rPr b="1" dirty="0" err="1">
                <a:solidFill>
                  <a:srgbClr val="1A1C22"/>
                </a:solidFill>
                <a:latin typeface="Cambria"/>
              </a:rPr>
              <a:t>Mô</a:t>
            </a:r>
            <a:r>
              <a:rPr b="1" dirty="0">
                <a:solidFill>
                  <a:srgbClr val="1A1C22"/>
                </a:solidFill>
                <a:latin typeface="Cambria"/>
              </a:rPr>
              <a:t> </a:t>
            </a:r>
            <a:r>
              <a:rPr b="1" dirty="0" err="1">
                <a:solidFill>
                  <a:srgbClr val="1A1C22"/>
                </a:solidFill>
                <a:latin typeface="Cambria"/>
              </a:rPr>
              <a:t>hình</a:t>
            </a:r>
            <a:r>
              <a:rPr b="1" dirty="0">
                <a:solidFill>
                  <a:srgbClr val="1A1C22"/>
                </a:solidFill>
                <a:latin typeface="Cambria"/>
              </a:rPr>
              <a:t> </a:t>
            </a:r>
            <a:r>
              <a:rPr b="1" dirty="0" err="1">
                <a:solidFill>
                  <a:srgbClr val="1A1C22"/>
                </a:solidFill>
                <a:latin typeface="Cambria"/>
              </a:rPr>
              <a:t>và</a:t>
            </a:r>
            <a:r>
              <a:rPr b="1" dirty="0">
                <a:solidFill>
                  <a:srgbClr val="1A1C22"/>
                </a:solidFill>
                <a:latin typeface="Cambria"/>
              </a:rPr>
              <a:t> </a:t>
            </a:r>
            <a:r>
              <a:rPr b="1" dirty="0" err="1">
                <a:solidFill>
                  <a:srgbClr val="1A1C22"/>
                </a:solidFill>
                <a:latin typeface="Cambria"/>
              </a:rPr>
              <a:t>mạch</a:t>
            </a:r>
            <a:r>
              <a:rPr b="1" dirty="0">
                <a:solidFill>
                  <a:srgbClr val="1A1C22"/>
                </a:solidFill>
                <a:latin typeface="Cambria"/>
              </a:rPr>
              <a:t> </a:t>
            </a:r>
            <a:r>
              <a:rPr b="1" dirty="0" err="1">
                <a:solidFill>
                  <a:srgbClr val="1A1C22"/>
                </a:solidFill>
                <a:latin typeface="Cambria"/>
              </a:rPr>
              <a:t>chưa</a:t>
            </a:r>
            <a:r>
              <a:rPr b="1" dirty="0">
                <a:solidFill>
                  <a:srgbClr val="1A1C22"/>
                </a:solidFill>
                <a:latin typeface="Cambria"/>
              </a:rPr>
              <a:t> </a:t>
            </a:r>
            <a:r>
              <a:rPr b="1" dirty="0" err="1">
                <a:solidFill>
                  <a:srgbClr val="1A1C22"/>
                </a:solidFill>
                <a:latin typeface="Cambria"/>
              </a:rPr>
              <a:t>được</a:t>
            </a:r>
            <a:r>
              <a:rPr b="1" dirty="0">
                <a:solidFill>
                  <a:srgbClr val="1A1C22"/>
                </a:solidFill>
                <a:latin typeface="Cambria"/>
              </a:rPr>
              <a:t> </a:t>
            </a:r>
            <a:r>
              <a:rPr b="1" dirty="0" err="1">
                <a:solidFill>
                  <a:srgbClr val="1A1C22"/>
                </a:solidFill>
                <a:latin typeface="Cambria"/>
              </a:rPr>
              <a:t>quyết</a:t>
            </a:r>
            <a:r>
              <a:rPr b="1" dirty="0">
                <a:solidFill>
                  <a:srgbClr val="1A1C22"/>
                </a:solidFill>
                <a:latin typeface="Cambria"/>
              </a:rPr>
              <a:t> </a:t>
            </a:r>
            <a:r>
              <a:rPr b="1" dirty="0" err="1">
                <a:solidFill>
                  <a:srgbClr val="1A1C22"/>
                </a:solidFill>
                <a:latin typeface="Cambria"/>
              </a:rPr>
              <a:t>định</a:t>
            </a:r>
            <a:r>
              <a:rPr b="1" dirty="0">
                <a:solidFill>
                  <a:srgbClr val="1A1C22"/>
                </a:solidFill>
                <a:latin typeface="Cambria"/>
              </a:rPr>
              <a:t> </a:t>
            </a:r>
            <a:r>
              <a:rPr b="1" dirty="0" err="1">
                <a:solidFill>
                  <a:srgbClr val="1A1C22"/>
                </a:solidFill>
                <a:latin typeface="Cambria"/>
              </a:rPr>
              <a:t>cùng</a:t>
            </a:r>
            <a:r>
              <a:rPr b="1" dirty="0">
                <a:solidFill>
                  <a:srgbClr val="1A1C22"/>
                </a:solidFill>
                <a:latin typeface="Cambria"/>
              </a:rPr>
              <a:t> </a:t>
            </a:r>
            <a:r>
              <a:rPr b="1" dirty="0" err="1">
                <a:solidFill>
                  <a:srgbClr val="1A1C22"/>
                </a:solidFill>
                <a:latin typeface="Cambria"/>
              </a:rPr>
              <a:t>nhau</a:t>
            </a:r>
            <a:endParaRPr b="1" dirty="0">
              <a:solidFill>
                <a:srgbClr val="1A1C22"/>
              </a:solidFill>
              <a:latin typeface="Cambria"/>
            </a:endParaRPr>
          </a:p>
          <a:p>
            <a:pPr algn="just">
              <a:lnSpc>
                <a:spcPct val="122000"/>
              </a:lnSpc>
              <a:spcAft>
                <a:spcPts val="0"/>
              </a:spcAft>
            </a:pPr>
            <a:r>
              <a:rPr b="0" dirty="0">
                <a:solidFill>
                  <a:srgbClr val="6E6E78"/>
                </a:solidFill>
                <a:latin typeface="Calibri"/>
              </a:rPr>
              <a:t>Các </a:t>
            </a:r>
            <a:r>
              <a:rPr b="0" dirty="0" err="1">
                <a:solidFill>
                  <a:srgbClr val="6E6E78"/>
                </a:solidFill>
                <a:latin typeface="Calibri"/>
              </a:rPr>
              <a:t>công</a:t>
            </a:r>
            <a:r>
              <a:rPr b="0" dirty="0">
                <a:solidFill>
                  <a:srgbClr val="6E6E78"/>
                </a:solidFill>
                <a:latin typeface="Calibri"/>
              </a:rPr>
              <a:t> </a:t>
            </a:r>
            <a:r>
              <a:rPr b="0" dirty="0" err="1">
                <a:solidFill>
                  <a:srgbClr val="6E6E78"/>
                </a:solidFill>
                <a:latin typeface="Calibri"/>
              </a:rPr>
              <a:t>trình</a:t>
            </a:r>
            <a:r>
              <a:rPr b="0" dirty="0">
                <a:solidFill>
                  <a:srgbClr val="6E6E78"/>
                </a:solidFill>
                <a:latin typeface="Calibri"/>
              </a:rPr>
              <a:t> </a:t>
            </a:r>
            <a:r>
              <a:rPr b="0" dirty="0" err="1">
                <a:solidFill>
                  <a:srgbClr val="6E6E78"/>
                </a:solidFill>
                <a:latin typeface="Calibri"/>
              </a:rPr>
              <a:t>phần</a:t>
            </a:r>
            <a:r>
              <a:rPr b="0" dirty="0">
                <a:solidFill>
                  <a:srgbClr val="6E6E78"/>
                </a:solidFill>
                <a:latin typeface="Calibri"/>
              </a:rPr>
              <a:t> </a:t>
            </a:r>
            <a:r>
              <a:rPr b="0" dirty="0" err="1">
                <a:solidFill>
                  <a:srgbClr val="6E6E78"/>
                </a:solidFill>
                <a:latin typeface="Calibri"/>
              </a:rPr>
              <a:t>mềm</a:t>
            </a:r>
            <a:r>
              <a:rPr b="0" dirty="0">
                <a:solidFill>
                  <a:srgbClr val="6E6E78"/>
                </a:solidFill>
                <a:latin typeface="Calibri"/>
              </a:rPr>
              <a:t> </a:t>
            </a:r>
            <a:r>
              <a:rPr b="0" dirty="0" err="1">
                <a:solidFill>
                  <a:srgbClr val="6E6E78"/>
                </a:solidFill>
                <a:latin typeface="Calibri"/>
              </a:rPr>
              <a:t>đều</a:t>
            </a:r>
            <a:r>
              <a:rPr b="0" dirty="0">
                <a:solidFill>
                  <a:srgbClr val="6E6E78"/>
                </a:solidFill>
                <a:latin typeface="Calibri"/>
              </a:rPr>
              <a:t> </a:t>
            </a:r>
            <a:r>
              <a:rPr b="0" dirty="0" err="1">
                <a:solidFill>
                  <a:srgbClr val="6E6E78"/>
                </a:solidFill>
                <a:latin typeface="Calibri"/>
              </a:rPr>
              <a:t>dừng</a:t>
            </a:r>
            <a:r>
              <a:rPr b="0" dirty="0">
                <a:solidFill>
                  <a:srgbClr val="6E6E78"/>
                </a:solidFill>
                <a:latin typeface="Calibri"/>
              </a:rPr>
              <a:t> ở </a:t>
            </a:r>
            <a:r>
              <a:rPr b="0" dirty="0" err="1">
                <a:solidFill>
                  <a:srgbClr val="6E6E78"/>
                </a:solidFill>
                <a:latin typeface="Calibri"/>
              </a:rPr>
              <a:t>máy</a:t>
            </a:r>
            <a:r>
              <a:rPr b="0" dirty="0">
                <a:solidFill>
                  <a:srgbClr val="6E6E78"/>
                </a:solidFill>
                <a:latin typeface="Calibri"/>
              </a:rPr>
              <a:t> </a:t>
            </a:r>
            <a:r>
              <a:rPr b="0" dirty="0" err="1">
                <a:solidFill>
                  <a:srgbClr val="6E6E78"/>
                </a:solidFill>
                <a:latin typeface="Calibri"/>
              </a:rPr>
              <a:t>trạm</a:t>
            </a:r>
            <a:r>
              <a:rPr b="0" dirty="0">
                <a:solidFill>
                  <a:srgbClr val="6E6E78"/>
                </a:solidFill>
                <a:latin typeface="Calibri"/>
              </a:rPr>
              <a:t>; </a:t>
            </a:r>
            <a:r>
              <a:rPr b="0" dirty="0" err="1">
                <a:solidFill>
                  <a:srgbClr val="6E6E78"/>
                </a:solidFill>
                <a:latin typeface="Calibri"/>
              </a:rPr>
              <a:t>các</a:t>
            </a:r>
            <a:r>
              <a:rPr b="0" dirty="0">
                <a:solidFill>
                  <a:srgbClr val="6E6E78"/>
                </a:solidFill>
                <a:latin typeface="Calibri"/>
              </a:rPr>
              <a:t> </a:t>
            </a:r>
            <a:r>
              <a:rPr b="0" dirty="0" err="1">
                <a:solidFill>
                  <a:srgbClr val="6E6E78"/>
                </a:solidFill>
                <a:latin typeface="Calibri"/>
              </a:rPr>
              <a:t>công</a:t>
            </a:r>
            <a:r>
              <a:rPr b="0" dirty="0">
                <a:solidFill>
                  <a:srgbClr val="6E6E78"/>
                </a:solidFill>
                <a:latin typeface="Calibri"/>
              </a:rPr>
              <a:t> </a:t>
            </a:r>
            <a:r>
              <a:rPr b="0" dirty="0" err="1">
                <a:solidFill>
                  <a:srgbClr val="6E6E78"/>
                </a:solidFill>
                <a:latin typeface="Calibri"/>
              </a:rPr>
              <a:t>trình</a:t>
            </a:r>
            <a:r>
              <a:rPr b="0" dirty="0">
                <a:solidFill>
                  <a:srgbClr val="6E6E78"/>
                </a:solidFill>
                <a:latin typeface="Calibri"/>
              </a:rPr>
              <a:t> </a:t>
            </a:r>
            <a:r>
              <a:rPr b="0" dirty="0" err="1">
                <a:solidFill>
                  <a:srgbClr val="6E6E78"/>
                </a:solidFill>
                <a:latin typeface="Calibri"/>
              </a:rPr>
              <a:t>phần</a:t>
            </a:r>
            <a:r>
              <a:rPr b="0" dirty="0">
                <a:solidFill>
                  <a:srgbClr val="6E6E78"/>
                </a:solidFill>
                <a:latin typeface="Calibri"/>
              </a:rPr>
              <a:t> </a:t>
            </a:r>
            <a:r>
              <a:rPr b="0" dirty="0" err="1">
                <a:solidFill>
                  <a:srgbClr val="6E6E78"/>
                </a:solidFill>
                <a:latin typeface="Calibri"/>
              </a:rPr>
              <a:t>cứng</a:t>
            </a:r>
            <a:r>
              <a:rPr b="0" dirty="0">
                <a:solidFill>
                  <a:srgbClr val="6E6E78"/>
                </a:solidFill>
                <a:latin typeface="Calibri"/>
              </a:rPr>
              <a:t> </a:t>
            </a:r>
            <a:r>
              <a:rPr b="0" dirty="0" err="1">
                <a:solidFill>
                  <a:srgbClr val="6E6E78"/>
                </a:solidFill>
                <a:latin typeface="Calibri"/>
              </a:rPr>
              <a:t>đều</a:t>
            </a:r>
            <a:r>
              <a:rPr b="0" dirty="0">
                <a:solidFill>
                  <a:srgbClr val="6E6E78"/>
                </a:solidFill>
                <a:latin typeface="Calibri"/>
              </a:rPr>
              <a:t> </a:t>
            </a:r>
            <a:r>
              <a:rPr b="0" dirty="0" err="1">
                <a:solidFill>
                  <a:srgbClr val="6E6E78"/>
                </a:solidFill>
                <a:latin typeface="Calibri"/>
              </a:rPr>
              <a:t>nhận</a:t>
            </a:r>
            <a:r>
              <a:rPr b="0" dirty="0">
                <a:solidFill>
                  <a:srgbClr val="6E6E78"/>
                </a:solidFill>
                <a:latin typeface="Calibri"/>
              </a:rPr>
              <a:t> </a:t>
            </a:r>
            <a:r>
              <a:rPr b="0" dirty="0" err="1">
                <a:solidFill>
                  <a:srgbClr val="6E6E78"/>
                </a:solidFill>
                <a:latin typeface="Calibri"/>
              </a:rPr>
              <a:t>một</a:t>
            </a:r>
            <a:r>
              <a:rPr b="0" dirty="0">
                <a:solidFill>
                  <a:srgbClr val="6E6E78"/>
                </a:solidFill>
                <a:latin typeface="Calibri"/>
              </a:rPr>
              <a:t> </a:t>
            </a:r>
            <a:r>
              <a:rPr b="0" dirty="0" err="1">
                <a:solidFill>
                  <a:srgbClr val="6E6E78"/>
                </a:solidFill>
                <a:latin typeface="Calibri"/>
              </a:rPr>
              <a:t>mô</a:t>
            </a:r>
            <a:r>
              <a:rPr b="0" dirty="0">
                <a:solidFill>
                  <a:srgbClr val="6E6E78"/>
                </a:solidFill>
                <a:latin typeface="Calibri"/>
              </a:rPr>
              <a:t> </a:t>
            </a:r>
            <a:r>
              <a:rPr b="0" dirty="0" err="1">
                <a:solidFill>
                  <a:srgbClr val="6E6E78"/>
                </a:solidFill>
                <a:latin typeface="Calibri"/>
              </a:rPr>
              <a:t>hình</a:t>
            </a:r>
            <a:r>
              <a:rPr b="0" dirty="0">
                <a:solidFill>
                  <a:srgbClr val="6E6E78"/>
                </a:solidFill>
                <a:latin typeface="Calibri"/>
              </a:rPr>
              <a:t> </a:t>
            </a:r>
            <a:r>
              <a:rPr b="0" dirty="0" err="1">
                <a:solidFill>
                  <a:srgbClr val="6E6E78"/>
                </a:solidFill>
                <a:latin typeface="Calibri"/>
              </a:rPr>
              <a:t>đã</a:t>
            </a:r>
            <a:r>
              <a:rPr b="0" dirty="0">
                <a:solidFill>
                  <a:srgbClr val="6E6E78"/>
                </a:solidFill>
                <a:latin typeface="Calibri"/>
              </a:rPr>
              <a:t> </a:t>
            </a:r>
            <a:r>
              <a:rPr b="0" dirty="0" err="1">
                <a:solidFill>
                  <a:srgbClr val="6E6E78"/>
                </a:solidFill>
                <a:latin typeface="Calibri"/>
              </a:rPr>
              <a:t>chốt</a:t>
            </a:r>
            <a:r>
              <a:rPr b="0" dirty="0">
                <a:solidFill>
                  <a:srgbClr val="6E6E78"/>
                </a:solidFill>
                <a:latin typeface="Calibri"/>
              </a:rPr>
              <a:t>. </a:t>
            </a:r>
            <a:r>
              <a:rPr b="1" dirty="0" err="1">
                <a:solidFill>
                  <a:srgbClr val="6E6E78"/>
                </a:solidFill>
                <a:latin typeface="Calibri"/>
              </a:rPr>
              <a:t>Mọi</a:t>
            </a:r>
            <a:r>
              <a:rPr b="1" dirty="0">
                <a:solidFill>
                  <a:srgbClr val="6E6E78"/>
                </a:solidFill>
                <a:latin typeface="Calibri"/>
              </a:rPr>
              <a:t> </a:t>
            </a:r>
            <a:r>
              <a:rPr b="1" dirty="0" err="1">
                <a:solidFill>
                  <a:srgbClr val="6E6E78"/>
                </a:solidFill>
                <a:latin typeface="Calibri"/>
              </a:rPr>
              <a:t>công</a:t>
            </a:r>
            <a:r>
              <a:rPr b="1" dirty="0">
                <a:solidFill>
                  <a:srgbClr val="6E6E78"/>
                </a:solidFill>
                <a:latin typeface="Calibri"/>
              </a:rPr>
              <a:t> </a:t>
            </a:r>
            <a:r>
              <a:rPr b="1" dirty="0" err="1">
                <a:solidFill>
                  <a:srgbClr val="6E6E78"/>
                </a:solidFill>
                <a:latin typeface="Calibri"/>
              </a:rPr>
              <a:t>trình</a:t>
            </a:r>
            <a:r>
              <a:rPr b="1" dirty="0">
                <a:solidFill>
                  <a:srgbClr val="6E6E78"/>
                </a:solidFill>
                <a:latin typeface="Calibri"/>
              </a:rPr>
              <a:t> </a:t>
            </a:r>
            <a:r>
              <a:rPr b="1" dirty="0" err="1">
                <a:solidFill>
                  <a:srgbClr val="6E6E78"/>
                </a:solidFill>
                <a:latin typeface="Calibri"/>
              </a:rPr>
              <a:t>chỉ</a:t>
            </a:r>
            <a:r>
              <a:rPr b="1" dirty="0">
                <a:solidFill>
                  <a:srgbClr val="6E6E78"/>
                </a:solidFill>
                <a:latin typeface="Calibri"/>
              </a:rPr>
              <a:t> </a:t>
            </a:r>
            <a:r>
              <a:rPr b="1" dirty="0" err="1">
                <a:solidFill>
                  <a:srgbClr val="6E6E78"/>
                </a:solidFill>
                <a:latin typeface="Calibri"/>
              </a:rPr>
              <a:t>đứng</a:t>
            </a:r>
            <a:r>
              <a:rPr b="1" dirty="0">
                <a:solidFill>
                  <a:srgbClr val="6E6E78"/>
                </a:solidFill>
                <a:latin typeface="Calibri"/>
              </a:rPr>
              <a:t> ở </a:t>
            </a:r>
            <a:r>
              <a:rPr b="1" dirty="0" err="1">
                <a:solidFill>
                  <a:srgbClr val="6E6E78"/>
                </a:solidFill>
                <a:latin typeface="Calibri"/>
              </a:rPr>
              <a:t>một</a:t>
            </a:r>
            <a:r>
              <a:rPr b="1" dirty="0">
                <a:solidFill>
                  <a:srgbClr val="6E6E78"/>
                </a:solidFill>
                <a:latin typeface="Calibri"/>
              </a:rPr>
              <a:t> </a:t>
            </a:r>
            <a:r>
              <a:rPr b="1" dirty="0" err="1">
                <a:solidFill>
                  <a:srgbClr val="6E6E78"/>
                </a:solidFill>
                <a:latin typeface="Calibri"/>
              </a:rPr>
              <a:t>vế</a:t>
            </a:r>
            <a:r>
              <a:rPr b="0" dirty="0">
                <a:solidFill>
                  <a:srgbClr val="6E6E78"/>
                </a:solidFill>
                <a:latin typeface="Calibri"/>
              </a:rPr>
              <a:t> — </a:t>
            </a:r>
            <a:r>
              <a:rPr b="0" dirty="0" err="1">
                <a:solidFill>
                  <a:srgbClr val="6E6E78"/>
                </a:solidFill>
                <a:latin typeface="Calibri"/>
              </a:rPr>
              <a:t>chưa</a:t>
            </a:r>
            <a:r>
              <a:rPr b="0" dirty="0">
                <a:solidFill>
                  <a:srgbClr val="6E6E78"/>
                </a:solidFill>
                <a:latin typeface="Calibri"/>
              </a:rPr>
              <a:t> </a:t>
            </a:r>
            <a:r>
              <a:rPr b="0" dirty="0" err="1">
                <a:solidFill>
                  <a:srgbClr val="6E6E78"/>
                </a:solidFill>
                <a:latin typeface="Calibri"/>
              </a:rPr>
              <a:t>bài</a:t>
            </a:r>
            <a:r>
              <a:rPr b="0" dirty="0">
                <a:solidFill>
                  <a:srgbClr val="6E6E78"/>
                </a:solidFill>
                <a:latin typeface="Calibri"/>
              </a:rPr>
              <a:t> </a:t>
            </a:r>
            <a:r>
              <a:rPr b="0" dirty="0" err="1">
                <a:solidFill>
                  <a:srgbClr val="6E6E78"/>
                </a:solidFill>
                <a:latin typeface="Calibri"/>
              </a:rPr>
              <a:t>nào</a:t>
            </a:r>
            <a:r>
              <a:rPr b="0" dirty="0">
                <a:solidFill>
                  <a:srgbClr val="6E6E78"/>
                </a:solidFill>
                <a:latin typeface="Calibri"/>
              </a:rPr>
              <a:t> </a:t>
            </a:r>
            <a:r>
              <a:rPr b="0" dirty="0" err="1">
                <a:solidFill>
                  <a:srgbClr val="6E6E78"/>
                </a:solidFill>
                <a:latin typeface="Calibri"/>
              </a:rPr>
              <a:t>để</a:t>
            </a:r>
            <a:r>
              <a:rPr b="0" dirty="0">
                <a:solidFill>
                  <a:srgbClr val="6E6E78"/>
                </a:solidFill>
                <a:latin typeface="Calibri"/>
              </a:rPr>
              <a:t> </a:t>
            </a:r>
            <a:r>
              <a:rPr b="0" dirty="0" err="1">
                <a:solidFill>
                  <a:srgbClr val="6E6E78"/>
                </a:solidFill>
                <a:latin typeface="Calibri"/>
              </a:rPr>
              <a:t>ràng</a:t>
            </a:r>
            <a:r>
              <a:rPr b="0" dirty="0">
                <a:solidFill>
                  <a:srgbClr val="6E6E78"/>
                </a:solidFill>
                <a:latin typeface="Calibri"/>
              </a:rPr>
              <a:t> </a:t>
            </a:r>
            <a:r>
              <a:rPr b="0" dirty="0" err="1">
                <a:solidFill>
                  <a:srgbClr val="6E6E78"/>
                </a:solidFill>
                <a:latin typeface="Calibri"/>
              </a:rPr>
              <a:t>buộc</a:t>
            </a:r>
            <a:r>
              <a:rPr b="0" dirty="0">
                <a:solidFill>
                  <a:srgbClr val="6E6E78"/>
                </a:solidFill>
                <a:latin typeface="Calibri"/>
              </a:rPr>
              <a:t> </a:t>
            </a:r>
            <a:r>
              <a:rPr b="0" dirty="0" err="1">
                <a:solidFill>
                  <a:srgbClr val="6E6E78"/>
                </a:solidFill>
                <a:latin typeface="Calibri"/>
              </a:rPr>
              <a:t>mạch</a:t>
            </a:r>
            <a:r>
              <a:rPr b="0" dirty="0">
                <a:solidFill>
                  <a:srgbClr val="6E6E78"/>
                </a:solidFill>
                <a:latin typeface="Calibri"/>
              </a:rPr>
              <a:t> </a:t>
            </a:r>
            <a:r>
              <a:rPr b="0" dirty="0" err="1">
                <a:solidFill>
                  <a:srgbClr val="6E6E78"/>
                </a:solidFill>
                <a:latin typeface="Calibri"/>
              </a:rPr>
              <a:t>tham</a:t>
            </a:r>
            <a:r>
              <a:rPr b="0" dirty="0">
                <a:solidFill>
                  <a:srgbClr val="6E6E78"/>
                </a:solidFill>
                <a:latin typeface="Calibri"/>
              </a:rPr>
              <a:t> </a:t>
            </a:r>
            <a:r>
              <a:rPr b="0" dirty="0" err="1">
                <a:solidFill>
                  <a:srgbClr val="6E6E78"/>
                </a:solidFill>
                <a:latin typeface="Calibri"/>
              </a:rPr>
              <a:t>gia</a:t>
            </a:r>
            <a:r>
              <a:rPr b="0" dirty="0">
                <a:solidFill>
                  <a:srgbClr val="6E6E78"/>
                </a:solidFill>
                <a:latin typeface="Calibri"/>
              </a:rPr>
              <a:t> </a:t>
            </a:r>
            <a:r>
              <a:rPr b="0" dirty="0" err="1">
                <a:solidFill>
                  <a:srgbClr val="6E6E78"/>
                </a:solidFill>
                <a:latin typeface="Calibri"/>
              </a:rPr>
              <a:t>định</a:t>
            </a:r>
            <a:r>
              <a:rPr b="0" dirty="0">
                <a:solidFill>
                  <a:srgbClr val="6E6E78"/>
                </a:solidFill>
                <a:latin typeface="Calibri"/>
              </a:rPr>
              <a:t> </a:t>
            </a:r>
            <a:r>
              <a:rPr b="0" dirty="0" err="1">
                <a:solidFill>
                  <a:srgbClr val="6E6E78"/>
                </a:solidFill>
                <a:latin typeface="Calibri"/>
              </a:rPr>
              <a:t>hình</a:t>
            </a:r>
            <a:r>
              <a:rPr b="0" dirty="0">
                <a:solidFill>
                  <a:srgbClr val="6E6E78"/>
                </a:solidFill>
                <a:latin typeface="Calibri"/>
              </a:rPr>
              <a:t> </a:t>
            </a:r>
            <a:r>
              <a:rPr b="0" dirty="0" err="1">
                <a:solidFill>
                  <a:srgbClr val="6E6E78"/>
                </a:solidFill>
                <a:latin typeface="Calibri"/>
              </a:rPr>
              <a:t>mô</a:t>
            </a:r>
            <a:r>
              <a:rPr b="0" dirty="0">
                <a:solidFill>
                  <a:srgbClr val="6E6E78"/>
                </a:solidFill>
                <a:latin typeface="Calibri"/>
              </a:rPr>
              <a:t> </a:t>
            </a:r>
            <a:r>
              <a:rPr b="0" dirty="0" err="1">
                <a:solidFill>
                  <a:srgbClr val="6E6E78"/>
                </a:solidFill>
                <a:latin typeface="Calibri"/>
              </a:rPr>
              <a:t>hình</a:t>
            </a:r>
            <a:r>
              <a:rPr b="0" dirty="0">
                <a:solidFill>
                  <a:srgbClr val="6E6E78"/>
                </a:solidFill>
                <a:latin typeface="Calibri"/>
              </a:rPr>
              <a:t>.</a:t>
            </a:r>
          </a:p>
        </p:txBody>
      </p:sp>
      <p:sp>
        <p:nvSpPr>
          <p:cNvPr id="29" name="Rectangle 28"/>
          <p:cNvSpPr/>
          <p:nvPr/>
        </p:nvSpPr>
        <p:spPr>
          <a:xfrm>
            <a:off x="713232" y="2724912"/>
            <a:ext cx="4997196" cy="12700"/>
          </a:xfrm>
          <a:prstGeom prst="rect">
            <a:avLst/>
          </a:prstGeom>
          <a:solidFill>
            <a:srgbClr val="DCD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68795" y="1335024"/>
            <a:ext cx="5315331" cy="2353786"/>
          </a:xfrm>
          <a:prstGeom prst="rect">
            <a:avLst/>
          </a:prstGeom>
          <a:noFill/>
        </p:spPr>
        <p:txBody>
          <a:bodyPr wrap="square" lIns="0" tIns="0" rIns="0" bIns="0">
            <a:spAutoFit/>
          </a:bodyPr>
          <a:lstStyle/>
          <a:p>
            <a:pPr algn="just">
              <a:spcAft>
                <a:spcPts val="400"/>
              </a:spcAft>
            </a:pPr>
            <a:r>
              <a:rPr b="1" dirty="0">
                <a:solidFill>
                  <a:srgbClr val="990011"/>
                </a:solidFill>
                <a:latin typeface="Calibri"/>
              </a:rPr>
              <a:t>KHOẢNG TRỐNG 2</a:t>
            </a:r>
          </a:p>
          <a:p>
            <a:pPr algn="just">
              <a:lnSpc>
                <a:spcPct val="112000"/>
              </a:lnSpc>
              <a:spcAft>
                <a:spcPts val="600"/>
              </a:spcAft>
            </a:pPr>
            <a:r>
              <a:rPr b="1" dirty="0" err="1">
                <a:solidFill>
                  <a:srgbClr val="1A1C22"/>
                </a:solidFill>
                <a:latin typeface="Cambria"/>
              </a:rPr>
              <a:t>Lượng</a:t>
            </a:r>
            <a:r>
              <a:rPr b="1" dirty="0">
                <a:solidFill>
                  <a:srgbClr val="1A1C22"/>
                </a:solidFill>
                <a:latin typeface="Cambria"/>
              </a:rPr>
              <a:t> </a:t>
            </a:r>
            <a:r>
              <a:rPr b="1" dirty="0" err="1">
                <a:solidFill>
                  <a:srgbClr val="1A1C22"/>
                </a:solidFill>
                <a:latin typeface="Cambria"/>
              </a:rPr>
              <a:t>tử</a:t>
            </a:r>
            <a:r>
              <a:rPr b="1" dirty="0">
                <a:solidFill>
                  <a:srgbClr val="1A1C22"/>
                </a:solidFill>
                <a:latin typeface="Cambria"/>
              </a:rPr>
              <a:t> </a:t>
            </a:r>
            <a:r>
              <a:rPr b="1" dirty="0" err="1">
                <a:solidFill>
                  <a:srgbClr val="1A1C22"/>
                </a:solidFill>
                <a:latin typeface="Cambria"/>
              </a:rPr>
              <a:t>hoá</a:t>
            </a:r>
            <a:r>
              <a:rPr b="1" dirty="0">
                <a:solidFill>
                  <a:srgbClr val="1A1C22"/>
                </a:solidFill>
                <a:latin typeface="Cambria"/>
              </a:rPr>
              <a:t> </a:t>
            </a:r>
            <a:r>
              <a:rPr b="1" dirty="0" err="1">
                <a:solidFill>
                  <a:srgbClr val="1A1C22"/>
                </a:solidFill>
                <a:latin typeface="Cambria"/>
              </a:rPr>
              <a:t>được</a:t>
            </a:r>
            <a:r>
              <a:rPr b="1" dirty="0">
                <a:solidFill>
                  <a:srgbClr val="1A1C22"/>
                </a:solidFill>
                <a:latin typeface="Cambria"/>
              </a:rPr>
              <a:t> </a:t>
            </a:r>
            <a:r>
              <a:rPr b="1" dirty="0" err="1">
                <a:solidFill>
                  <a:srgbClr val="1A1C22"/>
                </a:solidFill>
                <a:latin typeface="Cambria"/>
              </a:rPr>
              <a:t>báo</a:t>
            </a:r>
            <a:r>
              <a:rPr b="1" dirty="0">
                <a:solidFill>
                  <a:srgbClr val="1A1C22"/>
                </a:solidFill>
                <a:latin typeface="Cambria"/>
              </a:rPr>
              <a:t> </a:t>
            </a:r>
            <a:r>
              <a:rPr b="1" dirty="0" err="1">
                <a:solidFill>
                  <a:srgbClr val="1A1C22"/>
                </a:solidFill>
                <a:latin typeface="Cambria"/>
              </a:rPr>
              <a:t>như</a:t>
            </a:r>
            <a:r>
              <a:rPr b="1" dirty="0">
                <a:solidFill>
                  <a:srgbClr val="1A1C22"/>
                </a:solidFill>
                <a:latin typeface="Cambria"/>
              </a:rPr>
              <a:t> </a:t>
            </a:r>
            <a:r>
              <a:rPr b="1" dirty="0" err="1">
                <a:solidFill>
                  <a:srgbClr val="1A1C22"/>
                </a:solidFill>
                <a:latin typeface="Cambria"/>
              </a:rPr>
              <a:t>một</a:t>
            </a:r>
            <a:r>
              <a:rPr b="1" dirty="0">
                <a:solidFill>
                  <a:srgbClr val="1A1C22"/>
                </a:solidFill>
                <a:latin typeface="Cambria"/>
              </a:rPr>
              <a:t> </a:t>
            </a:r>
            <a:r>
              <a:rPr b="1" dirty="0" err="1">
                <a:solidFill>
                  <a:srgbClr val="1A1C22"/>
                </a:solidFill>
                <a:latin typeface="Cambria"/>
              </a:rPr>
              <a:t>nhãn</a:t>
            </a:r>
            <a:r>
              <a:rPr b="1" dirty="0">
                <a:solidFill>
                  <a:srgbClr val="1A1C22"/>
                </a:solidFill>
                <a:latin typeface="Cambria"/>
              </a:rPr>
              <a:t>, </a:t>
            </a:r>
            <a:r>
              <a:rPr b="1" dirty="0" err="1">
                <a:solidFill>
                  <a:srgbClr val="1A1C22"/>
                </a:solidFill>
                <a:latin typeface="Cambria"/>
              </a:rPr>
              <a:t>không</a:t>
            </a:r>
            <a:r>
              <a:rPr b="1" dirty="0">
                <a:solidFill>
                  <a:srgbClr val="1A1C22"/>
                </a:solidFill>
                <a:latin typeface="Cambria"/>
              </a:rPr>
              <a:t> </a:t>
            </a:r>
            <a:r>
              <a:rPr b="1" dirty="0" err="1">
                <a:solidFill>
                  <a:srgbClr val="1A1C22"/>
                </a:solidFill>
                <a:latin typeface="Cambria"/>
              </a:rPr>
              <a:t>như</a:t>
            </a:r>
            <a:r>
              <a:rPr b="1" dirty="0">
                <a:solidFill>
                  <a:srgbClr val="1A1C22"/>
                </a:solidFill>
                <a:latin typeface="Cambria"/>
              </a:rPr>
              <a:t> </a:t>
            </a:r>
            <a:r>
              <a:rPr b="1" dirty="0" err="1">
                <a:solidFill>
                  <a:srgbClr val="1A1C22"/>
                </a:solidFill>
                <a:latin typeface="Cambria"/>
              </a:rPr>
              <a:t>lựa</a:t>
            </a:r>
            <a:r>
              <a:rPr b="1" dirty="0">
                <a:solidFill>
                  <a:srgbClr val="1A1C22"/>
                </a:solidFill>
                <a:latin typeface="Cambria"/>
              </a:rPr>
              <a:t> </a:t>
            </a:r>
            <a:r>
              <a:rPr b="1" dirty="0" err="1">
                <a:solidFill>
                  <a:srgbClr val="1A1C22"/>
                </a:solidFill>
                <a:latin typeface="Cambria"/>
              </a:rPr>
              <a:t>chọn</a:t>
            </a:r>
            <a:r>
              <a:rPr b="1" dirty="0">
                <a:solidFill>
                  <a:srgbClr val="1A1C22"/>
                </a:solidFill>
                <a:latin typeface="Cambria"/>
              </a:rPr>
              <a:t> </a:t>
            </a:r>
            <a:r>
              <a:rPr b="1" dirty="0" err="1">
                <a:solidFill>
                  <a:srgbClr val="1A1C22"/>
                </a:solidFill>
                <a:latin typeface="Cambria"/>
              </a:rPr>
              <a:t>có</a:t>
            </a:r>
            <a:r>
              <a:rPr b="1" dirty="0">
                <a:solidFill>
                  <a:srgbClr val="1A1C22"/>
                </a:solidFill>
                <a:latin typeface="Cambria"/>
              </a:rPr>
              <a:t> chi </a:t>
            </a:r>
            <a:r>
              <a:rPr b="1" dirty="0" err="1">
                <a:solidFill>
                  <a:srgbClr val="1A1C22"/>
                </a:solidFill>
                <a:latin typeface="Cambria"/>
              </a:rPr>
              <a:t>phí</a:t>
            </a:r>
            <a:endParaRPr b="1" dirty="0">
              <a:solidFill>
                <a:srgbClr val="1A1C22"/>
              </a:solidFill>
              <a:latin typeface="Cambria"/>
            </a:endParaRPr>
          </a:p>
          <a:p>
            <a:pPr algn="just">
              <a:lnSpc>
                <a:spcPct val="122000"/>
              </a:lnSpc>
              <a:spcAft>
                <a:spcPts val="0"/>
              </a:spcAft>
            </a:pPr>
            <a:r>
              <a:rPr b="0" dirty="0">
                <a:solidFill>
                  <a:srgbClr val="6E6E78"/>
                </a:solidFill>
                <a:latin typeface="Calibri"/>
              </a:rPr>
              <a:t>Các </a:t>
            </a:r>
            <a:r>
              <a:rPr b="0" dirty="0" err="1">
                <a:solidFill>
                  <a:srgbClr val="6E6E78"/>
                </a:solidFill>
                <a:latin typeface="Calibri"/>
              </a:rPr>
              <a:t>công</a:t>
            </a:r>
            <a:r>
              <a:rPr b="0" dirty="0">
                <a:solidFill>
                  <a:srgbClr val="6E6E78"/>
                </a:solidFill>
                <a:latin typeface="Calibri"/>
              </a:rPr>
              <a:t> </a:t>
            </a:r>
            <a:r>
              <a:rPr b="0" dirty="0" err="1">
                <a:solidFill>
                  <a:srgbClr val="6E6E78"/>
                </a:solidFill>
                <a:latin typeface="Calibri"/>
              </a:rPr>
              <a:t>trình</a:t>
            </a:r>
            <a:r>
              <a:rPr b="0" dirty="0">
                <a:solidFill>
                  <a:srgbClr val="6E6E78"/>
                </a:solidFill>
                <a:latin typeface="Calibri"/>
              </a:rPr>
              <a:t> </a:t>
            </a:r>
            <a:r>
              <a:rPr b="0" dirty="0" err="1">
                <a:solidFill>
                  <a:srgbClr val="6E6E78"/>
                </a:solidFill>
                <a:latin typeface="Calibri"/>
              </a:rPr>
              <a:t>phần</a:t>
            </a:r>
            <a:r>
              <a:rPr b="0" dirty="0">
                <a:solidFill>
                  <a:srgbClr val="6E6E78"/>
                </a:solidFill>
                <a:latin typeface="Calibri"/>
              </a:rPr>
              <a:t> </a:t>
            </a:r>
            <a:r>
              <a:rPr b="0" dirty="0" err="1">
                <a:solidFill>
                  <a:srgbClr val="6E6E78"/>
                </a:solidFill>
                <a:latin typeface="Calibri"/>
              </a:rPr>
              <a:t>cứng</a:t>
            </a:r>
            <a:r>
              <a:rPr b="0" dirty="0">
                <a:solidFill>
                  <a:srgbClr val="6E6E78"/>
                </a:solidFill>
                <a:latin typeface="Calibri"/>
              </a:rPr>
              <a:t> </a:t>
            </a:r>
            <a:r>
              <a:rPr b="0" dirty="0" err="1">
                <a:solidFill>
                  <a:srgbClr val="6E6E78"/>
                </a:solidFill>
                <a:latin typeface="Calibri"/>
              </a:rPr>
              <a:t>đều</a:t>
            </a:r>
            <a:r>
              <a:rPr b="0" dirty="0">
                <a:solidFill>
                  <a:srgbClr val="6E6E78"/>
                </a:solidFill>
                <a:latin typeface="Calibri"/>
              </a:rPr>
              <a:t> </a:t>
            </a:r>
            <a:r>
              <a:rPr b="0" dirty="0" err="1">
                <a:solidFill>
                  <a:srgbClr val="6E6E78"/>
                </a:solidFill>
                <a:latin typeface="Calibri"/>
              </a:rPr>
              <a:t>ghi</a:t>
            </a:r>
            <a:r>
              <a:rPr b="0" dirty="0">
                <a:solidFill>
                  <a:srgbClr val="6E6E78"/>
                </a:solidFill>
                <a:latin typeface="Calibri"/>
              </a:rPr>
              <a:t> </a:t>
            </a:r>
            <a:r>
              <a:rPr b="0" dirty="0" err="1">
                <a:solidFill>
                  <a:srgbClr val="6E6E78"/>
                </a:solidFill>
                <a:latin typeface="Calibri"/>
              </a:rPr>
              <a:t>có</a:t>
            </a:r>
            <a:r>
              <a:rPr b="0" dirty="0">
                <a:solidFill>
                  <a:srgbClr val="6E6E78"/>
                </a:solidFill>
                <a:latin typeface="Calibri"/>
              </a:rPr>
              <a:t> </a:t>
            </a:r>
            <a:r>
              <a:rPr b="0" dirty="0" err="1">
                <a:solidFill>
                  <a:srgbClr val="6E6E78"/>
                </a:solidFill>
                <a:latin typeface="Calibri"/>
              </a:rPr>
              <a:t>lượng</a:t>
            </a:r>
            <a:r>
              <a:rPr b="0" dirty="0">
                <a:solidFill>
                  <a:srgbClr val="6E6E78"/>
                </a:solidFill>
                <a:latin typeface="Calibri"/>
              </a:rPr>
              <a:t> </a:t>
            </a:r>
            <a:r>
              <a:rPr b="0" dirty="0" err="1">
                <a:solidFill>
                  <a:srgbClr val="6E6E78"/>
                </a:solidFill>
                <a:latin typeface="Calibri"/>
              </a:rPr>
              <a:t>tử</a:t>
            </a:r>
            <a:r>
              <a:rPr b="0" dirty="0">
                <a:solidFill>
                  <a:srgbClr val="6E6E78"/>
                </a:solidFill>
                <a:latin typeface="Calibri"/>
              </a:rPr>
              <a:t> </a:t>
            </a:r>
            <a:r>
              <a:rPr b="0" dirty="0" err="1">
                <a:solidFill>
                  <a:srgbClr val="6E6E78"/>
                </a:solidFill>
                <a:latin typeface="Calibri"/>
              </a:rPr>
              <a:t>hoá</a:t>
            </a:r>
            <a:r>
              <a:rPr b="0" dirty="0">
                <a:solidFill>
                  <a:srgbClr val="6E6E78"/>
                </a:solidFill>
                <a:latin typeface="Calibri"/>
              </a:rPr>
              <a:t> — INT8, </a:t>
            </a:r>
            <a:r>
              <a:rPr b="0" dirty="0" err="1">
                <a:solidFill>
                  <a:srgbClr val="6E6E78"/>
                </a:solidFill>
                <a:latin typeface="Calibri"/>
              </a:rPr>
              <a:t>số</a:t>
            </a:r>
            <a:r>
              <a:rPr b="0" dirty="0">
                <a:solidFill>
                  <a:srgbClr val="6E6E78"/>
                </a:solidFill>
                <a:latin typeface="Calibri"/>
              </a:rPr>
              <a:t> </a:t>
            </a:r>
            <a:r>
              <a:rPr b="0" dirty="0" err="1">
                <a:solidFill>
                  <a:srgbClr val="6E6E78"/>
                </a:solidFill>
                <a:latin typeface="Calibri"/>
              </a:rPr>
              <a:t>nguyên</a:t>
            </a:r>
            <a:r>
              <a:rPr b="0" dirty="0">
                <a:solidFill>
                  <a:srgbClr val="6E6E78"/>
                </a:solidFill>
                <a:latin typeface="Calibri"/>
              </a:rPr>
              <a:t>, </a:t>
            </a:r>
            <a:r>
              <a:rPr b="0" dirty="0" err="1">
                <a:solidFill>
                  <a:srgbClr val="6E6E78"/>
                </a:solidFill>
                <a:latin typeface="Calibri"/>
              </a:rPr>
              <a:t>dấu</a:t>
            </a:r>
            <a:r>
              <a:rPr b="0" dirty="0">
                <a:solidFill>
                  <a:srgbClr val="6E6E78"/>
                </a:solidFill>
                <a:latin typeface="Calibri"/>
              </a:rPr>
              <a:t> </a:t>
            </a:r>
            <a:r>
              <a:rPr b="0" dirty="0" err="1">
                <a:solidFill>
                  <a:srgbClr val="6E6E78"/>
                </a:solidFill>
                <a:latin typeface="Calibri"/>
              </a:rPr>
              <a:t>phẩy</a:t>
            </a:r>
            <a:r>
              <a:rPr b="0" dirty="0">
                <a:solidFill>
                  <a:srgbClr val="6E6E78"/>
                </a:solidFill>
                <a:latin typeface="Calibri"/>
              </a:rPr>
              <a:t> </a:t>
            </a:r>
            <a:r>
              <a:rPr b="0" dirty="0" err="1">
                <a:solidFill>
                  <a:srgbClr val="6E6E78"/>
                </a:solidFill>
                <a:latin typeface="Calibri"/>
              </a:rPr>
              <a:t>tĩnh</a:t>
            </a:r>
            <a:r>
              <a:rPr b="0" dirty="0">
                <a:solidFill>
                  <a:srgbClr val="6E6E78"/>
                </a:solidFill>
                <a:latin typeface="Calibri"/>
              </a:rPr>
              <a:t>. </a:t>
            </a:r>
            <a:r>
              <a:rPr b="1" dirty="0" err="1">
                <a:solidFill>
                  <a:srgbClr val="6E6E78"/>
                </a:solidFill>
                <a:latin typeface="Calibri"/>
              </a:rPr>
              <a:t>Không</a:t>
            </a:r>
            <a:r>
              <a:rPr b="1" dirty="0">
                <a:solidFill>
                  <a:srgbClr val="6E6E78"/>
                </a:solidFill>
                <a:latin typeface="Calibri"/>
              </a:rPr>
              <a:t> </a:t>
            </a:r>
            <a:r>
              <a:rPr b="1" dirty="0" err="1">
                <a:solidFill>
                  <a:srgbClr val="6E6E78"/>
                </a:solidFill>
                <a:latin typeface="Calibri"/>
              </a:rPr>
              <a:t>bài</a:t>
            </a:r>
            <a:r>
              <a:rPr b="1" dirty="0">
                <a:solidFill>
                  <a:srgbClr val="6E6E78"/>
                </a:solidFill>
                <a:latin typeface="Calibri"/>
              </a:rPr>
              <a:t> </a:t>
            </a:r>
            <a:r>
              <a:rPr b="1" dirty="0" err="1">
                <a:solidFill>
                  <a:srgbClr val="6E6E78"/>
                </a:solidFill>
                <a:latin typeface="Calibri"/>
              </a:rPr>
              <a:t>nào</a:t>
            </a:r>
            <a:r>
              <a:rPr b="1" dirty="0">
                <a:solidFill>
                  <a:srgbClr val="6E6E78"/>
                </a:solidFill>
                <a:latin typeface="Calibri"/>
              </a:rPr>
              <a:t> </a:t>
            </a:r>
            <a:r>
              <a:rPr b="1" dirty="0" err="1">
                <a:solidFill>
                  <a:srgbClr val="6E6E78"/>
                </a:solidFill>
                <a:latin typeface="Calibri"/>
              </a:rPr>
              <a:t>đo</a:t>
            </a:r>
            <a:r>
              <a:rPr b="1" dirty="0">
                <a:solidFill>
                  <a:srgbClr val="6E6E78"/>
                </a:solidFill>
                <a:latin typeface="Calibri"/>
              </a:rPr>
              <a:t> </a:t>
            </a:r>
            <a:r>
              <a:rPr b="1" dirty="0" err="1">
                <a:solidFill>
                  <a:srgbClr val="6E6E78"/>
                </a:solidFill>
                <a:latin typeface="Calibri"/>
              </a:rPr>
              <a:t>cách</a:t>
            </a:r>
            <a:r>
              <a:rPr b="1" dirty="0">
                <a:solidFill>
                  <a:srgbClr val="6E6E78"/>
                </a:solidFill>
                <a:latin typeface="Calibri"/>
              </a:rPr>
              <a:t> </a:t>
            </a:r>
            <a:r>
              <a:rPr b="1" dirty="0" err="1">
                <a:solidFill>
                  <a:srgbClr val="6E6E78"/>
                </a:solidFill>
                <a:latin typeface="Calibri"/>
              </a:rPr>
              <a:t>lượng</a:t>
            </a:r>
            <a:r>
              <a:rPr b="1" dirty="0">
                <a:solidFill>
                  <a:srgbClr val="6E6E78"/>
                </a:solidFill>
                <a:latin typeface="Calibri"/>
              </a:rPr>
              <a:t> </a:t>
            </a:r>
            <a:r>
              <a:rPr b="1" dirty="0" err="1">
                <a:solidFill>
                  <a:srgbClr val="6E6E78"/>
                </a:solidFill>
                <a:latin typeface="Calibri"/>
              </a:rPr>
              <a:t>tử</a:t>
            </a:r>
            <a:r>
              <a:rPr b="1" dirty="0">
                <a:solidFill>
                  <a:srgbClr val="6E6E78"/>
                </a:solidFill>
                <a:latin typeface="Calibri"/>
              </a:rPr>
              <a:t> </a:t>
            </a:r>
            <a:r>
              <a:rPr b="1" dirty="0" err="1">
                <a:solidFill>
                  <a:srgbClr val="6E6E78"/>
                </a:solidFill>
                <a:latin typeface="Calibri"/>
              </a:rPr>
              <a:t>hoá</a:t>
            </a:r>
            <a:r>
              <a:rPr b="1" dirty="0">
                <a:solidFill>
                  <a:srgbClr val="6E6E78"/>
                </a:solidFill>
                <a:latin typeface="Calibri"/>
              </a:rPr>
              <a:t> </a:t>
            </a:r>
            <a:r>
              <a:rPr b="1" dirty="0" err="1">
                <a:solidFill>
                  <a:srgbClr val="6E6E78"/>
                </a:solidFill>
                <a:latin typeface="Calibri"/>
              </a:rPr>
              <a:t>ấy</a:t>
            </a:r>
            <a:r>
              <a:rPr b="1" dirty="0">
                <a:solidFill>
                  <a:srgbClr val="6E6E78"/>
                </a:solidFill>
                <a:latin typeface="Calibri"/>
              </a:rPr>
              <a:t> </a:t>
            </a:r>
            <a:r>
              <a:rPr b="1" dirty="0" err="1">
                <a:solidFill>
                  <a:srgbClr val="6E6E78"/>
                </a:solidFill>
                <a:latin typeface="Calibri"/>
              </a:rPr>
              <a:t>tốn</a:t>
            </a:r>
            <a:r>
              <a:rPr b="1" dirty="0">
                <a:solidFill>
                  <a:srgbClr val="6E6E78"/>
                </a:solidFill>
                <a:latin typeface="Calibri"/>
              </a:rPr>
              <a:t> bao </a:t>
            </a:r>
            <a:r>
              <a:rPr b="1" dirty="0" err="1">
                <a:solidFill>
                  <a:srgbClr val="6E6E78"/>
                </a:solidFill>
                <a:latin typeface="Calibri"/>
              </a:rPr>
              <a:t>nhiêu</a:t>
            </a:r>
            <a:r>
              <a:rPr b="1" dirty="0">
                <a:solidFill>
                  <a:srgbClr val="6E6E78"/>
                </a:solidFill>
                <a:latin typeface="Calibri"/>
              </a:rPr>
              <a:t> </a:t>
            </a:r>
            <a:r>
              <a:rPr b="1" dirty="0" err="1">
                <a:solidFill>
                  <a:srgbClr val="6E6E78"/>
                </a:solidFill>
                <a:latin typeface="Calibri"/>
              </a:rPr>
              <a:t>độ</a:t>
            </a:r>
            <a:r>
              <a:rPr b="1" dirty="0">
                <a:solidFill>
                  <a:srgbClr val="6E6E78"/>
                </a:solidFill>
                <a:latin typeface="Calibri"/>
              </a:rPr>
              <a:t> </a:t>
            </a:r>
            <a:r>
              <a:rPr b="1" dirty="0" err="1">
                <a:solidFill>
                  <a:srgbClr val="6E6E78"/>
                </a:solidFill>
                <a:latin typeface="Calibri"/>
              </a:rPr>
              <a:t>chính</a:t>
            </a:r>
            <a:r>
              <a:rPr b="1" dirty="0">
                <a:solidFill>
                  <a:srgbClr val="6E6E78"/>
                </a:solidFill>
                <a:latin typeface="Calibri"/>
              </a:rPr>
              <a:t> </a:t>
            </a:r>
            <a:r>
              <a:rPr b="1" dirty="0" err="1">
                <a:solidFill>
                  <a:srgbClr val="6E6E78"/>
                </a:solidFill>
                <a:latin typeface="Calibri"/>
              </a:rPr>
              <a:t>xác</a:t>
            </a:r>
            <a:r>
              <a:rPr b="1" dirty="0">
                <a:solidFill>
                  <a:srgbClr val="6E6E78"/>
                </a:solidFill>
                <a:latin typeface="Calibri"/>
              </a:rPr>
              <a:t> </a:t>
            </a:r>
            <a:r>
              <a:rPr b="1" dirty="0" err="1">
                <a:solidFill>
                  <a:srgbClr val="6E6E78"/>
                </a:solidFill>
                <a:latin typeface="Calibri"/>
              </a:rPr>
              <a:t>và</a:t>
            </a:r>
            <a:r>
              <a:rPr b="1" dirty="0">
                <a:solidFill>
                  <a:srgbClr val="6E6E78"/>
                </a:solidFill>
                <a:latin typeface="Calibri"/>
              </a:rPr>
              <a:t> </a:t>
            </a:r>
            <a:r>
              <a:rPr b="1" dirty="0" err="1">
                <a:solidFill>
                  <a:srgbClr val="6E6E78"/>
                </a:solidFill>
                <a:latin typeface="Calibri"/>
              </a:rPr>
              <a:t>tiết</a:t>
            </a:r>
            <a:r>
              <a:rPr b="1" dirty="0">
                <a:solidFill>
                  <a:srgbClr val="6E6E78"/>
                </a:solidFill>
                <a:latin typeface="Calibri"/>
              </a:rPr>
              <a:t> </a:t>
            </a:r>
            <a:r>
              <a:rPr b="1" dirty="0" err="1">
                <a:solidFill>
                  <a:srgbClr val="6E6E78"/>
                </a:solidFill>
                <a:latin typeface="Calibri"/>
              </a:rPr>
              <a:t>kiệm</a:t>
            </a:r>
            <a:r>
              <a:rPr b="1" dirty="0">
                <a:solidFill>
                  <a:srgbClr val="6E6E78"/>
                </a:solidFill>
                <a:latin typeface="Calibri"/>
              </a:rPr>
              <a:t> bao </a:t>
            </a:r>
            <a:r>
              <a:rPr b="1" dirty="0" err="1">
                <a:solidFill>
                  <a:srgbClr val="6E6E78"/>
                </a:solidFill>
                <a:latin typeface="Calibri"/>
              </a:rPr>
              <a:t>nhiêu</a:t>
            </a:r>
            <a:r>
              <a:rPr b="1" dirty="0">
                <a:solidFill>
                  <a:srgbClr val="6E6E78"/>
                </a:solidFill>
                <a:latin typeface="Calibri"/>
              </a:rPr>
              <a:t> </a:t>
            </a:r>
            <a:r>
              <a:rPr b="1" dirty="0" err="1">
                <a:solidFill>
                  <a:srgbClr val="6E6E78"/>
                </a:solidFill>
                <a:latin typeface="Calibri"/>
              </a:rPr>
              <a:t>tài</a:t>
            </a:r>
            <a:r>
              <a:rPr b="1" dirty="0">
                <a:solidFill>
                  <a:srgbClr val="6E6E78"/>
                </a:solidFill>
                <a:latin typeface="Calibri"/>
              </a:rPr>
              <a:t> </a:t>
            </a:r>
            <a:r>
              <a:rPr b="1" dirty="0" err="1">
                <a:solidFill>
                  <a:srgbClr val="6E6E78"/>
                </a:solidFill>
                <a:latin typeface="Calibri"/>
              </a:rPr>
              <a:t>nguyên</a:t>
            </a:r>
            <a:r>
              <a:rPr b="1" dirty="0">
                <a:solidFill>
                  <a:srgbClr val="6E6E78"/>
                </a:solidFill>
                <a:latin typeface="Calibri"/>
              </a:rPr>
              <a:t>.</a:t>
            </a:r>
          </a:p>
        </p:txBody>
      </p:sp>
      <p:sp>
        <p:nvSpPr>
          <p:cNvPr id="33" name="Rectangle 32"/>
          <p:cNvSpPr/>
          <p:nvPr/>
        </p:nvSpPr>
        <p:spPr>
          <a:xfrm>
            <a:off x="6368796" y="2724912"/>
            <a:ext cx="4997196" cy="12700"/>
          </a:xfrm>
          <a:prstGeom prst="rect">
            <a:avLst/>
          </a:prstGeom>
          <a:solidFill>
            <a:srgbClr val="DCD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95097" y="4245715"/>
            <a:ext cx="5315331" cy="1705660"/>
          </a:xfrm>
          <a:prstGeom prst="rect">
            <a:avLst/>
          </a:prstGeom>
          <a:noFill/>
        </p:spPr>
        <p:txBody>
          <a:bodyPr wrap="square" lIns="0" tIns="0" rIns="0" bIns="0">
            <a:spAutoFit/>
          </a:bodyPr>
          <a:lstStyle/>
          <a:p>
            <a:pPr algn="just">
              <a:spcAft>
                <a:spcPts val="400"/>
              </a:spcAft>
            </a:pPr>
            <a:r>
              <a:rPr b="1" dirty="0">
                <a:solidFill>
                  <a:srgbClr val="990011"/>
                </a:solidFill>
                <a:latin typeface="Calibri"/>
              </a:rPr>
              <a:t>KHOẢNG TRỐNG 3</a:t>
            </a:r>
          </a:p>
          <a:p>
            <a:pPr algn="just">
              <a:lnSpc>
                <a:spcPct val="112000"/>
              </a:lnSpc>
              <a:spcAft>
                <a:spcPts val="600"/>
              </a:spcAft>
            </a:pPr>
            <a:r>
              <a:rPr b="1" dirty="0" err="1">
                <a:solidFill>
                  <a:srgbClr val="1A1C22"/>
                </a:solidFill>
                <a:latin typeface="Cambria"/>
              </a:rPr>
              <a:t>Chưa</a:t>
            </a:r>
            <a:r>
              <a:rPr b="1" dirty="0">
                <a:solidFill>
                  <a:srgbClr val="1A1C22"/>
                </a:solidFill>
                <a:latin typeface="Cambria"/>
              </a:rPr>
              <a:t> </a:t>
            </a:r>
            <a:r>
              <a:rPr b="1" dirty="0" err="1">
                <a:solidFill>
                  <a:srgbClr val="1A1C22"/>
                </a:solidFill>
                <a:latin typeface="Cambria"/>
              </a:rPr>
              <a:t>chứng</a:t>
            </a:r>
            <a:r>
              <a:rPr b="1" dirty="0">
                <a:solidFill>
                  <a:srgbClr val="1A1C22"/>
                </a:solidFill>
                <a:latin typeface="Cambria"/>
              </a:rPr>
              <a:t> </a:t>
            </a:r>
            <a:r>
              <a:rPr b="1" dirty="0" err="1">
                <a:solidFill>
                  <a:srgbClr val="1A1C22"/>
                </a:solidFill>
                <a:latin typeface="Cambria"/>
              </a:rPr>
              <a:t>minh</a:t>
            </a:r>
            <a:r>
              <a:rPr b="1" dirty="0">
                <a:solidFill>
                  <a:srgbClr val="1A1C22"/>
                </a:solidFill>
                <a:latin typeface="Cambria"/>
              </a:rPr>
              <a:t> </a:t>
            </a:r>
            <a:r>
              <a:rPr b="1" dirty="0" err="1">
                <a:solidFill>
                  <a:srgbClr val="1A1C22"/>
                </a:solidFill>
                <a:latin typeface="Cambria"/>
              </a:rPr>
              <a:t>mạch</a:t>
            </a:r>
            <a:r>
              <a:rPr b="1" dirty="0">
                <a:solidFill>
                  <a:srgbClr val="1A1C22"/>
                </a:solidFill>
                <a:latin typeface="Cambria"/>
              </a:rPr>
              <a:t> </a:t>
            </a:r>
            <a:r>
              <a:rPr b="1" dirty="0" err="1">
                <a:solidFill>
                  <a:srgbClr val="1A1C22"/>
                </a:solidFill>
                <a:latin typeface="Cambria"/>
              </a:rPr>
              <a:t>tính</a:t>
            </a:r>
            <a:r>
              <a:rPr b="1" dirty="0">
                <a:solidFill>
                  <a:srgbClr val="1A1C22"/>
                </a:solidFill>
                <a:latin typeface="Cambria"/>
              </a:rPr>
              <a:t> </a:t>
            </a:r>
            <a:r>
              <a:rPr b="1" dirty="0" err="1">
                <a:solidFill>
                  <a:srgbClr val="1A1C22"/>
                </a:solidFill>
                <a:latin typeface="Cambria"/>
              </a:rPr>
              <a:t>đúng</a:t>
            </a:r>
            <a:r>
              <a:rPr b="1" dirty="0">
                <a:solidFill>
                  <a:srgbClr val="1A1C22"/>
                </a:solidFill>
                <a:latin typeface="Cambria"/>
              </a:rPr>
              <a:t> </a:t>
            </a:r>
            <a:r>
              <a:rPr b="1" dirty="0" err="1">
                <a:solidFill>
                  <a:srgbClr val="1A1C22"/>
                </a:solidFill>
                <a:latin typeface="Cambria"/>
              </a:rPr>
              <a:t>như</a:t>
            </a:r>
            <a:r>
              <a:rPr b="1" dirty="0">
                <a:solidFill>
                  <a:srgbClr val="1A1C22"/>
                </a:solidFill>
                <a:latin typeface="Cambria"/>
              </a:rPr>
              <a:t> </a:t>
            </a:r>
            <a:r>
              <a:rPr b="1" dirty="0" err="1">
                <a:solidFill>
                  <a:srgbClr val="1A1C22"/>
                </a:solidFill>
                <a:latin typeface="Cambria"/>
              </a:rPr>
              <a:t>mô</a:t>
            </a:r>
            <a:r>
              <a:rPr b="1" dirty="0">
                <a:solidFill>
                  <a:srgbClr val="1A1C22"/>
                </a:solidFill>
                <a:latin typeface="Cambria"/>
              </a:rPr>
              <a:t> </a:t>
            </a:r>
            <a:r>
              <a:rPr b="1" dirty="0" err="1">
                <a:solidFill>
                  <a:srgbClr val="1A1C22"/>
                </a:solidFill>
                <a:latin typeface="Cambria"/>
              </a:rPr>
              <a:t>hình</a:t>
            </a:r>
            <a:endParaRPr b="1" dirty="0">
              <a:solidFill>
                <a:srgbClr val="1A1C22"/>
              </a:solidFill>
              <a:latin typeface="Cambria"/>
            </a:endParaRPr>
          </a:p>
          <a:p>
            <a:pPr algn="just">
              <a:lnSpc>
                <a:spcPct val="122000"/>
              </a:lnSpc>
              <a:spcAft>
                <a:spcPts val="0"/>
              </a:spcAft>
            </a:pPr>
            <a:r>
              <a:rPr b="0" dirty="0">
                <a:solidFill>
                  <a:srgbClr val="6E6E78"/>
                </a:solidFill>
                <a:latin typeface="Calibri"/>
              </a:rPr>
              <a:t>Các </a:t>
            </a:r>
            <a:r>
              <a:rPr b="0" dirty="0" err="1">
                <a:solidFill>
                  <a:srgbClr val="6E6E78"/>
                </a:solidFill>
                <a:latin typeface="Calibri"/>
              </a:rPr>
              <a:t>công</a:t>
            </a:r>
            <a:r>
              <a:rPr b="0" dirty="0">
                <a:solidFill>
                  <a:srgbClr val="6E6E78"/>
                </a:solidFill>
                <a:latin typeface="Calibri"/>
              </a:rPr>
              <a:t> </a:t>
            </a:r>
            <a:r>
              <a:rPr b="0" dirty="0" err="1">
                <a:solidFill>
                  <a:srgbClr val="6E6E78"/>
                </a:solidFill>
                <a:latin typeface="Calibri"/>
              </a:rPr>
              <a:t>trình</a:t>
            </a:r>
            <a:r>
              <a:rPr b="0" dirty="0">
                <a:solidFill>
                  <a:srgbClr val="6E6E78"/>
                </a:solidFill>
                <a:latin typeface="Calibri"/>
              </a:rPr>
              <a:t> </a:t>
            </a:r>
            <a:r>
              <a:rPr b="0" dirty="0" err="1">
                <a:solidFill>
                  <a:srgbClr val="6E6E78"/>
                </a:solidFill>
                <a:latin typeface="Calibri"/>
              </a:rPr>
              <a:t>phần</a:t>
            </a:r>
            <a:r>
              <a:rPr b="0" dirty="0">
                <a:solidFill>
                  <a:srgbClr val="6E6E78"/>
                </a:solidFill>
                <a:latin typeface="Calibri"/>
              </a:rPr>
              <a:t> </a:t>
            </a:r>
            <a:r>
              <a:rPr b="0" dirty="0" err="1">
                <a:solidFill>
                  <a:srgbClr val="6E6E78"/>
                </a:solidFill>
                <a:latin typeface="Calibri"/>
              </a:rPr>
              <a:t>cứng</a:t>
            </a:r>
            <a:r>
              <a:rPr b="0" dirty="0">
                <a:solidFill>
                  <a:srgbClr val="6E6E78"/>
                </a:solidFill>
                <a:latin typeface="Calibri"/>
              </a:rPr>
              <a:t> </a:t>
            </a:r>
            <a:r>
              <a:rPr b="0" dirty="0" err="1">
                <a:solidFill>
                  <a:srgbClr val="6E6E78"/>
                </a:solidFill>
                <a:latin typeface="Calibri"/>
              </a:rPr>
              <a:t>đều</a:t>
            </a:r>
            <a:r>
              <a:rPr b="0" dirty="0">
                <a:solidFill>
                  <a:srgbClr val="6E6E78"/>
                </a:solidFill>
                <a:latin typeface="Calibri"/>
              </a:rPr>
              <a:t> </a:t>
            </a:r>
            <a:r>
              <a:rPr b="0" dirty="0" err="1">
                <a:solidFill>
                  <a:srgbClr val="6E6E78"/>
                </a:solidFill>
                <a:latin typeface="Calibri"/>
              </a:rPr>
              <a:t>chỉ</a:t>
            </a:r>
            <a:r>
              <a:rPr b="0" dirty="0">
                <a:solidFill>
                  <a:srgbClr val="6E6E78"/>
                </a:solidFill>
                <a:latin typeface="Calibri"/>
              </a:rPr>
              <a:t> </a:t>
            </a:r>
            <a:r>
              <a:rPr b="0" dirty="0" err="1">
                <a:solidFill>
                  <a:srgbClr val="6E6E78"/>
                </a:solidFill>
                <a:latin typeface="Calibri"/>
              </a:rPr>
              <a:t>báo</a:t>
            </a:r>
            <a:r>
              <a:rPr b="0" dirty="0">
                <a:solidFill>
                  <a:srgbClr val="6E6E78"/>
                </a:solidFill>
                <a:latin typeface="Calibri"/>
              </a:rPr>
              <a:t> </a:t>
            </a:r>
            <a:r>
              <a:rPr b="1" dirty="0" err="1">
                <a:solidFill>
                  <a:srgbClr val="6E6E78"/>
                </a:solidFill>
                <a:latin typeface="Calibri"/>
              </a:rPr>
              <a:t>một</a:t>
            </a:r>
            <a:r>
              <a:rPr b="1" dirty="0">
                <a:solidFill>
                  <a:srgbClr val="6E6E78"/>
                </a:solidFill>
                <a:latin typeface="Calibri"/>
              </a:rPr>
              <a:t> con </a:t>
            </a:r>
            <a:r>
              <a:rPr b="1" dirty="0" err="1">
                <a:solidFill>
                  <a:srgbClr val="6E6E78"/>
                </a:solidFill>
                <a:latin typeface="Calibri"/>
              </a:rPr>
              <a:t>số</a:t>
            </a:r>
            <a:r>
              <a:rPr b="1" dirty="0">
                <a:solidFill>
                  <a:srgbClr val="6E6E78"/>
                </a:solidFill>
                <a:latin typeface="Calibri"/>
              </a:rPr>
              <a:t> </a:t>
            </a:r>
            <a:r>
              <a:rPr b="1" dirty="0" err="1">
                <a:solidFill>
                  <a:srgbClr val="6E6E78"/>
                </a:solidFill>
                <a:latin typeface="Calibri"/>
              </a:rPr>
              <a:t>độ</a:t>
            </a:r>
            <a:r>
              <a:rPr b="1" dirty="0">
                <a:solidFill>
                  <a:srgbClr val="6E6E78"/>
                </a:solidFill>
                <a:latin typeface="Calibri"/>
              </a:rPr>
              <a:t> </a:t>
            </a:r>
            <a:r>
              <a:rPr b="1" dirty="0" err="1">
                <a:solidFill>
                  <a:srgbClr val="6E6E78"/>
                </a:solidFill>
                <a:latin typeface="Calibri"/>
              </a:rPr>
              <a:t>chính</a:t>
            </a:r>
            <a:r>
              <a:rPr b="1" dirty="0">
                <a:solidFill>
                  <a:srgbClr val="6E6E78"/>
                </a:solidFill>
                <a:latin typeface="Calibri"/>
              </a:rPr>
              <a:t> </a:t>
            </a:r>
            <a:r>
              <a:rPr b="1" dirty="0" err="1">
                <a:solidFill>
                  <a:srgbClr val="6E6E78"/>
                </a:solidFill>
                <a:latin typeface="Calibri"/>
              </a:rPr>
              <a:t>xác</a:t>
            </a:r>
            <a:r>
              <a:rPr b="1" dirty="0">
                <a:solidFill>
                  <a:srgbClr val="6E6E78"/>
                </a:solidFill>
                <a:latin typeface="Calibri"/>
              </a:rPr>
              <a:t> </a:t>
            </a:r>
            <a:r>
              <a:rPr b="1" dirty="0" err="1">
                <a:solidFill>
                  <a:srgbClr val="6E6E78"/>
                </a:solidFill>
                <a:latin typeface="Calibri"/>
              </a:rPr>
              <a:t>cuối</a:t>
            </a:r>
            <a:r>
              <a:rPr b="1" dirty="0">
                <a:solidFill>
                  <a:srgbClr val="6E6E78"/>
                </a:solidFill>
                <a:latin typeface="Calibri"/>
              </a:rPr>
              <a:t> </a:t>
            </a:r>
            <a:r>
              <a:rPr b="1" dirty="0" err="1">
                <a:solidFill>
                  <a:srgbClr val="6E6E78"/>
                </a:solidFill>
                <a:latin typeface="Calibri"/>
              </a:rPr>
              <a:t>cùng</a:t>
            </a:r>
            <a:r>
              <a:rPr b="0" dirty="0">
                <a:solidFill>
                  <a:srgbClr val="6E6E78"/>
                </a:solidFill>
                <a:latin typeface="Calibri"/>
              </a:rPr>
              <a:t>. </a:t>
            </a:r>
            <a:r>
              <a:rPr b="0" dirty="0" err="1">
                <a:solidFill>
                  <a:srgbClr val="6E6E78"/>
                </a:solidFill>
                <a:latin typeface="Calibri"/>
              </a:rPr>
              <a:t>Độ</a:t>
            </a:r>
            <a:r>
              <a:rPr b="0" dirty="0">
                <a:solidFill>
                  <a:srgbClr val="6E6E78"/>
                </a:solidFill>
                <a:latin typeface="Calibri"/>
              </a:rPr>
              <a:t> </a:t>
            </a:r>
            <a:r>
              <a:rPr b="0" dirty="0" err="1">
                <a:solidFill>
                  <a:srgbClr val="6E6E78"/>
                </a:solidFill>
                <a:latin typeface="Calibri"/>
              </a:rPr>
              <a:t>chính</a:t>
            </a:r>
            <a:r>
              <a:rPr b="0" dirty="0">
                <a:solidFill>
                  <a:srgbClr val="6E6E78"/>
                </a:solidFill>
                <a:latin typeface="Calibri"/>
              </a:rPr>
              <a:t> </a:t>
            </a:r>
            <a:r>
              <a:rPr b="0" dirty="0" err="1">
                <a:solidFill>
                  <a:srgbClr val="6E6E78"/>
                </a:solidFill>
                <a:latin typeface="Calibri"/>
              </a:rPr>
              <a:t>xác</a:t>
            </a:r>
            <a:r>
              <a:rPr b="0" dirty="0">
                <a:solidFill>
                  <a:srgbClr val="6E6E78"/>
                </a:solidFill>
                <a:latin typeface="Calibri"/>
              </a:rPr>
              <a:t> </a:t>
            </a:r>
            <a:r>
              <a:rPr b="0" dirty="0" err="1">
                <a:solidFill>
                  <a:srgbClr val="6E6E78"/>
                </a:solidFill>
                <a:latin typeface="Calibri"/>
              </a:rPr>
              <a:t>là</a:t>
            </a:r>
            <a:r>
              <a:rPr b="0" dirty="0">
                <a:solidFill>
                  <a:srgbClr val="6E6E78"/>
                </a:solidFill>
                <a:latin typeface="Calibri"/>
              </a:rPr>
              <a:t> </a:t>
            </a:r>
            <a:r>
              <a:rPr b="0" dirty="0" err="1">
                <a:solidFill>
                  <a:srgbClr val="6E6E78"/>
                </a:solidFill>
                <a:latin typeface="Calibri"/>
              </a:rPr>
              <a:t>thống</a:t>
            </a:r>
            <a:r>
              <a:rPr b="0" dirty="0">
                <a:solidFill>
                  <a:srgbClr val="6E6E78"/>
                </a:solidFill>
                <a:latin typeface="Calibri"/>
              </a:rPr>
              <a:t> </a:t>
            </a:r>
            <a:r>
              <a:rPr b="0" dirty="0" err="1">
                <a:solidFill>
                  <a:srgbClr val="6E6E78"/>
                </a:solidFill>
                <a:latin typeface="Calibri"/>
              </a:rPr>
              <a:t>kê</a:t>
            </a:r>
            <a:r>
              <a:rPr b="0" dirty="0">
                <a:solidFill>
                  <a:srgbClr val="6E6E78"/>
                </a:solidFill>
                <a:latin typeface="Calibri"/>
              </a:rPr>
              <a:t> </a:t>
            </a:r>
            <a:r>
              <a:rPr b="0" dirty="0" err="1">
                <a:solidFill>
                  <a:srgbClr val="6E6E78"/>
                </a:solidFill>
                <a:latin typeface="Calibri"/>
              </a:rPr>
              <a:t>tổng</a:t>
            </a:r>
            <a:r>
              <a:rPr b="0" dirty="0">
                <a:solidFill>
                  <a:srgbClr val="6E6E78"/>
                </a:solidFill>
                <a:latin typeface="Calibri"/>
              </a:rPr>
              <a:t> </a:t>
            </a:r>
            <a:r>
              <a:rPr b="0" dirty="0" err="1">
                <a:solidFill>
                  <a:srgbClr val="6E6E78"/>
                </a:solidFill>
                <a:latin typeface="Calibri"/>
              </a:rPr>
              <a:t>hợp</a:t>
            </a:r>
            <a:r>
              <a:rPr b="0" dirty="0">
                <a:solidFill>
                  <a:srgbClr val="6E6E78"/>
                </a:solidFill>
                <a:latin typeface="Calibri"/>
              </a:rPr>
              <a:t> — </a:t>
            </a:r>
            <a:r>
              <a:rPr b="0" dirty="0" err="1">
                <a:solidFill>
                  <a:srgbClr val="6E6E78"/>
                </a:solidFill>
                <a:latin typeface="Calibri"/>
              </a:rPr>
              <a:t>nó</a:t>
            </a:r>
            <a:r>
              <a:rPr b="0" dirty="0">
                <a:solidFill>
                  <a:srgbClr val="6E6E78"/>
                </a:solidFill>
                <a:latin typeface="Calibri"/>
              </a:rPr>
              <a:t> </a:t>
            </a:r>
            <a:r>
              <a:rPr b="0" dirty="0" err="1">
                <a:solidFill>
                  <a:srgbClr val="6E6E78"/>
                </a:solidFill>
                <a:latin typeface="Calibri"/>
              </a:rPr>
              <a:t>che</a:t>
            </a:r>
            <a:r>
              <a:rPr b="0" dirty="0">
                <a:solidFill>
                  <a:srgbClr val="6E6E78"/>
                </a:solidFill>
                <a:latin typeface="Calibri"/>
              </a:rPr>
              <a:t> </a:t>
            </a:r>
            <a:r>
              <a:rPr b="0" dirty="0" err="1">
                <a:solidFill>
                  <a:srgbClr val="6E6E78"/>
                </a:solidFill>
                <a:latin typeface="Calibri"/>
              </a:rPr>
              <a:t>được</a:t>
            </a:r>
            <a:r>
              <a:rPr b="0" dirty="0">
                <a:solidFill>
                  <a:srgbClr val="6E6E78"/>
                </a:solidFill>
                <a:latin typeface="Calibri"/>
              </a:rPr>
              <a:t> </a:t>
            </a:r>
            <a:r>
              <a:rPr b="0" dirty="0" err="1">
                <a:solidFill>
                  <a:srgbClr val="6E6E78"/>
                </a:solidFill>
                <a:latin typeface="Calibri"/>
              </a:rPr>
              <a:t>lỗi</a:t>
            </a:r>
            <a:r>
              <a:rPr b="0" dirty="0">
                <a:solidFill>
                  <a:srgbClr val="6E6E78"/>
                </a:solidFill>
                <a:latin typeface="Calibri"/>
              </a:rPr>
              <a:t> </a:t>
            </a:r>
            <a:r>
              <a:rPr b="0" dirty="0" err="1">
                <a:solidFill>
                  <a:srgbClr val="6E6E78"/>
                </a:solidFill>
                <a:latin typeface="Calibri"/>
              </a:rPr>
              <a:t>triển</a:t>
            </a:r>
            <a:r>
              <a:rPr b="0" dirty="0">
                <a:solidFill>
                  <a:srgbClr val="6E6E78"/>
                </a:solidFill>
                <a:latin typeface="Calibri"/>
              </a:rPr>
              <a:t> </a:t>
            </a:r>
            <a:r>
              <a:rPr b="0" dirty="0" err="1">
                <a:solidFill>
                  <a:srgbClr val="6E6E78"/>
                </a:solidFill>
                <a:latin typeface="Calibri"/>
              </a:rPr>
              <a:t>khai</a:t>
            </a:r>
            <a:r>
              <a:rPr b="0" dirty="0">
                <a:solidFill>
                  <a:srgbClr val="6E6E78"/>
                </a:solidFill>
                <a:latin typeface="Calibri"/>
              </a:rPr>
              <a:t> </a:t>
            </a:r>
            <a:r>
              <a:rPr b="0" dirty="0" err="1">
                <a:solidFill>
                  <a:srgbClr val="6E6E78"/>
                </a:solidFill>
                <a:latin typeface="Calibri"/>
              </a:rPr>
              <a:t>bên</a:t>
            </a:r>
            <a:r>
              <a:rPr b="0" dirty="0">
                <a:solidFill>
                  <a:srgbClr val="6E6E78"/>
                </a:solidFill>
                <a:latin typeface="Calibri"/>
              </a:rPr>
              <a:t> </a:t>
            </a:r>
            <a:r>
              <a:rPr b="0" dirty="0" err="1">
                <a:solidFill>
                  <a:srgbClr val="6E6E78"/>
                </a:solidFill>
                <a:latin typeface="Calibri"/>
              </a:rPr>
              <a:t>trong</a:t>
            </a:r>
            <a:r>
              <a:rPr b="0" dirty="0">
                <a:solidFill>
                  <a:srgbClr val="6E6E78"/>
                </a:solidFill>
                <a:latin typeface="Calibri"/>
              </a:rPr>
              <a:t>.</a:t>
            </a:r>
          </a:p>
        </p:txBody>
      </p:sp>
      <p:sp>
        <p:nvSpPr>
          <p:cNvPr id="37" name="Rectangle 36"/>
          <p:cNvSpPr/>
          <p:nvPr/>
        </p:nvSpPr>
        <p:spPr>
          <a:xfrm>
            <a:off x="713232" y="5212080"/>
            <a:ext cx="4997196" cy="12700"/>
          </a:xfrm>
          <a:prstGeom prst="rect">
            <a:avLst/>
          </a:prstGeom>
          <a:solidFill>
            <a:srgbClr val="DCD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68796" y="4245715"/>
            <a:ext cx="5405628" cy="1705660"/>
          </a:xfrm>
          <a:prstGeom prst="rect">
            <a:avLst/>
          </a:prstGeom>
          <a:noFill/>
        </p:spPr>
        <p:txBody>
          <a:bodyPr wrap="square" lIns="0" tIns="0" rIns="0" bIns="0">
            <a:spAutoFit/>
          </a:bodyPr>
          <a:lstStyle/>
          <a:p>
            <a:pPr algn="just">
              <a:spcAft>
                <a:spcPts val="400"/>
              </a:spcAft>
            </a:pPr>
            <a:r>
              <a:rPr b="1" dirty="0">
                <a:solidFill>
                  <a:srgbClr val="990011"/>
                </a:solidFill>
                <a:latin typeface="Calibri"/>
              </a:rPr>
              <a:t>KHOẢNG TRỐNG 4</a:t>
            </a:r>
          </a:p>
          <a:p>
            <a:pPr algn="just">
              <a:lnSpc>
                <a:spcPct val="112000"/>
              </a:lnSpc>
              <a:spcAft>
                <a:spcPts val="600"/>
              </a:spcAft>
            </a:pPr>
            <a:r>
              <a:rPr b="1" dirty="0" err="1">
                <a:solidFill>
                  <a:srgbClr val="1A1C22"/>
                </a:solidFill>
                <a:latin typeface="Cambria"/>
              </a:rPr>
              <a:t>Chưa</a:t>
            </a:r>
            <a:r>
              <a:rPr b="1" dirty="0">
                <a:solidFill>
                  <a:srgbClr val="1A1C22"/>
                </a:solidFill>
                <a:latin typeface="Cambria"/>
              </a:rPr>
              <a:t> </a:t>
            </a:r>
            <a:r>
              <a:rPr b="1" dirty="0" err="1">
                <a:solidFill>
                  <a:srgbClr val="1A1C22"/>
                </a:solidFill>
                <a:latin typeface="Cambria"/>
              </a:rPr>
              <a:t>kiểm</a:t>
            </a:r>
            <a:r>
              <a:rPr b="1" dirty="0">
                <a:solidFill>
                  <a:srgbClr val="1A1C22"/>
                </a:solidFill>
                <a:latin typeface="Cambria"/>
              </a:rPr>
              <a:t> </a:t>
            </a:r>
            <a:r>
              <a:rPr b="1" dirty="0" err="1">
                <a:solidFill>
                  <a:srgbClr val="1A1C22"/>
                </a:solidFill>
                <a:latin typeface="Cambria"/>
              </a:rPr>
              <a:t>mô</a:t>
            </a:r>
            <a:r>
              <a:rPr b="1" dirty="0">
                <a:solidFill>
                  <a:srgbClr val="1A1C22"/>
                </a:solidFill>
                <a:latin typeface="Cambria"/>
              </a:rPr>
              <a:t> </a:t>
            </a:r>
            <a:r>
              <a:rPr b="1" dirty="0" err="1">
                <a:solidFill>
                  <a:srgbClr val="1A1C22"/>
                </a:solidFill>
                <a:latin typeface="Cambria"/>
              </a:rPr>
              <a:t>hình</a:t>
            </a:r>
            <a:r>
              <a:rPr b="1" dirty="0">
                <a:solidFill>
                  <a:srgbClr val="1A1C22"/>
                </a:solidFill>
                <a:latin typeface="Cambria"/>
              </a:rPr>
              <a:t> </a:t>
            </a:r>
            <a:r>
              <a:rPr b="1" dirty="0" err="1">
                <a:solidFill>
                  <a:srgbClr val="1A1C22"/>
                </a:solidFill>
                <a:latin typeface="Cambria"/>
              </a:rPr>
              <a:t>trên</a:t>
            </a:r>
            <a:r>
              <a:rPr b="1" dirty="0">
                <a:solidFill>
                  <a:srgbClr val="1A1C22"/>
                </a:solidFill>
                <a:latin typeface="Cambria"/>
              </a:rPr>
              <a:t> </a:t>
            </a:r>
            <a:r>
              <a:rPr b="1" dirty="0" err="1">
                <a:solidFill>
                  <a:srgbClr val="1A1C22"/>
                </a:solidFill>
                <a:latin typeface="Cambria"/>
              </a:rPr>
              <a:t>nguồn</a:t>
            </a:r>
            <a:r>
              <a:rPr b="1" dirty="0">
                <a:solidFill>
                  <a:srgbClr val="1A1C22"/>
                </a:solidFill>
                <a:latin typeface="Cambria"/>
              </a:rPr>
              <a:t> </a:t>
            </a:r>
            <a:r>
              <a:rPr b="1" dirty="0" err="1">
                <a:solidFill>
                  <a:srgbClr val="1A1C22"/>
                </a:solidFill>
                <a:latin typeface="Cambria"/>
              </a:rPr>
              <a:t>dữ</a:t>
            </a:r>
            <a:r>
              <a:rPr b="1" dirty="0">
                <a:solidFill>
                  <a:srgbClr val="1A1C22"/>
                </a:solidFill>
                <a:latin typeface="Cambria"/>
              </a:rPr>
              <a:t> </a:t>
            </a:r>
            <a:r>
              <a:rPr b="1" dirty="0" err="1">
                <a:solidFill>
                  <a:srgbClr val="1A1C22"/>
                </a:solidFill>
                <a:latin typeface="Cambria"/>
              </a:rPr>
              <a:t>liệu</a:t>
            </a:r>
            <a:r>
              <a:rPr b="1" dirty="0">
                <a:solidFill>
                  <a:srgbClr val="1A1C22"/>
                </a:solidFill>
                <a:latin typeface="Cambria"/>
              </a:rPr>
              <a:t> </a:t>
            </a:r>
            <a:r>
              <a:rPr b="1" dirty="0" err="1">
                <a:solidFill>
                  <a:srgbClr val="1A1C22"/>
                </a:solidFill>
                <a:latin typeface="Cambria"/>
              </a:rPr>
              <a:t>độc</a:t>
            </a:r>
            <a:r>
              <a:rPr b="1" dirty="0">
                <a:solidFill>
                  <a:srgbClr val="1A1C22"/>
                </a:solidFill>
                <a:latin typeface="Cambria"/>
              </a:rPr>
              <a:t> </a:t>
            </a:r>
            <a:r>
              <a:rPr b="1" dirty="0" err="1">
                <a:solidFill>
                  <a:srgbClr val="1A1C22"/>
                </a:solidFill>
                <a:latin typeface="Cambria"/>
              </a:rPr>
              <a:t>lập</a:t>
            </a:r>
            <a:endParaRPr b="1" dirty="0">
              <a:solidFill>
                <a:srgbClr val="1A1C22"/>
              </a:solidFill>
              <a:latin typeface="Cambria"/>
            </a:endParaRPr>
          </a:p>
          <a:p>
            <a:pPr algn="just">
              <a:lnSpc>
                <a:spcPct val="122000"/>
              </a:lnSpc>
              <a:spcAft>
                <a:spcPts val="0"/>
              </a:spcAft>
            </a:pPr>
            <a:r>
              <a:rPr b="0" dirty="0" err="1">
                <a:solidFill>
                  <a:srgbClr val="6E6E78"/>
                </a:solidFill>
                <a:latin typeface="Calibri"/>
              </a:rPr>
              <a:t>Mỗi</a:t>
            </a:r>
            <a:r>
              <a:rPr b="0" dirty="0">
                <a:solidFill>
                  <a:srgbClr val="6E6E78"/>
                </a:solidFill>
                <a:latin typeface="Calibri"/>
              </a:rPr>
              <a:t> </a:t>
            </a:r>
            <a:r>
              <a:rPr b="0" dirty="0" err="1">
                <a:solidFill>
                  <a:srgbClr val="6E6E78"/>
                </a:solidFill>
                <a:latin typeface="Calibri"/>
              </a:rPr>
              <a:t>công</a:t>
            </a:r>
            <a:r>
              <a:rPr b="0" dirty="0">
                <a:solidFill>
                  <a:srgbClr val="6E6E78"/>
                </a:solidFill>
                <a:latin typeface="Calibri"/>
              </a:rPr>
              <a:t> </a:t>
            </a:r>
            <a:r>
              <a:rPr b="0" dirty="0" err="1">
                <a:solidFill>
                  <a:srgbClr val="6E6E78"/>
                </a:solidFill>
                <a:latin typeface="Calibri"/>
              </a:rPr>
              <a:t>trình</a:t>
            </a:r>
            <a:r>
              <a:rPr b="0" dirty="0">
                <a:solidFill>
                  <a:srgbClr val="6E6E78"/>
                </a:solidFill>
                <a:latin typeface="Calibri"/>
              </a:rPr>
              <a:t> </a:t>
            </a:r>
            <a:r>
              <a:rPr b="0" dirty="0" err="1">
                <a:solidFill>
                  <a:srgbClr val="6E6E78"/>
                </a:solidFill>
                <a:latin typeface="Calibri"/>
              </a:rPr>
              <a:t>báo</a:t>
            </a:r>
            <a:r>
              <a:rPr b="0" dirty="0">
                <a:solidFill>
                  <a:srgbClr val="6E6E78"/>
                </a:solidFill>
                <a:latin typeface="Calibri"/>
              </a:rPr>
              <a:t> </a:t>
            </a:r>
            <a:r>
              <a:rPr b="1" dirty="0" err="1">
                <a:solidFill>
                  <a:srgbClr val="6E6E78"/>
                </a:solidFill>
                <a:latin typeface="Calibri"/>
              </a:rPr>
              <a:t>một</a:t>
            </a:r>
            <a:r>
              <a:rPr b="1" dirty="0">
                <a:solidFill>
                  <a:srgbClr val="6E6E78"/>
                </a:solidFill>
                <a:latin typeface="Calibri"/>
              </a:rPr>
              <a:t> </a:t>
            </a:r>
            <a:r>
              <a:rPr b="1" dirty="0" err="1">
                <a:solidFill>
                  <a:srgbClr val="6E6E78"/>
                </a:solidFill>
                <a:latin typeface="Calibri"/>
              </a:rPr>
              <a:t>tập</a:t>
            </a:r>
            <a:r>
              <a:rPr b="1" dirty="0">
                <a:solidFill>
                  <a:srgbClr val="6E6E78"/>
                </a:solidFill>
                <a:latin typeface="Calibri"/>
              </a:rPr>
              <a:t> </a:t>
            </a:r>
            <a:r>
              <a:rPr b="1" dirty="0" err="1">
                <a:solidFill>
                  <a:srgbClr val="6E6E78"/>
                </a:solidFill>
                <a:latin typeface="Calibri"/>
              </a:rPr>
              <a:t>dữ</a:t>
            </a:r>
            <a:r>
              <a:rPr b="1" dirty="0">
                <a:solidFill>
                  <a:srgbClr val="6E6E78"/>
                </a:solidFill>
                <a:latin typeface="Calibri"/>
              </a:rPr>
              <a:t> </a:t>
            </a:r>
            <a:r>
              <a:rPr b="1" dirty="0" err="1">
                <a:solidFill>
                  <a:srgbClr val="6E6E78"/>
                </a:solidFill>
                <a:latin typeface="Calibri"/>
              </a:rPr>
              <a:t>liệu</a:t>
            </a:r>
            <a:r>
              <a:rPr b="1" dirty="0">
                <a:solidFill>
                  <a:srgbClr val="6E6E78"/>
                </a:solidFill>
                <a:latin typeface="Calibri"/>
              </a:rPr>
              <a:t>, </a:t>
            </a:r>
            <a:r>
              <a:rPr b="1" dirty="0" err="1">
                <a:solidFill>
                  <a:srgbClr val="6E6E78"/>
                </a:solidFill>
                <a:latin typeface="Calibri"/>
              </a:rPr>
              <a:t>một</a:t>
            </a:r>
            <a:r>
              <a:rPr b="1" dirty="0">
                <a:solidFill>
                  <a:srgbClr val="6E6E78"/>
                </a:solidFill>
                <a:latin typeface="Calibri"/>
              </a:rPr>
              <a:t> con </a:t>
            </a:r>
            <a:r>
              <a:rPr b="1" dirty="0" err="1">
                <a:solidFill>
                  <a:srgbClr val="6E6E78"/>
                </a:solidFill>
                <a:latin typeface="Calibri"/>
              </a:rPr>
              <a:t>số</a:t>
            </a:r>
            <a:r>
              <a:rPr b="0" dirty="0">
                <a:solidFill>
                  <a:srgbClr val="6E6E78"/>
                </a:solidFill>
                <a:latin typeface="Calibri"/>
              </a:rPr>
              <a:t>. </a:t>
            </a:r>
            <a:r>
              <a:rPr b="0" dirty="0" err="1">
                <a:solidFill>
                  <a:srgbClr val="6E6E78"/>
                </a:solidFill>
                <a:latin typeface="Calibri"/>
              </a:rPr>
              <a:t>Chưa</a:t>
            </a:r>
            <a:r>
              <a:rPr b="0" dirty="0">
                <a:solidFill>
                  <a:srgbClr val="6E6E78"/>
                </a:solidFill>
                <a:latin typeface="Calibri"/>
              </a:rPr>
              <a:t> </a:t>
            </a:r>
            <a:r>
              <a:rPr b="0" dirty="0" err="1">
                <a:solidFill>
                  <a:srgbClr val="6E6E78"/>
                </a:solidFill>
                <a:latin typeface="Calibri"/>
              </a:rPr>
              <a:t>bài</a:t>
            </a:r>
            <a:r>
              <a:rPr b="0" dirty="0">
                <a:solidFill>
                  <a:srgbClr val="6E6E78"/>
                </a:solidFill>
                <a:latin typeface="Calibri"/>
              </a:rPr>
              <a:t> </a:t>
            </a:r>
            <a:r>
              <a:rPr b="0" dirty="0" err="1">
                <a:solidFill>
                  <a:srgbClr val="6E6E78"/>
                </a:solidFill>
                <a:latin typeface="Calibri"/>
              </a:rPr>
              <a:t>nào</a:t>
            </a:r>
            <a:r>
              <a:rPr b="0" dirty="0">
                <a:solidFill>
                  <a:srgbClr val="6E6E78"/>
                </a:solidFill>
                <a:latin typeface="Calibri"/>
              </a:rPr>
              <a:t> </a:t>
            </a:r>
            <a:r>
              <a:rPr b="0" dirty="0" err="1">
                <a:solidFill>
                  <a:srgbClr val="6E6E78"/>
                </a:solidFill>
                <a:latin typeface="Calibri"/>
              </a:rPr>
              <a:t>chạy</a:t>
            </a:r>
            <a:r>
              <a:rPr b="0" dirty="0">
                <a:solidFill>
                  <a:srgbClr val="6E6E78"/>
                </a:solidFill>
                <a:latin typeface="Calibri"/>
              </a:rPr>
              <a:t> </a:t>
            </a:r>
            <a:r>
              <a:rPr b="0" dirty="0" err="1">
                <a:solidFill>
                  <a:srgbClr val="6E6E78"/>
                </a:solidFill>
                <a:latin typeface="Calibri"/>
              </a:rPr>
              <a:t>toàn</a:t>
            </a:r>
            <a:r>
              <a:rPr b="0" dirty="0">
                <a:solidFill>
                  <a:srgbClr val="6E6E78"/>
                </a:solidFill>
                <a:latin typeface="Calibri"/>
              </a:rPr>
              <a:t> </a:t>
            </a:r>
            <a:r>
              <a:rPr b="0" dirty="0" err="1">
                <a:solidFill>
                  <a:srgbClr val="6E6E78"/>
                </a:solidFill>
                <a:latin typeface="Calibri"/>
              </a:rPr>
              <a:t>bộ</a:t>
            </a:r>
            <a:r>
              <a:rPr b="0" dirty="0">
                <a:solidFill>
                  <a:srgbClr val="6E6E78"/>
                </a:solidFill>
                <a:latin typeface="Calibri"/>
              </a:rPr>
              <a:t> </a:t>
            </a:r>
            <a:r>
              <a:rPr b="0" dirty="0" err="1">
                <a:solidFill>
                  <a:srgbClr val="6E6E78"/>
                </a:solidFill>
                <a:latin typeface="Calibri"/>
              </a:rPr>
              <a:t>một</a:t>
            </a:r>
            <a:r>
              <a:rPr b="0" dirty="0">
                <a:solidFill>
                  <a:srgbClr val="6E6E78"/>
                </a:solidFill>
                <a:latin typeface="Calibri"/>
              </a:rPr>
              <a:t> </a:t>
            </a:r>
            <a:r>
              <a:rPr b="0" dirty="0" err="1">
                <a:solidFill>
                  <a:srgbClr val="6E6E78"/>
                </a:solidFill>
                <a:latin typeface="Calibri"/>
              </a:rPr>
              <a:t>tập</a:t>
            </a:r>
            <a:r>
              <a:rPr b="0" dirty="0">
                <a:solidFill>
                  <a:srgbClr val="6E6E78"/>
                </a:solidFill>
                <a:latin typeface="Calibri"/>
              </a:rPr>
              <a:t> </a:t>
            </a:r>
            <a:r>
              <a:rPr b="0" dirty="0" err="1">
                <a:solidFill>
                  <a:srgbClr val="6E6E78"/>
                </a:solidFill>
                <a:latin typeface="Calibri"/>
              </a:rPr>
              <a:t>thứ</a:t>
            </a:r>
            <a:r>
              <a:rPr b="0" dirty="0">
                <a:solidFill>
                  <a:srgbClr val="6E6E78"/>
                </a:solidFill>
                <a:latin typeface="Calibri"/>
              </a:rPr>
              <a:t> </a:t>
            </a:r>
            <a:r>
              <a:rPr b="0" dirty="0" err="1">
                <a:solidFill>
                  <a:srgbClr val="6E6E78"/>
                </a:solidFill>
                <a:latin typeface="Calibri"/>
              </a:rPr>
              <a:t>hai</a:t>
            </a:r>
            <a:r>
              <a:rPr b="0" dirty="0">
                <a:solidFill>
                  <a:srgbClr val="6E6E78"/>
                </a:solidFill>
                <a:latin typeface="Calibri"/>
              </a:rPr>
              <a:t>, </a:t>
            </a:r>
            <a:r>
              <a:rPr b="0" dirty="0" err="1">
                <a:solidFill>
                  <a:srgbClr val="6E6E78"/>
                </a:solidFill>
                <a:latin typeface="Calibri"/>
              </a:rPr>
              <a:t>thu</a:t>
            </a:r>
            <a:r>
              <a:rPr b="0" dirty="0">
                <a:solidFill>
                  <a:srgbClr val="6E6E78"/>
                </a:solidFill>
                <a:latin typeface="Calibri"/>
              </a:rPr>
              <a:t> </a:t>
            </a:r>
            <a:r>
              <a:rPr b="0" dirty="0" err="1">
                <a:solidFill>
                  <a:srgbClr val="6E6E78"/>
                </a:solidFill>
                <a:latin typeface="Calibri"/>
              </a:rPr>
              <a:t>từ</a:t>
            </a:r>
            <a:r>
              <a:rPr b="0" dirty="0">
                <a:solidFill>
                  <a:srgbClr val="6E6E78"/>
                </a:solidFill>
                <a:latin typeface="Calibri"/>
              </a:rPr>
              <a:t> </a:t>
            </a:r>
            <a:r>
              <a:rPr b="0" dirty="0" err="1">
                <a:solidFill>
                  <a:srgbClr val="6E6E78"/>
                </a:solidFill>
                <a:latin typeface="Calibri"/>
              </a:rPr>
              <a:t>nguồn</a:t>
            </a:r>
            <a:r>
              <a:rPr b="0" dirty="0">
                <a:solidFill>
                  <a:srgbClr val="6E6E78"/>
                </a:solidFill>
                <a:latin typeface="Calibri"/>
              </a:rPr>
              <a:t> </a:t>
            </a:r>
            <a:r>
              <a:rPr b="0" dirty="0" err="1">
                <a:solidFill>
                  <a:srgbClr val="6E6E78"/>
                </a:solidFill>
                <a:latin typeface="Calibri"/>
              </a:rPr>
              <a:t>khác</a:t>
            </a:r>
            <a:r>
              <a:rPr b="0" dirty="0">
                <a:solidFill>
                  <a:srgbClr val="6E6E78"/>
                </a:solidFill>
                <a:latin typeface="Calibri"/>
              </a:rPr>
              <a:t>, </a:t>
            </a:r>
            <a:r>
              <a:rPr b="0" dirty="0" err="1">
                <a:solidFill>
                  <a:srgbClr val="6E6E78"/>
                </a:solidFill>
                <a:latin typeface="Calibri"/>
              </a:rPr>
              <a:t>chưa</a:t>
            </a:r>
            <a:r>
              <a:rPr b="0" dirty="0">
                <a:solidFill>
                  <a:srgbClr val="6E6E78"/>
                </a:solidFill>
                <a:latin typeface="Calibri"/>
              </a:rPr>
              <a:t> </a:t>
            </a:r>
            <a:r>
              <a:rPr b="0" dirty="0" err="1">
                <a:solidFill>
                  <a:srgbClr val="6E6E78"/>
                </a:solidFill>
                <a:latin typeface="Calibri"/>
              </a:rPr>
              <a:t>từng</a:t>
            </a:r>
            <a:r>
              <a:rPr b="0" dirty="0">
                <a:solidFill>
                  <a:srgbClr val="6E6E78"/>
                </a:solidFill>
                <a:latin typeface="Calibri"/>
              </a:rPr>
              <a:t> </a:t>
            </a:r>
            <a:r>
              <a:rPr b="0" dirty="0" err="1">
                <a:solidFill>
                  <a:srgbClr val="6E6E78"/>
                </a:solidFill>
                <a:latin typeface="Calibri"/>
              </a:rPr>
              <a:t>dùng</a:t>
            </a:r>
            <a:r>
              <a:rPr b="0" dirty="0">
                <a:solidFill>
                  <a:srgbClr val="6E6E78"/>
                </a:solidFill>
                <a:latin typeface="Calibri"/>
              </a:rPr>
              <a:t> </a:t>
            </a:r>
            <a:r>
              <a:rPr b="0" dirty="0" err="1">
                <a:solidFill>
                  <a:srgbClr val="6E6E78"/>
                </a:solidFill>
                <a:latin typeface="Calibri"/>
              </a:rPr>
              <a:t>khi</a:t>
            </a:r>
            <a:r>
              <a:rPr b="0" dirty="0">
                <a:solidFill>
                  <a:srgbClr val="6E6E78"/>
                </a:solidFill>
                <a:latin typeface="Calibri"/>
              </a:rPr>
              <a:t> </a:t>
            </a:r>
            <a:r>
              <a:rPr b="0" dirty="0" err="1">
                <a:solidFill>
                  <a:srgbClr val="6E6E78"/>
                </a:solidFill>
                <a:latin typeface="Calibri"/>
              </a:rPr>
              <a:t>huấn</a:t>
            </a:r>
            <a:r>
              <a:rPr b="0" dirty="0">
                <a:solidFill>
                  <a:srgbClr val="6E6E78"/>
                </a:solidFill>
                <a:latin typeface="Calibri"/>
              </a:rPr>
              <a:t> </a:t>
            </a:r>
            <a:r>
              <a:rPr b="0" dirty="0" err="1">
                <a:solidFill>
                  <a:srgbClr val="6E6E78"/>
                </a:solidFill>
                <a:latin typeface="Calibri"/>
              </a:rPr>
              <a:t>luyện</a:t>
            </a:r>
            <a:r>
              <a:rPr b="0" dirty="0">
                <a:solidFill>
                  <a:srgbClr val="6E6E78"/>
                </a:solidFill>
                <a:latin typeface="Calibri"/>
              </a:rPr>
              <a:t>.</a:t>
            </a:r>
          </a:p>
        </p:txBody>
      </p:sp>
      <p:sp>
        <p:nvSpPr>
          <p:cNvPr id="41" name="Rectangle 40"/>
          <p:cNvSpPr/>
          <p:nvPr/>
        </p:nvSpPr>
        <p:spPr>
          <a:xfrm>
            <a:off x="6368796" y="5212080"/>
            <a:ext cx="4997196" cy="12700"/>
          </a:xfrm>
          <a:prstGeom prst="rect">
            <a:avLst/>
          </a:prstGeom>
          <a:solidFill>
            <a:srgbClr val="DCD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13315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7" name="Shape 4"/>
          <p:cNvSpPr/>
          <p:nvPr/>
        </p:nvSpPr>
        <p:spPr>
          <a:xfrm>
            <a:off x="6517233" y="1330071"/>
            <a:ext cx="5241341" cy="1344168"/>
          </a:xfrm>
          <a:prstGeom prst="roundRect">
            <a:avLst>
              <a:gd name="adj" fmla="val 5921"/>
            </a:avLst>
          </a:prstGeom>
          <a:solidFill>
            <a:srgbClr val="FAFAFB"/>
          </a:solidFill>
          <a:ln w="12700">
            <a:solidFill>
              <a:schemeClr val="tx1"/>
            </a:solidFill>
            <a:prstDash val="solid"/>
          </a:ln>
        </p:spPr>
        <p:txBody>
          <a:bodyPr/>
          <a:lstStyle/>
          <a:p>
            <a:endParaRPr/>
          </a:p>
        </p:txBody>
      </p:sp>
      <p:sp>
        <p:nvSpPr>
          <p:cNvPr id="2" name="Text 0"/>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sp>
        <p:nvSpPr>
          <p:cNvPr id="3" name="Text 1"/>
          <p:cNvSpPr/>
          <p:nvPr/>
        </p:nvSpPr>
        <p:spPr>
          <a:xfrm>
            <a:off x="566928" y="655320"/>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3.1 Quy </a:t>
            </a:r>
            <a:r>
              <a:rPr lang="en-US" sz="2700" b="1" dirty="0" err="1">
                <a:solidFill>
                  <a:srgbClr val="1A1C22"/>
                </a:solidFill>
                <a:latin typeface="Cambria" pitchFamily="34" charset="0"/>
                <a:ea typeface="Cambria" pitchFamily="34" charset="-122"/>
                <a:cs typeface="Cambria" pitchFamily="34" charset="-120"/>
              </a:rPr>
              <a:t>trình</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thiết</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kế</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và</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triển</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khai</a:t>
            </a:r>
            <a:r>
              <a:rPr lang="en-US" sz="2700" b="1" dirty="0">
                <a:solidFill>
                  <a:srgbClr val="1A1C22"/>
                </a:solidFill>
                <a:latin typeface="Cambria" pitchFamily="34" charset="0"/>
                <a:ea typeface="Cambria" pitchFamily="34" charset="-122"/>
                <a:cs typeface="Cambria" pitchFamily="34" charset="-120"/>
              </a:rPr>
              <a:t> </a:t>
            </a:r>
            <a:r>
              <a:rPr lang="en-US" sz="2700" b="1" dirty="0" err="1">
                <a:solidFill>
                  <a:srgbClr val="1A1C22"/>
                </a:solidFill>
                <a:latin typeface="Cambria" pitchFamily="34" charset="0"/>
                <a:ea typeface="Cambria" pitchFamily="34" charset="-122"/>
                <a:cs typeface="Cambria" pitchFamily="34" charset="-120"/>
              </a:rPr>
              <a:t>trên</a:t>
            </a:r>
            <a:r>
              <a:rPr lang="en-US" sz="2700" b="1" dirty="0">
                <a:solidFill>
                  <a:srgbClr val="1A1C22"/>
                </a:solidFill>
                <a:latin typeface="Cambria" pitchFamily="34" charset="0"/>
                <a:ea typeface="Cambria" pitchFamily="34" charset="-122"/>
                <a:cs typeface="Cambria" pitchFamily="34" charset="-120"/>
              </a:rPr>
              <a:t> FPGA</a:t>
            </a:r>
            <a:endParaRPr lang="en-US" sz="2700" dirty="0"/>
          </a:p>
        </p:txBody>
      </p:sp>
      <p:sp>
        <p:nvSpPr>
          <p:cNvPr id="4" name="Text 2"/>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12</a:t>
            </a:r>
            <a:endParaRPr lang="en-US" sz="1000" dirty="0"/>
          </a:p>
        </p:txBody>
      </p:sp>
      <p:pic>
        <p:nvPicPr>
          <p:cNvPr id="5" name="Image 0" descr="img/image3.png"/>
          <p:cNvPicPr>
            <a:picLocks noChangeAspect="1"/>
          </p:cNvPicPr>
          <p:nvPr/>
        </p:nvPicPr>
        <p:blipFill>
          <a:blip r:embed="rId3"/>
          <a:stretch>
            <a:fillRect/>
          </a:stretch>
        </p:blipFill>
        <p:spPr>
          <a:xfrm>
            <a:off x="433425" y="1655064"/>
            <a:ext cx="5119265" cy="3828669"/>
          </a:xfrm>
          <a:prstGeom prst="rect">
            <a:avLst/>
          </a:prstGeom>
        </p:spPr>
      </p:pic>
      <p:sp>
        <p:nvSpPr>
          <p:cNvPr id="8" name="Shape 5"/>
          <p:cNvSpPr/>
          <p:nvPr/>
        </p:nvSpPr>
        <p:spPr>
          <a:xfrm>
            <a:off x="6711849" y="1384935"/>
            <a:ext cx="329184" cy="329184"/>
          </a:xfrm>
          <a:prstGeom prst="ellipse">
            <a:avLst/>
          </a:prstGeom>
          <a:solidFill>
            <a:srgbClr val="2F3C7E"/>
          </a:solidFill>
          <a:ln w="12700">
            <a:solidFill>
              <a:srgbClr val="2F3C7E"/>
            </a:solidFill>
            <a:prstDash val="solid"/>
          </a:ln>
        </p:spPr>
      </p:sp>
      <p:sp>
        <p:nvSpPr>
          <p:cNvPr id="9" name="Text 6"/>
          <p:cNvSpPr/>
          <p:nvPr/>
        </p:nvSpPr>
        <p:spPr>
          <a:xfrm>
            <a:off x="6711849" y="1384935"/>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p:nvPr/>
        </p:nvSpPr>
        <p:spPr>
          <a:xfrm>
            <a:off x="7163715" y="1384935"/>
            <a:ext cx="4451604" cy="329184"/>
          </a:xfrm>
          <a:prstGeom prst="rect">
            <a:avLst/>
          </a:prstGeom>
          <a:noFill/>
          <a:ln/>
        </p:spPr>
        <p:txBody>
          <a:bodyPr wrap="square" lIns="0" tIns="0" rIns="0" bIns="0" rtlCol="0" anchor="ctr"/>
          <a:lstStyle/>
          <a:p>
            <a:pPr marL="0" indent="0">
              <a:buNone/>
            </a:pPr>
            <a:r>
              <a:rPr lang="en-US" sz="2000" b="1" dirty="0">
                <a:solidFill>
                  <a:srgbClr val="1A1C22"/>
                </a:solidFill>
                <a:latin typeface="Calibri" pitchFamily="34" charset="0"/>
                <a:ea typeface="Calibri" pitchFamily="34" charset="-122"/>
                <a:cs typeface="Calibri" pitchFamily="34" charset="-120"/>
              </a:rPr>
              <a:t>Giai </a:t>
            </a:r>
            <a:r>
              <a:rPr lang="en-US" sz="2000" b="1" dirty="0" err="1">
                <a:solidFill>
                  <a:srgbClr val="1A1C22"/>
                </a:solidFill>
                <a:latin typeface="Calibri" pitchFamily="34" charset="0"/>
                <a:ea typeface="Calibri" pitchFamily="34" charset="-122"/>
                <a:cs typeface="Calibri" pitchFamily="34" charset="-120"/>
              </a:rPr>
              <a:t>đoạn</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thuật</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toán</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mô</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hình</a:t>
            </a:r>
            <a:r>
              <a:rPr lang="en-US" sz="2000" b="1" dirty="0">
                <a:solidFill>
                  <a:srgbClr val="1A1C22"/>
                </a:solidFill>
                <a:latin typeface="Calibri" pitchFamily="34" charset="0"/>
                <a:ea typeface="Calibri" pitchFamily="34" charset="-122"/>
                <a:cs typeface="Calibri" pitchFamily="34" charset="-120"/>
              </a:rPr>
              <a:t> — PyTorch</a:t>
            </a:r>
            <a:endParaRPr lang="en-US" sz="2000" dirty="0"/>
          </a:p>
        </p:txBody>
      </p:sp>
      <p:sp>
        <p:nvSpPr>
          <p:cNvPr id="11" name="Text 8"/>
          <p:cNvSpPr/>
          <p:nvPr/>
        </p:nvSpPr>
        <p:spPr>
          <a:xfrm>
            <a:off x="7018935" y="1814703"/>
            <a:ext cx="4442460" cy="713232"/>
          </a:xfrm>
          <a:prstGeom prst="rect">
            <a:avLst/>
          </a:prstGeom>
          <a:noFill/>
          <a:ln/>
        </p:spPr>
        <p:txBody>
          <a:bodyPr wrap="square" lIns="0" tIns="0" rIns="0" bIns="0" rtlCol="0" anchor="t"/>
          <a:lstStyle/>
          <a:p>
            <a:pPr marL="0" indent="0">
              <a:buNone/>
            </a:pPr>
            <a:r>
              <a:rPr lang="en-US" sz="1600" dirty="0">
                <a:solidFill>
                  <a:srgbClr val="6E6E78"/>
                </a:solidFill>
                <a:latin typeface="Calibri" pitchFamily="34" charset="0"/>
                <a:ea typeface="Calibri" pitchFamily="34" charset="-122"/>
                <a:cs typeface="Calibri" pitchFamily="34" charset="-120"/>
              </a:rPr>
              <a:t>Xử lý dữ liệu → huấn luyện → cắt tỉa kênh → lượng tử hoá INT8 → trích xuất trọng số ra tệp .hex.</a:t>
            </a:r>
            <a:endParaRPr lang="en-US" sz="1600" dirty="0"/>
          </a:p>
        </p:txBody>
      </p:sp>
      <p:sp>
        <p:nvSpPr>
          <p:cNvPr id="12" name="Shape 9"/>
          <p:cNvSpPr/>
          <p:nvPr/>
        </p:nvSpPr>
        <p:spPr>
          <a:xfrm>
            <a:off x="6487059" y="2977515"/>
            <a:ext cx="5271516" cy="1389888"/>
          </a:xfrm>
          <a:prstGeom prst="roundRect">
            <a:avLst>
              <a:gd name="adj" fmla="val 5921"/>
            </a:avLst>
          </a:prstGeom>
          <a:solidFill>
            <a:srgbClr val="F7EFEF"/>
          </a:solidFill>
          <a:ln w="12700">
            <a:solidFill>
              <a:schemeClr val="tx1"/>
            </a:solidFill>
            <a:prstDash val="solid"/>
          </a:ln>
        </p:spPr>
      </p:sp>
      <p:sp>
        <p:nvSpPr>
          <p:cNvPr id="13" name="Shape 10"/>
          <p:cNvSpPr/>
          <p:nvPr/>
        </p:nvSpPr>
        <p:spPr>
          <a:xfrm>
            <a:off x="6724803" y="3178683"/>
            <a:ext cx="329184" cy="329184"/>
          </a:xfrm>
          <a:prstGeom prst="ellipse">
            <a:avLst/>
          </a:prstGeom>
          <a:solidFill>
            <a:srgbClr val="990011"/>
          </a:solidFill>
          <a:ln w="12700">
            <a:solidFill>
              <a:srgbClr val="990011"/>
            </a:solidFill>
            <a:prstDash val="solid"/>
          </a:ln>
        </p:spPr>
      </p:sp>
      <p:sp>
        <p:nvSpPr>
          <p:cNvPr id="14" name="Text 11"/>
          <p:cNvSpPr/>
          <p:nvPr/>
        </p:nvSpPr>
        <p:spPr>
          <a:xfrm>
            <a:off x="6724803" y="3178683"/>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7163715" y="3160395"/>
            <a:ext cx="3749040" cy="329184"/>
          </a:xfrm>
          <a:prstGeom prst="rect">
            <a:avLst/>
          </a:prstGeom>
          <a:noFill/>
          <a:ln/>
        </p:spPr>
        <p:txBody>
          <a:bodyPr wrap="square" lIns="0" tIns="0" rIns="0" bIns="0" rtlCol="0" anchor="ctr"/>
          <a:lstStyle/>
          <a:p>
            <a:pPr marL="0" indent="0">
              <a:buNone/>
            </a:pPr>
            <a:r>
              <a:rPr lang="en-US" sz="2000" b="1" dirty="0">
                <a:solidFill>
                  <a:srgbClr val="990011"/>
                </a:solidFill>
                <a:latin typeface="Calibri" pitchFamily="34" charset="0"/>
                <a:ea typeface="Calibri" pitchFamily="34" charset="-122"/>
                <a:cs typeface="Calibri" pitchFamily="34" charset="-120"/>
              </a:rPr>
              <a:t>Giai đoạn phần cứng — Verilog</a:t>
            </a:r>
            <a:endParaRPr lang="en-US" sz="2000" dirty="0"/>
          </a:p>
        </p:txBody>
      </p:sp>
      <p:sp>
        <p:nvSpPr>
          <p:cNvPr id="16" name="Text 13"/>
          <p:cNvSpPr/>
          <p:nvPr/>
        </p:nvSpPr>
        <p:spPr>
          <a:xfrm>
            <a:off x="6743091" y="3544443"/>
            <a:ext cx="4872228" cy="713232"/>
          </a:xfrm>
          <a:prstGeom prst="rect">
            <a:avLst/>
          </a:prstGeom>
          <a:noFill/>
          <a:ln/>
        </p:spPr>
        <p:txBody>
          <a:bodyPr wrap="square" lIns="0" tIns="0" rIns="0" bIns="0" rtlCol="0" anchor="t"/>
          <a:lstStyle/>
          <a:p>
            <a:pPr marL="0" indent="0">
              <a:buNone/>
            </a:pPr>
            <a:r>
              <a:rPr lang="en-US" sz="1600" dirty="0" err="1">
                <a:solidFill>
                  <a:srgbClr val="6E6E78"/>
                </a:solidFill>
                <a:latin typeface="Calibri" pitchFamily="34" charset="0"/>
                <a:ea typeface="Calibri" pitchFamily="34" charset="-122"/>
                <a:cs typeface="Calibri" pitchFamily="34" charset="-120"/>
              </a:rPr>
              <a:t>Thiết</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kế</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và</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mô</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tả</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kiến</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trúc</a:t>
            </a:r>
            <a:r>
              <a:rPr lang="en-US" sz="1600" dirty="0">
                <a:solidFill>
                  <a:srgbClr val="6E6E78"/>
                </a:solidFill>
                <a:latin typeface="Calibri" pitchFamily="34" charset="0"/>
                <a:ea typeface="Calibri" pitchFamily="34" charset="-122"/>
                <a:cs typeface="Calibri" pitchFamily="34" charset="-120"/>
              </a:rPr>
              <a:t> </a:t>
            </a:r>
            <a:r>
              <a:rPr lang="en-US" sz="1600" dirty="0" err="1">
                <a:solidFill>
                  <a:srgbClr val="6E6E78"/>
                </a:solidFill>
                <a:latin typeface="Calibri" pitchFamily="34" charset="0"/>
                <a:ea typeface="Calibri" pitchFamily="34" charset="-122"/>
                <a:cs typeface="Calibri" pitchFamily="34" charset="-120"/>
              </a:rPr>
              <a:t>mức</a:t>
            </a:r>
            <a:r>
              <a:rPr lang="en-US" sz="1600" dirty="0">
                <a:solidFill>
                  <a:srgbClr val="6E6E78"/>
                </a:solidFill>
                <a:latin typeface="Calibri" pitchFamily="34" charset="0"/>
                <a:ea typeface="Calibri" pitchFamily="34" charset="-122"/>
                <a:cs typeface="Calibri" pitchFamily="34" charset="-120"/>
              </a:rPr>
              <a:t> RTL </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Mô</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phỏng</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chức</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năng</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Tổng</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hợp</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thiết</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kế</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trên</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phần</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a:t>
            </a:r>
            <a:r>
              <a:rPr lang="en-US" sz="1600" dirty="0" err="1">
                <a:solidFill>
                  <a:srgbClr val="6E6E78"/>
                </a:solidFill>
                <a:latin typeface="Calibri" pitchFamily="34" charset="0"/>
                <a:ea typeface="Calibri" pitchFamily="34" charset="-122"/>
                <a:cs typeface="Calibri" pitchFamily="34" charset="-120"/>
                <a:sym typeface="Wingdings" panose="05000000000000000000" pitchFamily="2" charset="2"/>
              </a:rPr>
              <a:t>mềm</a:t>
            </a:r>
            <a:r>
              <a:rPr lang="en-US" sz="1600" dirty="0">
                <a:solidFill>
                  <a:srgbClr val="6E6E78"/>
                </a:solidFill>
                <a:latin typeface="Calibri" pitchFamily="34" charset="0"/>
                <a:ea typeface="Calibri" pitchFamily="34" charset="-122"/>
                <a:cs typeface="Calibri" pitchFamily="34" charset="-120"/>
                <a:sym typeface="Wingdings" panose="05000000000000000000" pitchFamily="2" charset="2"/>
              </a:rPr>
              <a:t> Quartus</a:t>
            </a:r>
            <a:endParaRPr lang="en-US" sz="1600" dirty="0"/>
          </a:p>
        </p:txBody>
      </p:sp>
      <p:sp>
        <p:nvSpPr>
          <p:cNvPr id="17" name="Shape 14"/>
          <p:cNvSpPr/>
          <p:nvPr/>
        </p:nvSpPr>
        <p:spPr>
          <a:xfrm>
            <a:off x="6487059" y="4651629"/>
            <a:ext cx="5271516" cy="1298448"/>
          </a:xfrm>
          <a:prstGeom prst="roundRect">
            <a:avLst>
              <a:gd name="adj" fmla="val 5921"/>
            </a:avLst>
          </a:prstGeom>
          <a:solidFill>
            <a:srgbClr val="FAFAFB"/>
          </a:solidFill>
          <a:ln w="12700">
            <a:solidFill>
              <a:schemeClr val="tx1"/>
            </a:solidFill>
            <a:prstDash val="solid"/>
          </a:ln>
        </p:spPr>
      </p:sp>
      <p:sp>
        <p:nvSpPr>
          <p:cNvPr id="18" name="Shape 15"/>
          <p:cNvSpPr/>
          <p:nvPr/>
        </p:nvSpPr>
        <p:spPr>
          <a:xfrm>
            <a:off x="6724803" y="4761357"/>
            <a:ext cx="329184" cy="329184"/>
          </a:xfrm>
          <a:prstGeom prst="ellipse">
            <a:avLst/>
          </a:prstGeom>
          <a:solidFill>
            <a:srgbClr val="2F3C7E"/>
          </a:solidFill>
          <a:ln w="12700">
            <a:solidFill>
              <a:srgbClr val="2F3C7E"/>
            </a:solidFill>
            <a:prstDash val="solid"/>
          </a:ln>
        </p:spPr>
      </p:sp>
      <p:sp>
        <p:nvSpPr>
          <p:cNvPr id="19" name="Text 16"/>
          <p:cNvSpPr/>
          <p:nvPr/>
        </p:nvSpPr>
        <p:spPr>
          <a:xfrm>
            <a:off x="6724803" y="4761357"/>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7163715" y="4743069"/>
            <a:ext cx="3749040" cy="329184"/>
          </a:xfrm>
          <a:prstGeom prst="rect">
            <a:avLst/>
          </a:prstGeom>
          <a:noFill/>
          <a:ln/>
        </p:spPr>
        <p:txBody>
          <a:bodyPr wrap="square" lIns="0" tIns="0" rIns="0" bIns="0" rtlCol="0" anchor="ctr"/>
          <a:lstStyle/>
          <a:p>
            <a:pPr marL="0" indent="0">
              <a:buNone/>
            </a:pPr>
            <a:r>
              <a:rPr lang="en-US" sz="2000" b="1" dirty="0" err="1">
                <a:solidFill>
                  <a:srgbClr val="1A1C22"/>
                </a:solidFill>
                <a:latin typeface="Calibri" pitchFamily="34" charset="0"/>
                <a:ea typeface="Calibri" pitchFamily="34" charset="-122"/>
                <a:cs typeface="Calibri" pitchFamily="34" charset="-120"/>
              </a:rPr>
              <a:t>Thực</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nghiệm</a:t>
            </a:r>
            <a:r>
              <a:rPr lang="en-US" sz="2000" b="1" dirty="0">
                <a:solidFill>
                  <a:srgbClr val="1A1C22"/>
                </a:solidFill>
                <a:latin typeface="Calibri" pitchFamily="34" charset="0"/>
                <a:ea typeface="Calibri" pitchFamily="34" charset="-122"/>
                <a:cs typeface="Calibri" pitchFamily="34" charset="-120"/>
              </a:rPr>
              <a:t> </a:t>
            </a:r>
            <a:r>
              <a:rPr lang="en-US" sz="2000" b="1" dirty="0" err="1">
                <a:solidFill>
                  <a:srgbClr val="1A1C22"/>
                </a:solidFill>
                <a:latin typeface="Calibri" pitchFamily="34" charset="0"/>
                <a:ea typeface="Calibri" pitchFamily="34" charset="-122"/>
                <a:cs typeface="Calibri" pitchFamily="34" charset="-120"/>
              </a:rPr>
              <a:t>trên</a:t>
            </a:r>
            <a:r>
              <a:rPr lang="en-US" sz="2000" b="1" dirty="0">
                <a:solidFill>
                  <a:srgbClr val="1A1C22"/>
                </a:solidFill>
                <a:latin typeface="Calibri" pitchFamily="34" charset="0"/>
                <a:ea typeface="Calibri" pitchFamily="34" charset="-122"/>
                <a:cs typeface="Calibri" pitchFamily="34" charset="-120"/>
              </a:rPr>
              <a:t> board FPGA</a:t>
            </a:r>
            <a:endParaRPr lang="en-US" sz="2000" dirty="0"/>
          </a:p>
        </p:txBody>
      </p:sp>
      <p:sp>
        <p:nvSpPr>
          <p:cNvPr id="21" name="Text 18"/>
          <p:cNvSpPr/>
          <p:nvPr/>
        </p:nvSpPr>
        <p:spPr>
          <a:xfrm>
            <a:off x="6743090" y="5127117"/>
            <a:ext cx="4946905" cy="713232"/>
          </a:xfrm>
          <a:prstGeom prst="rect">
            <a:avLst/>
          </a:prstGeom>
          <a:noFill/>
          <a:ln/>
        </p:spPr>
        <p:txBody>
          <a:bodyPr wrap="square" lIns="0" tIns="0" rIns="0" bIns="0" rtlCol="0" anchor="t"/>
          <a:lstStyle/>
          <a:p>
            <a:pPr marL="0" indent="0">
              <a:buNone/>
            </a:pPr>
            <a:r>
              <a:rPr lang="en-US" sz="1600" dirty="0">
                <a:solidFill>
                  <a:srgbClr val="6E6E78"/>
                </a:solidFill>
                <a:latin typeface="Calibri" pitchFamily="34" charset="0"/>
                <a:ea typeface="Calibri" pitchFamily="34" charset="-122"/>
                <a:cs typeface="Calibri" pitchFamily="34" charset="-120"/>
              </a:rPr>
              <a:t>Bọc lõi bằng Avalon-MM wrapper, ghép cầu JTAG-to-Avalon, điều khiển từ PC qua System Console.</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3D2F65-C702-6F54-26EE-C71F2E57B22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6819260-86F6-59EE-14B6-4B7F95CAF8DF}"/>
              </a:ext>
            </a:extLst>
          </p:cNvPr>
          <p:cNvSpPr/>
          <p:nvPr/>
        </p:nvSpPr>
        <p:spPr>
          <a:xfrm>
            <a:off x="534924" y="633985"/>
            <a:ext cx="11055096" cy="548640"/>
          </a:xfrm>
          <a:prstGeom prst="rect">
            <a:avLst/>
          </a:prstGeom>
          <a:noFill/>
          <a:ln/>
        </p:spPr>
        <p:txBody>
          <a:bodyPr wrap="square" lIns="0" tIns="0" rIns="0" bIns="0" rtlCol="0" anchor="t"/>
          <a:lstStyle/>
          <a:p>
            <a:pPr marL="0" indent="0">
              <a:buNone/>
            </a:pPr>
            <a:r>
              <a:rPr lang="en-US" sz="2700" b="1" dirty="0">
                <a:solidFill>
                  <a:srgbClr val="1A1C22"/>
                </a:solidFill>
                <a:latin typeface="Cambria" pitchFamily="34" charset="0"/>
                <a:ea typeface="Cambria" pitchFamily="34" charset="-122"/>
                <a:cs typeface="Cambria" pitchFamily="34" charset="-120"/>
              </a:rPr>
              <a:t>3.2.2 </a:t>
            </a:r>
            <a:r>
              <a:rPr lang="en-US" sz="2700" b="1" dirty="0" err="1">
                <a:solidFill>
                  <a:srgbClr val="1A1C22"/>
                </a:solidFill>
                <a:latin typeface="Cambria" pitchFamily="34" charset="0"/>
                <a:ea typeface="Cambria" pitchFamily="34" charset="-122"/>
                <a:cs typeface="Cambria" pitchFamily="34" charset="-120"/>
              </a:rPr>
              <a:t>Khối</a:t>
            </a:r>
            <a:r>
              <a:rPr lang="en-US" sz="2700" b="1" dirty="0">
                <a:solidFill>
                  <a:srgbClr val="1A1C22"/>
                </a:solidFill>
                <a:latin typeface="Cambria" pitchFamily="34" charset="0"/>
                <a:ea typeface="Cambria" pitchFamily="34" charset="-122"/>
                <a:cs typeface="Cambria" pitchFamily="34" charset="-120"/>
              </a:rPr>
              <a:t> engine unit</a:t>
            </a:r>
            <a:endParaRPr lang="en-US" sz="2700" dirty="0"/>
          </a:p>
        </p:txBody>
      </p:sp>
      <p:sp>
        <p:nvSpPr>
          <p:cNvPr id="4" name="Text 2">
            <a:extLst>
              <a:ext uri="{FF2B5EF4-FFF2-40B4-BE49-F238E27FC236}">
                <a16:creationId xmlns:a16="http://schemas.microsoft.com/office/drawing/2014/main" id="{E3CE2038-3B70-9FCD-4DD5-891589E1563C}"/>
              </a:ext>
            </a:extLst>
          </p:cNvPr>
          <p:cNvSpPr/>
          <p:nvPr/>
        </p:nvSpPr>
        <p:spPr>
          <a:xfrm>
            <a:off x="11475720" y="6364224"/>
            <a:ext cx="457200" cy="256032"/>
          </a:xfrm>
          <a:prstGeom prst="rect">
            <a:avLst/>
          </a:prstGeom>
          <a:noFill/>
          <a:ln/>
        </p:spPr>
        <p:txBody>
          <a:bodyPr wrap="square" lIns="0" tIns="0" rIns="0" bIns="0" rtlCol="0" anchor="ctr"/>
          <a:lstStyle/>
          <a:p>
            <a:pPr marL="0" indent="0" algn="r">
              <a:buNone/>
            </a:pPr>
            <a:r>
              <a:rPr lang="en-US" sz="1000" dirty="0">
                <a:solidFill>
                  <a:srgbClr val="6E6E78"/>
                </a:solidFill>
                <a:latin typeface="Calibri" pitchFamily="34" charset="0"/>
                <a:ea typeface="Calibri" pitchFamily="34" charset="-122"/>
                <a:cs typeface="Calibri" pitchFamily="34" charset="-120"/>
              </a:rPr>
              <a:t>24</a:t>
            </a:r>
            <a:endParaRPr lang="en-US" sz="1000" dirty="0"/>
          </a:p>
        </p:txBody>
      </p:sp>
      <p:sp>
        <p:nvSpPr>
          <p:cNvPr id="8" name="Text 5">
            <a:extLst>
              <a:ext uri="{FF2B5EF4-FFF2-40B4-BE49-F238E27FC236}">
                <a16:creationId xmlns:a16="http://schemas.microsoft.com/office/drawing/2014/main" id="{7C169BFB-2E2C-D4DD-577E-9FDCFC975A57}"/>
              </a:ext>
            </a:extLst>
          </p:cNvPr>
          <p:cNvSpPr/>
          <p:nvPr/>
        </p:nvSpPr>
        <p:spPr>
          <a:xfrm>
            <a:off x="8555642" y="1570094"/>
            <a:ext cx="2905917" cy="292608"/>
          </a:xfrm>
          <a:prstGeom prst="rect">
            <a:avLst/>
          </a:prstGeom>
          <a:noFill/>
          <a:ln/>
        </p:spPr>
        <p:txBody>
          <a:bodyPr wrap="square" lIns="0" tIns="0" rIns="0" bIns="0" rtlCol="0" anchor="ctr"/>
          <a:lstStyle/>
          <a:p>
            <a:pPr marL="0" indent="0">
              <a:buNone/>
            </a:pPr>
            <a:endParaRPr lang="en-US" sz="1400" dirty="0"/>
          </a:p>
        </p:txBody>
      </p:sp>
      <p:sp>
        <p:nvSpPr>
          <p:cNvPr id="9" name="Text 6">
            <a:extLst>
              <a:ext uri="{FF2B5EF4-FFF2-40B4-BE49-F238E27FC236}">
                <a16:creationId xmlns:a16="http://schemas.microsoft.com/office/drawing/2014/main" id="{21949892-696E-60C8-C897-C8E2EA9B709A}"/>
              </a:ext>
            </a:extLst>
          </p:cNvPr>
          <p:cNvSpPr/>
          <p:nvPr/>
        </p:nvSpPr>
        <p:spPr>
          <a:xfrm>
            <a:off x="8555644" y="1954142"/>
            <a:ext cx="2905916" cy="2377440"/>
          </a:xfrm>
          <a:prstGeom prst="rect">
            <a:avLst/>
          </a:prstGeom>
          <a:noFill/>
          <a:ln/>
        </p:spPr>
        <p:txBody>
          <a:bodyPr wrap="square" lIns="0" tIns="0" rIns="0" bIns="0" rtlCol="0" anchor="t"/>
          <a:lstStyle/>
          <a:p>
            <a:pPr marL="342900" indent="-342900">
              <a:spcAft>
                <a:spcPts val="700"/>
              </a:spcAft>
              <a:buSzPct val="100000"/>
              <a:buChar char="•"/>
            </a:pPr>
            <a:endParaRPr lang="en-US" sz="1200" dirty="0"/>
          </a:p>
        </p:txBody>
      </p:sp>
      <p:sp>
        <p:nvSpPr>
          <p:cNvPr id="10" name="Shape 7">
            <a:extLst>
              <a:ext uri="{FF2B5EF4-FFF2-40B4-BE49-F238E27FC236}">
                <a16:creationId xmlns:a16="http://schemas.microsoft.com/office/drawing/2014/main" id="{68D80F23-383E-4657-EE7A-EA074B422833}"/>
              </a:ext>
            </a:extLst>
          </p:cNvPr>
          <p:cNvSpPr/>
          <p:nvPr/>
        </p:nvSpPr>
        <p:spPr>
          <a:xfrm>
            <a:off x="498350" y="1285317"/>
            <a:ext cx="11434570" cy="936303"/>
          </a:xfrm>
          <a:prstGeom prst="roundRect">
            <a:avLst>
              <a:gd name="adj" fmla="val 5233"/>
            </a:avLst>
          </a:prstGeom>
          <a:solidFill>
            <a:srgbClr val="EFF1F8"/>
          </a:solidFill>
          <a:ln w="12700">
            <a:solidFill>
              <a:srgbClr val="EFF1F8"/>
            </a:solidFill>
            <a:prstDash val="solid"/>
          </a:ln>
        </p:spPr>
        <p:txBody>
          <a:bodyPr/>
          <a:lstStyle/>
          <a:p>
            <a:r>
              <a:rPr lang="en-US" b="1" dirty="0">
                <a:solidFill>
                  <a:srgbClr val="2F3C7E"/>
                </a:solidFill>
                <a:latin typeface="Calibri" pitchFamily="34" charset="0"/>
                <a:ea typeface="Calibri" pitchFamily="34" charset="-122"/>
                <a:cs typeface="Calibri" pitchFamily="34" charset="-120"/>
              </a:rPr>
              <a:t>Sliding register window (SRW)</a:t>
            </a:r>
            <a:endParaRPr lang="en-US" dirty="0"/>
          </a:p>
          <a:p>
            <a:r>
              <a:rPr lang="en-US" dirty="0" err="1">
                <a:solidFill>
                  <a:srgbClr val="6E6E78"/>
                </a:solidFill>
                <a:latin typeface="Calibri" pitchFamily="34" charset="0"/>
                <a:ea typeface="Calibri" pitchFamily="34" charset="-122"/>
                <a:cs typeface="Calibri" pitchFamily="34" charset="-120"/>
              </a:rPr>
              <a:t>Mỗi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kênh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vào</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có</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thanh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ghi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dịch</a:t>
            </a:r>
            <a:r>
              <a:rPr lang="en-US" dirty="0">
                <a:solidFill>
                  <a:srgbClr val="6E6E78"/>
                </a:solidFill>
                <a:latin typeface="Calibri" pitchFamily="34" charset="0"/>
                <a:ea typeface="Calibri" pitchFamily="34" charset="-122"/>
                <a:cs typeface="Calibri" pitchFamily="34" charset="-120"/>
              </a:rPr>
              <a:t> 5 ô × 8 bit. </a:t>
            </a:r>
            <a:r>
              <a:rPr lang="en-US" dirty="0" err="1">
                <a:solidFill>
                  <a:srgbClr val="6E6E78"/>
                </a:solidFill>
                <a:latin typeface="Calibri" pitchFamily="34" charset="0"/>
                <a:ea typeface="Calibri" pitchFamily="34" charset="-122"/>
                <a:cs typeface="Calibri" pitchFamily="34" charset="-120"/>
              </a:rPr>
              <a:t>Nếu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tính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trực</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tiếp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mỗi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mẫu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phải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đọc</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lại</a:t>
            </a:r>
            <a:r>
              <a:rPr lang="en-US" dirty="0">
                <a:solidFill>
                  <a:srgbClr val="6E6E78"/>
                </a:solidFill>
                <a:latin typeface="Calibri" pitchFamily="34" charset="0"/>
                <a:ea typeface="Calibri" pitchFamily="34" charset="-122"/>
                <a:cs typeface="Calibri" pitchFamily="34" charset="-120"/>
              </a:rPr>
              <a:t> 5 </a:t>
            </a:r>
            <a:r>
              <a:rPr lang="en-US" dirty="0" err="1">
                <a:solidFill>
                  <a:srgbClr val="6E6E78"/>
                </a:solidFill>
                <a:latin typeface="Calibri" pitchFamily="34" charset="0"/>
                <a:ea typeface="Calibri" pitchFamily="34" charset="-122"/>
                <a:cs typeface="Calibri" pitchFamily="34" charset="-120"/>
              </a:rPr>
              <a:t>lần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với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cửa</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sổ</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trượt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mỗi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mẫu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chỉ</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đọc</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đúng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một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lần</a:t>
            </a:r>
            <a:r>
              <a:rPr lang="en-US" dirty="0">
                <a:solidFill>
                  <a:srgbClr val="6E6E78"/>
                </a:solidFill>
                <a:latin typeface="Calibri" pitchFamily="34" charset="0"/>
                <a:ea typeface="Calibri" pitchFamily="34" charset="-122"/>
                <a:cs typeface="Calibri" pitchFamily="34" charset="-120"/>
              </a:rPr>
              <a:t> → </a:t>
            </a:r>
            <a:r>
              <a:rPr lang="en-US" dirty="0" err="1">
                <a:solidFill>
                  <a:srgbClr val="6E6E78"/>
                </a:solidFill>
                <a:latin typeface="Calibri" pitchFamily="34" charset="0"/>
                <a:ea typeface="Calibri" pitchFamily="34" charset="-122"/>
                <a:cs typeface="Calibri" pitchFamily="34" charset="-120"/>
              </a:rPr>
              <a:t>giảm</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truy</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cập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bộ</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nhớ</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còn</a:t>
            </a:r>
            <a:r>
              <a:rPr lang="en-US" dirty="0">
                <a:solidFill>
                  <a:srgbClr val="6E6E78"/>
                </a:solidFill>
                <a:latin typeface="Calibri" pitchFamily="34" charset="0"/>
                <a:ea typeface="Calibri" pitchFamily="34" charset="-122"/>
                <a:cs typeface="Calibri" pitchFamily="34" charset="-120"/>
              </a:rPr>
              <a:t> 1/5.</a:t>
            </a:r>
            <a:endParaRPr lang="en-US" dirty="0"/>
          </a:p>
          <a:p>
            <a:endParaRPr lang="en-US" dirty="0"/>
          </a:p>
        </p:txBody>
      </p:sp>
      <p:sp>
        <p:nvSpPr>
          <p:cNvPr id="11" name="Text 8">
            <a:extLst>
              <a:ext uri="{FF2B5EF4-FFF2-40B4-BE49-F238E27FC236}">
                <a16:creationId xmlns:a16="http://schemas.microsoft.com/office/drawing/2014/main" id="{8E7AD4E1-E44F-FE65-9571-8B628E4D54E6}"/>
              </a:ext>
            </a:extLst>
          </p:cNvPr>
          <p:cNvSpPr/>
          <p:nvPr/>
        </p:nvSpPr>
        <p:spPr>
          <a:xfrm>
            <a:off x="717804" y="4978557"/>
            <a:ext cx="3255264" cy="310896"/>
          </a:xfrm>
          <a:prstGeom prst="rect">
            <a:avLst/>
          </a:prstGeom>
          <a:noFill/>
          <a:ln/>
        </p:spPr>
        <p:txBody>
          <a:bodyPr wrap="square" lIns="0" tIns="0" rIns="0" bIns="0" rtlCol="0" anchor="ctr"/>
          <a:lstStyle/>
          <a:p>
            <a:pPr marL="0" indent="0">
              <a:buNone/>
            </a:pPr>
            <a:endParaRPr lang="en-US" sz="1250" dirty="0"/>
          </a:p>
        </p:txBody>
      </p:sp>
      <p:sp>
        <p:nvSpPr>
          <p:cNvPr id="12" name="Text 9">
            <a:extLst>
              <a:ext uri="{FF2B5EF4-FFF2-40B4-BE49-F238E27FC236}">
                <a16:creationId xmlns:a16="http://schemas.microsoft.com/office/drawing/2014/main" id="{D6B853D9-160A-5385-4BA2-12155AFBF11F}"/>
              </a:ext>
            </a:extLst>
          </p:cNvPr>
          <p:cNvSpPr/>
          <p:nvPr/>
        </p:nvSpPr>
        <p:spPr>
          <a:xfrm>
            <a:off x="717804" y="5326029"/>
            <a:ext cx="3255264" cy="1024128"/>
          </a:xfrm>
          <a:prstGeom prst="rect">
            <a:avLst/>
          </a:prstGeom>
          <a:noFill/>
          <a:ln/>
        </p:spPr>
        <p:txBody>
          <a:bodyPr wrap="square" lIns="0" tIns="0" rIns="0" bIns="0" rtlCol="0" anchor="t"/>
          <a:lstStyle/>
          <a:p>
            <a:pPr marL="0" indent="0">
              <a:buNone/>
            </a:pPr>
            <a:endParaRPr lang="en-US" sz="1050" dirty="0"/>
          </a:p>
        </p:txBody>
      </p:sp>
      <p:sp>
        <p:nvSpPr>
          <p:cNvPr id="13" name="Shape 10">
            <a:extLst>
              <a:ext uri="{FF2B5EF4-FFF2-40B4-BE49-F238E27FC236}">
                <a16:creationId xmlns:a16="http://schemas.microsoft.com/office/drawing/2014/main" id="{9CEC91C9-2508-00CC-4DF6-BE33ED1584B3}"/>
              </a:ext>
            </a:extLst>
          </p:cNvPr>
          <p:cNvSpPr/>
          <p:nvPr/>
        </p:nvSpPr>
        <p:spPr>
          <a:xfrm>
            <a:off x="717803" y="4149500"/>
            <a:ext cx="6225921" cy="1176529"/>
          </a:xfrm>
          <a:prstGeom prst="roundRect">
            <a:avLst>
              <a:gd name="adj" fmla="val 5233"/>
            </a:avLst>
          </a:prstGeom>
          <a:solidFill>
            <a:srgbClr val="EFF1F8"/>
          </a:solidFill>
          <a:ln w="12700">
            <a:solidFill>
              <a:srgbClr val="EFF1F8"/>
            </a:solidFill>
            <a:prstDash val="solid"/>
          </a:ln>
        </p:spPr>
        <p:txBody>
          <a:bodyPr/>
          <a:lstStyle/>
          <a:p>
            <a:r>
              <a:rPr lang="en-US" b="1" dirty="0">
                <a:solidFill>
                  <a:srgbClr val="2F3C7E"/>
                </a:solidFill>
                <a:latin typeface="Calibri" pitchFamily="34" charset="0"/>
                <a:ea typeface="Calibri" pitchFamily="34" charset="-122"/>
                <a:cs typeface="Calibri" pitchFamily="34" charset="-120"/>
              </a:rPr>
              <a:t>Padding zero (P = 2 )</a:t>
            </a:r>
            <a:endParaRPr lang="en-US" dirty="0"/>
          </a:p>
          <a:p>
            <a:r>
              <a:rPr lang="en-US" dirty="0" err="1">
                <a:solidFill>
                  <a:srgbClr val="6E6E78"/>
                </a:solidFill>
                <a:latin typeface="Calibri" pitchFamily="34" charset="0"/>
                <a:ea typeface="Calibri" pitchFamily="34" charset="-122"/>
                <a:cs typeface="Calibri" pitchFamily="34" charset="-120"/>
              </a:rPr>
              <a:t>Tín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hiệu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báo</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đệm</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bật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khi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địa</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chỉ</a:t>
            </a:r>
            <a:r>
              <a:rPr lang="en-US" dirty="0">
                <a:solidFill>
                  <a:srgbClr val="6E6E78"/>
                </a:solidFill>
                <a:latin typeface="Calibri" pitchFamily="34" charset="0"/>
                <a:ea typeface="Calibri" pitchFamily="34" charset="-122"/>
                <a:cs typeface="Calibri" pitchFamily="34" charset="-120"/>
              </a:rPr>
              <a:t> &lt; 2 </a:t>
            </a:r>
            <a:r>
              <a:rPr lang="en-US" dirty="0" err="1">
                <a:solidFill>
                  <a:srgbClr val="6E6E78"/>
                </a:solidFill>
                <a:latin typeface="Calibri" pitchFamily="34" charset="0"/>
                <a:ea typeface="Calibri" pitchFamily="34" charset="-122"/>
                <a:cs typeface="Calibri" pitchFamily="34" charset="-120"/>
              </a:rPr>
              <a:t>hoặc</a:t>
            </a:r>
            <a:r>
              <a:rPr lang="en-US" dirty="0">
                <a:solidFill>
                  <a:srgbClr val="6E6E78"/>
                </a:solidFill>
                <a:latin typeface="Calibri" pitchFamily="34" charset="0"/>
                <a:ea typeface="Calibri" pitchFamily="34" charset="-122"/>
                <a:cs typeface="Calibri" pitchFamily="34" charset="-120"/>
              </a:rPr>
              <a:t> ≥ </a:t>
            </a:r>
            <a:r>
              <a:rPr lang="en-US" dirty="0" err="1">
                <a:solidFill>
                  <a:srgbClr val="6E6E78"/>
                </a:solidFill>
                <a:latin typeface="Calibri" pitchFamily="34" charset="0"/>
                <a:ea typeface="Calibri" pitchFamily="34" charset="-122"/>
                <a:cs typeface="Calibri" pitchFamily="34" charset="-120"/>
              </a:rPr>
              <a:t>in_len</a:t>
            </a:r>
            <a:r>
              <a:rPr lang="en-US" dirty="0">
                <a:solidFill>
                  <a:srgbClr val="6E6E78"/>
                </a:solidFill>
                <a:latin typeface="Calibri" pitchFamily="34" charset="0"/>
                <a:ea typeface="Calibri" pitchFamily="34" charset="-122"/>
                <a:cs typeface="Calibri" pitchFamily="34" charset="-120"/>
              </a:rPr>
              <a:t> + 2 → ô </a:t>
            </a:r>
            <a:r>
              <a:rPr lang="en-US" dirty="0" err="1">
                <a:solidFill>
                  <a:srgbClr val="6E6E78"/>
                </a:solidFill>
                <a:latin typeface="Calibri" pitchFamily="34" charset="0"/>
                <a:ea typeface="Calibri" pitchFamily="34" charset="-122"/>
                <a:cs typeface="Calibri" pitchFamily="34" charset="-120"/>
              </a:rPr>
              <a:t>nạp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nhận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giá</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trị</a:t>
            </a:r>
            <a:r>
              <a:rPr lang="en-US" dirty="0">
                <a:solidFill>
                  <a:srgbClr val="6E6E78"/>
                </a:solidFill>
                <a:latin typeface="Calibri" pitchFamily="34" charset="0"/>
                <a:ea typeface="Calibri" pitchFamily="34" charset="-122"/>
                <a:cs typeface="Calibri" pitchFamily="34" charset="-120"/>
              </a:rPr>
              <a:t> 0. </a:t>
            </a:r>
            <a:r>
              <a:rPr lang="en-US" dirty="0" err="1">
                <a:solidFill>
                  <a:srgbClr val="6E6E78"/>
                </a:solidFill>
                <a:latin typeface="Calibri" pitchFamily="34" charset="0"/>
                <a:ea typeface="Calibri" pitchFamily="34" charset="-122"/>
                <a:cs typeface="Calibri" pitchFamily="34" charset="-120"/>
              </a:rPr>
              <a:t>Phải</a:t>
            </a:r>
            <a:r>
              <a:rPr lang="en-US" dirty="0">
                <a:solidFill>
                  <a:srgbClr val="6E6E78"/>
                </a:solidFill>
                <a:latin typeface="Calibri" pitchFamily="34" charset="0"/>
                <a:ea typeface="Calibri" pitchFamily="34" charset="-122"/>
                <a:cs typeface="Calibri" pitchFamily="34" charset="-120"/>
              </a:rPr>
              <a:t> qua </a:t>
            </a:r>
            <a:r>
              <a:rPr lang="en-US" dirty="0" err="1">
                <a:solidFill>
                  <a:srgbClr val="6E6E78"/>
                </a:solidFill>
                <a:latin typeface="Calibri" pitchFamily="34" charset="0"/>
                <a:ea typeface="Calibri" pitchFamily="34" charset="-122"/>
                <a:cs typeface="Calibri" pitchFamily="34" charset="-120"/>
              </a:rPr>
              <a:t>một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tầng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thanh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ghi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vì</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bộ</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nhớ</a:t>
            </a:r>
            <a:r>
              <a:rPr lang="en-US" dirty="0">
                <a:solidFill>
                  <a:srgbClr val="6E6E78"/>
                </a:solidFill>
                <a:latin typeface="Calibri" pitchFamily="34" charset="0"/>
                <a:ea typeface="Calibri" pitchFamily="34" charset="-122"/>
                <a:cs typeface="Calibri" pitchFamily="34" charset="-120"/>
              </a:rPr>
              <a:t> FPGA </a:t>
            </a:r>
            <a:r>
              <a:rPr lang="en-US" dirty="0" err="1">
                <a:solidFill>
                  <a:srgbClr val="6E6E78"/>
                </a:solidFill>
                <a:latin typeface="Calibri" pitchFamily="34" charset="0"/>
                <a:ea typeface="Calibri" pitchFamily="34" charset="-122"/>
                <a:cs typeface="Calibri" pitchFamily="34" charset="-120"/>
              </a:rPr>
              <a:t>có</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độ</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trễ</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đọc</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một</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nhịp</a:t>
            </a:r>
            <a:r>
              <a:rPr lang="en-US" dirty="0">
                <a:solidFill>
                  <a:srgbClr val="6E6E78"/>
                </a:solidFill>
                <a:latin typeface="Calibri" pitchFamily="34" charset="0"/>
                <a:ea typeface="Calibri" pitchFamily="34" charset="-122"/>
                <a:cs typeface="Calibri" pitchFamily="34" charset="-120"/>
              </a:rPr>
              <a:t>.</a:t>
            </a:r>
            <a:endParaRPr lang="en-US" dirty="0"/>
          </a:p>
          <a:p>
            <a:endParaRPr lang="en-US" dirty="0"/>
          </a:p>
        </p:txBody>
      </p:sp>
      <p:sp>
        <p:nvSpPr>
          <p:cNvPr id="14" name="Text 11">
            <a:extLst>
              <a:ext uri="{FF2B5EF4-FFF2-40B4-BE49-F238E27FC236}">
                <a16:creationId xmlns:a16="http://schemas.microsoft.com/office/drawing/2014/main" id="{B1EFE10A-064A-0083-2948-5FA32581B6C5}"/>
              </a:ext>
            </a:extLst>
          </p:cNvPr>
          <p:cNvSpPr/>
          <p:nvPr/>
        </p:nvSpPr>
        <p:spPr>
          <a:xfrm>
            <a:off x="4457700" y="4978557"/>
            <a:ext cx="3255264" cy="310896"/>
          </a:xfrm>
          <a:prstGeom prst="rect">
            <a:avLst/>
          </a:prstGeom>
          <a:noFill/>
          <a:ln/>
        </p:spPr>
        <p:txBody>
          <a:bodyPr wrap="square" lIns="0" tIns="0" rIns="0" bIns="0" rtlCol="0" anchor="ctr"/>
          <a:lstStyle/>
          <a:p>
            <a:pPr marL="0" indent="0">
              <a:buNone/>
            </a:pPr>
            <a:endParaRPr lang="en-US" sz="1250" dirty="0"/>
          </a:p>
        </p:txBody>
      </p:sp>
      <p:sp>
        <p:nvSpPr>
          <p:cNvPr id="15" name="Text 12">
            <a:extLst>
              <a:ext uri="{FF2B5EF4-FFF2-40B4-BE49-F238E27FC236}">
                <a16:creationId xmlns:a16="http://schemas.microsoft.com/office/drawing/2014/main" id="{6263E2F2-443E-A332-1E47-E82B67FCE28B}"/>
              </a:ext>
            </a:extLst>
          </p:cNvPr>
          <p:cNvSpPr/>
          <p:nvPr/>
        </p:nvSpPr>
        <p:spPr>
          <a:xfrm>
            <a:off x="4457700" y="5326029"/>
            <a:ext cx="3255264" cy="1024128"/>
          </a:xfrm>
          <a:prstGeom prst="rect">
            <a:avLst/>
          </a:prstGeom>
          <a:noFill/>
          <a:ln/>
        </p:spPr>
        <p:txBody>
          <a:bodyPr wrap="square" lIns="0" tIns="0" rIns="0" bIns="0" rtlCol="0" anchor="t"/>
          <a:lstStyle/>
          <a:p>
            <a:pPr marL="0" indent="0">
              <a:buNone/>
            </a:pPr>
            <a:endParaRPr lang="en-US" sz="1050" dirty="0"/>
          </a:p>
        </p:txBody>
      </p:sp>
      <p:sp>
        <p:nvSpPr>
          <p:cNvPr id="16" name="Shape 13">
            <a:extLst>
              <a:ext uri="{FF2B5EF4-FFF2-40B4-BE49-F238E27FC236}">
                <a16:creationId xmlns:a16="http://schemas.microsoft.com/office/drawing/2014/main" id="{30CA1CB1-8500-692C-6F5C-69ED37D2161A}"/>
              </a:ext>
            </a:extLst>
          </p:cNvPr>
          <p:cNvSpPr/>
          <p:nvPr/>
        </p:nvSpPr>
        <p:spPr>
          <a:xfrm>
            <a:off x="7309964" y="2697066"/>
            <a:ext cx="4622955" cy="1249898"/>
          </a:xfrm>
          <a:prstGeom prst="roundRect">
            <a:avLst>
              <a:gd name="adj" fmla="val 5233"/>
            </a:avLst>
          </a:prstGeom>
          <a:solidFill>
            <a:srgbClr val="F7EFEF"/>
          </a:solidFill>
          <a:ln w="12700">
            <a:solidFill>
              <a:srgbClr val="F7EFEF"/>
            </a:solidFill>
            <a:prstDash val="solid"/>
          </a:ln>
          <a:effectLst>
            <a:outerShdw blurRad="101600" dist="25400" dir="5400000" algn="bl" rotWithShape="0">
              <a:srgbClr val="B9AFAF">
                <a:alpha val="25000"/>
              </a:srgbClr>
            </a:outerShdw>
          </a:effectLst>
        </p:spPr>
        <p:txBody>
          <a:bodyPr/>
          <a:lstStyle/>
          <a:p>
            <a:r>
              <a:rPr lang="en-US" b="1" dirty="0" err="1">
                <a:solidFill>
                  <a:srgbClr val="990011"/>
                </a:solidFill>
                <a:latin typeface="Calibri" pitchFamily="34" charset="0"/>
                <a:ea typeface="Calibri" pitchFamily="34" charset="-122"/>
                <a:cs typeface="Calibri" pitchFamily="34" charset="-120"/>
              </a:rPr>
              <a:t>Delaychain</a:t>
            </a:r>
            <a:r>
              <a:rPr lang="en-US" b="1" dirty="0">
                <a:solidFill>
                  <a:srgbClr val="990011"/>
                </a:solidFill>
                <a:latin typeface="Calibri" pitchFamily="34" charset="0"/>
                <a:ea typeface="Calibri" pitchFamily="34" charset="-122"/>
                <a:cs typeface="Calibri" pitchFamily="34" charset="-120"/>
              </a:rPr>
              <a:t> </a:t>
            </a:r>
            <a:endParaRPr lang="en-US" dirty="0"/>
          </a:p>
          <a:p>
            <a:r>
              <a:rPr lang="en-US" dirty="0" err="1">
                <a:solidFill>
                  <a:srgbClr val="6E6E78"/>
                </a:solidFill>
                <a:latin typeface="Calibri" pitchFamily="34" charset="0"/>
                <a:ea typeface="Calibri" pitchFamily="34" charset="-122"/>
                <a:cs typeface="Calibri" pitchFamily="34" charset="-120"/>
              </a:rPr>
              <a:t>Đường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ống</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từ</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bộ</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chọn</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tới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thanh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ghi</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tích</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luỹ</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sâu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đúng</a:t>
            </a:r>
            <a:r>
              <a:rPr lang="en-US" dirty="0">
                <a:solidFill>
                  <a:srgbClr val="6E6E78"/>
                </a:solidFill>
                <a:latin typeface="Calibri" pitchFamily="34" charset="0"/>
                <a:ea typeface="Calibri" pitchFamily="34" charset="-122"/>
                <a:cs typeface="Calibri" pitchFamily="34" charset="-120"/>
              </a:rPr>
              <a:t> 5 </a:t>
            </a:r>
            <a:r>
              <a:rPr lang="en-US" dirty="0" err="1">
                <a:solidFill>
                  <a:srgbClr val="6E6E78"/>
                </a:solidFill>
                <a:latin typeface="Calibri" pitchFamily="34" charset="0"/>
                <a:ea typeface="Calibri" pitchFamily="34" charset="-122"/>
                <a:cs typeface="Calibri" pitchFamily="34" charset="-120"/>
              </a:rPr>
              <a:t>nhịp</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nên</a:t>
            </a:r>
            <a:r>
              <a:rPr lang="en-US" dirty="0">
                <a:solidFill>
                  <a:srgbClr val="6E6E78"/>
                </a:solidFill>
                <a:latin typeface="Calibri" pitchFamily="34" charset="0"/>
                <a:ea typeface="Calibri" pitchFamily="34" charset="-122"/>
                <a:cs typeface="Calibri" pitchFamily="34" charset="-120"/>
              </a:rPr>
              <a:t> </a:t>
            </a:r>
            <a:r>
              <a:rPr lang="en-US" i="1" dirty="0">
                <a:solidFill>
                  <a:srgbClr val="6E6E78"/>
                </a:solidFill>
                <a:latin typeface="Calibri" pitchFamily="34" charset="0"/>
                <a:ea typeface="Calibri" pitchFamily="34" charset="-122"/>
                <a:cs typeface="Calibri" pitchFamily="34" charset="-120"/>
              </a:rPr>
              <a:t>a</a:t>
            </a:r>
            <a:r>
              <a:rPr lang="en-US" dirty="0">
                <a:solidFill>
                  <a:srgbClr val="6E6E78"/>
                </a:solidFill>
                <a:latin typeface="Calibri" pitchFamily="34" charset="0"/>
                <a:ea typeface="Calibri" pitchFamily="34" charset="-122"/>
                <a:cs typeface="Calibri" pitchFamily="34" charset="-120"/>
              </a:rPr>
              <a:t>, </a:t>
            </a:r>
            <a:r>
              <a:rPr lang="en-US" i="1" dirty="0" err="1">
                <a:solidFill>
                  <a:srgbClr val="6E6E78"/>
                </a:solidFill>
                <a:latin typeface="Calibri" pitchFamily="34" charset="0"/>
                <a:ea typeface="Calibri" pitchFamily="34" charset="-122"/>
                <a:cs typeface="Calibri" pitchFamily="34" charset="-120"/>
              </a:rPr>
              <a:t>in_ch</a:t>
            </a:r>
            <a:r>
              <a:rPr lang="en-US" i="1"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và</a:t>
            </a:r>
            <a:r>
              <a:rPr lang="en-US" dirty="0">
                <a:solidFill>
                  <a:srgbClr val="6E6E78"/>
                </a:solidFill>
                <a:latin typeface="Calibri" pitchFamily="34" charset="0"/>
                <a:ea typeface="Calibri" pitchFamily="34" charset="-122"/>
                <a:cs typeface="Calibri" pitchFamily="34" charset="-120"/>
              </a:rPr>
              <a:t> </a:t>
            </a:r>
            <a:r>
              <a:rPr lang="en-US" i="1" dirty="0" err="1">
                <a:solidFill>
                  <a:srgbClr val="6E6E78"/>
                </a:solidFill>
                <a:latin typeface="Calibri" pitchFamily="34" charset="0"/>
                <a:ea typeface="Calibri" pitchFamily="34" charset="-122"/>
                <a:cs typeface="Calibri" pitchFamily="34" charset="-120"/>
              </a:rPr>
              <a:t>compute_en</a:t>
            </a:r>
            <a:r>
              <a:rPr lang="en-US" i="1"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đều</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được</a:t>
            </a:r>
            <a:r>
              <a:rPr lang="en-US" dirty="0">
                <a:solidFill>
                  <a:srgbClr val="6E6E78"/>
                </a:solidFill>
                <a:latin typeface="Calibri" pitchFamily="34" charset="0"/>
                <a:ea typeface="Calibri" pitchFamily="34" charset="-122"/>
                <a:cs typeface="Calibri" pitchFamily="34" charset="-120"/>
              </a:rPr>
              <a:t> </a:t>
            </a:r>
            <a:r>
              <a:rPr lang="en-US" dirty="0" err="1">
                <a:solidFill>
                  <a:srgbClr val="6E6E78"/>
                </a:solidFill>
                <a:latin typeface="Calibri" pitchFamily="34" charset="0"/>
                <a:ea typeface="Calibri" pitchFamily="34" charset="-122"/>
                <a:cs typeface="Calibri" pitchFamily="34" charset="-120"/>
              </a:rPr>
              <a:t>trễ</a:t>
            </a:r>
            <a:r>
              <a:rPr lang="en-US" dirty="0">
                <a:solidFill>
                  <a:srgbClr val="6E6E78"/>
                </a:solidFill>
                <a:latin typeface="Calibri" pitchFamily="34" charset="0"/>
                <a:ea typeface="Calibri" pitchFamily="34" charset="-122"/>
                <a:cs typeface="Calibri" pitchFamily="34" charset="-120"/>
              </a:rPr>
              <a:t> 5 </a:t>
            </a:r>
            <a:r>
              <a:rPr lang="en-US" dirty="0" err="1">
                <a:solidFill>
                  <a:srgbClr val="6E6E78"/>
                </a:solidFill>
                <a:latin typeface="Calibri" pitchFamily="34" charset="0"/>
                <a:ea typeface="Calibri" pitchFamily="34" charset="-122"/>
                <a:cs typeface="Calibri" pitchFamily="34" charset="-120"/>
              </a:rPr>
              <a:t>nhịp</a:t>
            </a:r>
            <a:r>
              <a:rPr lang="en-US" dirty="0">
                <a:solidFill>
                  <a:srgbClr val="6E6E78"/>
                </a:solidFill>
                <a:latin typeface="Calibri" pitchFamily="34" charset="0"/>
                <a:ea typeface="Calibri" pitchFamily="34" charset="-122"/>
                <a:cs typeface="Calibri" pitchFamily="34" charset="-120"/>
              </a:rPr>
              <a:t>. </a:t>
            </a:r>
            <a:endParaRPr lang="en-US" dirty="0"/>
          </a:p>
        </p:txBody>
      </p:sp>
      <p:sp>
        <p:nvSpPr>
          <p:cNvPr id="17" name="Text 14">
            <a:extLst>
              <a:ext uri="{FF2B5EF4-FFF2-40B4-BE49-F238E27FC236}">
                <a16:creationId xmlns:a16="http://schemas.microsoft.com/office/drawing/2014/main" id="{DF3CCA3E-0DAF-CDB8-D3FB-B92BE63F2CFE}"/>
              </a:ext>
            </a:extLst>
          </p:cNvPr>
          <p:cNvSpPr/>
          <p:nvPr/>
        </p:nvSpPr>
        <p:spPr>
          <a:xfrm>
            <a:off x="7599809" y="2636949"/>
            <a:ext cx="4273384" cy="310896"/>
          </a:xfrm>
          <a:prstGeom prst="rect">
            <a:avLst/>
          </a:prstGeom>
          <a:noFill/>
          <a:ln/>
        </p:spPr>
        <p:txBody>
          <a:bodyPr wrap="square" lIns="0" tIns="0" rIns="0" bIns="0" rtlCol="0" anchor="ctr"/>
          <a:lstStyle/>
          <a:p>
            <a:pPr marL="0" indent="0">
              <a:buNone/>
            </a:pPr>
            <a:endParaRPr lang="en-US" sz="1250" dirty="0"/>
          </a:p>
        </p:txBody>
      </p:sp>
      <p:sp>
        <p:nvSpPr>
          <p:cNvPr id="18" name="Text 15">
            <a:extLst>
              <a:ext uri="{FF2B5EF4-FFF2-40B4-BE49-F238E27FC236}">
                <a16:creationId xmlns:a16="http://schemas.microsoft.com/office/drawing/2014/main" id="{A8400B65-A9D5-ADB6-C90B-207F3BC36CD5}"/>
              </a:ext>
            </a:extLst>
          </p:cNvPr>
          <p:cNvSpPr/>
          <p:nvPr/>
        </p:nvSpPr>
        <p:spPr>
          <a:xfrm>
            <a:off x="7599809" y="2984421"/>
            <a:ext cx="4273384" cy="1024128"/>
          </a:xfrm>
          <a:prstGeom prst="rect">
            <a:avLst/>
          </a:prstGeom>
          <a:noFill/>
          <a:ln/>
        </p:spPr>
        <p:txBody>
          <a:bodyPr wrap="square" lIns="0" tIns="0" rIns="0" bIns="0" rtlCol="0" anchor="t"/>
          <a:lstStyle/>
          <a:p>
            <a:pPr marL="0" indent="0">
              <a:buNone/>
            </a:pPr>
            <a:endParaRPr lang="en-US" sz="1050" dirty="0"/>
          </a:p>
        </p:txBody>
      </p:sp>
      <p:sp>
        <p:nvSpPr>
          <p:cNvPr id="20" name="Text 0">
            <a:extLst>
              <a:ext uri="{FF2B5EF4-FFF2-40B4-BE49-F238E27FC236}">
                <a16:creationId xmlns:a16="http://schemas.microsoft.com/office/drawing/2014/main" id="{F8B2ADAC-E5DE-2EA7-EB2E-3741CB9A5BE4}"/>
              </a:ext>
            </a:extLst>
          </p:cNvPr>
          <p:cNvSpPr/>
          <p:nvPr/>
        </p:nvSpPr>
        <p:spPr>
          <a:xfrm>
            <a:off x="566928" y="274320"/>
            <a:ext cx="11055096" cy="237744"/>
          </a:xfrm>
          <a:prstGeom prst="rect">
            <a:avLst/>
          </a:prstGeom>
          <a:noFill/>
          <a:ln/>
        </p:spPr>
        <p:txBody>
          <a:bodyPr wrap="square" lIns="0" tIns="0" rIns="0" bIns="0" rtlCol="0" anchor="ctr"/>
          <a:lstStyle/>
          <a:p>
            <a:pPr marL="0" indent="0">
              <a:buNone/>
            </a:pPr>
            <a:r>
              <a:rPr lang="en-US" sz="2000" b="1" kern="0" spc="200" dirty="0">
                <a:solidFill>
                  <a:srgbClr val="990011"/>
                </a:solidFill>
                <a:latin typeface="Calibri" pitchFamily="34" charset="0"/>
                <a:ea typeface="Calibri" pitchFamily="34" charset="-122"/>
                <a:cs typeface="Calibri" pitchFamily="34" charset="-120"/>
              </a:rPr>
              <a:t>CHƯƠNG 3 · THIẾT KẾ VÀ TRIỂN KHAI MẠNG CNN</a:t>
            </a:r>
            <a:endParaRPr lang="en-US" sz="2000" dirty="0"/>
          </a:p>
        </p:txBody>
      </p:sp>
      <p:pic>
        <p:nvPicPr>
          <p:cNvPr id="6" name="Picture 5">
            <a:extLst>
              <a:ext uri="{FF2B5EF4-FFF2-40B4-BE49-F238E27FC236}">
                <a16:creationId xmlns:a16="http://schemas.microsoft.com/office/drawing/2014/main" id="{AFE944BD-8951-2FB4-CC0C-BBE31E79086B}"/>
              </a:ext>
            </a:extLst>
          </p:cNvPr>
          <p:cNvPicPr>
            <a:picLocks noChangeAspect="1"/>
          </p:cNvPicPr>
          <p:nvPr/>
        </p:nvPicPr>
        <p:blipFill>
          <a:blip r:embed="rId3"/>
          <a:stretch>
            <a:fillRect/>
          </a:stretch>
        </p:blipFill>
        <p:spPr>
          <a:xfrm>
            <a:off x="637216" y="2258196"/>
            <a:ext cx="6447079" cy="1615580"/>
          </a:xfrm>
          <a:prstGeom prst="rect">
            <a:avLst/>
          </a:prstGeom>
        </p:spPr>
      </p:pic>
      <p:pic>
        <p:nvPicPr>
          <p:cNvPr id="21" name="Picture 20">
            <a:extLst>
              <a:ext uri="{FF2B5EF4-FFF2-40B4-BE49-F238E27FC236}">
                <a16:creationId xmlns:a16="http://schemas.microsoft.com/office/drawing/2014/main" id="{5DD9D7D9-D40D-D71A-6552-4057D7570AB0}"/>
              </a:ext>
            </a:extLst>
          </p:cNvPr>
          <p:cNvPicPr>
            <a:picLocks noChangeAspect="1"/>
          </p:cNvPicPr>
          <p:nvPr/>
        </p:nvPicPr>
        <p:blipFill>
          <a:blip r:embed="rId4"/>
          <a:stretch>
            <a:fillRect/>
          </a:stretch>
        </p:blipFill>
        <p:spPr>
          <a:xfrm>
            <a:off x="688563" y="5362605"/>
            <a:ext cx="6447079" cy="1272650"/>
          </a:xfrm>
          <a:prstGeom prst="rect">
            <a:avLst/>
          </a:prstGeom>
        </p:spPr>
      </p:pic>
      <p:pic>
        <p:nvPicPr>
          <p:cNvPr id="23" name="Picture 22">
            <a:extLst>
              <a:ext uri="{FF2B5EF4-FFF2-40B4-BE49-F238E27FC236}">
                <a16:creationId xmlns:a16="http://schemas.microsoft.com/office/drawing/2014/main" id="{0BF452C9-6220-4AF7-F723-C96CEBCB556C}"/>
              </a:ext>
            </a:extLst>
          </p:cNvPr>
          <p:cNvPicPr>
            <a:picLocks noChangeAspect="1"/>
          </p:cNvPicPr>
          <p:nvPr/>
        </p:nvPicPr>
        <p:blipFill>
          <a:blip r:embed="rId5"/>
          <a:stretch>
            <a:fillRect/>
          </a:stretch>
        </p:blipFill>
        <p:spPr>
          <a:xfrm>
            <a:off x="7375256" y="4018354"/>
            <a:ext cx="4492370" cy="1920406"/>
          </a:xfrm>
          <a:prstGeom prst="rect">
            <a:avLst/>
          </a:prstGeom>
        </p:spPr>
      </p:pic>
    </p:spTree>
    <p:extLst>
      <p:ext uri="{BB962C8B-B14F-4D97-AF65-F5344CB8AC3E}">
        <p14:creationId xmlns:p14="http://schemas.microsoft.com/office/powerpoint/2010/main" val="1112165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66928" y="274320"/>
            <a:ext cx="11055096" cy="274320"/>
          </a:xfrm>
          <a:prstGeom prst="rect">
            <a:avLst/>
          </a:prstGeom>
          <a:noFill/>
        </p:spPr>
        <p:txBody>
          <a:bodyPr wrap="square" lIns="0" tIns="0" rIns="0" bIns="0" anchor="t">
            <a:spAutoFit/>
          </a:bodyPr>
          <a:lstStyle/>
          <a:p>
            <a:r>
              <a:rPr sz="2000" b="1">
                <a:solidFill>
                  <a:srgbClr val="990011"/>
                </a:solidFill>
                <a:latin typeface="Calibri"/>
              </a:rPr>
              <a:t>SLIDE DỰ PHÒNG · CÂU HỎI THÊM</a:t>
            </a:r>
          </a:p>
        </p:txBody>
      </p:sp>
      <p:sp>
        <p:nvSpPr>
          <p:cNvPr id="3" name="TextBox 2"/>
          <p:cNvSpPr txBox="1"/>
          <p:nvPr/>
        </p:nvSpPr>
        <p:spPr>
          <a:xfrm>
            <a:off x="566928" y="603504"/>
            <a:ext cx="11055096" cy="548640"/>
          </a:xfrm>
          <a:prstGeom prst="rect">
            <a:avLst/>
          </a:prstGeom>
          <a:noFill/>
        </p:spPr>
        <p:txBody>
          <a:bodyPr wrap="square" lIns="0" tIns="0" rIns="0" bIns="0" anchor="t">
            <a:spAutoFit/>
          </a:bodyPr>
          <a:lstStyle/>
          <a:p>
            <a:r>
              <a:rPr sz="2700" b="1">
                <a:solidFill>
                  <a:srgbClr val="1A1C22"/>
                </a:solidFill>
                <a:latin typeface="Cambria"/>
              </a:rPr>
              <a:t>Hệ số dịch bit nb được tính như thế nào?</a:t>
            </a:r>
          </a:p>
        </p:txBody>
      </p:sp>
      <p:sp>
        <p:nvSpPr>
          <p:cNvPr id="4" name="TextBox 3"/>
          <p:cNvSpPr txBox="1"/>
          <p:nvPr/>
        </p:nvSpPr>
        <p:spPr>
          <a:xfrm>
            <a:off x="566928" y="1298448"/>
            <a:ext cx="11055096" cy="310896"/>
          </a:xfrm>
          <a:prstGeom prst="rect">
            <a:avLst/>
          </a:prstGeom>
          <a:noFill/>
        </p:spPr>
        <p:txBody>
          <a:bodyPr wrap="square" lIns="0" tIns="0" rIns="0" bIns="0" anchor="t">
            <a:spAutoFit/>
          </a:bodyPr>
          <a:lstStyle/>
          <a:p>
            <a:r>
              <a:rPr sz="1500" b="1">
                <a:solidFill>
                  <a:srgbClr val="1A1C22"/>
                </a:solidFill>
                <a:latin typeface="Calibri"/>
              </a:rPr>
              <a:t>1. Quy tắc chọn:  </a:t>
            </a:r>
            <a:r>
              <a:rPr sz="1500" b="1">
                <a:solidFill>
                  <a:srgbClr val="2F3C7E"/>
                </a:solidFill>
                <a:latin typeface="Courier New"/>
              </a:rPr>
              <a:t>n = floor( log₂( 127 / max|W| ) )</a:t>
            </a:r>
          </a:p>
        </p:txBody>
      </p:sp>
      <p:sp>
        <p:nvSpPr>
          <p:cNvPr id="5" name="TextBox 4"/>
          <p:cNvSpPr txBox="1"/>
          <p:nvPr/>
        </p:nvSpPr>
        <p:spPr>
          <a:xfrm>
            <a:off x="822960" y="1645920"/>
            <a:ext cx="10789920" cy="274320"/>
          </a:xfrm>
          <a:prstGeom prst="rect">
            <a:avLst/>
          </a:prstGeom>
          <a:noFill/>
        </p:spPr>
        <p:txBody>
          <a:bodyPr wrap="square" lIns="0" tIns="0" rIns="0" bIns="0" anchor="t">
            <a:spAutoFit/>
          </a:bodyPr>
          <a:lstStyle/>
          <a:p>
            <a:r>
              <a:rPr sz="1350" b="0">
                <a:solidFill>
                  <a:srgbClr val="6E6E78"/>
                </a:solidFill>
                <a:latin typeface="Calibri"/>
              </a:rPr>
              <a:t>Chọn n lớn nhất sao cho max|W| × 2ⁿ ≤ 127 — tận dụng hết dải INT8 mà không tràn.</a:t>
            </a:r>
          </a:p>
        </p:txBody>
      </p:sp>
      <p:sp>
        <p:nvSpPr>
          <p:cNvPr id="6" name="TextBox 5"/>
          <p:cNvSpPr txBox="1"/>
          <p:nvPr/>
        </p:nvSpPr>
        <p:spPr>
          <a:xfrm>
            <a:off x="566928" y="2066543"/>
            <a:ext cx="11055096" cy="310896"/>
          </a:xfrm>
          <a:prstGeom prst="rect">
            <a:avLst/>
          </a:prstGeom>
          <a:noFill/>
        </p:spPr>
        <p:txBody>
          <a:bodyPr wrap="square" lIns="0" tIns="0" rIns="0" bIns="0" anchor="t">
            <a:spAutoFit/>
          </a:bodyPr>
          <a:lstStyle/>
          <a:p>
            <a:r>
              <a:rPr sz="1500" b="1">
                <a:solidFill>
                  <a:srgbClr val="1A1C22"/>
                </a:solidFill>
                <a:latin typeface="Calibri"/>
              </a:rPr>
              <a:t>2. Vì sao nb = w_shift ở Conv2–4:  </a:t>
            </a:r>
            <a:r>
              <a:rPr sz="1500" b="1">
                <a:solidFill>
                  <a:srgbClr val="2F3C7E"/>
                </a:solidFill>
                <a:latin typeface="Courier New"/>
              </a:rPr>
              <a:t>acc = giá_trị_thực × 2^(shift_vào + shift_trọng_số)</a:t>
            </a:r>
          </a:p>
        </p:txBody>
      </p:sp>
      <p:sp>
        <p:nvSpPr>
          <p:cNvPr id="7" name="TextBox 6"/>
          <p:cNvSpPr txBox="1"/>
          <p:nvPr/>
        </p:nvSpPr>
        <p:spPr>
          <a:xfrm>
            <a:off x="822960" y="2414016"/>
            <a:ext cx="10789920" cy="274320"/>
          </a:xfrm>
          <a:prstGeom prst="rect">
            <a:avLst/>
          </a:prstGeom>
          <a:noFill/>
        </p:spPr>
        <p:txBody>
          <a:bodyPr wrap="square" lIns="0" tIns="0" rIns="0" bIns="0" anchor="t">
            <a:spAutoFit/>
          </a:bodyPr>
          <a:lstStyle/>
          <a:p>
            <a:r>
              <a:rPr sz="1350" b="0">
                <a:solidFill>
                  <a:srgbClr val="6E6E78"/>
                </a:solidFill>
                <a:latin typeface="Calibri"/>
              </a:rPr>
              <a:t>Đầu ra tầng trước đã chặn về INT8 (thang 2⁰) → shift_vào = 0. Riêng Conv1 nhận ECG thô nên nb = 2 + 6 = 8.</a:t>
            </a:r>
          </a:p>
        </p:txBody>
      </p:sp>
      <p:sp>
        <p:nvSpPr>
          <p:cNvPr id="8" name="TextBox 7"/>
          <p:cNvSpPr txBox="1"/>
          <p:nvPr/>
        </p:nvSpPr>
        <p:spPr>
          <a:xfrm>
            <a:off x="566928" y="2834640"/>
            <a:ext cx="11055096" cy="274320"/>
          </a:xfrm>
          <a:prstGeom prst="rect">
            <a:avLst/>
          </a:prstGeom>
          <a:noFill/>
        </p:spPr>
        <p:txBody>
          <a:bodyPr wrap="square" lIns="0" tIns="0" rIns="0" bIns="0" anchor="t">
            <a:spAutoFit/>
          </a:bodyPr>
          <a:lstStyle/>
          <a:p>
            <a:r>
              <a:rPr sz="1500" b="1">
                <a:solidFill>
                  <a:srgbClr val="1A1C22"/>
                </a:solidFill>
                <a:latin typeface="Calibri"/>
              </a:rPr>
              <a:t>3. Số thực đo từ mô hình đã huấn luyện</a:t>
            </a:r>
          </a:p>
        </p:txBody>
      </p:sp>
      <p:graphicFrame>
        <p:nvGraphicFramePr>
          <p:cNvPr id="9" name="Table 8"/>
          <p:cNvGraphicFramePr>
            <a:graphicFrameLocks noGrp="1"/>
          </p:cNvGraphicFramePr>
          <p:nvPr/>
        </p:nvGraphicFramePr>
        <p:xfrm>
          <a:off x="566928" y="3182112"/>
          <a:ext cx="6720840" cy="1975104"/>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329184">
                <a:tc>
                  <a:txBody>
                    <a:bodyPr/>
                    <a:lstStyle/>
                    <a:p>
                      <a:pPr algn="l"/>
                      <a:r>
                        <a:rPr sz="1250" b="1">
                          <a:solidFill>
                            <a:srgbClr val="FFFFFF"/>
                          </a:solidFill>
                          <a:latin typeface="Calibri"/>
                        </a:rPr>
                        <a:t>Tầng</a:t>
                      </a:r>
                    </a:p>
                  </a:txBody>
                  <a:tcPr marL="64008" marR="45720" marT="18288" marB="18288" anchor="ctr">
                    <a:solidFill>
                      <a:srgbClr val="2F3C7E"/>
                    </a:solidFill>
                  </a:tcPr>
                </a:tc>
                <a:tc>
                  <a:txBody>
                    <a:bodyPr/>
                    <a:lstStyle/>
                    <a:p>
                      <a:pPr algn="ctr"/>
                      <a:r>
                        <a:rPr sz="1250" b="1">
                          <a:solidFill>
                            <a:srgbClr val="FFFFFF"/>
                          </a:solidFill>
                          <a:latin typeface="Calibri"/>
                        </a:rPr>
                        <a:t>max|W|</a:t>
                      </a:r>
                    </a:p>
                  </a:txBody>
                  <a:tcPr marL="64008" marR="45720" marT="18288" marB="18288" anchor="ctr">
                    <a:solidFill>
                      <a:srgbClr val="2F3C7E"/>
                    </a:solidFill>
                  </a:tcPr>
                </a:tc>
                <a:tc>
                  <a:txBody>
                    <a:bodyPr/>
                    <a:lstStyle/>
                    <a:p>
                      <a:pPr algn="ctr"/>
                      <a:r>
                        <a:rPr sz="1250" b="1">
                          <a:solidFill>
                            <a:srgbClr val="FFFFFF"/>
                          </a:solidFill>
                          <a:latin typeface="Calibri"/>
                        </a:rPr>
                        <a:t>127 / max|W|</a:t>
                      </a:r>
                    </a:p>
                  </a:txBody>
                  <a:tcPr marL="64008" marR="45720" marT="18288" marB="18288" anchor="ctr">
                    <a:solidFill>
                      <a:srgbClr val="2F3C7E"/>
                    </a:solidFill>
                  </a:tcPr>
                </a:tc>
                <a:tc>
                  <a:txBody>
                    <a:bodyPr/>
                    <a:lstStyle/>
                    <a:p>
                      <a:pPr algn="ctr"/>
                      <a:r>
                        <a:rPr sz="1250" b="1">
                          <a:solidFill>
                            <a:srgbClr val="FFFFFF"/>
                          </a:solidFill>
                          <a:latin typeface="Calibri"/>
                        </a:rPr>
                        <a:t>log₂</a:t>
                      </a:r>
                    </a:p>
                  </a:txBody>
                  <a:tcPr marL="64008" marR="45720" marT="18288" marB="18288" anchor="ctr">
                    <a:solidFill>
                      <a:srgbClr val="2F3C7E"/>
                    </a:solidFill>
                  </a:tcPr>
                </a:tc>
                <a:tc>
                  <a:txBody>
                    <a:bodyPr/>
                    <a:lstStyle/>
                    <a:p>
                      <a:pPr algn="ctr"/>
                      <a:r>
                        <a:rPr sz="1250" b="1">
                          <a:solidFill>
                            <a:srgbClr val="FFFFFF"/>
                          </a:solidFill>
                          <a:latin typeface="Calibri"/>
                        </a:rPr>
                        <a:t>nb</a:t>
                      </a:r>
                    </a:p>
                  </a:txBody>
                  <a:tcPr marL="64008" marR="45720" marT="18288" marB="18288" anchor="ctr">
                    <a:solidFill>
                      <a:srgbClr val="2F3C7E"/>
                    </a:solidFill>
                  </a:tcPr>
                </a:tc>
                <a:extLst>
                  <a:ext uri="{0D108BD9-81ED-4DB2-BD59-A6C34878D82A}">
                    <a16:rowId xmlns:a16="http://schemas.microsoft.com/office/drawing/2014/main" val="10000"/>
                  </a:ext>
                </a:extLst>
              </a:tr>
              <a:tr h="329184">
                <a:tc>
                  <a:txBody>
                    <a:bodyPr/>
                    <a:lstStyle/>
                    <a:p>
                      <a:pPr algn="l"/>
                      <a:r>
                        <a:rPr sz="1250" b="0">
                          <a:solidFill>
                            <a:srgbClr val="1A1C22"/>
                          </a:solidFill>
                          <a:latin typeface="Calibri"/>
                        </a:rPr>
                        <a:t>Conv1</a:t>
                      </a:r>
                    </a:p>
                  </a:txBody>
                  <a:tcPr marL="64008" marR="45720" marT="18288" marB="18288" anchor="ctr">
                    <a:solidFill>
                      <a:srgbClr val="F4F5F9"/>
                    </a:solidFill>
                  </a:tcPr>
                </a:tc>
                <a:tc>
                  <a:txBody>
                    <a:bodyPr/>
                    <a:lstStyle/>
                    <a:p>
                      <a:pPr algn="ctr"/>
                      <a:r>
                        <a:rPr sz="1250" b="0">
                          <a:solidFill>
                            <a:srgbClr val="1A1C22"/>
                          </a:solidFill>
                          <a:latin typeface="Calibri"/>
                        </a:rPr>
                        <a:t>1,47202</a:t>
                      </a:r>
                    </a:p>
                  </a:txBody>
                  <a:tcPr marL="64008" marR="45720" marT="18288" marB="18288" anchor="ctr">
                    <a:solidFill>
                      <a:srgbClr val="F4F5F9"/>
                    </a:solidFill>
                  </a:tcPr>
                </a:tc>
                <a:tc>
                  <a:txBody>
                    <a:bodyPr/>
                    <a:lstStyle/>
                    <a:p>
                      <a:pPr algn="ctr"/>
                      <a:r>
                        <a:rPr sz="1250" b="0">
                          <a:solidFill>
                            <a:srgbClr val="1A1C22"/>
                          </a:solidFill>
                          <a:latin typeface="Calibri"/>
                        </a:rPr>
                        <a:t>86,28</a:t>
                      </a:r>
                    </a:p>
                  </a:txBody>
                  <a:tcPr marL="64008" marR="45720" marT="18288" marB="18288" anchor="ctr">
                    <a:solidFill>
                      <a:srgbClr val="F4F5F9"/>
                    </a:solidFill>
                  </a:tcPr>
                </a:tc>
                <a:tc>
                  <a:txBody>
                    <a:bodyPr/>
                    <a:lstStyle/>
                    <a:p>
                      <a:pPr algn="ctr"/>
                      <a:r>
                        <a:rPr sz="1250" b="0">
                          <a:solidFill>
                            <a:srgbClr val="1A1C22"/>
                          </a:solidFill>
                          <a:latin typeface="Calibri"/>
                        </a:rPr>
                        <a:t>6,431</a:t>
                      </a:r>
                    </a:p>
                  </a:txBody>
                  <a:tcPr marL="64008" marR="45720" marT="18288" marB="18288" anchor="ctr">
                    <a:solidFill>
                      <a:srgbClr val="F4F5F9"/>
                    </a:solidFill>
                  </a:tcPr>
                </a:tc>
                <a:tc>
                  <a:txBody>
                    <a:bodyPr/>
                    <a:lstStyle/>
                    <a:p>
                      <a:pPr algn="ctr"/>
                      <a:r>
                        <a:rPr sz="1250" b="1">
                          <a:solidFill>
                            <a:srgbClr val="990011"/>
                          </a:solidFill>
                          <a:latin typeface="Calibri"/>
                        </a:rPr>
                        <a:t>2+6 = 8</a:t>
                      </a:r>
                    </a:p>
                  </a:txBody>
                  <a:tcPr marL="64008" marR="45720" marT="18288" marB="18288" anchor="ctr">
                    <a:solidFill>
                      <a:srgbClr val="F4F5F9"/>
                    </a:solidFill>
                  </a:tcPr>
                </a:tc>
                <a:extLst>
                  <a:ext uri="{0D108BD9-81ED-4DB2-BD59-A6C34878D82A}">
                    <a16:rowId xmlns:a16="http://schemas.microsoft.com/office/drawing/2014/main" val="10001"/>
                  </a:ext>
                </a:extLst>
              </a:tr>
              <a:tr h="329184">
                <a:tc>
                  <a:txBody>
                    <a:bodyPr/>
                    <a:lstStyle/>
                    <a:p>
                      <a:pPr algn="l"/>
                      <a:r>
                        <a:rPr sz="1250" b="0">
                          <a:solidFill>
                            <a:srgbClr val="1A1C22"/>
                          </a:solidFill>
                          <a:latin typeface="Calibri"/>
                        </a:rPr>
                        <a:t>Conv2</a:t>
                      </a:r>
                    </a:p>
                  </a:txBody>
                  <a:tcPr marL="64008" marR="45720" marT="18288" marB="18288" anchor="ctr">
                    <a:solidFill>
                      <a:srgbClr val="FFFFFF"/>
                    </a:solidFill>
                  </a:tcPr>
                </a:tc>
                <a:tc>
                  <a:txBody>
                    <a:bodyPr/>
                    <a:lstStyle/>
                    <a:p>
                      <a:pPr algn="ctr"/>
                      <a:r>
                        <a:rPr sz="1250" b="0">
                          <a:solidFill>
                            <a:srgbClr val="1A1C22"/>
                          </a:solidFill>
                          <a:latin typeface="Calibri"/>
                        </a:rPr>
                        <a:t>0,87972</a:t>
                      </a:r>
                    </a:p>
                  </a:txBody>
                  <a:tcPr marL="64008" marR="45720" marT="18288" marB="18288" anchor="ctr">
                    <a:solidFill>
                      <a:srgbClr val="FFFFFF"/>
                    </a:solidFill>
                  </a:tcPr>
                </a:tc>
                <a:tc>
                  <a:txBody>
                    <a:bodyPr/>
                    <a:lstStyle/>
                    <a:p>
                      <a:pPr algn="ctr"/>
                      <a:r>
                        <a:rPr sz="1250" b="0">
                          <a:solidFill>
                            <a:srgbClr val="1A1C22"/>
                          </a:solidFill>
                          <a:latin typeface="Calibri"/>
                        </a:rPr>
                        <a:t>144,36</a:t>
                      </a:r>
                    </a:p>
                  </a:txBody>
                  <a:tcPr marL="64008" marR="45720" marT="18288" marB="18288" anchor="ctr">
                    <a:solidFill>
                      <a:srgbClr val="FFFFFF"/>
                    </a:solidFill>
                  </a:tcPr>
                </a:tc>
                <a:tc>
                  <a:txBody>
                    <a:bodyPr/>
                    <a:lstStyle/>
                    <a:p>
                      <a:pPr algn="ctr"/>
                      <a:r>
                        <a:rPr sz="1250" b="0">
                          <a:solidFill>
                            <a:srgbClr val="1A1C22"/>
                          </a:solidFill>
                          <a:latin typeface="Calibri"/>
                        </a:rPr>
                        <a:t>7,174</a:t>
                      </a:r>
                    </a:p>
                  </a:txBody>
                  <a:tcPr marL="64008" marR="45720" marT="18288" marB="18288" anchor="ctr">
                    <a:solidFill>
                      <a:srgbClr val="FFFFFF"/>
                    </a:solidFill>
                  </a:tcPr>
                </a:tc>
                <a:tc>
                  <a:txBody>
                    <a:bodyPr/>
                    <a:lstStyle/>
                    <a:p>
                      <a:pPr algn="ctr"/>
                      <a:r>
                        <a:rPr sz="1250" b="1">
                          <a:solidFill>
                            <a:srgbClr val="990011"/>
                          </a:solidFill>
                          <a:latin typeface="Calibri"/>
                        </a:rPr>
                        <a:t>7</a:t>
                      </a:r>
                    </a:p>
                  </a:txBody>
                  <a:tcPr marL="64008" marR="45720" marT="18288" marB="18288" anchor="ctr">
                    <a:solidFill>
                      <a:srgbClr val="FFFFFF"/>
                    </a:solidFill>
                  </a:tcPr>
                </a:tc>
                <a:extLst>
                  <a:ext uri="{0D108BD9-81ED-4DB2-BD59-A6C34878D82A}">
                    <a16:rowId xmlns:a16="http://schemas.microsoft.com/office/drawing/2014/main" val="10002"/>
                  </a:ext>
                </a:extLst>
              </a:tr>
              <a:tr h="329184">
                <a:tc>
                  <a:txBody>
                    <a:bodyPr/>
                    <a:lstStyle/>
                    <a:p>
                      <a:pPr algn="l"/>
                      <a:r>
                        <a:rPr sz="1250" b="0">
                          <a:solidFill>
                            <a:srgbClr val="1A1C22"/>
                          </a:solidFill>
                          <a:latin typeface="Calibri"/>
                        </a:rPr>
                        <a:t>Conv3</a:t>
                      </a:r>
                    </a:p>
                  </a:txBody>
                  <a:tcPr marL="64008" marR="45720" marT="18288" marB="18288" anchor="ctr">
                    <a:solidFill>
                      <a:srgbClr val="F4F5F9"/>
                    </a:solidFill>
                  </a:tcPr>
                </a:tc>
                <a:tc>
                  <a:txBody>
                    <a:bodyPr/>
                    <a:lstStyle/>
                    <a:p>
                      <a:pPr algn="ctr"/>
                      <a:r>
                        <a:rPr sz="1250" b="0">
                          <a:solidFill>
                            <a:srgbClr val="1A1C22"/>
                          </a:solidFill>
                          <a:latin typeface="Calibri"/>
                        </a:rPr>
                        <a:t>1,54920</a:t>
                      </a:r>
                    </a:p>
                  </a:txBody>
                  <a:tcPr marL="64008" marR="45720" marT="18288" marB="18288" anchor="ctr">
                    <a:solidFill>
                      <a:srgbClr val="F4F5F9"/>
                    </a:solidFill>
                  </a:tcPr>
                </a:tc>
                <a:tc>
                  <a:txBody>
                    <a:bodyPr/>
                    <a:lstStyle/>
                    <a:p>
                      <a:pPr algn="ctr"/>
                      <a:r>
                        <a:rPr sz="1250" b="0">
                          <a:solidFill>
                            <a:srgbClr val="1A1C22"/>
                          </a:solidFill>
                          <a:latin typeface="Calibri"/>
                        </a:rPr>
                        <a:t>81,98</a:t>
                      </a:r>
                    </a:p>
                  </a:txBody>
                  <a:tcPr marL="64008" marR="45720" marT="18288" marB="18288" anchor="ctr">
                    <a:solidFill>
                      <a:srgbClr val="F4F5F9"/>
                    </a:solidFill>
                  </a:tcPr>
                </a:tc>
                <a:tc>
                  <a:txBody>
                    <a:bodyPr/>
                    <a:lstStyle/>
                    <a:p>
                      <a:pPr algn="ctr"/>
                      <a:r>
                        <a:rPr sz="1250" b="0">
                          <a:solidFill>
                            <a:srgbClr val="1A1C22"/>
                          </a:solidFill>
                          <a:latin typeface="Calibri"/>
                        </a:rPr>
                        <a:t>6,357</a:t>
                      </a:r>
                    </a:p>
                  </a:txBody>
                  <a:tcPr marL="64008" marR="45720" marT="18288" marB="18288" anchor="ctr">
                    <a:solidFill>
                      <a:srgbClr val="F4F5F9"/>
                    </a:solidFill>
                  </a:tcPr>
                </a:tc>
                <a:tc>
                  <a:txBody>
                    <a:bodyPr/>
                    <a:lstStyle/>
                    <a:p>
                      <a:pPr algn="ctr"/>
                      <a:r>
                        <a:rPr sz="1250" b="1">
                          <a:solidFill>
                            <a:srgbClr val="990011"/>
                          </a:solidFill>
                          <a:latin typeface="Calibri"/>
                        </a:rPr>
                        <a:t>6</a:t>
                      </a:r>
                    </a:p>
                  </a:txBody>
                  <a:tcPr marL="64008" marR="45720" marT="18288" marB="18288" anchor="ctr">
                    <a:solidFill>
                      <a:srgbClr val="F4F5F9"/>
                    </a:solidFill>
                  </a:tcPr>
                </a:tc>
                <a:extLst>
                  <a:ext uri="{0D108BD9-81ED-4DB2-BD59-A6C34878D82A}">
                    <a16:rowId xmlns:a16="http://schemas.microsoft.com/office/drawing/2014/main" val="10003"/>
                  </a:ext>
                </a:extLst>
              </a:tr>
              <a:tr h="329184">
                <a:tc>
                  <a:txBody>
                    <a:bodyPr/>
                    <a:lstStyle/>
                    <a:p>
                      <a:pPr algn="l"/>
                      <a:r>
                        <a:rPr sz="1250" b="0">
                          <a:solidFill>
                            <a:srgbClr val="1A1C22"/>
                          </a:solidFill>
                          <a:latin typeface="Calibri"/>
                        </a:rPr>
                        <a:t>Conv4</a:t>
                      </a:r>
                    </a:p>
                  </a:txBody>
                  <a:tcPr marL="64008" marR="45720" marT="18288" marB="18288" anchor="ctr">
                    <a:solidFill>
                      <a:srgbClr val="FFFFFF"/>
                    </a:solidFill>
                  </a:tcPr>
                </a:tc>
                <a:tc>
                  <a:txBody>
                    <a:bodyPr/>
                    <a:lstStyle/>
                    <a:p>
                      <a:pPr algn="ctr"/>
                      <a:r>
                        <a:rPr sz="1250" b="0">
                          <a:solidFill>
                            <a:srgbClr val="1A1C22"/>
                          </a:solidFill>
                          <a:latin typeface="Calibri"/>
                        </a:rPr>
                        <a:t>0,76264</a:t>
                      </a:r>
                    </a:p>
                  </a:txBody>
                  <a:tcPr marL="64008" marR="45720" marT="18288" marB="18288" anchor="ctr">
                    <a:solidFill>
                      <a:srgbClr val="FFFFFF"/>
                    </a:solidFill>
                  </a:tcPr>
                </a:tc>
                <a:tc>
                  <a:txBody>
                    <a:bodyPr/>
                    <a:lstStyle/>
                    <a:p>
                      <a:pPr algn="ctr"/>
                      <a:r>
                        <a:rPr sz="1250" b="0">
                          <a:solidFill>
                            <a:srgbClr val="1A1C22"/>
                          </a:solidFill>
                          <a:latin typeface="Calibri"/>
                        </a:rPr>
                        <a:t>166,53</a:t>
                      </a:r>
                    </a:p>
                  </a:txBody>
                  <a:tcPr marL="64008" marR="45720" marT="18288" marB="18288" anchor="ctr">
                    <a:solidFill>
                      <a:srgbClr val="FFFFFF"/>
                    </a:solidFill>
                  </a:tcPr>
                </a:tc>
                <a:tc>
                  <a:txBody>
                    <a:bodyPr/>
                    <a:lstStyle/>
                    <a:p>
                      <a:pPr algn="ctr"/>
                      <a:r>
                        <a:rPr sz="1250" b="0">
                          <a:solidFill>
                            <a:srgbClr val="1A1C22"/>
                          </a:solidFill>
                          <a:latin typeface="Calibri"/>
                        </a:rPr>
                        <a:t>7,380</a:t>
                      </a:r>
                    </a:p>
                  </a:txBody>
                  <a:tcPr marL="64008" marR="45720" marT="18288" marB="18288" anchor="ctr">
                    <a:solidFill>
                      <a:srgbClr val="FFFFFF"/>
                    </a:solidFill>
                  </a:tcPr>
                </a:tc>
                <a:tc>
                  <a:txBody>
                    <a:bodyPr/>
                    <a:lstStyle/>
                    <a:p>
                      <a:pPr algn="ctr"/>
                      <a:r>
                        <a:rPr sz="1250" b="1">
                          <a:solidFill>
                            <a:srgbClr val="990011"/>
                          </a:solidFill>
                          <a:latin typeface="Calibri"/>
                        </a:rPr>
                        <a:t>7</a:t>
                      </a:r>
                    </a:p>
                  </a:txBody>
                  <a:tcPr marL="64008" marR="45720" marT="18288" marB="18288" anchor="ctr">
                    <a:solidFill>
                      <a:srgbClr val="FFFFFF"/>
                    </a:solidFill>
                  </a:tcPr>
                </a:tc>
                <a:extLst>
                  <a:ext uri="{0D108BD9-81ED-4DB2-BD59-A6C34878D82A}">
                    <a16:rowId xmlns:a16="http://schemas.microsoft.com/office/drawing/2014/main" val="10004"/>
                  </a:ext>
                </a:extLst>
              </a:tr>
              <a:tr h="329184">
                <a:tc>
                  <a:txBody>
                    <a:bodyPr/>
                    <a:lstStyle/>
                    <a:p>
                      <a:pPr algn="l"/>
                      <a:r>
                        <a:rPr sz="1250" b="0">
                          <a:solidFill>
                            <a:srgbClr val="1A1C22"/>
                          </a:solidFill>
                          <a:latin typeface="Calibri"/>
                        </a:rPr>
                        <a:t>FC</a:t>
                      </a:r>
                    </a:p>
                  </a:txBody>
                  <a:tcPr marL="64008" marR="45720" marT="18288" marB="18288" anchor="ctr">
                    <a:solidFill>
                      <a:srgbClr val="F4F5F9"/>
                    </a:solidFill>
                  </a:tcPr>
                </a:tc>
                <a:tc>
                  <a:txBody>
                    <a:bodyPr/>
                    <a:lstStyle/>
                    <a:p>
                      <a:pPr algn="ctr"/>
                      <a:r>
                        <a:rPr sz="1250" b="0">
                          <a:solidFill>
                            <a:srgbClr val="1A1C22"/>
                          </a:solidFill>
                          <a:latin typeface="Calibri"/>
                        </a:rPr>
                        <a:t>0,50798</a:t>
                      </a:r>
                    </a:p>
                  </a:txBody>
                  <a:tcPr marL="64008" marR="45720" marT="18288" marB="18288" anchor="ctr">
                    <a:solidFill>
                      <a:srgbClr val="F4F5F9"/>
                    </a:solidFill>
                  </a:tcPr>
                </a:tc>
                <a:tc>
                  <a:txBody>
                    <a:bodyPr/>
                    <a:lstStyle/>
                    <a:p>
                      <a:pPr algn="ctr"/>
                      <a:r>
                        <a:rPr sz="1250" b="0">
                          <a:solidFill>
                            <a:srgbClr val="1A1C22"/>
                          </a:solidFill>
                          <a:latin typeface="Calibri"/>
                        </a:rPr>
                        <a:t>250,01</a:t>
                      </a:r>
                    </a:p>
                  </a:txBody>
                  <a:tcPr marL="64008" marR="45720" marT="18288" marB="18288" anchor="ctr">
                    <a:solidFill>
                      <a:srgbClr val="F4F5F9"/>
                    </a:solidFill>
                  </a:tcPr>
                </a:tc>
                <a:tc>
                  <a:txBody>
                    <a:bodyPr/>
                    <a:lstStyle/>
                    <a:p>
                      <a:pPr algn="ctr"/>
                      <a:r>
                        <a:rPr sz="1250" b="0">
                          <a:solidFill>
                            <a:srgbClr val="1A1C22"/>
                          </a:solidFill>
                          <a:latin typeface="Calibri"/>
                        </a:rPr>
                        <a:t>7,966</a:t>
                      </a:r>
                    </a:p>
                  </a:txBody>
                  <a:tcPr marL="64008" marR="45720" marT="18288" marB="18288" anchor="ctr">
                    <a:solidFill>
                      <a:srgbClr val="F4F5F9"/>
                    </a:solidFill>
                  </a:tcPr>
                </a:tc>
                <a:tc>
                  <a:txBody>
                    <a:bodyPr/>
                    <a:lstStyle/>
                    <a:p>
                      <a:pPr algn="ctr"/>
                      <a:r>
                        <a:rPr sz="1250" b="1">
                          <a:solidFill>
                            <a:srgbClr val="990011"/>
                          </a:solidFill>
                          <a:latin typeface="Calibri"/>
                        </a:rPr>
                        <a:t>0 (không tái tỉ lệ)</a:t>
                      </a:r>
                    </a:p>
                  </a:txBody>
                  <a:tcPr marL="64008" marR="45720" marT="18288" marB="18288" anchor="ctr">
                    <a:solidFill>
                      <a:srgbClr val="F4F5F9"/>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7498079" y="3182112"/>
            <a:ext cx="4123944" cy="2148840"/>
          </a:xfrm>
          <a:prstGeom prst="rect">
            <a:avLst/>
          </a:prstGeom>
          <a:solidFill>
            <a:srgbClr val="FDECEE"/>
          </a:solidFill>
          <a:ln w="9525">
            <a:solidFill>
              <a:srgbClr val="990011"/>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450" b="1">
                <a:solidFill>
                  <a:srgbClr val="990011"/>
                </a:solidFill>
                <a:latin typeface="Calibri"/>
              </a:rPr>
              <a:t>Vì sao nb không đồng đều?</a:t>
            </a:r>
          </a:p>
          <a:p>
            <a:pPr>
              <a:spcBef>
                <a:spcPts val="700"/>
              </a:spcBef>
            </a:pPr>
            <a:r>
              <a:rPr sz="1250" b="1">
                <a:solidFill>
                  <a:srgbClr val="1A1C22"/>
                </a:solidFill>
                <a:latin typeface="Calibri"/>
              </a:rPr>
              <a:t>▸ Trọng số mỗi tầng có biên độ khác nhau. </a:t>
            </a:r>
            <a:r>
              <a:rPr sz="1250" b="0">
                <a:solidFill>
                  <a:srgbClr val="1A1C22"/>
                </a:solidFill>
                <a:latin typeface="Calibri"/>
              </a:rPr>
              <a:t>Tầng có trọng số nhỏ được phóng đại mạnh hơn để lấp đầy 8 bit.</a:t>
            </a:r>
          </a:p>
          <a:p>
            <a:pPr>
              <a:spcBef>
                <a:spcPts val="700"/>
              </a:spcBef>
            </a:pPr>
            <a:r>
              <a:rPr sz="1250" b="1">
                <a:solidFill>
                  <a:srgbClr val="1A1C22"/>
                </a:solidFill>
                <a:latin typeface="Calibri"/>
              </a:rPr>
              <a:t>▸ Ép chung một giá trị đều hỏng: </a:t>
            </a:r>
            <a:r>
              <a:rPr sz="1250" b="0">
                <a:solidFill>
                  <a:srgbClr val="1A1C22"/>
                </a:solidFill>
                <a:latin typeface="Calibri"/>
              </a:rPr>
              <a:t>ép về 6 → Conv2/Conv4 phí gần 1 bit độ chính xác; ép về 7 → Conv1/Conv3 tràn, trọng số lớn bị cắt biên.</a:t>
            </a:r>
          </a:p>
          <a:p>
            <a:pPr>
              <a:spcBef>
                <a:spcPts val="700"/>
              </a:spcBef>
            </a:pPr>
            <a:r>
              <a:rPr sz="1250" b="1">
                <a:solidFill>
                  <a:srgbClr val="1A1C22"/>
                </a:solidFill>
                <a:latin typeface="Calibri"/>
              </a:rPr>
              <a:t>▸ Đây chính là lượng tử hoá theo từng tầng — </a:t>
            </a:r>
            <a:r>
              <a:rPr sz="1250" b="0">
                <a:solidFill>
                  <a:srgbClr val="1A1C22"/>
                </a:solidFill>
                <a:latin typeface="Calibri"/>
              </a:rPr>
              <a:t>mỗi tầng một thang riêng khớp phân bố riêng của nó.</a:t>
            </a:r>
          </a:p>
        </p:txBody>
      </p:sp>
      <p:sp>
        <p:nvSpPr>
          <p:cNvPr id="11" name="TextBox 10"/>
          <p:cNvSpPr txBox="1"/>
          <p:nvPr/>
        </p:nvSpPr>
        <p:spPr>
          <a:xfrm>
            <a:off x="566928" y="5468112"/>
            <a:ext cx="11055096" cy="685800"/>
          </a:xfrm>
          <a:prstGeom prst="rect">
            <a:avLst/>
          </a:prstGeom>
          <a:noFill/>
        </p:spPr>
        <p:txBody>
          <a:bodyPr wrap="square" lIns="0" tIns="0" rIns="0" bIns="0" anchor="t">
            <a:spAutoFit/>
          </a:bodyPr>
          <a:lstStyle/>
          <a:p>
            <a:r>
              <a:rPr sz="1300" b="1">
                <a:solidFill>
                  <a:srgbClr val="990011"/>
                </a:solidFill>
                <a:latin typeface="Calibri"/>
              </a:rPr>
              <a:t>Lưu ý khi huấn luyện lại:  </a:t>
            </a:r>
            <a:r>
              <a:rPr sz="1300" b="0">
                <a:solidFill>
                  <a:srgbClr val="6E6E78"/>
                </a:solidFill>
                <a:latin typeface="Calibri"/>
              </a:rPr>
              <a:t>ranh giới giữa nb = 6 và 7 nằm ở max|W| ≈ 0,992. Conv2 của bộ Chapman ở mức 1,039 — chỉ cách ngưỡng 5 %, nên khi huấn luyện lại trên tập Chapman–Ningbo, max|W| giảm còn 0,880 khiến nb nhảy 6 → 7. Vì vậy nb phải được kiểm tra lại sau mỗi lần huấn luyện trước khi nạp vào ROM của thiết kế.</a:t>
            </a:r>
          </a:p>
        </p:txBody>
      </p:sp>
      <p:sp>
        <p:nvSpPr>
          <p:cNvPr id="12" name="TextBox 11"/>
          <p:cNvSpPr txBox="1"/>
          <p:nvPr/>
        </p:nvSpPr>
        <p:spPr>
          <a:xfrm>
            <a:off x="11475720" y="6364224"/>
            <a:ext cx="457200" cy="256032"/>
          </a:xfrm>
          <a:prstGeom prst="rect">
            <a:avLst/>
          </a:prstGeom>
          <a:noFill/>
        </p:spPr>
        <p:txBody>
          <a:bodyPr wrap="square" lIns="0" tIns="0" rIns="0" bIns="0" anchor="t">
            <a:spAutoFit/>
          </a:bodyPr>
          <a:lstStyle/>
          <a:p>
            <a:pPr algn="r"/>
            <a:r>
              <a:rPr sz="1000" b="0">
                <a:solidFill>
                  <a:srgbClr val="6E6E78"/>
                </a:solidFill>
                <a:latin typeface="Calibri"/>
              </a:rPr>
              <a:t>B1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55096" cy="274320"/>
          </a:xfrm>
          <a:prstGeom prst="rect">
            <a:avLst/>
          </a:prstGeom>
          <a:noFill/>
        </p:spPr>
        <p:txBody>
          <a:bodyPr wrap="square" lIns="0" tIns="0" rIns="0" bIns="0" anchor="t">
            <a:spAutoFit/>
          </a:bodyPr>
          <a:lstStyle/>
          <a:p>
            <a:r>
              <a:rPr sz="2000" b="1">
                <a:solidFill>
                  <a:srgbClr val="990011"/>
                </a:solidFill>
                <a:latin typeface="Calibri"/>
              </a:rPr>
              <a:t>SLIDE DỰ PHÒNG · TRẢ LỜI KHOẢNG TRỐNG 2</a:t>
            </a:r>
          </a:p>
        </p:txBody>
      </p:sp>
      <p:sp>
        <p:nvSpPr>
          <p:cNvPr id="3" name="TextBox 2"/>
          <p:cNvSpPr txBox="1"/>
          <p:nvPr/>
        </p:nvSpPr>
        <p:spPr>
          <a:xfrm>
            <a:off x="566928" y="603504"/>
            <a:ext cx="11055096" cy="475488"/>
          </a:xfrm>
          <a:prstGeom prst="rect">
            <a:avLst/>
          </a:prstGeom>
          <a:noFill/>
        </p:spPr>
        <p:txBody>
          <a:bodyPr wrap="square" lIns="0" tIns="0" rIns="0" bIns="0" anchor="t">
            <a:spAutoFit/>
          </a:bodyPr>
          <a:lstStyle/>
          <a:p>
            <a:r>
              <a:rPr sz="2600" b="1">
                <a:solidFill>
                  <a:srgbClr val="1A1C22"/>
                </a:solidFill>
                <a:latin typeface="Cambria"/>
              </a:rPr>
              <a:t>Lượng tử hoá của đề tài khác phương pháp thông thường ở chỗ nào?</a:t>
            </a:r>
          </a:p>
        </p:txBody>
      </p:sp>
      <p:sp>
        <p:nvSpPr>
          <p:cNvPr id="4" name="TextBox 3"/>
          <p:cNvSpPr txBox="1"/>
          <p:nvPr/>
        </p:nvSpPr>
        <p:spPr>
          <a:xfrm>
            <a:off x="566928" y="1115568"/>
            <a:ext cx="11055096" cy="256032"/>
          </a:xfrm>
          <a:prstGeom prst="rect">
            <a:avLst/>
          </a:prstGeom>
          <a:noFill/>
        </p:spPr>
        <p:txBody>
          <a:bodyPr wrap="square" lIns="0" tIns="0" rIns="0" bIns="0" anchor="t">
            <a:spAutoFit/>
          </a:bodyPr>
          <a:lstStyle/>
          <a:p>
            <a:r>
              <a:rPr sz="1300" b="1">
                <a:solidFill>
                  <a:srgbClr val="990011"/>
                </a:solidFill>
                <a:latin typeface="Calibri"/>
              </a:rPr>
              <a:t>Khoảng trống 2: </a:t>
            </a:r>
            <a:r>
              <a:rPr sz="1300" b="0">
                <a:solidFill>
                  <a:srgbClr val="6E6E78"/>
                </a:solidFill>
                <a:latin typeface="Calibri"/>
              </a:rPr>
              <a:t>các công trình chỉ ghi nhãn “có lượng tử hoá INT8”, không đo nó tốn bao nhiêu độ chính xác và tiết kiệm bao nhiêu tài nguyên. Đề tài trả lời bằng số đo cả hai vế.</a:t>
            </a:r>
          </a:p>
        </p:txBody>
      </p:sp>
      <p:sp>
        <p:nvSpPr>
          <p:cNvPr id="5" name="TextBox 4"/>
          <p:cNvSpPr txBox="1"/>
          <p:nvPr/>
        </p:nvSpPr>
        <p:spPr>
          <a:xfrm>
            <a:off x="566928" y="1536192"/>
            <a:ext cx="11055096" cy="256032"/>
          </a:xfrm>
          <a:prstGeom prst="rect">
            <a:avLst/>
          </a:prstGeom>
          <a:noFill/>
        </p:spPr>
        <p:txBody>
          <a:bodyPr wrap="square" lIns="0" tIns="0" rIns="0" bIns="0" anchor="t">
            <a:spAutoFit/>
          </a:bodyPr>
          <a:lstStyle/>
          <a:p>
            <a:r>
              <a:rPr sz="1450" b="1">
                <a:solidFill>
                  <a:srgbClr val="1A1C22"/>
                </a:solidFill>
                <a:latin typeface="Calibri"/>
              </a:rPr>
              <a:t>1. Khác nhau ở phép tái tỉ lệ — điểm duy nhất chạm vào phần cứng</a:t>
            </a:r>
          </a:p>
        </p:txBody>
      </p:sp>
      <p:sp>
        <p:nvSpPr>
          <p:cNvPr id="6" name="Rectangle 5"/>
          <p:cNvSpPr/>
          <p:nvPr/>
        </p:nvSpPr>
        <p:spPr>
          <a:xfrm>
            <a:off x="566928" y="1847088"/>
            <a:ext cx="5358384" cy="1572768"/>
          </a:xfrm>
          <a:prstGeom prst="rect">
            <a:avLst/>
          </a:prstGeom>
          <a:solidFill>
            <a:srgbClr val="F4F5F9"/>
          </a:solidFill>
          <a:ln w="9525">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146304" tIns="100584" rIns="146304" bIns="91440" rtlCol="0" anchor="ctr"/>
          <a:lstStyle/>
          <a:p>
            <a:pPr algn="ctr"/>
            <a:r>
              <a:rPr sz="1300" b="1">
                <a:solidFill>
                  <a:srgbClr val="2F3C7E"/>
                </a:solidFill>
                <a:latin typeface="Calibri"/>
              </a:rPr>
              <a:t>THÔNG THƯỜNG · hệ số thực</a:t>
            </a:r>
          </a:p>
          <a:p>
            <a:pPr>
              <a:spcBef>
                <a:spcPts val="500"/>
              </a:spcBef>
            </a:pPr>
            <a:r>
              <a:rPr sz="1300" b="1">
                <a:solidFill>
                  <a:srgbClr val="2F3C7E"/>
                </a:solidFill>
                <a:latin typeface="Courier New"/>
              </a:rPr>
              <a:t>s = max|W| / 127</a:t>
            </a:r>
          </a:p>
          <a:p>
            <a:pPr>
              <a:spcBef>
                <a:spcPts val="100"/>
              </a:spcBef>
            </a:pPr>
            <a:r>
              <a:rPr sz="1300" b="1">
                <a:solidFill>
                  <a:srgbClr val="2F3C7E"/>
                </a:solidFill>
                <a:latin typeface="Courier New"/>
              </a:rPr>
              <a:t>y = round( acc32 × s )</a:t>
            </a:r>
          </a:p>
          <a:p>
            <a:pPr>
              <a:spcBef>
                <a:spcPts val="500"/>
              </a:spcBef>
            </a:pPr>
            <a:r>
              <a:rPr sz="1200" b="0">
                <a:solidFill>
                  <a:srgbClr val="6E6E78"/>
                </a:solidFill>
                <a:latin typeface="Calibri"/>
              </a:rPr>
              <a:t>Hệ số là số thực bất kỳ → mạch phải có bộ nhân.</a:t>
            </a:r>
          </a:p>
          <a:p>
            <a:pPr>
              <a:spcBef>
                <a:spcPts val="300"/>
              </a:spcBef>
            </a:pPr>
            <a:r>
              <a:rPr sz="1250" b="1">
                <a:solidFill>
                  <a:srgbClr val="2F3C7E"/>
                </a:solidFill>
                <a:latin typeface="Calibri"/>
              </a:rPr>
              <a:t>→ 4 bộ nhân DSP18 cho khâu tái tỉ lệ</a:t>
            </a:r>
          </a:p>
        </p:txBody>
      </p:sp>
      <p:sp>
        <p:nvSpPr>
          <p:cNvPr id="7" name="Rectangle 6"/>
          <p:cNvSpPr/>
          <p:nvPr/>
        </p:nvSpPr>
        <p:spPr>
          <a:xfrm>
            <a:off x="6263640" y="1847088"/>
            <a:ext cx="5358384" cy="1572768"/>
          </a:xfrm>
          <a:prstGeom prst="rect">
            <a:avLst/>
          </a:prstGeom>
          <a:solidFill>
            <a:srgbClr val="FDECEE"/>
          </a:solidFill>
          <a:ln w="9525">
            <a:solidFill>
              <a:srgbClr val="990011"/>
            </a:solidFill>
          </a:ln>
          <a:effectLst/>
        </p:spPr>
        <p:style>
          <a:lnRef idx="1">
            <a:schemeClr val="accent1"/>
          </a:lnRef>
          <a:fillRef idx="3">
            <a:schemeClr val="accent1"/>
          </a:fillRef>
          <a:effectRef idx="2">
            <a:schemeClr val="accent1"/>
          </a:effectRef>
          <a:fontRef idx="minor">
            <a:schemeClr val="lt1"/>
          </a:fontRef>
        </p:style>
        <p:txBody>
          <a:bodyPr wrap="square" lIns="146304" tIns="100584" rIns="146304" bIns="91440" rtlCol="0" anchor="ctr"/>
          <a:lstStyle/>
          <a:p>
            <a:pPr algn="ctr"/>
            <a:r>
              <a:rPr sz="1300" b="1">
                <a:solidFill>
                  <a:srgbClr val="990011"/>
                </a:solidFill>
                <a:latin typeface="Calibri"/>
              </a:rPr>
              <a:t>ĐỀ TÀI · hệ số luỹ thừa 2</a:t>
            </a:r>
          </a:p>
          <a:p>
            <a:pPr>
              <a:spcBef>
                <a:spcPts val="500"/>
              </a:spcBef>
            </a:pPr>
            <a:r>
              <a:rPr sz="1300" b="1">
                <a:solidFill>
                  <a:srgbClr val="2F3C7E"/>
                </a:solidFill>
                <a:latin typeface="Courier New"/>
              </a:rPr>
              <a:t>s = 2^(-nb)</a:t>
            </a:r>
          </a:p>
          <a:p>
            <a:pPr>
              <a:spcBef>
                <a:spcPts val="100"/>
              </a:spcBef>
            </a:pPr>
            <a:r>
              <a:rPr sz="1300" b="1">
                <a:solidFill>
                  <a:srgbClr val="2F3C7E"/>
                </a:solidFill>
                <a:latin typeface="Courier New"/>
              </a:rPr>
              <a:t>y = ( acc32 + 2^(nb−1) ) &gt;&gt; nb</a:t>
            </a:r>
          </a:p>
          <a:p>
            <a:pPr>
              <a:spcBef>
                <a:spcPts val="500"/>
              </a:spcBef>
            </a:pPr>
            <a:r>
              <a:rPr sz="1200" b="0">
                <a:solidFill>
                  <a:srgbClr val="6E6E78"/>
                </a:solidFill>
                <a:latin typeface="Calibri"/>
              </a:rPr>
              <a:t>Hệ số bị ràng buộc về luỹ thừa 2 → chỉ còn cộng và dịch bit.</a:t>
            </a:r>
          </a:p>
          <a:p>
            <a:pPr>
              <a:spcBef>
                <a:spcPts val="300"/>
              </a:spcBef>
            </a:pPr>
            <a:r>
              <a:rPr sz="1250" b="1">
                <a:solidFill>
                  <a:srgbClr val="990011"/>
                </a:solidFill>
                <a:latin typeface="Calibri"/>
              </a:rPr>
              <a:t>→ 0 bộ nhân, chỉ 1 phép cộng + 1 phép dịch</a:t>
            </a:r>
          </a:p>
        </p:txBody>
      </p:sp>
      <p:sp>
        <p:nvSpPr>
          <p:cNvPr id="8" name="TextBox 7"/>
          <p:cNvSpPr txBox="1"/>
          <p:nvPr/>
        </p:nvSpPr>
        <p:spPr>
          <a:xfrm>
            <a:off x="566928" y="3547872"/>
            <a:ext cx="11055096" cy="256032"/>
          </a:xfrm>
          <a:prstGeom prst="rect">
            <a:avLst/>
          </a:prstGeom>
          <a:noFill/>
        </p:spPr>
        <p:txBody>
          <a:bodyPr wrap="square" lIns="0" tIns="0" rIns="0" bIns="0" anchor="t">
            <a:spAutoFit/>
          </a:bodyPr>
          <a:lstStyle/>
          <a:p>
            <a:r>
              <a:rPr sz="1450" b="1">
                <a:solidFill>
                  <a:srgbClr val="1A1C22"/>
                </a:solidFill>
                <a:latin typeface="Calibri"/>
              </a:rPr>
              <a:t>2. Cái giá của lựa chọn — đo trên cùng mô hình, cùng tập kiểm tra Chapman</a:t>
            </a:r>
          </a:p>
        </p:txBody>
      </p:sp>
      <p:graphicFrame>
        <p:nvGraphicFramePr>
          <p:cNvPr id="9" name="Table 8"/>
          <p:cNvGraphicFramePr>
            <a:graphicFrameLocks noGrp="1"/>
          </p:cNvGraphicFramePr>
          <p:nvPr/>
        </p:nvGraphicFramePr>
        <p:xfrm>
          <a:off x="566928" y="3895344"/>
          <a:ext cx="6675120" cy="16002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tblGrid>
              <a:tr h="320040">
                <a:tc>
                  <a:txBody>
                    <a:bodyPr/>
                    <a:lstStyle/>
                    <a:p>
                      <a:pPr algn="l"/>
                      <a:r>
                        <a:rPr sz="1200" b="1">
                          <a:solidFill>
                            <a:srgbClr val="FFFFFF"/>
                          </a:solidFill>
                          <a:latin typeface="Calibri"/>
                        </a:rPr>
                        <a:t>Phương án tái tỉ lệ</a:t>
                      </a:r>
                    </a:p>
                  </a:txBody>
                  <a:tcPr marL="64008" marR="45720" marT="18288" marB="18288" anchor="ctr">
                    <a:solidFill>
                      <a:srgbClr val="2F3C7E"/>
                    </a:solidFill>
                  </a:tcPr>
                </a:tc>
                <a:tc>
                  <a:txBody>
                    <a:bodyPr/>
                    <a:lstStyle/>
                    <a:p>
                      <a:pPr algn="ctr"/>
                      <a:r>
                        <a:rPr sz="1200" b="1">
                          <a:solidFill>
                            <a:srgbClr val="FFFFFF"/>
                          </a:solidFill>
                          <a:latin typeface="Calibri"/>
                        </a:rPr>
                        <a:t>Độ chính xác</a:t>
                      </a:r>
                    </a:p>
                  </a:txBody>
                  <a:tcPr marL="64008" marR="45720" marT="18288" marB="18288" anchor="ctr">
                    <a:solidFill>
                      <a:srgbClr val="2F3C7E"/>
                    </a:solidFill>
                  </a:tcPr>
                </a:tc>
                <a:tc>
                  <a:txBody>
                    <a:bodyPr/>
                    <a:lstStyle/>
                    <a:p>
                      <a:pPr algn="ctr"/>
                      <a:r>
                        <a:rPr sz="1200" b="1">
                          <a:solidFill>
                            <a:srgbClr val="FFFFFF"/>
                          </a:solidFill>
                          <a:latin typeface="Calibri"/>
                        </a:rPr>
                        <a:t>F1-macro</a:t>
                      </a:r>
                    </a:p>
                  </a:txBody>
                  <a:tcPr marL="64008" marR="45720" marT="18288" marB="18288" anchor="ctr">
                    <a:solidFill>
                      <a:srgbClr val="2F3C7E"/>
                    </a:solidFill>
                  </a:tcPr>
                </a:tc>
                <a:tc>
                  <a:txBody>
                    <a:bodyPr/>
                    <a:lstStyle/>
                    <a:p>
                      <a:pPr algn="ctr"/>
                      <a:r>
                        <a:rPr sz="1200" b="1">
                          <a:solidFill>
                            <a:srgbClr val="FFFFFF"/>
                          </a:solidFill>
                          <a:latin typeface="Calibri"/>
                        </a:rPr>
                        <a:t>DSP cho tái tỉ lệ</a:t>
                      </a:r>
                    </a:p>
                  </a:txBody>
                  <a:tcPr marL="64008" marR="45720" marT="18288" marB="18288" anchor="ctr">
                    <a:solidFill>
                      <a:srgbClr val="2F3C7E"/>
                    </a:solidFill>
                  </a:tcPr>
                </a:tc>
                <a:extLst>
                  <a:ext uri="{0D108BD9-81ED-4DB2-BD59-A6C34878D82A}">
                    <a16:rowId xmlns:a16="http://schemas.microsoft.com/office/drawing/2014/main" val="10000"/>
                  </a:ext>
                </a:extLst>
              </a:tr>
              <a:tr h="320040">
                <a:tc>
                  <a:txBody>
                    <a:bodyPr/>
                    <a:lstStyle/>
                    <a:p>
                      <a:pPr algn="l"/>
                      <a:r>
                        <a:rPr sz="1200" b="0">
                          <a:solidFill>
                            <a:srgbClr val="1A1C22"/>
                          </a:solidFill>
                          <a:latin typeface="Calibri"/>
                        </a:rPr>
                        <a:t>Dấu phẩy động 32 bit (chuẩn trên)</a:t>
                      </a:r>
                    </a:p>
                  </a:txBody>
                  <a:tcPr marL="64008" marR="45720" marT="18288" marB="18288" anchor="ctr">
                    <a:solidFill>
                      <a:srgbClr val="F4F5F9"/>
                    </a:solidFill>
                  </a:tcPr>
                </a:tc>
                <a:tc>
                  <a:txBody>
                    <a:bodyPr/>
                    <a:lstStyle/>
                    <a:p>
                      <a:pPr algn="ctr"/>
                      <a:r>
                        <a:rPr sz="1200" b="0">
                          <a:solidFill>
                            <a:srgbClr val="1A1C22"/>
                          </a:solidFill>
                          <a:latin typeface="Calibri"/>
                        </a:rPr>
                        <a:t>94,65 %</a:t>
                      </a:r>
                    </a:p>
                  </a:txBody>
                  <a:tcPr marL="64008" marR="45720" marT="18288" marB="18288" anchor="ctr">
                    <a:solidFill>
                      <a:srgbClr val="F4F5F9"/>
                    </a:solidFill>
                  </a:tcPr>
                </a:tc>
                <a:tc>
                  <a:txBody>
                    <a:bodyPr/>
                    <a:lstStyle/>
                    <a:p>
                      <a:pPr algn="ctr"/>
                      <a:r>
                        <a:rPr sz="1200" b="0">
                          <a:solidFill>
                            <a:srgbClr val="1A1C22"/>
                          </a:solidFill>
                          <a:latin typeface="Calibri"/>
                        </a:rPr>
                        <a:t>0,9402</a:t>
                      </a:r>
                    </a:p>
                  </a:txBody>
                  <a:tcPr marL="64008" marR="45720" marT="18288" marB="18288" anchor="ctr">
                    <a:solidFill>
                      <a:srgbClr val="F4F5F9"/>
                    </a:solidFill>
                  </a:tcPr>
                </a:tc>
                <a:tc>
                  <a:txBody>
                    <a:bodyPr/>
                    <a:lstStyle/>
                    <a:p>
                      <a:pPr algn="ctr"/>
                      <a:r>
                        <a:rPr sz="1200" b="1">
                          <a:solidFill>
                            <a:srgbClr val="1A1C22"/>
                          </a:solidFill>
                          <a:latin typeface="Calibri"/>
                        </a:rPr>
                        <a:t>—</a:t>
                      </a:r>
                    </a:p>
                  </a:txBody>
                  <a:tcPr marL="64008" marR="45720" marT="18288" marB="18288" anchor="ctr">
                    <a:solidFill>
                      <a:srgbClr val="F4F5F9"/>
                    </a:solidFill>
                  </a:tcPr>
                </a:tc>
                <a:extLst>
                  <a:ext uri="{0D108BD9-81ED-4DB2-BD59-A6C34878D82A}">
                    <a16:rowId xmlns:a16="http://schemas.microsoft.com/office/drawing/2014/main" val="10001"/>
                  </a:ext>
                </a:extLst>
              </a:tr>
              <a:tr h="320040">
                <a:tc>
                  <a:txBody>
                    <a:bodyPr/>
                    <a:lstStyle/>
                    <a:p>
                      <a:pPr algn="l"/>
                      <a:r>
                        <a:rPr sz="1200" b="0">
                          <a:solidFill>
                            <a:srgbClr val="1A1C22"/>
                          </a:solidFill>
                          <a:latin typeface="Calibri"/>
                        </a:rPr>
                        <a:t>Hệ số thực (thông thường)</a:t>
                      </a:r>
                    </a:p>
                  </a:txBody>
                  <a:tcPr marL="64008" marR="45720" marT="18288" marB="18288" anchor="ctr">
                    <a:solidFill>
                      <a:srgbClr val="FFFFFF"/>
                    </a:solidFill>
                  </a:tcPr>
                </a:tc>
                <a:tc>
                  <a:txBody>
                    <a:bodyPr/>
                    <a:lstStyle/>
                    <a:p>
                      <a:pPr algn="ctr"/>
                      <a:r>
                        <a:rPr sz="1200" b="0">
                          <a:solidFill>
                            <a:srgbClr val="1A1C22"/>
                          </a:solidFill>
                          <a:latin typeface="Calibri"/>
                        </a:rPr>
                        <a:t>94,65 %</a:t>
                      </a:r>
                    </a:p>
                  </a:txBody>
                  <a:tcPr marL="64008" marR="45720" marT="18288" marB="18288" anchor="ctr">
                    <a:solidFill>
                      <a:srgbClr val="FFFFFF"/>
                    </a:solidFill>
                  </a:tcPr>
                </a:tc>
                <a:tc>
                  <a:txBody>
                    <a:bodyPr/>
                    <a:lstStyle/>
                    <a:p>
                      <a:pPr algn="ctr"/>
                      <a:r>
                        <a:rPr sz="1200" b="0">
                          <a:solidFill>
                            <a:srgbClr val="1A1C22"/>
                          </a:solidFill>
                          <a:latin typeface="Calibri"/>
                        </a:rPr>
                        <a:t>0,9398</a:t>
                      </a:r>
                    </a:p>
                  </a:txBody>
                  <a:tcPr marL="64008" marR="45720" marT="18288" marB="18288" anchor="ctr">
                    <a:solidFill>
                      <a:srgbClr val="FFFFFF"/>
                    </a:solidFill>
                  </a:tcPr>
                </a:tc>
                <a:tc>
                  <a:txBody>
                    <a:bodyPr/>
                    <a:lstStyle/>
                    <a:p>
                      <a:pPr algn="ctr"/>
                      <a:r>
                        <a:rPr sz="1200" b="1">
                          <a:solidFill>
                            <a:srgbClr val="1A1C22"/>
                          </a:solidFill>
                          <a:latin typeface="Calibri"/>
                        </a:rPr>
                        <a:t>4</a:t>
                      </a:r>
                    </a:p>
                  </a:txBody>
                  <a:tcPr marL="64008" marR="45720" marT="18288" marB="18288" anchor="ctr">
                    <a:solidFill>
                      <a:srgbClr val="FFFFFF"/>
                    </a:solidFill>
                  </a:tcPr>
                </a:tc>
                <a:extLst>
                  <a:ext uri="{0D108BD9-81ED-4DB2-BD59-A6C34878D82A}">
                    <a16:rowId xmlns:a16="http://schemas.microsoft.com/office/drawing/2014/main" val="10002"/>
                  </a:ext>
                </a:extLst>
              </a:tr>
              <a:tr h="320040">
                <a:tc>
                  <a:txBody>
                    <a:bodyPr/>
                    <a:lstStyle/>
                    <a:p>
                      <a:pPr algn="l"/>
                      <a:r>
                        <a:rPr sz="1200" b="1">
                          <a:solidFill>
                            <a:srgbClr val="990011"/>
                          </a:solidFill>
                          <a:latin typeface="Calibri"/>
                        </a:rPr>
                        <a:t>Luỹ thừa 2 + làm tròn nửa lên (đề tài)</a:t>
                      </a:r>
                    </a:p>
                  </a:txBody>
                  <a:tcPr marL="64008" marR="45720" marT="18288" marB="18288" anchor="ctr">
                    <a:solidFill>
                      <a:srgbClr val="FDECEE"/>
                    </a:solidFill>
                  </a:tcPr>
                </a:tc>
                <a:tc>
                  <a:txBody>
                    <a:bodyPr/>
                    <a:lstStyle/>
                    <a:p>
                      <a:pPr algn="ctr"/>
                      <a:r>
                        <a:rPr sz="1200" b="1">
                          <a:solidFill>
                            <a:srgbClr val="990011"/>
                          </a:solidFill>
                          <a:latin typeface="Calibri"/>
                        </a:rPr>
                        <a:t>94,37 %</a:t>
                      </a:r>
                    </a:p>
                  </a:txBody>
                  <a:tcPr marL="64008" marR="45720" marT="18288" marB="18288" anchor="ctr">
                    <a:solidFill>
                      <a:srgbClr val="FDECEE"/>
                    </a:solidFill>
                  </a:tcPr>
                </a:tc>
                <a:tc>
                  <a:txBody>
                    <a:bodyPr/>
                    <a:lstStyle/>
                    <a:p>
                      <a:pPr algn="ctr"/>
                      <a:r>
                        <a:rPr sz="1200" b="1">
                          <a:solidFill>
                            <a:srgbClr val="990011"/>
                          </a:solidFill>
                          <a:latin typeface="Calibri"/>
                        </a:rPr>
                        <a:t>0,9364</a:t>
                      </a:r>
                    </a:p>
                  </a:txBody>
                  <a:tcPr marL="64008" marR="45720" marT="18288" marB="18288" anchor="ctr">
                    <a:solidFill>
                      <a:srgbClr val="FDECEE"/>
                    </a:solidFill>
                  </a:tcPr>
                </a:tc>
                <a:tc>
                  <a:txBody>
                    <a:bodyPr/>
                    <a:lstStyle/>
                    <a:p>
                      <a:pPr algn="ctr"/>
                      <a:r>
                        <a:rPr sz="1200" b="1">
                          <a:solidFill>
                            <a:srgbClr val="990011"/>
                          </a:solidFill>
                          <a:latin typeface="Calibri"/>
                        </a:rPr>
                        <a:t>0</a:t>
                      </a:r>
                    </a:p>
                  </a:txBody>
                  <a:tcPr marL="64008" marR="45720" marT="18288" marB="18288" anchor="ctr">
                    <a:solidFill>
                      <a:srgbClr val="FDECEE"/>
                    </a:solidFill>
                  </a:tcPr>
                </a:tc>
                <a:extLst>
                  <a:ext uri="{0D108BD9-81ED-4DB2-BD59-A6C34878D82A}">
                    <a16:rowId xmlns:a16="http://schemas.microsoft.com/office/drawing/2014/main" val="10003"/>
                  </a:ext>
                </a:extLst>
              </a:tr>
              <a:tr h="320040">
                <a:tc>
                  <a:txBody>
                    <a:bodyPr/>
                    <a:lstStyle/>
                    <a:p>
                      <a:pPr algn="l"/>
                      <a:r>
                        <a:rPr sz="1200" b="0">
                          <a:solidFill>
                            <a:srgbClr val="1A1C22"/>
                          </a:solidFill>
                          <a:latin typeface="Calibri"/>
                        </a:rPr>
                        <a:t>Luỹ thừa 2 + cắt cụt (không làm tròn)</a:t>
                      </a:r>
                    </a:p>
                  </a:txBody>
                  <a:tcPr marL="64008" marR="45720" marT="18288" marB="18288" anchor="ctr">
                    <a:solidFill>
                      <a:srgbClr val="FFFFFF"/>
                    </a:solidFill>
                  </a:tcPr>
                </a:tc>
                <a:tc>
                  <a:txBody>
                    <a:bodyPr/>
                    <a:lstStyle/>
                    <a:p>
                      <a:pPr algn="ctr"/>
                      <a:r>
                        <a:rPr sz="1200" b="0">
                          <a:solidFill>
                            <a:srgbClr val="1A1C22"/>
                          </a:solidFill>
                          <a:latin typeface="Calibri"/>
                        </a:rPr>
                        <a:t>93,99 %</a:t>
                      </a:r>
                    </a:p>
                  </a:txBody>
                  <a:tcPr marL="64008" marR="45720" marT="18288" marB="18288" anchor="ctr">
                    <a:solidFill>
                      <a:srgbClr val="FFFFFF"/>
                    </a:solidFill>
                  </a:tcPr>
                </a:tc>
                <a:tc>
                  <a:txBody>
                    <a:bodyPr/>
                    <a:lstStyle/>
                    <a:p>
                      <a:pPr algn="ctr"/>
                      <a:r>
                        <a:rPr sz="1200" b="0">
                          <a:solidFill>
                            <a:srgbClr val="1A1C22"/>
                          </a:solidFill>
                          <a:latin typeface="Calibri"/>
                        </a:rPr>
                        <a:t>0,9328</a:t>
                      </a:r>
                    </a:p>
                  </a:txBody>
                  <a:tcPr marL="64008" marR="45720" marT="18288" marB="18288" anchor="ctr">
                    <a:solidFill>
                      <a:srgbClr val="FFFFFF"/>
                    </a:solidFill>
                  </a:tcPr>
                </a:tc>
                <a:tc>
                  <a:txBody>
                    <a:bodyPr/>
                    <a:lstStyle/>
                    <a:p>
                      <a:pPr algn="ctr"/>
                      <a:r>
                        <a:rPr sz="1200" b="1">
                          <a:solidFill>
                            <a:srgbClr val="1A1C22"/>
                          </a:solidFill>
                          <a:latin typeface="Calibri"/>
                        </a:rPr>
                        <a:t>0</a:t>
                      </a:r>
                    </a:p>
                  </a:txBody>
                  <a:tcPr marL="64008" marR="45720" marT="18288" marB="18288" anchor="ctr">
                    <a:solidFill>
                      <a:srgbClr val="FFFFFF"/>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7452360" y="3895344"/>
            <a:ext cx="4169663" cy="1719072"/>
          </a:xfrm>
          <a:prstGeom prst="rect">
            <a:avLst/>
          </a:prstGeom>
          <a:solidFill>
            <a:srgbClr val="FDECEE"/>
          </a:solidFill>
          <a:ln w="9525">
            <a:solidFill>
              <a:srgbClr val="990011"/>
            </a:solidFill>
          </a:ln>
          <a:effectLst/>
        </p:spPr>
        <p:style>
          <a:lnRef idx="1">
            <a:schemeClr val="accent1"/>
          </a:lnRef>
          <a:fillRef idx="3">
            <a:schemeClr val="accent1"/>
          </a:fillRef>
          <a:effectRef idx="2">
            <a:schemeClr val="accent1"/>
          </a:effectRef>
          <a:fontRef idx="minor">
            <a:schemeClr val="lt1"/>
          </a:fontRef>
        </p:style>
        <p:txBody>
          <a:bodyPr wrap="square" lIns="155448" tIns="109728" rIns="155448" bIns="91440" rtlCol="0" anchor="ctr"/>
          <a:lstStyle/>
          <a:p>
            <a:pPr algn="ctr"/>
            <a:r>
              <a:rPr sz="1350" b="1">
                <a:solidFill>
                  <a:srgbClr val="990011"/>
                </a:solidFill>
                <a:latin typeface="Calibri"/>
              </a:rPr>
              <a:t>Kết luận: đánh đổi có lợi</a:t>
            </a:r>
          </a:p>
          <a:p>
            <a:pPr>
              <a:spcBef>
                <a:spcPts val="600"/>
              </a:spcBef>
            </a:pPr>
            <a:r>
              <a:rPr sz="1200" b="1">
                <a:solidFill>
                  <a:srgbClr val="1A1C22"/>
                </a:solidFill>
                <a:latin typeface="Calibri"/>
              </a:rPr>
              <a:t>▸ Mất 0,28 % độ chính xác</a:t>
            </a:r>
            <a:r>
              <a:rPr sz="1200" b="0">
                <a:solidFill>
                  <a:srgbClr val="1A1C22"/>
                </a:solidFill>
                <a:latin typeface="Calibri"/>
              </a:rPr>
              <a:t> so với hệ số thực — nhỏ hơn độ dao động giữa các lần chạy (0,4–0,9 %).</a:t>
            </a:r>
          </a:p>
          <a:p>
            <a:pPr>
              <a:spcBef>
                <a:spcPts val="600"/>
              </a:spcBef>
            </a:pPr>
            <a:r>
              <a:rPr sz="1200" b="1">
                <a:solidFill>
                  <a:srgbClr val="1A1C22"/>
                </a:solidFill>
                <a:latin typeface="Calibri"/>
              </a:rPr>
              <a:t>▸ Đổi lại bỏ hẳn 4 bộ nhân</a:t>
            </a:r>
            <a:r>
              <a:rPr sz="1200" b="0">
                <a:solidFill>
                  <a:srgbClr val="1A1C22"/>
                </a:solidFill>
                <a:latin typeface="Calibri"/>
              </a:rPr>
              <a:t> ở khâu tái tỉ lệ; DSP chiếm 54 % công suất động của mạch.</a:t>
            </a:r>
          </a:p>
          <a:p>
            <a:pPr>
              <a:spcBef>
                <a:spcPts val="600"/>
              </a:spcBef>
            </a:pPr>
            <a:r>
              <a:rPr sz="1200" b="1">
                <a:solidFill>
                  <a:srgbClr val="1A1C22"/>
                </a:solidFill>
                <a:latin typeface="Calibri"/>
              </a:rPr>
              <a:t>▸ Làm tròn nửa lên là cần thiết:</a:t>
            </a:r>
            <a:r>
              <a:rPr sz="1200" b="0">
                <a:solidFill>
                  <a:srgbClr val="1A1C22"/>
                </a:solidFill>
                <a:latin typeface="Calibri"/>
              </a:rPr>
              <a:t> hơn cắt cụt 0,38 % mà không tốn thêm tài nguyên nào.</a:t>
            </a:r>
          </a:p>
        </p:txBody>
      </p:sp>
      <p:sp>
        <p:nvSpPr>
          <p:cNvPr id="11" name="TextBox 10"/>
          <p:cNvSpPr txBox="1"/>
          <p:nvPr/>
        </p:nvSpPr>
        <p:spPr>
          <a:xfrm>
            <a:off x="566928" y="5742432"/>
            <a:ext cx="11055096" cy="457200"/>
          </a:xfrm>
          <a:prstGeom prst="rect">
            <a:avLst/>
          </a:prstGeom>
          <a:noFill/>
        </p:spPr>
        <p:txBody>
          <a:bodyPr wrap="square" lIns="0" tIns="0" rIns="0" bIns="0" anchor="t">
            <a:spAutoFit/>
          </a:bodyPr>
          <a:lstStyle/>
          <a:p>
            <a:r>
              <a:rPr sz="1250" b="1">
                <a:solidFill>
                  <a:srgbClr val="990011"/>
                </a:solidFill>
                <a:latin typeface="Calibri"/>
              </a:rPr>
              <a:t>Phát biểu thận trọng:  </a:t>
            </a:r>
            <a:r>
              <a:rPr sz="1250" b="0">
                <a:solidFill>
                  <a:srgbClr val="6E6E78"/>
                </a:solidFill>
                <a:latin typeface="Calibri"/>
              </a:rPr>
              <a:t>khác biệt độ chính xác giữa các phương án nằm trong nhiễu thống kê, nên đề tài không kết luận phương án nào chính xác hơn. Điểm chắc chắn là chi phí phần cứng: 0 bộ nhân so với 4. Cột DSP là chi phí kiến trúc của khâu tái tỉ lệ, không phải hai lần tổng hợp Quartus riêng biệt.</a:t>
            </a:r>
          </a:p>
        </p:txBody>
      </p:sp>
      <p:sp>
        <p:nvSpPr>
          <p:cNvPr id="12" name="TextBox 11"/>
          <p:cNvSpPr txBox="1"/>
          <p:nvPr/>
        </p:nvSpPr>
        <p:spPr>
          <a:xfrm>
            <a:off x="11475720" y="6364224"/>
            <a:ext cx="457200" cy="256032"/>
          </a:xfrm>
          <a:prstGeom prst="rect">
            <a:avLst/>
          </a:prstGeom>
          <a:noFill/>
        </p:spPr>
        <p:txBody>
          <a:bodyPr wrap="square" lIns="0" tIns="0" rIns="0" bIns="0" anchor="t">
            <a:spAutoFit/>
          </a:bodyPr>
          <a:lstStyle/>
          <a:p>
            <a:pPr algn="r"/>
            <a:r>
              <a:rPr sz="1000" b="0">
                <a:solidFill>
                  <a:srgbClr val="6E6E78"/>
                </a:solidFill>
                <a:latin typeface="Calibri"/>
              </a:rPr>
              <a:t>B2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8011</TotalTime>
  <Words>8013</Words>
  <Application>Microsoft Office PowerPoint</Application>
  <PresentationFormat>Widescreen</PresentationFormat>
  <Paragraphs>1035</Paragraphs>
  <Slides>46</Slides>
  <Notes>43</Notes>
  <HiddenSlides>10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-apple-system</vt:lpstr>
      <vt:lpstr>Arial</vt:lpstr>
      <vt:lpstr>Calibri</vt:lpstr>
      <vt:lpstr>Calibri (Body)</vt:lpstr>
      <vt:lpstr>Cambria</vt:lpstr>
      <vt:lpstr>Cambria Math</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Thiet ke va trien khai 1D-CNN phan loai nhip tim tren FPGA</dc:title>
  <dc:subject>PptxGenJS Presentation</dc:subject>
  <dc:creator>Le Minh Duc</dc:creator>
  <cp:lastModifiedBy>LÊ MINH ĐỨC</cp:lastModifiedBy>
  <cp:revision>38</cp:revision>
  <dcterms:created xsi:type="dcterms:W3CDTF">2026-08-03T00:21:54Z</dcterms:created>
  <dcterms:modified xsi:type="dcterms:W3CDTF">2026-08-12T10:13:26Z</dcterms:modified>
</cp:coreProperties>
</file>